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aleway Bold" charset="1" panose="00000000000000000000"/>
      <p:regular r:id="rId13"/>
    </p:embeddedFont>
    <p:embeddedFont>
      <p:font typeface="Raleway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027" y="4576762"/>
            <a:ext cx="151939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Dashboard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91" y="350823"/>
            <a:ext cx="6515119" cy="10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Project Workflow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66754" y="3680139"/>
            <a:ext cx="3630950" cy="4858062"/>
            <a:chOff x="0" y="0"/>
            <a:chExt cx="4841267" cy="6477416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0" y="56994"/>
              <a:ext cx="4841267" cy="5601445"/>
              <a:chOff x="0" y="0"/>
              <a:chExt cx="520700" cy="60246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197640" y="0"/>
              <a:ext cx="445988" cy="44598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C9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6368" y="4827562"/>
              <a:ext cx="4748530" cy="1649854"/>
            </a:xfrm>
            <a:custGeom>
              <a:avLst/>
              <a:gdLst/>
              <a:ahLst/>
              <a:cxnLst/>
              <a:rect r="r" b="b" t="t" l="l"/>
              <a:pathLst>
                <a:path h="1649854" w="4748530">
                  <a:moveTo>
                    <a:pt x="0" y="0"/>
                  </a:moveTo>
                  <a:lnTo>
                    <a:pt x="4748531" y="0"/>
                  </a:lnTo>
                  <a:lnTo>
                    <a:pt x="4748531" y="1649854"/>
                  </a:lnTo>
                  <a:lnTo>
                    <a:pt x="0" y="1649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22784" y="5398498"/>
              <a:ext cx="3276866" cy="460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2"/>
                </a:lnSpc>
              </a:pPr>
              <a:r>
                <a:rPr lang="en-US" b="true" sz="210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13215" y="2866632"/>
              <a:ext cx="4414837" cy="178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sz="19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Candidate data is entered manually through an interactive form in the Streamlit sidebar.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81735" y="1656782"/>
              <a:ext cx="3077797" cy="42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b="true" sz="197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Collection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14849" y="2433683"/>
            <a:ext cx="3630950" cy="4843665"/>
            <a:chOff x="0" y="0"/>
            <a:chExt cx="4841267" cy="6458220"/>
          </a:xfrm>
        </p:grpSpPr>
        <p:grpSp>
          <p:nvGrpSpPr>
            <p:cNvPr name="Group 16" id="16"/>
            <p:cNvGrpSpPr/>
            <p:nvPr/>
          </p:nvGrpSpPr>
          <p:grpSpPr>
            <a:xfrm rot="-10800000">
              <a:off x="0" y="45843"/>
              <a:ext cx="4841267" cy="5601445"/>
              <a:chOff x="0" y="0"/>
              <a:chExt cx="520700" cy="60246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97640" y="0"/>
              <a:ext cx="445988" cy="44598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A7B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46368" y="4808366"/>
              <a:ext cx="4748530" cy="1649854"/>
            </a:xfrm>
            <a:custGeom>
              <a:avLst/>
              <a:gdLst/>
              <a:ahLst/>
              <a:cxnLst/>
              <a:rect r="r" b="b" t="t" l="l"/>
              <a:pathLst>
                <a:path h="1649854" w="4748530">
                  <a:moveTo>
                    <a:pt x="0" y="0"/>
                  </a:moveTo>
                  <a:lnTo>
                    <a:pt x="4748531" y="0"/>
                  </a:lnTo>
                  <a:lnTo>
                    <a:pt x="4748531" y="1649854"/>
                  </a:lnTo>
                  <a:lnTo>
                    <a:pt x="0" y="1649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84098" y="5237881"/>
              <a:ext cx="595275" cy="790824"/>
            </a:xfrm>
            <a:custGeom>
              <a:avLst/>
              <a:gdLst/>
              <a:ahLst/>
              <a:cxnLst/>
              <a:rect r="r" b="b" t="t" l="l"/>
              <a:pathLst>
                <a:path h="790824" w="595275">
                  <a:moveTo>
                    <a:pt x="0" y="0"/>
                  </a:moveTo>
                  <a:lnTo>
                    <a:pt x="595274" y="0"/>
                  </a:lnTo>
                  <a:lnTo>
                    <a:pt x="595274" y="790824"/>
                  </a:lnTo>
                  <a:lnTo>
                    <a:pt x="0" y="790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351187" y="5379302"/>
              <a:ext cx="3276866" cy="460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2"/>
                </a:lnSpc>
              </a:pPr>
              <a:r>
                <a:rPr lang="en-US" b="true" sz="210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3215" y="2780516"/>
              <a:ext cx="4414837" cy="2242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sz="19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tu</a:t>
              </a:r>
              <a:r>
                <a:rPr lang="en-US" sz="19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ned XGBoost model processes the input to determine the approval probability.</a:t>
              </a:r>
            </a:p>
            <a:p>
              <a:pPr algn="ctr">
                <a:lnSpc>
                  <a:spcPts val="2764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81735" y="1570666"/>
              <a:ext cx="3077797" cy="879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b="true" sz="197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Predictive Machine Learning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60430" y="3694536"/>
            <a:ext cx="3630950" cy="4829268"/>
            <a:chOff x="0" y="0"/>
            <a:chExt cx="4841267" cy="6439024"/>
          </a:xfrm>
        </p:grpSpPr>
        <p:grpSp>
          <p:nvGrpSpPr>
            <p:cNvPr name="Group 28" id="28"/>
            <p:cNvGrpSpPr/>
            <p:nvPr/>
          </p:nvGrpSpPr>
          <p:grpSpPr>
            <a:xfrm rot="-10800000">
              <a:off x="0" y="34693"/>
              <a:ext cx="4841267" cy="5601445"/>
              <a:chOff x="0" y="0"/>
              <a:chExt cx="520700" cy="6024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197640" y="0"/>
              <a:ext cx="445988" cy="445988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5E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46368" y="4789170"/>
              <a:ext cx="4748530" cy="1649854"/>
            </a:xfrm>
            <a:custGeom>
              <a:avLst/>
              <a:gdLst/>
              <a:ahLst/>
              <a:cxnLst/>
              <a:rect r="r" b="b" t="t" l="l"/>
              <a:pathLst>
                <a:path h="1649854" w="4748530">
                  <a:moveTo>
                    <a:pt x="0" y="0"/>
                  </a:moveTo>
                  <a:lnTo>
                    <a:pt x="4748531" y="0"/>
                  </a:lnTo>
                  <a:lnTo>
                    <a:pt x="4748531" y="1649854"/>
                  </a:lnTo>
                  <a:lnTo>
                    <a:pt x="0" y="1649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92605" y="5284985"/>
              <a:ext cx="639076" cy="658224"/>
            </a:xfrm>
            <a:custGeom>
              <a:avLst/>
              <a:gdLst/>
              <a:ahLst/>
              <a:cxnLst/>
              <a:rect r="r" b="b" t="t" l="l"/>
              <a:pathLst>
                <a:path h="658224" w="639076">
                  <a:moveTo>
                    <a:pt x="0" y="0"/>
                  </a:moveTo>
                  <a:lnTo>
                    <a:pt x="639076" y="0"/>
                  </a:lnTo>
                  <a:lnTo>
                    <a:pt x="639076" y="658224"/>
                  </a:lnTo>
                  <a:lnTo>
                    <a:pt x="0" y="658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351187" y="5360106"/>
              <a:ext cx="3276866" cy="460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2"/>
                </a:lnSpc>
              </a:pPr>
              <a:r>
                <a:rPr lang="en-US" b="true" sz="210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13215" y="2773611"/>
              <a:ext cx="4414837" cy="133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sz="19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fi</a:t>
              </a:r>
              <a:r>
                <a:rPr lang="en-US" sz="19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nal results are displayed in real-time: "Hired/Not Hired" status.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81735" y="1563762"/>
              <a:ext cx="3077797" cy="879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4"/>
                </a:lnSpc>
              </a:pPr>
              <a:r>
                <a:rPr lang="en-US" b="true" sz="197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Results Visualization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217069" y="7718523"/>
            <a:ext cx="398591" cy="398591"/>
          </a:xfrm>
          <a:custGeom>
            <a:avLst/>
            <a:gdLst/>
            <a:ahLst/>
            <a:cxnLst/>
            <a:rect r="r" b="b" t="t" l="l"/>
            <a:pathLst>
              <a:path h="398591" w="398591">
                <a:moveTo>
                  <a:pt x="0" y="0"/>
                </a:moveTo>
                <a:lnTo>
                  <a:pt x="398591" y="0"/>
                </a:lnTo>
                <a:lnTo>
                  <a:pt x="398591" y="398591"/>
                </a:lnTo>
                <a:lnTo>
                  <a:pt x="0" y="3985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0" t="0" r="-5578" b="-90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1169" y="1753451"/>
            <a:ext cx="15365662" cy="6780098"/>
          </a:xfrm>
          <a:custGeom>
            <a:avLst/>
            <a:gdLst/>
            <a:ahLst/>
            <a:cxnLst/>
            <a:rect r="r" b="b" t="t" l="l"/>
            <a:pathLst>
              <a:path h="6780098" w="15365662">
                <a:moveTo>
                  <a:pt x="0" y="0"/>
                </a:moveTo>
                <a:lnTo>
                  <a:pt x="15365662" y="0"/>
                </a:lnTo>
                <a:lnTo>
                  <a:pt x="15365662" y="6780098"/>
                </a:lnTo>
                <a:lnTo>
                  <a:pt x="0" y="6780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2291" y="350823"/>
            <a:ext cx="8441709" cy="214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18102B"/>
                </a:solidFill>
                <a:latin typeface="Raleway"/>
                <a:ea typeface="Raleway"/>
                <a:cs typeface="Raleway"/>
                <a:sym typeface="Raleway"/>
              </a:rPr>
              <a:t>Mainpage Overview</a:t>
            </a:r>
          </a:p>
          <a:p>
            <a:pPr algn="ctr">
              <a:lnSpc>
                <a:spcPts val="8623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570752" y="8653881"/>
            <a:ext cx="15256079" cy="1208837"/>
            <a:chOff x="0" y="0"/>
            <a:chExt cx="4159564" cy="3295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9564" cy="329589"/>
            </a:xfrm>
            <a:custGeom>
              <a:avLst/>
              <a:gdLst/>
              <a:ahLst/>
              <a:cxnLst/>
              <a:rect r="r" b="b" t="t" l="l"/>
              <a:pathLst>
                <a:path h="329589" w="4159564">
                  <a:moveTo>
                    <a:pt x="25373" y="0"/>
                  </a:moveTo>
                  <a:lnTo>
                    <a:pt x="4134191" y="0"/>
                  </a:lnTo>
                  <a:cubicBezTo>
                    <a:pt x="4140920" y="0"/>
                    <a:pt x="4147374" y="2673"/>
                    <a:pt x="4152132" y="7432"/>
                  </a:cubicBezTo>
                  <a:cubicBezTo>
                    <a:pt x="4156891" y="12190"/>
                    <a:pt x="4159564" y="18644"/>
                    <a:pt x="4159564" y="25373"/>
                  </a:cubicBezTo>
                  <a:lnTo>
                    <a:pt x="4159564" y="304216"/>
                  </a:lnTo>
                  <a:cubicBezTo>
                    <a:pt x="4159564" y="318229"/>
                    <a:pt x="4148204" y="329589"/>
                    <a:pt x="4134191" y="329589"/>
                  </a:cubicBezTo>
                  <a:lnTo>
                    <a:pt x="25373" y="329589"/>
                  </a:lnTo>
                  <a:cubicBezTo>
                    <a:pt x="18644" y="329589"/>
                    <a:pt x="12190" y="326916"/>
                    <a:pt x="7432" y="322157"/>
                  </a:cubicBezTo>
                  <a:cubicBezTo>
                    <a:pt x="2673" y="317399"/>
                    <a:pt x="0" y="310945"/>
                    <a:pt x="0" y="304216"/>
                  </a:cubicBezTo>
                  <a:lnTo>
                    <a:pt x="0" y="25373"/>
                  </a:lnTo>
                  <a:cubicBezTo>
                    <a:pt x="0" y="18644"/>
                    <a:pt x="2673" y="12190"/>
                    <a:pt x="7432" y="7432"/>
                  </a:cubicBezTo>
                  <a:cubicBezTo>
                    <a:pt x="12190" y="2673"/>
                    <a:pt x="18644" y="0"/>
                    <a:pt x="25373" y="0"/>
                  </a:cubicBezTo>
                  <a:close/>
                </a:path>
              </a:pathLst>
            </a:custGeom>
            <a:solidFill>
              <a:srgbClr val="A1C7C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159564" cy="348639"/>
            </a:xfrm>
            <a:prstGeom prst="rect">
              <a:avLst/>
            </a:prstGeom>
          </p:spPr>
          <p:txBody>
            <a:bodyPr anchor="ctr" rtlCol="false" tIns="49361" lIns="49361" bIns="49361" rIns="49361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Users can dynamically modify candidate parameters.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Input changes instantly update the prediction results.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7597" y="4576762"/>
            <a:ext cx="151939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>
                <a:solidFill>
                  <a:srgbClr val="2F2F2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DAHHAUYIHsg</dc:identifier>
  <dcterms:modified xsi:type="dcterms:W3CDTF">2011-08-01T06:04:30Z</dcterms:modified>
  <cp:revision>1</cp:revision>
  <dc:title>Smote PPT Presentasi – Kelompok 2 – HIRESIGHTS</dc:title>
</cp:coreProperties>
</file>