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0"/>
  </p:notes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Raleway Bold" charset="1" panose="00000000000000000000"/>
      <p:regular r:id="rId13"/>
    </p:embeddedFont>
    <p:embeddedFont>
      <p:font typeface="Raleway" charset="1" panose="00000000000000000000"/>
      <p:regular r:id="rId15"/>
    </p:embeddedFont>
    <p:embeddedFont>
      <p:font typeface="DM Sans Bold" charset="1" panose="00000000000000000000"/>
      <p:regular r:id="rId16"/>
    </p:embeddedFont>
    <p:embeddedFont>
      <p:font typeface="DM Sans" charset="1" panose="00000000000000000000"/>
      <p:regular r:id="rId17"/>
    </p:embeddedFont>
    <p:embeddedFont>
      <p:font typeface="Poppins" charset="1" panose="00000500000000000000"/>
      <p:regular r:id="rId18"/>
    </p:embeddedFont>
    <p:embeddedFont>
      <p:font typeface="Barlow Bold" charset="1" panose="000008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notesMasters/notesMaster1.xml" Type="http://schemas.openxmlformats.org/officeDocument/2006/relationships/notesMaster"/><Relationship Id="rId11" Target="theme/theme2.xml" Type="http://schemas.openxmlformats.org/officeDocument/2006/relationships/theme"/><Relationship Id="rId12" Target="notesSlides/notesSlide1.xml" Type="http://schemas.openxmlformats.org/officeDocument/2006/relationships/notesSlide"/><Relationship Id="rId13" Target="fonts/font13.fntdata" Type="http://schemas.openxmlformats.org/officeDocument/2006/relationships/font"/><Relationship Id="rId14" Target="notesSlides/notesSlide2.xml" Type="http://schemas.openxmlformats.org/officeDocument/2006/relationships/notes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Relationship Id="rId5" Target="https://github.com/fadlinur/Final-Project.git" TargetMode="External" Type="http://schemas.openxmlformats.org/officeDocument/2006/relationships/hyperlink"/><Relationship Id="rId6" Target="https://github.com/fadlinur/Final-Project.git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55601" y="3624900"/>
            <a:ext cx="15376798" cy="4150353"/>
            <a:chOff x="0" y="0"/>
            <a:chExt cx="20502397" cy="55338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502400" cy="5533805"/>
            </a:xfrm>
            <a:custGeom>
              <a:avLst/>
              <a:gdLst/>
              <a:ahLst/>
              <a:cxnLst/>
              <a:rect r="r" b="b" t="t" l="l"/>
              <a:pathLst>
                <a:path h="5533805" w="20502400">
                  <a:moveTo>
                    <a:pt x="0" y="0"/>
                  </a:moveTo>
                  <a:lnTo>
                    <a:pt x="20502400" y="0"/>
                  </a:lnTo>
                  <a:lnTo>
                    <a:pt x="20502400" y="5533805"/>
                  </a:lnTo>
                  <a:lnTo>
                    <a:pt x="0" y="5533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5601" r="0" b="-87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20502397" cy="55528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Data-Driven Recruitment System</a:t>
              </a:r>
            </a:p>
            <a:p>
              <a:pPr algn="ctr">
                <a:lnSpc>
                  <a:spcPts val="5759"/>
                </a:lnSpc>
              </a:pP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Optimizing</a:t>
              </a: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 Biased Talent Acquisition Through Data-Driven HR Analytics</a:t>
              </a:r>
            </a:p>
          </p:txBody>
        </p:sp>
      </p:grpSp>
      <p:sp>
        <p:nvSpPr>
          <p:cNvPr name="AutoShape 6" id="6"/>
          <p:cNvSpPr/>
          <p:nvPr/>
        </p:nvSpPr>
        <p:spPr>
          <a:xfrm>
            <a:off x="3037800" y="6390999"/>
            <a:ext cx="122124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47027" y="4576762"/>
            <a:ext cx="15193947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b="true" sz="72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Dashboard Implementation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02291" y="350823"/>
            <a:ext cx="6515119" cy="1062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Project Workflow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766754" y="3680139"/>
            <a:ext cx="3630950" cy="4858062"/>
            <a:chOff x="0" y="0"/>
            <a:chExt cx="4841267" cy="6477416"/>
          </a:xfrm>
        </p:grpSpPr>
        <p:grpSp>
          <p:nvGrpSpPr>
            <p:cNvPr name="Group 5" id="5"/>
            <p:cNvGrpSpPr/>
            <p:nvPr/>
          </p:nvGrpSpPr>
          <p:grpSpPr>
            <a:xfrm rot="-10800000">
              <a:off x="0" y="56994"/>
              <a:ext cx="4841267" cy="5601445"/>
              <a:chOff x="0" y="0"/>
              <a:chExt cx="520700" cy="602461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520700" cy="593949"/>
              </a:xfrm>
              <a:custGeom>
                <a:avLst/>
                <a:gdLst/>
                <a:ahLst/>
                <a:cxnLst/>
                <a:rect r="r" b="b" t="t" l="l"/>
                <a:pathLst>
                  <a:path h="593949" w="520700">
                    <a:moveTo>
                      <a:pt x="0" y="23597"/>
                    </a:moveTo>
                    <a:lnTo>
                      <a:pt x="0" y="362964"/>
                    </a:lnTo>
                    <a:cubicBezTo>
                      <a:pt x="0" y="377911"/>
                      <a:pt x="6658" y="392082"/>
                      <a:pt x="18164" y="401623"/>
                    </a:cubicBezTo>
                    <a:lnTo>
                      <a:pt x="242186" y="587398"/>
                    </a:lnTo>
                    <a:cubicBezTo>
                      <a:pt x="252720" y="596133"/>
                      <a:pt x="267980" y="596133"/>
                      <a:pt x="278514" y="587398"/>
                    </a:cubicBezTo>
                    <a:lnTo>
                      <a:pt x="502536" y="401623"/>
                    </a:lnTo>
                    <a:cubicBezTo>
                      <a:pt x="514042" y="392082"/>
                      <a:pt x="520700" y="377911"/>
                      <a:pt x="520700" y="362964"/>
                    </a:cubicBezTo>
                    <a:lnTo>
                      <a:pt x="520700" y="23597"/>
                    </a:lnTo>
                    <a:cubicBezTo>
                      <a:pt x="520700" y="17339"/>
                      <a:pt x="518214" y="11337"/>
                      <a:pt x="513789" y="6911"/>
                    </a:cubicBezTo>
                    <a:cubicBezTo>
                      <a:pt x="509363" y="2486"/>
                      <a:pt x="503361" y="0"/>
                      <a:pt x="497103" y="0"/>
                    </a:cubicBezTo>
                    <a:lnTo>
                      <a:pt x="23597" y="0"/>
                    </a:lnTo>
                    <a:cubicBezTo>
                      <a:pt x="17339" y="0"/>
                      <a:pt x="11337" y="2486"/>
                      <a:pt x="6911" y="6911"/>
                    </a:cubicBezTo>
                    <a:cubicBezTo>
                      <a:pt x="2486" y="11337"/>
                      <a:pt x="0" y="17339"/>
                      <a:pt x="0" y="23597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12700"/>
                <a:ext cx="520700" cy="3865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2197640" y="0"/>
              <a:ext cx="445988" cy="445988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C91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40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46368" y="4827562"/>
              <a:ext cx="4748530" cy="1649854"/>
            </a:xfrm>
            <a:custGeom>
              <a:avLst/>
              <a:gdLst/>
              <a:ahLst/>
              <a:cxnLst/>
              <a:rect r="r" b="b" t="t" l="l"/>
              <a:pathLst>
                <a:path h="1649854" w="4748530">
                  <a:moveTo>
                    <a:pt x="0" y="0"/>
                  </a:moveTo>
                  <a:lnTo>
                    <a:pt x="4748531" y="0"/>
                  </a:lnTo>
                  <a:lnTo>
                    <a:pt x="4748531" y="1649854"/>
                  </a:lnTo>
                  <a:lnTo>
                    <a:pt x="0" y="1649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1322784" y="5398498"/>
              <a:ext cx="3276866" cy="4601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42"/>
                </a:lnSpc>
              </a:pPr>
              <a:r>
                <a:rPr lang="en-US" b="true" sz="2102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Step 1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13215" y="2866632"/>
              <a:ext cx="4414837" cy="17886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Candidate data is entered manually through an interactive form in the Streamlit sidebar.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881735" y="1656782"/>
              <a:ext cx="3077797" cy="4255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b="true" sz="1974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Data Collection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914849" y="2433683"/>
            <a:ext cx="3630950" cy="4843665"/>
            <a:chOff x="0" y="0"/>
            <a:chExt cx="4841267" cy="6458220"/>
          </a:xfrm>
        </p:grpSpPr>
        <p:grpSp>
          <p:nvGrpSpPr>
            <p:cNvPr name="Group 16" id="16"/>
            <p:cNvGrpSpPr/>
            <p:nvPr/>
          </p:nvGrpSpPr>
          <p:grpSpPr>
            <a:xfrm rot="-10800000">
              <a:off x="0" y="45843"/>
              <a:ext cx="4841267" cy="5601445"/>
              <a:chOff x="0" y="0"/>
              <a:chExt cx="520700" cy="602461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20700" cy="593949"/>
              </a:xfrm>
              <a:custGeom>
                <a:avLst/>
                <a:gdLst/>
                <a:ahLst/>
                <a:cxnLst/>
                <a:rect r="r" b="b" t="t" l="l"/>
                <a:pathLst>
                  <a:path h="593949" w="520700">
                    <a:moveTo>
                      <a:pt x="0" y="23597"/>
                    </a:moveTo>
                    <a:lnTo>
                      <a:pt x="0" y="362964"/>
                    </a:lnTo>
                    <a:cubicBezTo>
                      <a:pt x="0" y="377911"/>
                      <a:pt x="6658" y="392082"/>
                      <a:pt x="18164" y="401623"/>
                    </a:cubicBezTo>
                    <a:lnTo>
                      <a:pt x="242186" y="587398"/>
                    </a:lnTo>
                    <a:cubicBezTo>
                      <a:pt x="252720" y="596133"/>
                      <a:pt x="267980" y="596133"/>
                      <a:pt x="278514" y="587398"/>
                    </a:cubicBezTo>
                    <a:lnTo>
                      <a:pt x="502536" y="401623"/>
                    </a:lnTo>
                    <a:cubicBezTo>
                      <a:pt x="514042" y="392082"/>
                      <a:pt x="520700" y="377911"/>
                      <a:pt x="520700" y="362964"/>
                    </a:cubicBezTo>
                    <a:lnTo>
                      <a:pt x="520700" y="23597"/>
                    </a:lnTo>
                    <a:cubicBezTo>
                      <a:pt x="520700" y="17339"/>
                      <a:pt x="518214" y="11337"/>
                      <a:pt x="513789" y="6911"/>
                    </a:cubicBezTo>
                    <a:cubicBezTo>
                      <a:pt x="509363" y="2486"/>
                      <a:pt x="503361" y="0"/>
                      <a:pt x="497103" y="0"/>
                    </a:cubicBezTo>
                    <a:lnTo>
                      <a:pt x="23597" y="0"/>
                    </a:lnTo>
                    <a:cubicBezTo>
                      <a:pt x="17339" y="0"/>
                      <a:pt x="11337" y="2486"/>
                      <a:pt x="6911" y="6911"/>
                    </a:cubicBezTo>
                    <a:cubicBezTo>
                      <a:pt x="2486" y="11337"/>
                      <a:pt x="0" y="17339"/>
                      <a:pt x="0" y="23597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2700"/>
                <a:ext cx="520700" cy="3865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2197640" y="0"/>
              <a:ext cx="445988" cy="445988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A7B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40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46368" y="4808366"/>
              <a:ext cx="4748530" cy="1649854"/>
            </a:xfrm>
            <a:custGeom>
              <a:avLst/>
              <a:gdLst/>
              <a:ahLst/>
              <a:cxnLst/>
              <a:rect r="r" b="b" t="t" l="l"/>
              <a:pathLst>
                <a:path h="1649854" w="4748530">
                  <a:moveTo>
                    <a:pt x="0" y="0"/>
                  </a:moveTo>
                  <a:lnTo>
                    <a:pt x="4748531" y="0"/>
                  </a:lnTo>
                  <a:lnTo>
                    <a:pt x="4748531" y="1649854"/>
                  </a:lnTo>
                  <a:lnTo>
                    <a:pt x="0" y="1649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584098" y="5237881"/>
              <a:ext cx="595275" cy="790824"/>
            </a:xfrm>
            <a:custGeom>
              <a:avLst/>
              <a:gdLst/>
              <a:ahLst/>
              <a:cxnLst/>
              <a:rect r="r" b="b" t="t" l="l"/>
              <a:pathLst>
                <a:path h="790824" w="595275">
                  <a:moveTo>
                    <a:pt x="0" y="0"/>
                  </a:moveTo>
                  <a:lnTo>
                    <a:pt x="595274" y="0"/>
                  </a:lnTo>
                  <a:lnTo>
                    <a:pt x="595274" y="790824"/>
                  </a:lnTo>
                  <a:lnTo>
                    <a:pt x="0" y="790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1351187" y="5379302"/>
              <a:ext cx="3276866" cy="4601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42"/>
                </a:lnSpc>
              </a:pPr>
              <a:r>
                <a:rPr lang="en-US" b="true" sz="2102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Step 2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13215" y="2780516"/>
              <a:ext cx="4414837" cy="22429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 tu</a:t>
              </a: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ned XGBoost model processes the input to determine the approval probability.</a:t>
              </a:r>
            </a:p>
            <a:p>
              <a:pPr algn="ctr">
                <a:lnSpc>
                  <a:spcPts val="2764"/>
                </a:lnSpc>
              </a:pP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81735" y="1570666"/>
              <a:ext cx="3077797" cy="8799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b="true" sz="1974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Predictive Machine Learning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060430" y="3694536"/>
            <a:ext cx="3630950" cy="4829268"/>
            <a:chOff x="0" y="0"/>
            <a:chExt cx="4841267" cy="6439024"/>
          </a:xfrm>
        </p:grpSpPr>
        <p:grpSp>
          <p:nvGrpSpPr>
            <p:cNvPr name="Group 28" id="28"/>
            <p:cNvGrpSpPr/>
            <p:nvPr/>
          </p:nvGrpSpPr>
          <p:grpSpPr>
            <a:xfrm rot="-10800000">
              <a:off x="0" y="34693"/>
              <a:ext cx="4841267" cy="5601445"/>
              <a:chOff x="0" y="0"/>
              <a:chExt cx="520700" cy="60246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20700" cy="593949"/>
              </a:xfrm>
              <a:custGeom>
                <a:avLst/>
                <a:gdLst/>
                <a:ahLst/>
                <a:cxnLst/>
                <a:rect r="r" b="b" t="t" l="l"/>
                <a:pathLst>
                  <a:path h="593949" w="520700">
                    <a:moveTo>
                      <a:pt x="0" y="23597"/>
                    </a:moveTo>
                    <a:lnTo>
                      <a:pt x="0" y="362964"/>
                    </a:lnTo>
                    <a:cubicBezTo>
                      <a:pt x="0" y="377911"/>
                      <a:pt x="6658" y="392082"/>
                      <a:pt x="18164" y="401623"/>
                    </a:cubicBezTo>
                    <a:lnTo>
                      <a:pt x="242186" y="587398"/>
                    </a:lnTo>
                    <a:cubicBezTo>
                      <a:pt x="252720" y="596133"/>
                      <a:pt x="267980" y="596133"/>
                      <a:pt x="278514" y="587398"/>
                    </a:cubicBezTo>
                    <a:lnTo>
                      <a:pt x="502536" y="401623"/>
                    </a:lnTo>
                    <a:cubicBezTo>
                      <a:pt x="514042" y="392082"/>
                      <a:pt x="520700" y="377911"/>
                      <a:pt x="520700" y="362964"/>
                    </a:cubicBezTo>
                    <a:lnTo>
                      <a:pt x="520700" y="23597"/>
                    </a:lnTo>
                    <a:cubicBezTo>
                      <a:pt x="520700" y="17339"/>
                      <a:pt x="518214" y="11337"/>
                      <a:pt x="513789" y="6911"/>
                    </a:cubicBezTo>
                    <a:cubicBezTo>
                      <a:pt x="509363" y="2486"/>
                      <a:pt x="503361" y="0"/>
                      <a:pt x="497103" y="0"/>
                    </a:cubicBezTo>
                    <a:lnTo>
                      <a:pt x="23597" y="0"/>
                    </a:lnTo>
                    <a:cubicBezTo>
                      <a:pt x="17339" y="0"/>
                      <a:pt x="11337" y="2486"/>
                      <a:pt x="6911" y="6911"/>
                    </a:cubicBezTo>
                    <a:cubicBezTo>
                      <a:pt x="2486" y="11337"/>
                      <a:pt x="0" y="17339"/>
                      <a:pt x="0" y="23597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2700"/>
                <a:ext cx="520700" cy="3865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2197640" y="0"/>
              <a:ext cx="445988" cy="445988"/>
              <a:chOff x="0" y="0"/>
              <a:chExt cx="8128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85E0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Freeform 34" id="34"/>
            <p:cNvSpPr/>
            <p:nvPr/>
          </p:nvSpPr>
          <p:spPr>
            <a:xfrm flipH="false" flipV="false" rot="0">
              <a:off x="46368" y="4789170"/>
              <a:ext cx="4748530" cy="1649854"/>
            </a:xfrm>
            <a:custGeom>
              <a:avLst/>
              <a:gdLst/>
              <a:ahLst/>
              <a:cxnLst/>
              <a:rect r="r" b="b" t="t" l="l"/>
              <a:pathLst>
                <a:path h="1649854" w="4748530">
                  <a:moveTo>
                    <a:pt x="0" y="0"/>
                  </a:moveTo>
                  <a:lnTo>
                    <a:pt x="4748531" y="0"/>
                  </a:lnTo>
                  <a:lnTo>
                    <a:pt x="4748531" y="1649854"/>
                  </a:lnTo>
                  <a:lnTo>
                    <a:pt x="0" y="1649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492605" y="5284985"/>
              <a:ext cx="639076" cy="658224"/>
            </a:xfrm>
            <a:custGeom>
              <a:avLst/>
              <a:gdLst/>
              <a:ahLst/>
              <a:cxnLst/>
              <a:rect r="r" b="b" t="t" l="l"/>
              <a:pathLst>
                <a:path h="658224" w="639076">
                  <a:moveTo>
                    <a:pt x="0" y="0"/>
                  </a:moveTo>
                  <a:lnTo>
                    <a:pt x="639076" y="0"/>
                  </a:lnTo>
                  <a:lnTo>
                    <a:pt x="639076" y="658224"/>
                  </a:lnTo>
                  <a:lnTo>
                    <a:pt x="0" y="658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 rot="0">
              <a:off x="1351187" y="5360106"/>
              <a:ext cx="3276866" cy="4601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42"/>
                </a:lnSpc>
              </a:pPr>
              <a:r>
                <a:rPr lang="en-US" b="true" sz="2102">
                  <a:solidFill>
                    <a:srgbClr val="FFFFFF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Step 3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213215" y="2773611"/>
              <a:ext cx="4414837" cy="13342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The fi</a:t>
              </a:r>
              <a:r>
                <a:rPr lang="en-US" sz="1974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nal results are displayed in real-time: "Hired/Not Hired" status.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881735" y="1563762"/>
              <a:ext cx="3077797" cy="8799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4"/>
                </a:lnSpc>
              </a:pPr>
              <a:r>
                <a:rPr lang="en-US" b="true" sz="1974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Results Visualization</a:t>
              </a:r>
            </a:p>
          </p:txBody>
        </p:sp>
      </p:grpSp>
      <p:sp>
        <p:nvSpPr>
          <p:cNvPr name="Freeform 39" id="39"/>
          <p:cNvSpPr/>
          <p:nvPr/>
        </p:nvSpPr>
        <p:spPr>
          <a:xfrm flipH="false" flipV="false" rot="0">
            <a:off x="3217069" y="7718523"/>
            <a:ext cx="398591" cy="398591"/>
          </a:xfrm>
          <a:custGeom>
            <a:avLst/>
            <a:gdLst/>
            <a:ahLst/>
            <a:cxnLst/>
            <a:rect r="r" b="b" t="t" l="l"/>
            <a:pathLst>
              <a:path h="398591" w="398591">
                <a:moveTo>
                  <a:pt x="0" y="0"/>
                </a:moveTo>
                <a:lnTo>
                  <a:pt x="398591" y="0"/>
                </a:lnTo>
                <a:lnTo>
                  <a:pt x="398591" y="398591"/>
                </a:lnTo>
                <a:lnTo>
                  <a:pt x="0" y="39859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2665959"/>
            <a:ext cx="11680120" cy="5153853"/>
          </a:xfrm>
          <a:custGeom>
            <a:avLst/>
            <a:gdLst/>
            <a:ahLst/>
            <a:cxnLst/>
            <a:rect r="r" b="b" t="t" l="l"/>
            <a:pathLst>
              <a:path h="5153853" w="11680120">
                <a:moveTo>
                  <a:pt x="0" y="0"/>
                </a:moveTo>
                <a:lnTo>
                  <a:pt x="11680120" y="0"/>
                </a:lnTo>
                <a:lnTo>
                  <a:pt x="11680120" y="5153853"/>
                </a:lnTo>
                <a:lnTo>
                  <a:pt x="0" y="51538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02291" y="350823"/>
            <a:ext cx="8441709" cy="2148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Mainpage Overview</a:t>
            </a:r>
          </a:p>
          <a:p>
            <a:pPr algn="ctr">
              <a:lnSpc>
                <a:spcPts val="8623"/>
              </a:lnSpc>
              <a:spcBef>
                <a:spcPct val="0"/>
              </a:spcBef>
            </a:pPr>
          </a:p>
        </p:txBody>
      </p:sp>
      <p:grpSp>
        <p:nvGrpSpPr>
          <p:cNvPr name="Group 5" id="5"/>
          <p:cNvGrpSpPr/>
          <p:nvPr/>
        </p:nvGrpSpPr>
        <p:grpSpPr>
          <a:xfrm rot="0">
            <a:off x="13352204" y="5342270"/>
            <a:ext cx="3765921" cy="2477541"/>
            <a:chOff x="0" y="0"/>
            <a:chExt cx="1026777" cy="6755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6777" cy="675501"/>
            </a:xfrm>
            <a:custGeom>
              <a:avLst/>
              <a:gdLst/>
              <a:ahLst/>
              <a:cxnLst/>
              <a:rect r="r" b="b" t="t" l="l"/>
              <a:pathLst>
                <a:path h="675501" w="1026777">
                  <a:moveTo>
                    <a:pt x="102789" y="0"/>
                  </a:moveTo>
                  <a:lnTo>
                    <a:pt x="923988" y="0"/>
                  </a:lnTo>
                  <a:cubicBezTo>
                    <a:pt x="980757" y="0"/>
                    <a:pt x="1026777" y="46020"/>
                    <a:pt x="1026777" y="102789"/>
                  </a:cubicBezTo>
                  <a:lnTo>
                    <a:pt x="1026777" y="572711"/>
                  </a:lnTo>
                  <a:cubicBezTo>
                    <a:pt x="1026777" y="629480"/>
                    <a:pt x="980757" y="675501"/>
                    <a:pt x="923988" y="675501"/>
                  </a:cubicBezTo>
                  <a:lnTo>
                    <a:pt x="102789" y="675501"/>
                  </a:lnTo>
                  <a:cubicBezTo>
                    <a:pt x="46020" y="675501"/>
                    <a:pt x="0" y="629480"/>
                    <a:pt x="0" y="572711"/>
                  </a:cubicBezTo>
                  <a:lnTo>
                    <a:pt x="0" y="102789"/>
                  </a:lnTo>
                  <a:cubicBezTo>
                    <a:pt x="0" y="46020"/>
                    <a:pt x="46020" y="0"/>
                    <a:pt x="102789" y="0"/>
                  </a:cubicBezTo>
                  <a:close/>
                </a:path>
              </a:pathLst>
            </a:custGeom>
            <a:solidFill>
              <a:srgbClr val="F8FAF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026777" cy="694551"/>
            </a:xfrm>
            <a:prstGeom prst="rect">
              <a:avLst/>
            </a:prstGeom>
          </p:spPr>
          <p:txBody>
            <a:bodyPr anchor="ctr" rtlCol="false" tIns="49361" lIns="49361" bIns="49361" rIns="49361"/>
            <a:lstStyle/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Users can dynamically modify candidate parameters.</a:t>
              </a:r>
            </a:p>
            <a:p>
              <a:pPr algn="l">
                <a:lnSpc>
                  <a:spcPts val="2520"/>
                </a:lnSpc>
              </a:pPr>
            </a:p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Input changes instantly update the prediction results.</a:t>
              </a:r>
            </a:p>
          </p:txBody>
        </p:sp>
      </p:grpSp>
      <p:sp>
        <p:nvSpPr>
          <p:cNvPr name="Freeform 8" id="8">
            <a:hlinkClick r:id="rId5" tooltip="https://github.com/fadlinur/Final-Project.git"/>
          </p:cNvPr>
          <p:cNvSpPr/>
          <p:nvPr/>
        </p:nvSpPr>
        <p:spPr>
          <a:xfrm flipH="false" flipV="false" rot="0">
            <a:off x="15215046" y="2580220"/>
            <a:ext cx="1903079" cy="1829334"/>
          </a:xfrm>
          <a:custGeom>
            <a:avLst/>
            <a:gdLst/>
            <a:ahLst/>
            <a:cxnLst/>
            <a:rect r="r" b="b" t="t" l="l"/>
            <a:pathLst>
              <a:path h="1829334" w="1903079">
                <a:moveTo>
                  <a:pt x="0" y="0"/>
                </a:moveTo>
                <a:lnTo>
                  <a:pt x="1903078" y="0"/>
                </a:lnTo>
                <a:lnTo>
                  <a:pt x="1903078" y="1829334"/>
                </a:lnTo>
                <a:lnTo>
                  <a:pt x="0" y="18293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352204" y="3399904"/>
            <a:ext cx="1703294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93"/>
              </a:lnSpc>
              <a:spcBef>
                <a:spcPct val="0"/>
              </a:spcBef>
            </a:pPr>
            <a:r>
              <a:rPr lang="en-US" b="true" sz="382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GITHUB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352204" y="4068750"/>
            <a:ext cx="1703294" cy="340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22"/>
              </a:lnSpc>
              <a:spcBef>
                <a:spcPct val="0"/>
              </a:spcBef>
            </a:pPr>
            <a:r>
              <a:rPr lang="en-US" b="true" sz="2185">
                <a:solidFill>
                  <a:srgbClr val="C624DB"/>
                </a:solidFill>
                <a:latin typeface="Barlow Bold"/>
                <a:ea typeface="Barlow Bold"/>
                <a:cs typeface="Barlow Bold"/>
                <a:sym typeface="Barlow Bold"/>
                <a:hlinkClick r:id="rId6" tooltip="https://github.com/fadlinur/Final-Project.git"/>
              </a:rPr>
              <a:t>[click here]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DAHHAUYIHsg</dc:identifier>
  <dcterms:modified xsi:type="dcterms:W3CDTF">2011-08-01T06:04:30Z</dcterms:modified>
  <cp:revision>1</cp:revision>
  <dc:title>Smote PPT Presentasi – Kelompok 2 – HIRESIGHTS</dc:title>
</cp:coreProperties>
</file>