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5"/>
  </p:notes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Raleway Bold" charset="1" panose="00000000000000000000"/>
      <p:regular r:id="rId18"/>
    </p:embeddedFont>
    <p:embeddedFont>
      <p:font typeface="Raleway" charset="1" panose="00000000000000000000"/>
      <p:regular r:id="rId20"/>
    </p:embeddedFont>
    <p:embeddedFont>
      <p:font typeface="Poppins Bold" charset="1" panose="00000800000000000000"/>
      <p:regular r:id="rId21"/>
    </p:embeddedFont>
    <p:embeddedFont>
      <p:font typeface="Poppins" charset="1" panose="00000500000000000000"/>
      <p:regular r:id="rId22"/>
    </p:embeddedFont>
    <p:embeddedFont>
      <p:font typeface="Barlow" charset="1" panose="00000500000000000000"/>
      <p:regular r:id="rId23"/>
    </p:embeddedFont>
    <p:embeddedFont>
      <p:font typeface="Barlow Bold" charset="1" panose="000008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notesMasters/notesMaster1.xml" Type="http://schemas.openxmlformats.org/officeDocument/2006/relationships/notesMaster"/><Relationship Id="rId16" Target="theme/theme2.xml" Type="http://schemas.openxmlformats.org/officeDocument/2006/relationships/theme"/><Relationship Id="rId17" Target="notesSlides/notesSlide1.xml" Type="http://schemas.openxmlformats.org/officeDocument/2006/relationships/notesSlide"/><Relationship Id="rId18" Target="fonts/font18.fntdata" Type="http://schemas.openxmlformats.org/officeDocument/2006/relationships/font"/><Relationship Id="rId19" Target="notesSlides/notesSlide2.xml" Type="http://schemas.openxmlformats.org/officeDocument/2006/relationships/note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4.png" Type="http://schemas.openxmlformats.org/officeDocument/2006/relationships/image"/><Relationship Id="rId4" Target="https://github.com/fadlinur/Final-Project.git" TargetMode="External" Type="http://schemas.openxmlformats.org/officeDocument/2006/relationships/hyperlink"/><Relationship Id="rId5" Target="https://github.com/fadlinur/Final-Project.git"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Modeling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2057058" y="2850744"/>
            <a:ext cx="3087522" cy="517813"/>
          </a:xfrm>
          <a:prstGeom prst="rect">
            <a:avLst/>
          </a:prstGeom>
        </p:spPr>
        <p:txBody>
          <a:bodyPr anchor="t" rtlCol="false" tIns="0" lIns="0" bIns="0" rIns="0">
            <a:spAutoFit/>
          </a:bodyPr>
          <a:lstStyle/>
          <a:p>
            <a:pPr algn="l">
              <a:lnSpc>
                <a:spcPts val="4367"/>
              </a:lnSpc>
            </a:pPr>
            <a:r>
              <a:rPr lang="en-US" b="true" sz="2599">
                <a:solidFill>
                  <a:srgbClr val="1A1A1A"/>
                </a:solidFill>
                <a:latin typeface="Raleway Bold"/>
                <a:ea typeface="Raleway Bold"/>
                <a:cs typeface="Raleway Bold"/>
                <a:sym typeface="Raleway Bold"/>
              </a:rPr>
              <a:t>Logistic Regression</a:t>
            </a:r>
          </a:p>
        </p:txBody>
      </p:sp>
      <p:grpSp>
        <p:nvGrpSpPr>
          <p:cNvPr name="Group 4" id="4"/>
          <p:cNvGrpSpPr/>
          <p:nvPr/>
        </p:nvGrpSpPr>
        <p:grpSpPr>
          <a:xfrm rot="0">
            <a:off x="13338618" y="2915205"/>
            <a:ext cx="3042301" cy="5713772"/>
            <a:chOff x="0" y="0"/>
            <a:chExt cx="801264" cy="1504862"/>
          </a:xfrm>
        </p:grpSpPr>
        <p:sp>
          <p:nvSpPr>
            <p:cNvPr name="Freeform 5" id="5"/>
            <p:cNvSpPr/>
            <p:nvPr/>
          </p:nvSpPr>
          <p:spPr>
            <a:xfrm flipH="false" flipV="false" rot="0">
              <a:off x="0" y="0"/>
              <a:ext cx="801264" cy="1504862"/>
            </a:xfrm>
            <a:custGeom>
              <a:avLst/>
              <a:gdLst/>
              <a:ahLst/>
              <a:cxnLst/>
              <a:rect r="r" b="b" t="t" l="l"/>
              <a:pathLst>
                <a:path h="1504862" w="801264">
                  <a:moveTo>
                    <a:pt x="129783" y="0"/>
                  </a:moveTo>
                  <a:lnTo>
                    <a:pt x="671482" y="0"/>
                  </a:lnTo>
                  <a:cubicBezTo>
                    <a:pt x="743159" y="0"/>
                    <a:pt x="801264" y="58106"/>
                    <a:pt x="801264" y="129783"/>
                  </a:cubicBezTo>
                  <a:lnTo>
                    <a:pt x="801264" y="1375079"/>
                  </a:lnTo>
                  <a:cubicBezTo>
                    <a:pt x="801264" y="1409500"/>
                    <a:pt x="787591" y="1442510"/>
                    <a:pt x="763252" y="1466849"/>
                  </a:cubicBezTo>
                  <a:cubicBezTo>
                    <a:pt x="738913" y="1491188"/>
                    <a:pt x="705902" y="1504862"/>
                    <a:pt x="671482" y="1504862"/>
                  </a:cubicBezTo>
                  <a:lnTo>
                    <a:pt x="129783" y="1504862"/>
                  </a:lnTo>
                  <a:cubicBezTo>
                    <a:pt x="95362" y="1504862"/>
                    <a:pt x="62351" y="1491188"/>
                    <a:pt x="38012" y="1466849"/>
                  </a:cubicBezTo>
                  <a:cubicBezTo>
                    <a:pt x="13673" y="1442510"/>
                    <a:pt x="0" y="1409500"/>
                    <a:pt x="0" y="1375079"/>
                  </a:cubicBezTo>
                  <a:lnTo>
                    <a:pt x="0" y="129783"/>
                  </a:lnTo>
                  <a:cubicBezTo>
                    <a:pt x="0" y="95362"/>
                    <a:pt x="13673" y="62351"/>
                    <a:pt x="38012" y="38012"/>
                  </a:cubicBezTo>
                  <a:cubicBezTo>
                    <a:pt x="62351" y="13673"/>
                    <a:pt x="95362" y="0"/>
                    <a:pt x="129783" y="0"/>
                  </a:cubicBezTo>
                  <a:close/>
                </a:path>
              </a:pathLst>
            </a:custGeom>
            <a:solidFill>
              <a:srgbClr val="A1C7CE"/>
            </a:solidFill>
            <a:ln w="85725" cap="rnd">
              <a:solidFill>
                <a:srgbClr val="505050"/>
              </a:solidFill>
              <a:prstDash val="solid"/>
              <a:round/>
            </a:ln>
          </p:spPr>
        </p:sp>
        <p:sp>
          <p:nvSpPr>
            <p:cNvPr name="TextBox 6" id="6"/>
            <p:cNvSpPr txBox="true"/>
            <p:nvPr/>
          </p:nvSpPr>
          <p:spPr>
            <a:xfrm>
              <a:off x="0" y="-9525"/>
              <a:ext cx="801264" cy="1514387"/>
            </a:xfrm>
            <a:prstGeom prst="rect">
              <a:avLst/>
            </a:prstGeom>
          </p:spPr>
          <p:txBody>
            <a:bodyPr anchor="ctr" rtlCol="false" tIns="50800" lIns="50800" bIns="50800" rIns="50800"/>
            <a:lstStyle/>
            <a:p>
              <a:pPr algn="ctr">
                <a:lnSpc>
                  <a:spcPts val="2491"/>
                </a:lnSpc>
              </a:pPr>
            </a:p>
          </p:txBody>
        </p:sp>
      </p:grpSp>
      <p:sp>
        <p:nvSpPr>
          <p:cNvPr name="TextBox 7" id="7"/>
          <p:cNvSpPr txBox="true"/>
          <p:nvPr/>
        </p:nvSpPr>
        <p:spPr>
          <a:xfrm rot="0">
            <a:off x="13649959" y="3219465"/>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Recall</a:t>
            </a:r>
          </a:p>
        </p:txBody>
      </p:sp>
      <p:sp>
        <p:nvSpPr>
          <p:cNvPr name="TextBox 8" id="8"/>
          <p:cNvSpPr txBox="true"/>
          <p:nvPr/>
        </p:nvSpPr>
        <p:spPr>
          <a:xfrm rot="0">
            <a:off x="13649959" y="5050990"/>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F1 S</a:t>
            </a:r>
            <a:r>
              <a:rPr lang="en-US" b="true" sz="2600">
                <a:solidFill>
                  <a:srgbClr val="18102B"/>
                </a:solidFill>
                <a:latin typeface="Raleway Bold"/>
                <a:ea typeface="Raleway Bold"/>
                <a:cs typeface="Raleway Bold"/>
                <a:sym typeface="Raleway Bold"/>
              </a:rPr>
              <a:t>core</a:t>
            </a:r>
          </a:p>
        </p:txBody>
      </p:sp>
      <p:sp>
        <p:nvSpPr>
          <p:cNvPr name="TextBox 9" id="9"/>
          <p:cNvSpPr txBox="true"/>
          <p:nvPr/>
        </p:nvSpPr>
        <p:spPr>
          <a:xfrm rot="0">
            <a:off x="13649959" y="6879790"/>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ROC AUC</a:t>
            </a:r>
          </a:p>
        </p:txBody>
      </p:sp>
      <p:sp>
        <p:nvSpPr>
          <p:cNvPr name="TextBox 10" id="10"/>
          <p:cNvSpPr txBox="true"/>
          <p:nvPr/>
        </p:nvSpPr>
        <p:spPr>
          <a:xfrm rot="0">
            <a:off x="13649959" y="36033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78.6</a:t>
            </a:r>
            <a:r>
              <a:rPr lang="en-US" sz="5900">
                <a:solidFill>
                  <a:srgbClr val="18102B"/>
                </a:solidFill>
                <a:latin typeface="Raleway"/>
                <a:ea typeface="Raleway"/>
                <a:cs typeface="Raleway"/>
                <a:sym typeface="Raleway"/>
              </a:rPr>
              <a:t>%</a:t>
            </a:r>
          </a:p>
        </p:txBody>
      </p:sp>
      <p:sp>
        <p:nvSpPr>
          <p:cNvPr name="TextBox 11" id="11"/>
          <p:cNvSpPr txBox="true"/>
          <p:nvPr/>
        </p:nvSpPr>
        <p:spPr>
          <a:xfrm rot="0">
            <a:off x="13649959" y="54321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80.9%</a:t>
            </a:r>
          </a:p>
        </p:txBody>
      </p:sp>
      <p:sp>
        <p:nvSpPr>
          <p:cNvPr name="TextBox 12" id="12"/>
          <p:cNvSpPr txBox="true"/>
          <p:nvPr/>
        </p:nvSpPr>
        <p:spPr>
          <a:xfrm rot="0">
            <a:off x="13649959" y="72609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88.3%</a:t>
            </a:r>
          </a:p>
        </p:txBody>
      </p:sp>
      <p:sp>
        <p:nvSpPr>
          <p:cNvPr name="TextBox 13" id="13"/>
          <p:cNvSpPr txBox="true"/>
          <p:nvPr/>
        </p:nvSpPr>
        <p:spPr>
          <a:xfrm rot="0">
            <a:off x="1907081" y="3552534"/>
            <a:ext cx="9520263" cy="4420063"/>
          </a:xfrm>
          <a:prstGeom prst="rect">
            <a:avLst/>
          </a:prstGeom>
        </p:spPr>
        <p:txBody>
          <a:bodyPr anchor="t" rtlCol="false" tIns="0" lIns="0" bIns="0" rIns="0">
            <a:spAutoFit/>
          </a:bodyPr>
          <a:lstStyle/>
          <a:p>
            <a:pPr algn="l" marL="453387" indent="-226693" lvl="1">
              <a:lnSpc>
                <a:spcPts val="2519"/>
              </a:lnSpc>
              <a:buFont typeface="Arial"/>
              <a:buChar char="•"/>
            </a:pPr>
            <a:r>
              <a:rPr lang="en-US" sz="2099">
                <a:solidFill>
                  <a:srgbClr val="000000"/>
                </a:solidFill>
                <a:latin typeface="Raleway"/>
                <a:ea typeface="Raleway"/>
                <a:cs typeface="Raleway"/>
                <a:sym typeface="Raleway"/>
              </a:rPr>
              <a:t>Simple and Fast: This algorithm is very easy to train and allows you to quickly evaluate initial performance without the need for complex tuning.</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Ideal for Simple Linear Trends: Works best when the relationship between features (such as test scores or experience) and selection outcomes is linear. For example, the higher the interview score, the greater the probability of a candidate being hired.</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Stable and Consistent: Its predictions are not easily affected by small changes in the data, making it a fair benchmark for complex models like XGBoost.</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Flexible with Imbalanced Data: Easily configurable to handle imbalanced datasets, a very common condition in real-world recruitment scenarios.</a:t>
            </a:r>
          </a:p>
        </p:txBody>
      </p:sp>
      <p:sp>
        <p:nvSpPr>
          <p:cNvPr name="TextBox 14" id="14"/>
          <p:cNvSpPr txBox="true"/>
          <p:nvPr/>
        </p:nvSpPr>
        <p:spPr>
          <a:xfrm rot="0">
            <a:off x="854691" y="503223"/>
            <a:ext cx="6737768"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Ba</a:t>
            </a:r>
            <a:r>
              <a:rPr lang="en-US" sz="6159">
                <a:solidFill>
                  <a:srgbClr val="18102B"/>
                </a:solidFill>
                <a:latin typeface="Raleway"/>
                <a:ea typeface="Raleway"/>
                <a:cs typeface="Raleway"/>
                <a:sym typeface="Raleway"/>
              </a:rPr>
              <a:t>seline Model</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430690"/>
            <a:ext cx="8523750"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Model Experiment</a:t>
            </a:r>
          </a:p>
        </p:txBody>
      </p:sp>
      <p:graphicFrame>
        <p:nvGraphicFramePr>
          <p:cNvPr name="Table 4" id="4"/>
          <p:cNvGraphicFramePr>
            <a:graphicFrameLocks noGrp="true"/>
          </p:cNvGraphicFramePr>
          <p:nvPr/>
        </p:nvGraphicFramePr>
        <p:xfrm>
          <a:off x="854691" y="1705263"/>
          <a:ext cx="16404609" cy="5686425"/>
        </p:xfrm>
        <a:graphic>
          <a:graphicData uri="http://schemas.openxmlformats.org/drawingml/2006/table">
            <a:tbl>
              <a:tblPr/>
              <a:tblGrid>
                <a:gridCol w="2677327"/>
                <a:gridCol w="2677327"/>
                <a:gridCol w="2677327"/>
                <a:gridCol w="2677327"/>
                <a:gridCol w="2847650"/>
                <a:gridCol w="2847650"/>
              </a:tblGrid>
              <a:tr h="516948">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0.818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10.889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14.729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21.429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18.216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10.438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Logistic Regression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2.496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8.240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11.608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9.989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8.221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12.444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16.129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25.714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21.212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11.343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Decision Tree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0.808</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16.444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19.182</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K-Neighbors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0.557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0.466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0.624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22.281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37.262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36.402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37.471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29.496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grpSp>
        <p:nvGrpSpPr>
          <p:cNvPr name="Group 5" id="5"/>
          <p:cNvGrpSpPr/>
          <p:nvPr/>
        </p:nvGrpSpPr>
        <p:grpSpPr>
          <a:xfrm rot="0">
            <a:off x="854691" y="7429788"/>
            <a:ext cx="16404609" cy="2650117"/>
            <a:chOff x="0" y="0"/>
            <a:chExt cx="4472710" cy="722553"/>
          </a:xfrm>
        </p:grpSpPr>
        <p:sp>
          <p:nvSpPr>
            <p:cNvPr name="Freeform 6" id="6"/>
            <p:cNvSpPr/>
            <p:nvPr/>
          </p:nvSpPr>
          <p:spPr>
            <a:xfrm flipH="false" flipV="false" rot="0">
              <a:off x="0" y="0"/>
              <a:ext cx="4472710" cy="722553"/>
            </a:xfrm>
            <a:custGeom>
              <a:avLst/>
              <a:gdLst/>
              <a:ahLst/>
              <a:cxnLst/>
              <a:rect r="r" b="b" t="t" l="l"/>
              <a:pathLst>
                <a:path h="722553" w="4472710">
                  <a:moveTo>
                    <a:pt x="23597" y="0"/>
                  </a:moveTo>
                  <a:lnTo>
                    <a:pt x="4449113" y="0"/>
                  </a:lnTo>
                  <a:cubicBezTo>
                    <a:pt x="4455371" y="0"/>
                    <a:pt x="4461373" y="2486"/>
                    <a:pt x="4465799" y="6911"/>
                  </a:cubicBezTo>
                  <a:cubicBezTo>
                    <a:pt x="4470224" y="11337"/>
                    <a:pt x="4472710" y="17339"/>
                    <a:pt x="4472710" y="23597"/>
                  </a:cubicBezTo>
                  <a:lnTo>
                    <a:pt x="4472710" y="698957"/>
                  </a:lnTo>
                  <a:cubicBezTo>
                    <a:pt x="4472710" y="711989"/>
                    <a:pt x="4462145" y="722553"/>
                    <a:pt x="4449113" y="722553"/>
                  </a:cubicBezTo>
                  <a:lnTo>
                    <a:pt x="23597" y="722553"/>
                  </a:lnTo>
                  <a:cubicBezTo>
                    <a:pt x="10565" y="722553"/>
                    <a:pt x="0" y="711989"/>
                    <a:pt x="0" y="698957"/>
                  </a:cubicBezTo>
                  <a:lnTo>
                    <a:pt x="0" y="23597"/>
                  </a:lnTo>
                  <a:cubicBezTo>
                    <a:pt x="0" y="10565"/>
                    <a:pt x="10565" y="0"/>
                    <a:pt x="23597" y="0"/>
                  </a:cubicBezTo>
                  <a:close/>
                </a:path>
              </a:pathLst>
            </a:custGeom>
            <a:solidFill>
              <a:srgbClr val="A1C7CE"/>
            </a:solidFill>
          </p:spPr>
        </p:sp>
        <p:sp>
          <p:nvSpPr>
            <p:cNvPr name="TextBox 7" id="7"/>
            <p:cNvSpPr txBox="true"/>
            <p:nvPr/>
          </p:nvSpPr>
          <p:spPr>
            <a:xfrm>
              <a:off x="0" y="-19050"/>
              <a:ext cx="4472710" cy="741603"/>
            </a:xfrm>
            <a:prstGeom prst="rect">
              <a:avLst/>
            </a:prstGeom>
          </p:spPr>
          <p:txBody>
            <a:bodyPr anchor="ctr" rtlCol="false" tIns="49361" lIns="49361" bIns="49361" rIns="49361"/>
            <a:lstStyle/>
            <a:p>
              <a:pPr algn="l">
                <a:lnSpc>
                  <a:spcPts val="2520"/>
                </a:lnSpc>
              </a:pPr>
              <a:r>
                <a:rPr lang="en-US" sz="2100" spc="8">
                  <a:solidFill>
                    <a:srgbClr val="000000"/>
                  </a:solidFill>
                  <a:latin typeface="Raleway"/>
                  <a:ea typeface="Raleway"/>
                  <a:cs typeface="Raleway"/>
                  <a:sym typeface="Raleway"/>
                </a:rPr>
                <a:t>Here are the best-performing models compared to the baseline model:</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 Forest</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XGBoost</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Decision Tree</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K-Neighbors</a:t>
              </a:r>
            </a:p>
            <a:p>
              <a:pPr algn="l">
                <a:lnSpc>
                  <a:spcPts val="2520"/>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854691" y="2985423"/>
          <a:ext cx="16404609" cy="3114675"/>
        </p:xfrm>
        <a:graphic>
          <a:graphicData uri="http://schemas.openxmlformats.org/drawingml/2006/table">
            <a:tbl>
              <a:tblPr/>
              <a:tblGrid>
                <a:gridCol w="2677327"/>
                <a:gridCol w="2677327"/>
                <a:gridCol w="2677327"/>
                <a:gridCol w="2677327"/>
                <a:gridCol w="2847650"/>
                <a:gridCol w="2847650"/>
              </a:tblGrid>
              <a:tr h="519112">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Accu</a:t>
                      </a:r>
                      <a:r>
                        <a:rPr lang="en-US" sz="1648">
                          <a:solidFill>
                            <a:srgbClr val="000000"/>
                          </a:solidFill>
                          <a:latin typeface="Raleway"/>
                          <a:ea typeface="Raleway"/>
                          <a:cs typeface="Raleway"/>
                          <a:sym typeface="Raleway"/>
                        </a:rPr>
                        <a:t>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a:t>
                      </a:r>
                      <a:r>
                        <a:rPr lang="en-US" sz="1648">
                          <a:solidFill>
                            <a:srgbClr val="000000"/>
                          </a:solidFill>
                          <a:latin typeface="Raleway"/>
                          <a:ea typeface="Raleway"/>
                          <a:cs typeface="Raleway"/>
                          <a:sym typeface="Raleway"/>
                        </a:rPr>
                        <a:t>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a:t>
                      </a:r>
                      <a:r>
                        <a:rPr lang="en-US" sz="1648">
                          <a:solidFill>
                            <a:srgbClr val="000000"/>
                          </a:solidFill>
                          <a:latin typeface="Raleway"/>
                          <a:ea typeface="Raleway"/>
                          <a:cs typeface="Raleway"/>
                          <a:sym typeface="Raleway"/>
                        </a:rPr>
                        <a:t>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0.873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Decision Tree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0.864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Logistic Regression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0.862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0.769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0.873</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K-Neighbors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0.411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0.564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grpSp>
        <p:nvGrpSpPr>
          <p:cNvPr name="Group 4" id="4"/>
          <p:cNvGrpSpPr/>
          <p:nvPr/>
        </p:nvGrpSpPr>
        <p:grpSpPr>
          <a:xfrm rot="0">
            <a:off x="854691" y="7119955"/>
            <a:ext cx="16404609" cy="3167045"/>
            <a:chOff x="0" y="0"/>
            <a:chExt cx="4472710" cy="863494"/>
          </a:xfrm>
        </p:grpSpPr>
        <p:sp>
          <p:nvSpPr>
            <p:cNvPr name="Freeform 5" id="5"/>
            <p:cNvSpPr/>
            <p:nvPr/>
          </p:nvSpPr>
          <p:spPr>
            <a:xfrm flipH="false" flipV="false" rot="0">
              <a:off x="0" y="0"/>
              <a:ext cx="4472710" cy="863494"/>
            </a:xfrm>
            <a:custGeom>
              <a:avLst/>
              <a:gdLst/>
              <a:ahLst/>
              <a:cxnLst/>
              <a:rect r="r" b="b" t="t" l="l"/>
              <a:pathLst>
                <a:path h="863494" w="4472710">
                  <a:moveTo>
                    <a:pt x="23597" y="0"/>
                  </a:moveTo>
                  <a:lnTo>
                    <a:pt x="4449113" y="0"/>
                  </a:lnTo>
                  <a:cubicBezTo>
                    <a:pt x="4455371" y="0"/>
                    <a:pt x="4461373" y="2486"/>
                    <a:pt x="4465799" y="6911"/>
                  </a:cubicBezTo>
                  <a:cubicBezTo>
                    <a:pt x="4470224" y="11337"/>
                    <a:pt x="4472710" y="17339"/>
                    <a:pt x="4472710" y="23597"/>
                  </a:cubicBezTo>
                  <a:lnTo>
                    <a:pt x="4472710" y="839897"/>
                  </a:lnTo>
                  <a:cubicBezTo>
                    <a:pt x="4472710" y="852929"/>
                    <a:pt x="4462145" y="863494"/>
                    <a:pt x="4449113" y="863494"/>
                  </a:cubicBezTo>
                  <a:lnTo>
                    <a:pt x="23597" y="863494"/>
                  </a:lnTo>
                  <a:cubicBezTo>
                    <a:pt x="10565" y="863494"/>
                    <a:pt x="0" y="852929"/>
                    <a:pt x="0" y="839897"/>
                  </a:cubicBezTo>
                  <a:lnTo>
                    <a:pt x="0" y="23597"/>
                  </a:lnTo>
                  <a:cubicBezTo>
                    <a:pt x="0" y="10565"/>
                    <a:pt x="10565" y="0"/>
                    <a:pt x="23597" y="0"/>
                  </a:cubicBezTo>
                  <a:close/>
                </a:path>
              </a:pathLst>
            </a:custGeom>
            <a:solidFill>
              <a:srgbClr val="A1C7CE"/>
            </a:solidFill>
          </p:spPr>
        </p:sp>
        <p:sp>
          <p:nvSpPr>
            <p:cNvPr name="TextBox 6" id="6"/>
            <p:cNvSpPr txBox="true"/>
            <p:nvPr/>
          </p:nvSpPr>
          <p:spPr>
            <a:xfrm>
              <a:off x="0" y="-19050"/>
              <a:ext cx="4472710" cy="882544"/>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Hayperparameter tuning was performed us</a:t>
              </a:r>
              <a:r>
                <a:rPr lang="en-US" sz="2100" spc="8">
                  <a:solidFill>
                    <a:srgbClr val="000000"/>
                  </a:solidFill>
                  <a:latin typeface="Raleway"/>
                  <a:ea typeface="Raleway"/>
                  <a:cs typeface="Raleway"/>
                  <a:sym typeface="Raleway"/>
                </a:rPr>
                <a:t>ing the RandomsearchCV method with cross-validation 5. </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For complex algorithms like XGBoost or Random Forestcan be time-consuming.</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And Bayesian methods produce suboptimal results.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Furthermore, RandomizedSearchCV is much easier to implement and debug if errors occur.</a:t>
              </a:r>
            </a:p>
          </p:txBody>
        </p:sp>
      </p:grpSp>
      <p:sp>
        <p:nvSpPr>
          <p:cNvPr name="TextBox 7" id="7"/>
          <p:cNvSpPr txBox="true"/>
          <p:nvPr/>
        </p:nvSpPr>
        <p:spPr>
          <a:xfrm rot="0">
            <a:off x="854691" y="503223"/>
            <a:ext cx="9483845"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Hyperparameter Tunning</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1028700" y="2953870"/>
          <a:ext cx="16404609" cy="1571625"/>
        </p:xfrm>
        <a:graphic>
          <a:graphicData uri="http://schemas.openxmlformats.org/drawingml/2006/table">
            <a:tbl>
              <a:tblPr/>
              <a:tblGrid>
                <a:gridCol w="2677327"/>
                <a:gridCol w="2677327"/>
                <a:gridCol w="2677327"/>
                <a:gridCol w="2677327"/>
                <a:gridCol w="2847650"/>
                <a:gridCol w="2847650"/>
              </a:tblGrid>
              <a:tr h="523875">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3875">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7.288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12.356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9.720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13.551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3875">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5.959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14.611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11.932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8.829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13.296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
        <p:nvSpPr>
          <p:cNvPr name="TextBox 4" id="4"/>
          <p:cNvSpPr txBox="true"/>
          <p:nvPr/>
        </p:nvSpPr>
        <p:spPr>
          <a:xfrm rot="0">
            <a:off x="854691" y="503223"/>
            <a:ext cx="12293174"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Hyperparameter Tunning Gap (%)</a:t>
            </a:r>
          </a:p>
        </p:txBody>
      </p:sp>
      <p:grpSp>
        <p:nvGrpSpPr>
          <p:cNvPr name="Group 5" id="5"/>
          <p:cNvGrpSpPr/>
          <p:nvPr/>
        </p:nvGrpSpPr>
        <p:grpSpPr>
          <a:xfrm rot="0">
            <a:off x="883256" y="5475583"/>
            <a:ext cx="16695497" cy="4605062"/>
            <a:chOff x="0" y="0"/>
            <a:chExt cx="4552020" cy="1255568"/>
          </a:xfrm>
        </p:grpSpPr>
        <p:sp>
          <p:nvSpPr>
            <p:cNvPr name="Freeform 6" id="6"/>
            <p:cNvSpPr/>
            <p:nvPr/>
          </p:nvSpPr>
          <p:spPr>
            <a:xfrm flipH="false" flipV="false" rot="0">
              <a:off x="0" y="0"/>
              <a:ext cx="4552021" cy="1255568"/>
            </a:xfrm>
            <a:custGeom>
              <a:avLst/>
              <a:gdLst/>
              <a:ahLst/>
              <a:cxnLst/>
              <a:rect r="r" b="b" t="t" l="l"/>
              <a:pathLst>
                <a:path h="1255568" w="4552021">
                  <a:moveTo>
                    <a:pt x="23186" y="0"/>
                  </a:moveTo>
                  <a:lnTo>
                    <a:pt x="4528835" y="0"/>
                  </a:lnTo>
                  <a:cubicBezTo>
                    <a:pt x="4534984" y="0"/>
                    <a:pt x="4540881" y="2443"/>
                    <a:pt x="4545230" y="6791"/>
                  </a:cubicBezTo>
                  <a:cubicBezTo>
                    <a:pt x="4549578" y="11139"/>
                    <a:pt x="4552021" y="17036"/>
                    <a:pt x="4552021" y="23186"/>
                  </a:cubicBezTo>
                  <a:lnTo>
                    <a:pt x="4552021" y="1232383"/>
                  </a:lnTo>
                  <a:cubicBezTo>
                    <a:pt x="4552021" y="1238532"/>
                    <a:pt x="4549578" y="1244429"/>
                    <a:pt x="4545230" y="1248777"/>
                  </a:cubicBezTo>
                  <a:cubicBezTo>
                    <a:pt x="4540881" y="1253125"/>
                    <a:pt x="4534984" y="1255568"/>
                    <a:pt x="4528835" y="1255568"/>
                  </a:cubicBezTo>
                  <a:lnTo>
                    <a:pt x="23186" y="1255568"/>
                  </a:lnTo>
                  <a:cubicBezTo>
                    <a:pt x="17036" y="1255568"/>
                    <a:pt x="11139" y="1253125"/>
                    <a:pt x="6791" y="1248777"/>
                  </a:cubicBezTo>
                  <a:cubicBezTo>
                    <a:pt x="2443" y="1244429"/>
                    <a:pt x="0" y="1238532"/>
                    <a:pt x="0" y="1232383"/>
                  </a:cubicBezTo>
                  <a:lnTo>
                    <a:pt x="0" y="23186"/>
                  </a:lnTo>
                  <a:cubicBezTo>
                    <a:pt x="0" y="17036"/>
                    <a:pt x="2443" y="11139"/>
                    <a:pt x="6791" y="6791"/>
                  </a:cubicBezTo>
                  <a:cubicBezTo>
                    <a:pt x="11139" y="2443"/>
                    <a:pt x="17036" y="0"/>
                    <a:pt x="23186" y="0"/>
                  </a:cubicBezTo>
                  <a:close/>
                </a:path>
              </a:pathLst>
            </a:custGeom>
            <a:solidFill>
              <a:srgbClr val="A1C7CE"/>
            </a:solidFill>
          </p:spPr>
        </p:sp>
        <p:sp>
          <p:nvSpPr>
            <p:cNvPr name="TextBox 7" id="7"/>
            <p:cNvSpPr txBox="true"/>
            <p:nvPr/>
          </p:nvSpPr>
          <p:spPr>
            <a:xfrm>
              <a:off x="0" y="-19050"/>
              <a:ext cx="4552020" cy="1274618"/>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 Forest has the smallest Accuracy Gap (5.95%). However, XGBoost remains highly competitive with a stable gap across the board, including a solid ROC-AUC Gap of (9.72%), whi</a:t>
              </a:r>
              <a:r>
                <a:rPr lang="en-US" sz="2100" spc="8">
                  <a:solidFill>
                    <a:srgbClr val="000000"/>
                  </a:solidFill>
                  <a:latin typeface="Raleway"/>
                  <a:ea typeface="Raleway"/>
                  <a:cs typeface="Raleway"/>
                  <a:sym typeface="Raleway"/>
                </a:rPr>
                <a:t>ch ensures the model's performance on real-world hiring data will be predictable and measurable.</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Most gap metrics for both models are now within an acceptable and safer range (10% - 14%). This consistency shows that the model has successfully learned general patterns from the dataset of 1,500 candidates.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Overall, XGBoost is the preferred choice because it maintains the best balance between high predictive power and a stable gap, particularly in ROC-AUC, making it the most reliable model for the Hiresights recruitment system.</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483822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Best Model</a:t>
            </a:r>
          </a:p>
        </p:txBody>
      </p:sp>
      <p:graphicFrame>
        <p:nvGraphicFramePr>
          <p:cNvPr name="Table 4" id="4"/>
          <p:cNvGraphicFramePr>
            <a:graphicFrameLocks noGrp="true"/>
          </p:cNvGraphicFramePr>
          <p:nvPr/>
        </p:nvGraphicFramePr>
        <p:xfrm>
          <a:off x="854691" y="2008674"/>
          <a:ext cx="16404609" cy="2085975"/>
        </p:xfrm>
        <a:graphic>
          <a:graphicData uri="http://schemas.openxmlformats.org/drawingml/2006/table">
            <a:tbl>
              <a:tblPr/>
              <a:tblGrid>
                <a:gridCol w="2301680"/>
                <a:gridCol w="2301680"/>
                <a:gridCol w="2301680"/>
                <a:gridCol w="2301680"/>
                <a:gridCol w="2301680"/>
                <a:gridCol w="2448105"/>
                <a:gridCol w="2448105"/>
              </a:tblGrid>
              <a:tr h="521494">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Dataset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1494">
                <a:tc rowSpan="3">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0.982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0.968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Train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0.995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1494">
                <a:tc vMerge="true">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Test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21494">
                <a:tc vMerge="true">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7.288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12.356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13.551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Gap (%)</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9.720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bl>
          </a:graphicData>
        </a:graphic>
      </p:graphicFrame>
      <p:grpSp>
        <p:nvGrpSpPr>
          <p:cNvPr name="Group 5" id="5"/>
          <p:cNvGrpSpPr/>
          <p:nvPr/>
        </p:nvGrpSpPr>
        <p:grpSpPr>
          <a:xfrm rot="0">
            <a:off x="854691" y="4192033"/>
            <a:ext cx="10556318" cy="2502308"/>
            <a:chOff x="0" y="0"/>
            <a:chExt cx="2878176" cy="682253"/>
          </a:xfrm>
        </p:grpSpPr>
        <p:sp>
          <p:nvSpPr>
            <p:cNvPr name="Freeform 6" id="6"/>
            <p:cNvSpPr/>
            <p:nvPr/>
          </p:nvSpPr>
          <p:spPr>
            <a:xfrm flipH="false" flipV="false" rot="0">
              <a:off x="0" y="0"/>
              <a:ext cx="2878176" cy="682253"/>
            </a:xfrm>
            <a:custGeom>
              <a:avLst/>
              <a:gdLst/>
              <a:ahLst/>
              <a:cxnLst/>
              <a:rect r="r" b="b" t="t" l="l"/>
              <a:pathLst>
                <a:path h="682253" w="2878176">
                  <a:moveTo>
                    <a:pt x="36670" y="0"/>
                  </a:moveTo>
                  <a:lnTo>
                    <a:pt x="2841506" y="0"/>
                  </a:lnTo>
                  <a:cubicBezTo>
                    <a:pt x="2851232" y="0"/>
                    <a:pt x="2860559" y="3863"/>
                    <a:pt x="2867436" y="10740"/>
                  </a:cubicBezTo>
                  <a:cubicBezTo>
                    <a:pt x="2874313" y="17617"/>
                    <a:pt x="2878176" y="26944"/>
                    <a:pt x="2878176" y="36670"/>
                  </a:cubicBezTo>
                  <a:lnTo>
                    <a:pt x="2878176" y="645584"/>
                  </a:lnTo>
                  <a:cubicBezTo>
                    <a:pt x="2878176" y="665836"/>
                    <a:pt x="2861758" y="682253"/>
                    <a:pt x="2841506" y="682253"/>
                  </a:cubicBezTo>
                  <a:lnTo>
                    <a:pt x="36670" y="682253"/>
                  </a:lnTo>
                  <a:cubicBezTo>
                    <a:pt x="26944" y="682253"/>
                    <a:pt x="17617" y="678390"/>
                    <a:pt x="10740" y="671513"/>
                  </a:cubicBezTo>
                  <a:cubicBezTo>
                    <a:pt x="3863" y="664636"/>
                    <a:pt x="0" y="655309"/>
                    <a:pt x="0" y="645584"/>
                  </a:cubicBezTo>
                  <a:lnTo>
                    <a:pt x="0" y="36670"/>
                  </a:lnTo>
                  <a:cubicBezTo>
                    <a:pt x="0" y="26944"/>
                    <a:pt x="3863" y="17617"/>
                    <a:pt x="10740" y="10740"/>
                  </a:cubicBezTo>
                  <a:cubicBezTo>
                    <a:pt x="17617" y="3863"/>
                    <a:pt x="26944" y="0"/>
                    <a:pt x="36670" y="0"/>
                  </a:cubicBezTo>
                  <a:close/>
                </a:path>
              </a:pathLst>
            </a:custGeom>
            <a:solidFill>
              <a:srgbClr val="A1C7CE"/>
            </a:solidFill>
          </p:spPr>
        </p:sp>
        <p:sp>
          <p:nvSpPr>
            <p:cNvPr name="TextBox 7" id="7"/>
            <p:cNvSpPr txBox="true"/>
            <p:nvPr/>
          </p:nvSpPr>
          <p:spPr>
            <a:xfrm>
              <a:off x="0" y="-19050"/>
              <a:ext cx="2878176" cy="701303"/>
            </a:xfrm>
            <a:prstGeom prst="rect">
              <a:avLst/>
            </a:prstGeom>
          </p:spPr>
          <p:txBody>
            <a:bodyPr anchor="ctr" rtlCol="false" tIns="49361" lIns="49361" bIns="49361" rIns="49361"/>
            <a:lstStyle/>
            <a:p>
              <a:pPr algn="l">
                <a:lnSpc>
                  <a:spcPts val="2520"/>
                </a:lnSpc>
              </a:pPr>
            </a:p>
          </p:txBody>
        </p:sp>
      </p:grpSp>
      <p:sp>
        <p:nvSpPr>
          <p:cNvPr name="TextBox 8" id="8"/>
          <p:cNvSpPr txBox="true"/>
          <p:nvPr/>
        </p:nvSpPr>
        <p:spPr>
          <a:xfrm rot="0">
            <a:off x="8007426" y="1408026"/>
            <a:ext cx="2099138" cy="600108"/>
          </a:xfrm>
          <a:prstGeom prst="rect">
            <a:avLst/>
          </a:prstGeom>
        </p:spPr>
        <p:txBody>
          <a:bodyPr anchor="t" rtlCol="false" tIns="0" lIns="0" bIns="0" rIns="0">
            <a:spAutoFit/>
          </a:bodyPr>
          <a:lstStyle/>
          <a:p>
            <a:pPr algn="ctr">
              <a:lnSpc>
                <a:spcPts val="4799"/>
              </a:lnSpc>
              <a:spcBef>
                <a:spcPct val="0"/>
              </a:spcBef>
            </a:pPr>
            <a:r>
              <a:rPr lang="en-US" b="true" sz="3999" spc="15" u="sng">
                <a:solidFill>
                  <a:srgbClr val="18102B"/>
                </a:solidFill>
                <a:latin typeface="Raleway Bold"/>
                <a:ea typeface="Raleway Bold"/>
                <a:cs typeface="Raleway Bold"/>
                <a:sym typeface="Raleway Bold"/>
              </a:rPr>
              <a:t>XGBoost</a:t>
            </a:r>
          </a:p>
        </p:txBody>
      </p:sp>
      <p:graphicFrame>
        <p:nvGraphicFramePr>
          <p:cNvPr name="Table 9" id="9"/>
          <p:cNvGraphicFramePr>
            <a:graphicFrameLocks noGrp="true"/>
          </p:cNvGraphicFramePr>
          <p:nvPr/>
        </p:nvGraphicFramePr>
        <p:xfrm>
          <a:off x="12346486" y="4657201"/>
          <a:ext cx="4912814" cy="3114675"/>
        </p:xfrm>
        <a:graphic>
          <a:graphicData uri="http://schemas.openxmlformats.org/drawingml/2006/table">
            <a:tbl>
              <a:tblPr/>
              <a:tblGrid>
                <a:gridCol w="2601701"/>
                <a:gridCol w="2311113"/>
              </a:tblGrid>
              <a:tr h="519112">
                <a:tc>
                  <a:txBody>
                    <a:bodyPr anchor="t" rtlCol="false"/>
                    <a:lstStyle/>
                    <a:p>
                      <a:pPr algn="ctr">
                        <a:lnSpc>
                          <a:spcPts val="2308"/>
                        </a:lnSpc>
                        <a:defRPr/>
                      </a:pPr>
                      <a:r>
                        <a:rPr lang="en-US" sz="1648">
                          <a:solidFill>
                            <a:srgbClr val="000000"/>
                          </a:solidFill>
                          <a:latin typeface="Raleway"/>
                          <a:ea typeface="Raleway"/>
                          <a:cs typeface="Raleway"/>
                          <a:sym typeface="Raleway"/>
                        </a:rPr>
                        <a:t>Val</a:t>
                      </a:r>
                      <a:r>
                        <a:rPr lang="en-US" sz="1648">
                          <a:solidFill>
                            <a:srgbClr val="000000"/>
                          </a:solidFill>
                          <a:latin typeface="Raleway"/>
                          <a:ea typeface="Raleway"/>
                          <a:cs typeface="Raleway"/>
                          <a:sym typeface="Raleway"/>
                        </a:rPr>
                        <a:t>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Best Hyperparameter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50.0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reg_lambda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300.0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n_estimators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6.0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max_depth</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learning_rate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gamma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
        <p:nvSpPr>
          <p:cNvPr name="TextBox 10" id="10"/>
          <p:cNvSpPr txBox="true"/>
          <p:nvPr/>
        </p:nvSpPr>
        <p:spPr>
          <a:xfrm rot="0">
            <a:off x="12789745" y="4125358"/>
            <a:ext cx="4026297" cy="531843"/>
          </a:xfrm>
          <a:prstGeom prst="rect">
            <a:avLst/>
          </a:prstGeom>
        </p:spPr>
        <p:txBody>
          <a:bodyPr anchor="t" rtlCol="false" tIns="0" lIns="0" bIns="0" rIns="0">
            <a:spAutoFit/>
          </a:bodyPr>
          <a:lstStyle/>
          <a:p>
            <a:pPr algn="ctr">
              <a:lnSpc>
                <a:spcPts val="4284"/>
              </a:lnSpc>
              <a:spcBef>
                <a:spcPct val="0"/>
              </a:spcBef>
            </a:pPr>
            <a:r>
              <a:rPr lang="en-US" b="true" sz="3060" u="sng">
                <a:solidFill>
                  <a:srgbClr val="18102B"/>
                </a:solidFill>
                <a:latin typeface="Raleway Bold"/>
                <a:ea typeface="Raleway Bold"/>
                <a:cs typeface="Raleway Bold"/>
                <a:sym typeface="Raleway Bold"/>
              </a:rPr>
              <a:t>Best Hyperparameter</a:t>
            </a:r>
          </a:p>
        </p:txBody>
      </p:sp>
      <p:sp>
        <p:nvSpPr>
          <p:cNvPr name="TextBox 11" id="11"/>
          <p:cNvSpPr txBox="true"/>
          <p:nvPr/>
        </p:nvSpPr>
        <p:spPr>
          <a:xfrm rot="0">
            <a:off x="1138849" y="4475649"/>
            <a:ext cx="9988002" cy="2219557"/>
          </a:xfrm>
          <a:prstGeom prst="rect">
            <a:avLst/>
          </a:prstGeom>
        </p:spPr>
        <p:txBody>
          <a:bodyPr anchor="t" rtlCol="false" tIns="0" lIns="0" bIns="0" rIns="0">
            <a:spAutoFit/>
          </a:bodyPr>
          <a:lstStyle/>
          <a:p>
            <a:pPr algn="l" marL="453387" indent="-226693" lvl="1">
              <a:lnSpc>
                <a:spcPts val="2519"/>
              </a:lnSpc>
              <a:buFont typeface="Arial"/>
              <a:buChar char="•"/>
            </a:pPr>
            <a:r>
              <a:rPr lang="en-US" sz="2099">
                <a:solidFill>
                  <a:srgbClr val="000000"/>
                </a:solidFill>
                <a:latin typeface="Raleway"/>
                <a:ea typeface="Raleway"/>
                <a:cs typeface="Raleway"/>
                <a:sym typeface="Raleway"/>
              </a:rPr>
              <a:t>XGBoos</a:t>
            </a:r>
            <a:r>
              <a:rPr lang="en-US" sz="2099">
                <a:solidFill>
                  <a:srgbClr val="000000"/>
                </a:solidFill>
                <a:latin typeface="Raleway"/>
                <a:ea typeface="Raleway"/>
                <a:cs typeface="Raleway"/>
                <a:sym typeface="Raleway"/>
              </a:rPr>
              <a:t>t demonstrated good model stability with an Accuracy Gap of (7.28%). This indicates that the model has adequate generalization capabilities for new data in the future.</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XGBoost achieved scores of Recall (82.1%), F1-score (83.9%), and ROC-AUC (89.7%) on the competitive test set, demonstrating its ability to accurately identify potential candidates.</a:t>
            </a:r>
          </a:p>
        </p:txBody>
      </p:sp>
      <p:grpSp>
        <p:nvGrpSpPr>
          <p:cNvPr name="Group 12" id="12"/>
          <p:cNvGrpSpPr/>
          <p:nvPr/>
        </p:nvGrpSpPr>
        <p:grpSpPr>
          <a:xfrm rot="0">
            <a:off x="2229328" y="6827691"/>
            <a:ext cx="8050348" cy="3281484"/>
            <a:chOff x="0" y="0"/>
            <a:chExt cx="10733797" cy="4375312"/>
          </a:xfrm>
        </p:grpSpPr>
        <p:grpSp>
          <p:nvGrpSpPr>
            <p:cNvPr name="Group 13" id="13"/>
            <p:cNvGrpSpPr/>
            <p:nvPr/>
          </p:nvGrpSpPr>
          <p:grpSpPr>
            <a:xfrm rot="0">
              <a:off x="0" y="0"/>
              <a:ext cx="5216906" cy="4375312"/>
              <a:chOff x="0" y="0"/>
              <a:chExt cx="1047040" cy="878131"/>
            </a:xfrm>
          </p:grpSpPr>
          <p:sp>
            <p:nvSpPr>
              <p:cNvPr name="Freeform 14" id="14"/>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7E8C92"/>
              </a:solidFill>
            </p:spPr>
          </p:sp>
          <p:sp>
            <p:nvSpPr>
              <p:cNvPr name="TextBox 15" id="15"/>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grpSp>
          <p:nvGrpSpPr>
            <p:cNvPr name="Group 16" id="16"/>
            <p:cNvGrpSpPr/>
            <p:nvPr/>
          </p:nvGrpSpPr>
          <p:grpSpPr>
            <a:xfrm rot="0">
              <a:off x="5516891" y="0"/>
              <a:ext cx="5216906" cy="4375312"/>
              <a:chOff x="0" y="0"/>
              <a:chExt cx="1047040" cy="878131"/>
            </a:xfrm>
          </p:grpSpPr>
          <p:sp>
            <p:nvSpPr>
              <p:cNvPr name="Freeform 17" id="17"/>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A1C7CE"/>
              </a:solidFill>
            </p:spPr>
          </p:sp>
          <p:sp>
            <p:nvSpPr>
              <p:cNvPr name="TextBox 18" id="18"/>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544248" y="270551"/>
              <a:ext cx="4128410" cy="979992"/>
            </a:xfrm>
            <a:prstGeom prst="rect">
              <a:avLst/>
            </a:prstGeom>
          </p:spPr>
          <p:txBody>
            <a:bodyPr anchor="t" rtlCol="false" tIns="0" lIns="0" bIns="0" rIns="0">
              <a:spAutoFit/>
            </a:bodyPr>
            <a:lstStyle/>
            <a:p>
              <a:pPr algn="ctr">
                <a:lnSpc>
                  <a:spcPts val="1956"/>
                </a:lnSpc>
              </a:pPr>
              <a:r>
                <a:rPr lang="en-US" b="true" sz="1630" spc="6">
                  <a:solidFill>
                    <a:srgbClr val="000000"/>
                  </a:solidFill>
                  <a:latin typeface="Poppins Bold"/>
                  <a:ea typeface="Poppins Bold"/>
                  <a:cs typeface="Poppins Bold"/>
                  <a:sym typeface="Poppins Bold"/>
                </a:rPr>
                <a:t>Before</a:t>
              </a:r>
              <a:r>
                <a:rPr lang="en-US" b="true" sz="1630" spc="6">
                  <a:solidFill>
                    <a:srgbClr val="000000"/>
                  </a:solidFill>
                  <a:latin typeface="Poppins Bold"/>
                  <a:ea typeface="Poppins Bold"/>
                  <a:cs typeface="Poppins Bold"/>
                  <a:sym typeface="Poppins Bold"/>
                </a:rPr>
                <a:t> </a:t>
              </a:r>
            </a:p>
            <a:p>
              <a:pPr algn="ctr">
                <a:lnSpc>
                  <a:spcPts val="1956"/>
                </a:lnSpc>
              </a:pPr>
              <a:r>
                <a:rPr lang="en-US" b="true" sz="1630" spc="6">
                  <a:solidFill>
                    <a:srgbClr val="000000"/>
                  </a:solidFill>
                  <a:latin typeface="Poppins Bold"/>
                  <a:ea typeface="Poppins Bold"/>
                  <a:cs typeface="Poppins Bold"/>
                  <a:sym typeface="Poppins Bold"/>
                </a:rPr>
                <a:t>Hyperpara</a:t>
              </a:r>
              <a:r>
                <a:rPr lang="en-US" b="true" sz="1630" spc="6">
                  <a:solidFill>
                    <a:srgbClr val="000000"/>
                  </a:solidFill>
                  <a:latin typeface="Poppins Bold"/>
                  <a:ea typeface="Poppins Bold"/>
                  <a:cs typeface="Poppins Bold"/>
                  <a:sym typeface="Poppins Bold"/>
                </a:rPr>
                <a:t>meter Tunning </a:t>
              </a:r>
            </a:p>
            <a:p>
              <a:pPr algn="ctr">
                <a:lnSpc>
                  <a:spcPts val="1956"/>
                </a:lnSpc>
                <a:spcBef>
                  <a:spcPct val="0"/>
                </a:spcBef>
              </a:pPr>
            </a:p>
          </p:txBody>
        </p:sp>
        <p:sp>
          <p:nvSpPr>
            <p:cNvPr name="TextBox 20" id="20"/>
            <p:cNvSpPr txBox="true"/>
            <p:nvPr/>
          </p:nvSpPr>
          <p:spPr>
            <a:xfrm rot="0">
              <a:off x="5578575" y="270551"/>
              <a:ext cx="4584145" cy="979992"/>
            </a:xfrm>
            <a:prstGeom prst="rect">
              <a:avLst/>
            </a:prstGeom>
          </p:spPr>
          <p:txBody>
            <a:bodyPr anchor="t" rtlCol="false" tIns="0" lIns="0" bIns="0" rIns="0">
              <a:spAutoFit/>
            </a:bodyPr>
            <a:lstStyle/>
            <a:p>
              <a:pPr algn="ctr">
                <a:lnSpc>
                  <a:spcPts val="1956"/>
                </a:lnSpc>
              </a:pPr>
              <a:r>
                <a:rPr lang="en-US" b="true" sz="1630" spc="6">
                  <a:solidFill>
                    <a:srgbClr val="000000"/>
                  </a:solidFill>
                  <a:latin typeface="Poppins Bold"/>
                  <a:ea typeface="Poppins Bold"/>
                  <a:cs typeface="Poppins Bold"/>
                  <a:sym typeface="Poppins Bold"/>
                </a:rPr>
                <a:t>After</a:t>
              </a:r>
            </a:p>
            <a:p>
              <a:pPr algn="ctr">
                <a:lnSpc>
                  <a:spcPts val="1956"/>
                </a:lnSpc>
              </a:pPr>
              <a:r>
                <a:rPr lang="en-US" b="true" sz="1630" spc="6">
                  <a:solidFill>
                    <a:srgbClr val="000000"/>
                  </a:solidFill>
                  <a:latin typeface="Poppins Bold"/>
                  <a:ea typeface="Poppins Bold"/>
                  <a:cs typeface="Poppins Bold"/>
                  <a:sym typeface="Poppins Bold"/>
                </a:rPr>
                <a:t>Hyperp</a:t>
              </a:r>
              <a:r>
                <a:rPr lang="en-US" b="true" sz="1630" spc="6">
                  <a:solidFill>
                    <a:srgbClr val="000000"/>
                  </a:solidFill>
                  <a:latin typeface="Poppins Bold"/>
                  <a:ea typeface="Poppins Bold"/>
                  <a:cs typeface="Poppins Bold"/>
                  <a:sym typeface="Poppins Bold"/>
                </a:rPr>
                <a:t>arameter Tunning </a:t>
              </a:r>
            </a:p>
            <a:p>
              <a:pPr algn="ctr">
                <a:lnSpc>
                  <a:spcPts val="1956"/>
                </a:lnSpc>
                <a:spcBef>
                  <a:spcPct val="0"/>
                </a:spcBef>
              </a:pPr>
            </a:p>
          </p:txBody>
        </p:sp>
        <p:sp>
          <p:nvSpPr>
            <p:cNvPr name="TextBox 21" id="21"/>
            <p:cNvSpPr txBox="true"/>
            <p:nvPr/>
          </p:nvSpPr>
          <p:spPr>
            <a:xfrm rot="0">
              <a:off x="517489" y="1501371"/>
              <a:ext cx="3930866" cy="2608994"/>
            </a:xfrm>
            <a:prstGeom prst="rect">
              <a:avLst/>
            </a:prstGeom>
          </p:spPr>
          <p:txBody>
            <a:bodyPr anchor="t" rtlCol="false" tIns="0" lIns="0" bIns="0" rIns="0">
              <a:spAutoFit/>
            </a:bodyPr>
            <a:lstStyle/>
            <a:p>
              <a:pPr algn="ctr">
                <a:lnSpc>
                  <a:spcPts val="2282"/>
                </a:lnSpc>
              </a:pPr>
              <a:r>
                <a:rPr lang="en-US" sz="1630" spc="6">
                  <a:solidFill>
                    <a:srgbClr val="000000"/>
                  </a:solidFill>
                  <a:latin typeface="Poppins"/>
                  <a:ea typeface="Poppins"/>
                  <a:cs typeface="Poppins"/>
                  <a:sym typeface="Poppins"/>
                </a:rPr>
                <a:t>Recall</a:t>
              </a:r>
            </a:p>
            <a:p>
              <a:pPr algn="ctr">
                <a:lnSpc>
                  <a:spcPts val="2282"/>
                </a:lnSpc>
              </a:pPr>
              <a:r>
                <a:rPr lang="en-US" sz="1630" spc="6">
                  <a:solidFill>
                    <a:srgbClr val="000000"/>
                  </a:solidFill>
                  <a:latin typeface="Poppins"/>
                  <a:ea typeface="Poppins"/>
                  <a:cs typeface="Poppins"/>
                  <a:sym typeface="Poppins"/>
                </a:rPr>
                <a:t>74.3%</a:t>
              </a:r>
            </a:p>
            <a:p>
              <a:pPr algn="ctr">
                <a:lnSpc>
                  <a:spcPts val="2282"/>
                </a:lnSpc>
              </a:pPr>
              <a:r>
                <a:rPr lang="en-US" sz="1630" spc="6">
                  <a:solidFill>
                    <a:srgbClr val="000000"/>
                  </a:solidFill>
                  <a:latin typeface="Poppins"/>
                  <a:ea typeface="Poppins"/>
                  <a:cs typeface="Poppins"/>
                  <a:sym typeface="Poppins"/>
                </a:rPr>
                <a:t>F1 Score</a:t>
              </a:r>
            </a:p>
            <a:p>
              <a:pPr algn="ctr">
                <a:lnSpc>
                  <a:spcPts val="2282"/>
                </a:lnSpc>
              </a:pPr>
              <a:r>
                <a:rPr lang="en-US" sz="1630" spc="6">
                  <a:solidFill>
                    <a:srgbClr val="000000"/>
                  </a:solidFill>
                  <a:latin typeface="Poppins"/>
                  <a:ea typeface="Poppins"/>
                  <a:cs typeface="Poppins"/>
                  <a:sym typeface="Poppins"/>
                </a:rPr>
                <a:t>78.8%</a:t>
              </a:r>
            </a:p>
            <a:p>
              <a:pPr algn="ctr">
                <a:lnSpc>
                  <a:spcPts val="2282"/>
                </a:lnSpc>
              </a:pPr>
              <a:r>
                <a:rPr lang="en-US" sz="1630" spc="6">
                  <a:solidFill>
                    <a:srgbClr val="000000"/>
                  </a:solidFill>
                  <a:latin typeface="Poppins"/>
                  <a:ea typeface="Poppins"/>
                  <a:cs typeface="Poppins"/>
                  <a:sym typeface="Poppins"/>
                </a:rPr>
                <a:t>ROC AUC</a:t>
              </a:r>
            </a:p>
            <a:p>
              <a:pPr algn="ctr">
                <a:lnSpc>
                  <a:spcPts val="2282"/>
                </a:lnSpc>
              </a:pPr>
              <a:r>
                <a:rPr lang="en-US" sz="1630" spc="6">
                  <a:solidFill>
                    <a:srgbClr val="000000"/>
                  </a:solidFill>
                  <a:latin typeface="Poppins"/>
                  <a:ea typeface="Poppins"/>
                  <a:cs typeface="Poppins"/>
                  <a:sym typeface="Poppins"/>
                </a:rPr>
                <a:t>88.7</a:t>
              </a:r>
              <a:r>
                <a:rPr lang="en-US" sz="1630" spc="6">
                  <a:solidFill>
                    <a:srgbClr val="000000"/>
                  </a:solidFill>
                  <a:latin typeface="Poppins"/>
                  <a:ea typeface="Poppins"/>
                  <a:cs typeface="Poppins"/>
                  <a:sym typeface="Poppins"/>
                </a:rPr>
                <a:t>%</a:t>
              </a:r>
            </a:p>
            <a:p>
              <a:pPr algn="ctr">
                <a:lnSpc>
                  <a:spcPts val="2282"/>
                </a:lnSpc>
              </a:pPr>
            </a:p>
          </p:txBody>
        </p:sp>
        <p:sp>
          <p:nvSpPr>
            <p:cNvPr name="TextBox 22" id="22"/>
            <p:cNvSpPr txBox="true"/>
            <p:nvPr/>
          </p:nvSpPr>
          <p:spPr>
            <a:xfrm rot="0">
              <a:off x="6149652" y="1501371"/>
              <a:ext cx="3441992" cy="2268892"/>
            </a:xfrm>
            <a:prstGeom prst="rect">
              <a:avLst/>
            </a:prstGeom>
          </p:spPr>
          <p:txBody>
            <a:bodyPr anchor="t" rtlCol="false" tIns="0" lIns="0" bIns="0" rIns="0">
              <a:spAutoFit/>
            </a:bodyPr>
            <a:lstStyle/>
            <a:p>
              <a:pPr algn="ctr">
                <a:lnSpc>
                  <a:spcPts val="2282"/>
                </a:lnSpc>
              </a:pPr>
              <a:r>
                <a:rPr lang="en-US" sz="1630" spc="6">
                  <a:solidFill>
                    <a:srgbClr val="000000"/>
                  </a:solidFill>
                  <a:latin typeface="Poppins"/>
                  <a:ea typeface="Poppins"/>
                  <a:cs typeface="Poppins"/>
                  <a:sym typeface="Poppins"/>
                </a:rPr>
                <a:t>R</a:t>
              </a:r>
              <a:r>
                <a:rPr lang="en-US" sz="1630" spc="6">
                  <a:solidFill>
                    <a:srgbClr val="000000"/>
                  </a:solidFill>
                  <a:latin typeface="Poppins"/>
                  <a:ea typeface="Poppins"/>
                  <a:cs typeface="Poppins"/>
                  <a:sym typeface="Poppins"/>
                </a:rPr>
                <a:t>ecall</a:t>
              </a:r>
            </a:p>
            <a:p>
              <a:pPr algn="ctr">
                <a:lnSpc>
                  <a:spcPts val="2282"/>
                </a:lnSpc>
              </a:pPr>
              <a:r>
                <a:rPr lang="en-US" sz="1630" spc="6">
                  <a:solidFill>
                    <a:srgbClr val="000000"/>
                  </a:solidFill>
                  <a:latin typeface="Poppins"/>
                  <a:ea typeface="Poppins"/>
                  <a:cs typeface="Poppins"/>
                  <a:sym typeface="Poppins"/>
                </a:rPr>
                <a:t>82.1%</a:t>
              </a:r>
            </a:p>
            <a:p>
              <a:pPr algn="ctr">
                <a:lnSpc>
                  <a:spcPts val="2282"/>
                </a:lnSpc>
              </a:pPr>
              <a:r>
                <a:rPr lang="en-US" sz="1630" spc="6">
                  <a:solidFill>
                    <a:srgbClr val="000000"/>
                  </a:solidFill>
                  <a:latin typeface="Poppins"/>
                  <a:ea typeface="Poppins"/>
                  <a:cs typeface="Poppins"/>
                  <a:sym typeface="Poppins"/>
                </a:rPr>
                <a:t>F1 Score</a:t>
              </a:r>
            </a:p>
            <a:p>
              <a:pPr algn="ctr">
                <a:lnSpc>
                  <a:spcPts val="2282"/>
                </a:lnSpc>
              </a:pPr>
              <a:r>
                <a:rPr lang="en-US" sz="1630" spc="6">
                  <a:solidFill>
                    <a:srgbClr val="000000"/>
                  </a:solidFill>
                  <a:latin typeface="Poppins"/>
                  <a:ea typeface="Poppins"/>
                  <a:cs typeface="Poppins"/>
                  <a:sym typeface="Poppins"/>
                </a:rPr>
                <a:t>83.9%</a:t>
              </a:r>
            </a:p>
            <a:p>
              <a:pPr algn="ctr">
                <a:lnSpc>
                  <a:spcPts val="2282"/>
                </a:lnSpc>
              </a:pPr>
              <a:r>
                <a:rPr lang="en-US" sz="1630" spc="6">
                  <a:solidFill>
                    <a:srgbClr val="000000"/>
                  </a:solidFill>
                  <a:latin typeface="Poppins"/>
                  <a:ea typeface="Poppins"/>
                  <a:cs typeface="Poppins"/>
                  <a:sym typeface="Poppins"/>
                </a:rPr>
                <a:t>ROC AUC</a:t>
              </a:r>
            </a:p>
            <a:p>
              <a:pPr algn="ctr">
                <a:lnSpc>
                  <a:spcPts val="2282"/>
                </a:lnSpc>
              </a:pPr>
              <a:r>
                <a:rPr lang="en-US" sz="1630" spc="6">
                  <a:solidFill>
                    <a:srgbClr val="000000"/>
                  </a:solidFill>
                  <a:latin typeface="Poppins"/>
                  <a:ea typeface="Poppins"/>
                  <a:cs typeface="Poppins"/>
                  <a:sym typeface="Poppins"/>
                </a:rPr>
                <a:t>89.7%</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847522" y="229235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correctly identified the majority of the data. Of the 450data points, the model only incorrectly predicted 44 .</a:t>
              </a:r>
            </a:p>
            <a:p>
              <a:pPr algn="l">
                <a:lnSpc>
                  <a:spcPts val="2520"/>
                </a:lnSpc>
              </a:pP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successfully identified 115 of the 140 candidates who were actually Hired. There were 25 potential candidates missed (predicted as Not Hired), indicating room for improvement to capture more talent.</a:t>
              </a:r>
            </a:p>
            <a:p>
              <a:pPr algn="l">
                <a:lnSpc>
                  <a:spcPts val="2520"/>
                </a:lnSpc>
              </a:pP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Based on the Confusion Matrix, the XGBoost model demonstrated solid performance in the recruitment process with a high level of accuracy and minimal misclassifications.</a:t>
              </a:r>
            </a:p>
          </p:txBody>
        </p:sp>
      </p:grpSp>
      <p:sp>
        <p:nvSpPr>
          <p:cNvPr name="Freeform 6" id="6"/>
          <p:cNvSpPr/>
          <p:nvPr/>
        </p:nvSpPr>
        <p:spPr>
          <a:xfrm flipH="false" flipV="false" rot="0">
            <a:off x="702291" y="2368588"/>
            <a:ext cx="7884072" cy="6259110"/>
          </a:xfrm>
          <a:custGeom>
            <a:avLst/>
            <a:gdLst/>
            <a:ahLst/>
            <a:cxnLst/>
            <a:rect r="r" b="b" t="t" l="l"/>
            <a:pathLst>
              <a:path h="6259110" w="7884072">
                <a:moveTo>
                  <a:pt x="0" y="0"/>
                </a:moveTo>
                <a:lnTo>
                  <a:pt x="7884072" y="0"/>
                </a:lnTo>
                <a:lnTo>
                  <a:pt x="7884072" y="6259110"/>
                </a:lnTo>
                <a:lnTo>
                  <a:pt x="0" y="6259110"/>
                </a:lnTo>
                <a:lnTo>
                  <a:pt x="0" y="0"/>
                </a:lnTo>
                <a:close/>
              </a:path>
            </a:pathLst>
          </a:custGeom>
          <a:blipFill>
            <a:blip r:embed="rId3"/>
            <a:stretch>
              <a:fillRect l="0" t="0" r="0" b="0"/>
            </a:stretch>
          </a:blipFill>
        </p:spPr>
      </p:sp>
      <p:sp>
        <p:nvSpPr>
          <p:cNvPr name="TextBox 7" id="7"/>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Confusion Matrix</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Pipeline Model</a:t>
            </a:r>
          </a:p>
        </p:txBody>
      </p:sp>
      <p:sp>
        <p:nvSpPr>
          <p:cNvPr name="AutoShape 4" id="4"/>
          <p:cNvSpPr/>
          <p:nvPr/>
        </p:nvSpPr>
        <p:spPr>
          <a:xfrm flipV="true">
            <a:off x="3846738" y="3518350"/>
            <a:ext cx="924132" cy="0"/>
          </a:xfrm>
          <a:prstGeom prst="line">
            <a:avLst/>
          </a:prstGeom>
          <a:ln cap="flat" w="38100">
            <a:solidFill>
              <a:srgbClr val="000000"/>
            </a:solidFill>
            <a:prstDash val="solid"/>
            <a:headEnd type="none" len="sm" w="sm"/>
            <a:tailEnd type="triangle" len="med" w="lg"/>
          </a:ln>
        </p:spPr>
      </p:sp>
      <p:grpSp>
        <p:nvGrpSpPr>
          <p:cNvPr name="Group 5" id="5"/>
          <p:cNvGrpSpPr/>
          <p:nvPr/>
        </p:nvGrpSpPr>
        <p:grpSpPr>
          <a:xfrm rot="0">
            <a:off x="4770870" y="2714502"/>
            <a:ext cx="3262702" cy="1607695"/>
            <a:chOff x="0" y="0"/>
            <a:chExt cx="808944" cy="398606"/>
          </a:xfrm>
        </p:grpSpPr>
        <p:sp>
          <p:nvSpPr>
            <p:cNvPr name="Freeform 6" id="6"/>
            <p:cNvSpPr/>
            <p:nvPr/>
          </p:nvSpPr>
          <p:spPr>
            <a:xfrm flipH="false" flipV="false" rot="0">
              <a:off x="0" y="0"/>
              <a:ext cx="808944" cy="398606"/>
            </a:xfrm>
            <a:custGeom>
              <a:avLst/>
              <a:gdLst/>
              <a:ahLst/>
              <a:cxnLst/>
              <a:rect r="r" b="b" t="t" l="l"/>
              <a:pathLst>
                <a:path h="398606" w="808944">
                  <a:moveTo>
                    <a:pt x="35593" y="0"/>
                  </a:moveTo>
                  <a:lnTo>
                    <a:pt x="773351" y="0"/>
                  </a:lnTo>
                  <a:cubicBezTo>
                    <a:pt x="782791" y="0"/>
                    <a:pt x="791844" y="3750"/>
                    <a:pt x="798519" y="10425"/>
                  </a:cubicBezTo>
                  <a:cubicBezTo>
                    <a:pt x="805194" y="17100"/>
                    <a:pt x="808944" y="26153"/>
                    <a:pt x="808944" y="35593"/>
                  </a:cubicBezTo>
                  <a:lnTo>
                    <a:pt x="808944" y="363014"/>
                  </a:lnTo>
                  <a:cubicBezTo>
                    <a:pt x="808944" y="382671"/>
                    <a:pt x="793008" y="398606"/>
                    <a:pt x="773351" y="398606"/>
                  </a:cubicBezTo>
                  <a:lnTo>
                    <a:pt x="35593" y="398606"/>
                  </a:lnTo>
                  <a:cubicBezTo>
                    <a:pt x="26153" y="398606"/>
                    <a:pt x="17100" y="394857"/>
                    <a:pt x="10425" y="388182"/>
                  </a:cubicBezTo>
                  <a:cubicBezTo>
                    <a:pt x="3750" y="381507"/>
                    <a:pt x="0" y="372453"/>
                    <a:pt x="0" y="363014"/>
                  </a:cubicBezTo>
                  <a:lnTo>
                    <a:pt x="0" y="35593"/>
                  </a:lnTo>
                  <a:cubicBezTo>
                    <a:pt x="0" y="26153"/>
                    <a:pt x="3750" y="17100"/>
                    <a:pt x="10425" y="10425"/>
                  </a:cubicBezTo>
                  <a:cubicBezTo>
                    <a:pt x="17100" y="3750"/>
                    <a:pt x="26153" y="0"/>
                    <a:pt x="35593" y="0"/>
                  </a:cubicBezTo>
                  <a:close/>
                </a:path>
              </a:pathLst>
            </a:custGeom>
            <a:ln w="28575" cap="sq">
              <a:solidFill>
                <a:srgbClr val="000000"/>
              </a:solidFill>
              <a:prstDash val="solid"/>
              <a:miter/>
            </a:ln>
          </p:spPr>
        </p:sp>
        <p:sp>
          <p:nvSpPr>
            <p:cNvPr name="TextBox 7" id="7"/>
            <p:cNvSpPr txBox="true"/>
            <p:nvPr/>
          </p:nvSpPr>
          <p:spPr>
            <a:xfrm>
              <a:off x="0" y="-47625"/>
              <a:ext cx="808944" cy="44623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Data Cleaning</a:t>
              </a:r>
            </a:p>
            <a:p>
              <a:pPr algn="ctr">
                <a:lnSpc>
                  <a:spcPts val="2799"/>
                </a:lnSpc>
              </a:pPr>
              <a:r>
                <a:rPr lang="en-US" sz="1999">
                  <a:solidFill>
                    <a:srgbClr val="000000"/>
                  </a:solidFill>
                  <a:latin typeface="Raleway"/>
                  <a:ea typeface="Raleway"/>
                  <a:cs typeface="Raleway"/>
                  <a:sym typeface="Raleway"/>
                </a:rPr>
                <a:t>Missing Value, Duplicate Data, Outlier</a:t>
              </a:r>
            </a:p>
          </p:txBody>
        </p:sp>
      </p:grpSp>
      <p:grpSp>
        <p:nvGrpSpPr>
          <p:cNvPr name="Group 8" id="8"/>
          <p:cNvGrpSpPr/>
          <p:nvPr/>
        </p:nvGrpSpPr>
        <p:grpSpPr>
          <a:xfrm rot="0">
            <a:off x="978264" y="3075908"/>
            <a:ext cx="3278257" cy="884883"/>
            <a:chOff x="0" y="0"/>
            <a:chExt cx="812800" cy="219395"/>
          </a:xfrm>
        </p:grpSpPr>
        <p:sp>
          <p:nvSpPr>
            <p:cNvPr name="Freeform 9" id="9"/>
            <p:cNvSpPr/>
            <p:nvPr/>
          </p:nvSpPr>
          <p:spPr>
            <a:xfrm flipH="false" flipV="false" rot="0">
              <a:off x="0" y="0"/>
              <a:ext cx="812800" cy="219395"/>
            </a:xfrm>
            <a:custGeom>
              <a:avLst/>
              <a:gdLst/>
              <a:ahLst/>
              <a:cxnLst/>
              <a:rect r="r" b="b" t="t" l="l"/>
              <a:pathLst>
                <a:path h="219395" w="812800">
                  <a:moveTo>
                    <a:pt x="203200" y="0"/>
                  </a:moveTo>
                  <a:lnTo>
                    <a:pt x="812800" y="0"/>
                  </a:lnTo>
                  <a:lnTo>
                    <a:pt x="609600" y="219395"/>
                  </a:lnTo>
                  <a:lnTo>
                    <a:pt x="0" y="219395"/>
                  </a:lnTo>
                  <a:lnTo>
                    <a:pt x="203200" y="0"/>
                  </a:lnTo>
                  <a:close/>
                </a:path>
              </a:pathLst>
            </a:custGeom>
            <a:ln w="28575" cap="sq">
              <a:solidFill>
                <a:srgbClr val="000000"/>
              </a:solidFill>
              <a:prstDash val="solid"/>
              <a:miter/>
            </a:ln>
          </p:spPr>
        </p:sp>
        <p:sp>
          <p:nvSpPr>
            <p:cNvPr name="TextBox 10" id="10"/>
            <p:cNvSpPr txBox="true"/>
            <p:nvPr/>
          </p:nvSpPr>
          <p:spPr>
            <a:xfrm>
              <a:off x="101600" y="-57150"/>
              <a:ext cx="609600" cy="276545"/>
            </a:xfrm>
            <a:prstGeom prst="rect">
              <a:avLst/>
            </a:prstGeom>
          </p:spPr>
          <p:txBody>
            <a:bodyPr anchor="ctr" rtlCol="false" tIns="50800" lIns="50800" bIns="50800" rIns="50800"/>
            <a:lstStyle/>
            <a:p>
              <a:pPr algn="ctr">
                <a:lnSpc>
                  <a:spcPts val="3359"/>
                </a:lnSpc>
              </a:pPr>
              <a:r>
                <a:rPr lang="en-US" sz="2399">
                  <a:solidFill>
                    <a:srgbClr val="000000"/>
                  </a:solidFill>
                  <a:latin typeface="Raleway"/>
                  <a:ea typeface="Raleway"/>
                  <a:cs typeface="Raleway"/>
                  <a:sym typeface="Raleway"/>
                </a:rPr>
                <a:t>Data Input</a:t>
              </a:r>
            </a:p>
          </p:txBody>
        </p:sp>
      </p:grpSp>
      <p:grpSp>
        <p:nvGrpSpPr>
          <p:cNvPr name="Group 11" id="11"/>
          <p:cNvGrpSpPr/>
          <p:nvPr/>
        </p:nvGrpSpPr>
        <p:grpSpPr>
          <a:xfrm rot="0">
            <a:off x="4830182" y="5030462"/>
            <a:ext cx="3144079" cy="1607695"/>
            <a:chOff x="0" y="0"/>
            <a:chExt cx="779533" cy="398606"/>
          </a:xfrm>
        </p:grpSpPr>
        <p:sp>
          <p:nvSpPr>
            <p:cNvPr name="Freeform 12" id="12"/>
            <p:cNvSpPr/>
            <p:nvPr/>
          </p:nvSpPr>
          <p:spPr>
            <a:xfrm flipH="false" flipV="false" rot="0">
              <a:off x="0" y="0"/>
              <a:ext cx="779533" cy="398606"/>
            </a:xfrm>
            <a:custGeom>
              <a:avLst/>
              <a:gdLst/>
              <a:ahLst/>
              <a:cxnLst/>
              <a:rect r="r" b="b" t="t" l="l"/>
              <a:pathLst>
                <a:path h="398606" w="779533">
                  <a:moveTo>
                    <a:pt x="36936" y="0"/>
                  </a:moveTo>
                  <a:lnTo>
                    <a:pt x="742597" y="0"/>
                  </a:lnTo>
                  <a:cubicBezTo>
                    <a:pt x="752393" y="0"/>
                    <a:pt x="761788" y="3891"/>
                    <a:pt x="768714" y="10818"/>
                  </a:cubicBezTo>
                  <a:cubicBezTo>
                    <a:pt x="775641" y="17745"/>
                    <a:pt x="779533" y="27140"/>
                    <a:pt x="779533" y="36936"/>
                  </a:cubicBezTo>
                  <a:lnTo>
                    <a:pt x="779533" y="361671"/>
                  </a:lnTo>
                  <a:cubicBezTo>
                    <a:pt x="779533" y="371467"/>
                    <a:pt x="775641" y="380861"/>
                    <a:pt x="768714" y="387788"/>
                  </a:cubicBezTo>
                  <a:cubicBezTo>
                    <a:pt x="761788" y="394715"/>
                    <a:pt x="752393" y="398606"/>
                    <a:pt x="742597" y="398606"/>
                  </a:cubicBezTo>
                  <a:lnTo>
                    <a:pt x="36936" y="398606"/>
                  </a:lnTo>
                  <a:cubicBezTo>
                    <a:pt x="27140" y="398606"/>
                    <a:pt x="17745" y="394715"/>
                    <a:pt x="10818" y="387788"/>
                  </a:cubicBezTo>
                  <a:cubicBezTo>
                    <a:pt x="3891" y="380861"/>
                    <a:pt x="0" y="371467"/>
                    <a:pt x="0" y="361671"/>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13" id="13"/>
            <p:cNvSpPr txBox="true"/>
            <p:nvPr/>
          </p:nvSpPr>
          <p:spPr>
            <a:xfrm>
              <a:off x="0" y="-47625"/>
              <a:ext cx="779533" cy="44623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Data Prepocessing</a:t>
              </a:r>
            </a:p>
            <a:p>
              <a:pPr algn="ctr">
                <a:lnSpc>
                  <a:spcPts val="2799"/>
                </a:lnSpc>
              </a:pPr>
              <a:r>
                <a:rPr lang="en-US" sz="1999">
                  <a:solidFill>
                    <a:srgbClr val="000000"/>
                  </a:solidFill>
                  <a:latin typeface="Raleway"/>
                  <a:ea typeface="Raleway"/>
                  <a:cs typeface="Raleway"/>
                  <a:sym typeface="Raleway"/>
                </a:rPr>
                <a:t>Feature Selection,</a:t>
              </a:r>
            </a:p>
            <a:p>
              <a:pPr algn="ctr">
                <a:lnSpc>
                  <a:spcPts val="2799"/>
                </a:lnSpc>
              </a:pPr>
              <a:r>
                <a:rPr lang="en-US" sz="1999">
                  <a:solidFill>
                    <a:srgbClr val="000000"/>
                  </a:solidFill>
                  <a:latin typeface="Raleway"/>
                  <a:ea typeface="Raleway"/>
                  <a:cs typeface="Raleway"/>
                  <a:sym typeface="Raleway"/>
                </a:rPr>
                <a:t>Encoding, Scaling</a:t>
              </a:r>
            </a:p>
          </p:txBody>
        </p:sp>
      </p:grpSp>
      <p:grpSp>
        <p:nvGrpSpPr>
          <p:cNvPr name="Group 14" id="14"/>
          <p:cNvGrpSpPr/>
          <p:nvPr/>
        </p:nvGrpSpPr>
        <p:grpSpPr>
          <a:xfrm rot="0">
            <a:off x="4830182" y="7346422"/>
            <a:ext cx="3144079" cy="1007378"/>
            <a:chOff x="0" y="0"/>
            <a:chExt cx="779533" cy="249766"/>
          </a:xfrm>
        </p:grpSpPr>
        <p:sp>
          <p:nvSpPr>
            <p:cNvPr name="Freeform 15" id="15"/>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16" id="16"/>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Training</a:t>
              </a:r>
            </a:p>
          </p:txBody>
        </p:sp>
      </p:grpSp>
      <p:grpSp>
        <p:nvGrpSpPr>
          <p:cNvPr name="Group 17" id="17"/>
          <p:cNvGrpSpPr/>
          <p:nvPr/>
        </p:nvGrpSpPr>
        <p:grpSpPr>
          <a:xfrm rot="0">
            <a:off x="7974261" y="3218191"/>
            <a:ext cx="613045" cy="4650970"/>
            <a:chOff x="0" y="0"/>
            <a:chExt cx="817393" cy="6201293"/>
          </a:xfrm>
        </p:grpSpPr>
        <p:sp>
          <p:nvSpPr>
            <p:cNvPr name="AutoShape 18" id="18"/>
            <p:cNvSpPr/>
            <p:nvPr/>
          </p:nvSpPr>
          <p:spPr>
            <a:xfrm flipV="true">
              <a:off x="0" y="6175893"/>
              <a:ext cx="791993" cy="0"/>
            </a:xfrm>
            <a:prstGeom prst="line">
              <a:avLst/>
            </a:prstGeom>
            <a:ln cap="flat" w="50800">
              <a:solidFill>
                <a:srgbClr val="000000"/>
              </a:solidFill>
              <a:prstDash val="solid"/>
              <a:headEnd type="none" len="sm" w="sm"/>
              <a:tailEnd type="none" len="sm" w="sm"/>
            </a:ln>
          </p:spPr>
        </p:sp>
        <p:sp>
          <p:nvSpPr>
            <p:cNvPr name="AutoShape 19" id="19"/>
            <p:cNvSpPr/>
            <p:nvPr/>
          </p:nvSpPr>
          <p:spPr>
            <a:xfrm>
              <a:off x="791993" y="0"/>
              <a:ext cx="0" cy="6175893"/>
            </a:xfrm>
            <a:prstGeom prst="line">
              <a:avLst/>
            </a:prstGeom>
            <a:ln cap="flat" w="50800">
              <a:solidFill>
                <a:srgbClr val="000000"/>
              </a:solidFill>
              <a:prstDash val="solid"/>
              <a:headEnd type="none" len="sm" w="sm"/>
              <a:tailEnd type="none" len="sm" w="sm"/>
            </a:ln>
          </p:spPr>
        </p:sp>
      </p:grpSp>
      <p:sp>
        <p:nvSpPr>
          <p:cNvPr name="AutoShape 20" id="20"/>
          <p:cNvSpPr/>
          <p:nvPr/>
        </p:nvSpPr>
        <p:spPr>
          <a:xfrm flipV="true">
            <a:off x="8551443" y="3218191"/>
            <a:ext cx="1339472" cy="0"/>
          </a:xfrm>
          <a:prstGeom prst="line">
            <a:avLst/>
          </a:prstGeom>
          <a:ln cap="flat" w="38100">
            <a:solidFill>
              <a:srgbClr val="000000"/>
            </a:solidFill>
            <a:prstDash val="solid"/>
            <a:headEnd type="none" len="sm" w="sm"/>
            <a:tailEnd type="triangle" len="med" w="lg"/>
          </a:ln>
        </p:spPr>
      </p:sp>
      <p:grpSp>
        <p:nvGrpSpPr>
          <p:cNvPr name="Group 21" id="21"/>
          <p:cNvGrpSpPr/>
          <p:nvPr/>
        </p:nvGrpSpPr>
        <p:grpSpPr>
          <a:xfrm rot="0">
            <a:off x="9890915" y="4526774"/>
            <a:ext cx="3144079" cy="1007378"/>
            <a:chOff x="0" y="0"/>
            <a:chExt cx="779533" cy="249766"/>
          </a:xfrm>
        </p:grpSpPr>
        <p:sp>
          <p:nvSpPr>
            <p:cNvPr name="Freeform 22" id="22"/>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23" id="23"/>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Deployment</a:t>
              </a:r>
            </a:p>
          </p:txBody>
        </p:sp>
      </p:grpSp>
      <p:sp>
        <p:nvSpPr>
          <p:cNvPr name="AutoShape 24" id="24"/>
          <p:cNvSpPr/>
          <p:nvPr/>
        </p:nvSpPr>
        <p:spPr>
          <a:xfrm>
            <a:off x="11462955" y="3721880"/>
            <a:ext cx="0" cy="804893"/>
          </a:xfrm>
          <a:prstGeom prst="line">
            <a:avLst/>
          </a:prstGeom>
          <a:ln cap="flat" w="38100">
            <a:solidFill>
              <a:srgbClr val="000000"/>
            </a:solidFill>
            <a:prstDash val="solid"/>
            <a:headEnd type="none" len="sm" w="sm"/>
            <a:tailEnd type="triangle" len="med" w="lg"/>
          </a:ln>
        </p:spPr>
      </p:sp>
      <p:grpSp>
        <p:nvGrpSpPr>
          <p:cNvPr name="Group 25" id="25"/>
          <p:cNvGrpSpPr/>
          <p:nvPr/>
        </p:nvGrpSpPr>
        <p:grpSpPr>
          <a:xfrm rot="0">
            <a:off x="14115221" y="6781486"/>
            <a:ext cx="3144079" cy="1007378"/>
            <a:chOff x="0" y="0"/>
            <a:chExt cx="779533" cy="249766"/>
          </a:xfrm>
        </p:grpSpPr>
        <p:sp>
          <p:nvSpPr>
            <p:cNvPr name="Freeform 26" id="26"/>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27" id="27"/>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Monitoring</a:t>
              </a:r>
            </a:p>
          </p:txBody>
        </p:sp>
      </p:grpSp>
      <p:sp>
        <p:nvSpPr>
          <p:cNvPr name="AutoShape 28" id="28"/>
          <p:cNvSpPr/>
          <p:nvPr/>
        </p:nvSpPr>
        <p:spPr>
          <a:xfrm flipV="true">
            <a:off x="13054367" y="7285175"/>
            <a:ext cx="1060853" cy="0"/>
          </a:xfrm>
          <a:prstGeom prst="line">
            <a:avLst/>
          </a:prstGeom>
          <a:ln cap="flat" w="38100">
            <a:solidFill>
              <a:srgbClr val="000000"/>
            </a:solidFill>
            <a:prstDash val="solid"/>
            <a:headEnd type="none" len="sm" w="sm"/>
            <a:tailEnd type="triangle" len="med" w="lg"/>
          </a:ln>
        </p:spPr>
      </p:sp>
      <p:grpSp>
        <p:nvGrpSpPr>
          <p:cNvPr name="Group 29" id="29"/>
          <p:cNvGrpSpPr/>
          <p:nvPr/>
        </p:nvGrpSpPr>
        <p:grpSpPr>
          <a:xfrm rot="0">
            <a:off x="9461761" y="6842733"/>
            <a:ext cx="4002388" cy="884883"/>
            <a:chOff x="0" y="0"/>
            <a:chExt cx="992339" cy="219395"/>
          </a:xfrm>
        </p:grpSpPr>
        <p:sp>
          <p:nvSpPr>
            <p:cNvPr name="Freeform 30" id="30"/>
            <p:cNvSpPr/>
            <p:nvPr/>
          </p:nvSpPr>
          <p:spPr>
            <a:xfrm flipH="false" flipV="false" rot="0">
              <a:off x="0" y="0"/>
              <a:ext cx="992339" cy="219395"/>
            </a:xfrm>
            <a:custGeom>
              <a:avLst/>
              <a:gdLst/>
              <a:ahLst/>
              <a:cxnLst/>
              <a:rect r="r" b="b" t="t" l="l"/>
              <a:pathLst>
                <a:path h="219395" w="992339">
                  <a:moveTo>
                    <a:pt x="203200" y="0"/>
                  </a:moveTo>
                  <a:lnTo>
                    <a:pt x="992339" y="0"/>
                  </a:lnTo>
                  <a:lnTo>
                    <a:pt x="789139" y="219395"/>
                  </a:lnTo>
                  <a:lnTo>
                    <a:pt x="0" y="219395"/>
                  </a:lnTo>
                  <a:lnTo>
                    <a:pt x="203200" y="0"/>
                  </a:lnTo>
                  <a:close/>
                </a:path>
              </a:pathLst>
            </a:custGeom>
            <a:ln w="28575" cap="sq">
              <a:solidFill>
                <a:srgbClr val="000000"/>
              </a:solidFill>
              <a:prstDash val="solid"/>
              <a:miter/>
            </a:ln>
          </p:spPr>
        </p:sp>
        <p:sp>
          <p:nvSpPr>
            <p:cNvPr name="TextBox 31" id="31"/>
            <p:cNvSpPr txBox="true"/>
            <p:nvPr/>
          </p:nvSpPr>
          <p:spPr>
            <a:xfrm>
              <a:off x="101600" y="-57150"/>
              <a:ext cx="789139" cy="276545"/>
            </a:xfrm>
            <a:prstGeom prst="rect">
              <a:avLst/>
            </a:prstGeom>
          </p:spPr>
          <p:txBody>
            <a:bodyPr anchor="ctr" rtlCol="false" tIns="50800" lIns="50800" bIns="50800" rIns="50800"/>
            <a:lstStyle/>
            <a:p>
              <a:pPr algn="ctr">
                <a:lnSpc>
                  <a:spcPts val="3359"/>
                </a:lnSpc>
              </a:pPr>
              <a:r>
                <a:rPr lang="en-US" sz="2399">
                  <a:solidFill>
                    <a:srgbClr val="000000"/>
                  </a:solidFill>
                  <a:latin typeface="Raleway"/>
                  <a:ea typeface="Raleway"/>
                  <a:cs typeface="Raleway"/>
                  <a:sym typeface="Raleway"/>
                </a:rPr>
                <a:t>Prediction Output</a:t>
              </a:r>
            </a:p>
          </p:txBody>
        </p:sp>
      </p:grpSp>
      <p:sp>
        <p:nvSpPr>
          <p:cNvPr name="AutoShape 32" id="32"/>
          <p:cNvSpPr/>
          <p:nvPr/>
        </p:nvSpPr>
        <p:spPr>
          <a:xfrm>
            <a:off x="11462955" y="5534151"/>
            <a:ext cx="0" cy="1308582"/>
          </a:xfrm>
          <a:prstGeom prst="line">
            <a:avLst/>
          </a:prstGeom>
          <a:ln cap="flat" w="38100">
            <a:solidFill>
              <a:srgbClr val="000000"/>
            </a:solidFill>
            <a:prstDash val="solid"/>
            <a:headEnd type="none" len="sm" w="sm"/>
            <a:tailEnd type="triangle" len="med" w="lg"/>
          </a:ln>
        </p:spPr>
      </p:sp>
      <p:grpSp>
        <p:nvGrpSpPr>
          <p:cNvPr name="Group 33" id="33"/>
          <p:cNvGrpSpPr/>
          <p:nvPr/>
        </p:nvGrpSpPr>
        <p:grpSpPr>
          <a:xfrm rot="0">
            <a:off x="9890915" y="2714502"/>
            <a:ext cx="3144079" cy="1007378"/>
            <a:chOff x="0" y="0"/>
            <a:chExt cx="779533" cy="249766"/>
          </a:xfrm>
        </p:grpSpPr>
        <p:sp>
          <p:nvSpPr>
            <p:cNvPr name="Freeform 34" id="34"/>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35" id="35"/>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Evaluation</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Version Control</a:t>
            </a:r>
          </a:p>
        </p:txBody>
      </p:sp>
      <p:sp>
        <p:nvSpPr>
          <p:cNvPr name="Freeform 4" id="4">
            <a:hlinkClick r:id="rId4" tooltip="https://github.com/fadlinur/Final-Project.git"/>
          </p:cNvPr>
          <p:cNvSpPr/>
          <p:nvPr/>
        </p:nvSpPr>
        <p:spPr>
          <a:xfrm flipH="false" flipV="false" rot="0">
            <a:off x="7799681" y="3525449"/>
            <a:ext cx="2688638" cy="2584453"/>
          </a:xfrm>
          <a:custGeom>
            <a:avLst/>
            <a:gdLst/>
            <a:ahLst/>
            <a:cxnLst/>
            <a:rect r="r" b="b" t="t" l="l"/>
            <a:pathLst>
              <a:path h="2584453" w="2688638">
                <a:moveTo>
                  <a:pt x="0" y="0"/>
                </a:moveTo>
                <a:lnTo>
                  <a:pt x="2688638" y="0"/>
                </a:lnTo>
                <a:lnTo>
                  <a:pt x="2688638" y="2584453"/>
                </a:lnTo>
                <a:lnTo>
                  <a:pt x="0" y="2584453"/>
                </a:lnTo>
                <a:lnTo>
                  <a:pt x="0" y="0"/>
                </a:lnTo>
                <a:close/>
              </a:path>
            </a:pathLst>
          </a:custGeom>
          <a:blipFill>
            <a:blip r:embed="rId3"/>
            <a:stretch>
              <a:fillRect l="0" t="0" r="0" b="0"/>
            </a:stretch>
          </a:blipFill>
        </p:spPr>
      </p:sp>
      <p:sp>
        <p:nvSpPr>
          <p:cNvPr name="TextBox 5" id="5"/>
          <p:cNvSpPr txBox="true"/>
          <p:nvPr/>
        </p:nvSpPr>
        <p:spPr>
          <a:xfrm rot="0">
            <a:off x="8292353" y="6230555"/>
            <a:ext cx="1703294" cy="583355"/>
          </a:xfrm>
          <a:prstGeom prst="rect">
            <a:avLst/>
          </a:prstGeom>
        </p:spPr>
        <p:txBody>
          <a:bodyPr anchor="t" rtlCol="false" tIns="0" lIns="0" bIns="0" rIns="0">
            <a:spAutoFit/>
          </a:bodyPr>
          <a:lstStyle/>
          <a:p>
            <a:pPr algn="l" marL="0" indent="0" lvl="0">
              <a:lnSpc>
                <a:spcPts val="4593"/>
              </a:lnSpc>
              <a:spcBef>
                <a:spcPct val="0"/>
              </a:spcBef>
            </a:pPr>
            <a:r>
              <a:rPr lang="en-US" sz="3828">
                <a:solidFill>
                  <a:srgbClr val="01FDF5"/>
                </a:solidFill>
                <a:latin typeface="Barlow"/>
                <a:ea typeface="Barlow"/>
                <a:cs typeface="Barlow"/>
                <a:sym typeface="Barlow"/>
              </a:rPr>
              <a:t>GITHUB</a:t>
            </a:r>
          </a:p>
        </p:txBody>
      </p:sp>
      <p:sp>
        <p:nvSpPr>
          <p:cNvPr name="TextBox 6" id="6"/>
          <p:cNvSpPr txBox="true"/>
          <p:nvPr/>
        </p:nvSpPr>
        <p:spPr>
          <a:xfrm rot="0">
            <a:off x="7615364" y="6813909"/>
            <a:ext cx="3057273" cy="428625"/>
          </a:xfrm>
          <a:prstGeom prst="rect">
            <a:avLst/>
          </a:prstGeom>
        </p:spPr>
        <p:txBody>
          <a:bodyPr anchor="t" rtlCol="false" tIns="0" lIns="0" bIns="0" rIns="0">
            <a:spAutoFit/>
          </a:bodyPr>
          <a:lstStyle/>
          <a:p>
            <a:pPr algn="ctr" marL="0" indent="0" lvl="0">
              <a:lnSpc>
                <a:spcPts val="3393"/>
              </a:lnSpc>
              <a:spcBef>
                <a:spcPct val="0"/>
              </a:spcBef>
            </a:pPr>
            <a:r>
              <a:rPr lang="en-US" b="true" sz="2828" u="sng">
                <a:solidFill>
                  <a:srgbClr val="E77E00"/>
                </a:solidFill>
                <a:latin typeface="Barlow Bold"/>
                <a:ea typeface="Barlow Bold"/>
                <a:cs typeface="Barlow Bold"/>
                <a:sym typeface="Barlow Bold"/>
                <a:hlinkClick r:id="rId5" tooltip="https://github.com/fadlinur/Final-Project.git"/>
              </a:rPr>
              <a:t>[click 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DAHHAUYIHsg</dc:identifier>
  <dcterms:modified xsi:type="dcterms:W3CDTF">2011-08-01T06:04:30Z</dcterms:modified>
  <cp:revision>1</cp:revision>
  <dc:title>Smote PPT Presentasi – Kelompok 2 – HIRESIGHTS</dc:title>
</cp:coreProperties>
</file>