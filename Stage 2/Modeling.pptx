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4"/>
  </p:notesMasterIdLst>
  <p:sldIdLst>
    <p:sldId id="256" r:id="rId6"/>
    <p:sldId id="257" r:id="rId7"/>
    <p:sldId id="258" r:id="rId8"/>
    <p:sldId id="259" r:id="rId9"/>
    <p:sldId id="260" r:id="rId10"/>
    <p:sldId id="261" r:id="rId11"/>
    <p:sldId id="262" r:id="rId12"/>
    <p:sldId id="263" r:id="rId13"/>
  </p:sldIdLst>
  <p:sldSz cx="18288000" cy="10287000"/>
  <p:notesSz cx="6858000" cy="9144000"/>
  <p:embeddedFontLst>
    <p:embeddedFont>
      <p:font typeface="Raleway Bold" charset="1" panose="00000000000000000000"/>
      <p:regular r:id="rId17"/>
    </p:embeddedFont>
    <p:embeddedFont>
      <p:font typeface="Raleway" charset="1" panose="00000000000000000000"/>
      <p:regular r:id="rId20"/>
    </p:embeddedFont>
    <p:embeddedFont>
      <p:font typeface="Poppins Bold" charset="1" panose="00000800000000000000"/>
      <p:regular r:id="rId21"/>
    </p:embeddedFont>
    <p:embeddedFont>
      <p:font typeface="Poppins" charset="1" panose="00000500000000000000"/>
      <p:regular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notesMasters/notesMaster1.xml" Type="http://schemas.openxmlformats.org/officeDocument/2006/relationships/notesMaster"/><Relationship Id="rId15" Target="theme/theme2.xml" Type="http://schemas.openxmlformats.org/officeDocument/2006/relationships/theme"/><Relationship Id="rId16" Target="notesSlides/notesSlide1.xml" Type="http://schemas.openxmlformats.org/officeDocument/2006/relationships/notesSlide"/><Relationship Id="rId17" Target="fonts/font17.fntdata" Type="http://schemas.openxmlformats.org/officeDocument/2006/relationships/font"/><Relationship Id="rId18" Target="notesSlides/notesSlide2.xml" Type="http://schemas.openxmlformats.org/officeDocument/2006/relationships/notesSlide"/><Relationship Id="rId19" Target="notesSlides/notesSlide3.xml" Type="http://schemas.openxmlformats.org/officeDocument/2006/relationships/notesSlide"/><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media/image2.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3.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1455601" y="3624900"/>
            <a:ext cx="15376798" cy="4150353"/>
            <a:chOff x="0" y="0"/>
            <a:chExt cx="20502397" cy="5533803"/>
          </a:xfrm>
        </p:grpSpPr>
        <p:sp>
          <p:nvSpPr>
            <p:cNvPr name="Freeform 4" id="4"/>
            <p:cNvSpPr/>
            <p:nvPr/>
          </p:nvSpPr>
          <p:spPr>
            <a:xfrm flipH="false" flipV="false" rot="0">
              <a:off x="0" y="0"/>
              <a:ext cx="20502400" cy="5533805"/>
            </a:xfrm>
            <a:custGeom>
              <a:avLst/>
              <a:gdLst/>
              <a:ahLst/>
              <a:cxnLst/>
              <a:rect r="r" b="b" t="t" l="l"/>
              <a:pathLst>
                <a:path h="5533805" w="20502400">
                  <a:moveTo>
                    <a:pt x="0" y="0"/>
                  </a:moveTo>
                  <a:lnTo>
                    <a:pt x="20502400" y="0"/>
                  </a:lnTo>
                  <a:lnTo>
                    <a:pt x="20502400" y="5533805"/>
                  </a:lnTo>
                  <a:lnTo>
                    <a:pt x="0" y="5533805"/>
                  </a:lnTo>
                  <a:close/>
                </a:path>
              </a:pathLst>
            </a:custGeom>
            <a:blipFill>
              <a:blip r:embed="rId4">
                <a:alphaModFix amt="0"/>
              </a:blip>
              <a:stretch>
                <a:fillRect l="0" t="-35601" r="0" b="-8780"/>
              </a:stretch>
            </a:blipFill>
          </p:spPr>
        </p:sp>
        <p:sp>
          <p:nvSpPr>
            <p:cNvPr name="TextBox 5" id="5"/>
            <p:cNvSpPr txBox="true"/>
            <p:nvPr/>
          </p:nvSpPr>
          <p:spPr>
            <a:xfrm>
              <a:off x="0" y="-19050"/>
              <a:ext cx="20502397" cy="5552853"/>
            </a:xfrm>
            <a:prstGeom prst="rect">
              <a:avLst/>
            </a:prstGeom>
          </p:spPr>
          <p:txBody>
            <a:bodyPr anchor="ctr" rtlCol="false" tIns="0" lIns="0" bIns="0" rIns="0"/>
            <a:lstStyle/>
            <a:p>
              <a:pPr algn="ctr">
                <a:lnSpc>
                  <a:spcPts val="8640"/>
                </a:lnSpc>
              </a:pPr>
              <a:r>
                <a:rPr lang="en-US" sz="7200" b="true">
                  <a:solidFill>
                    <a:srgbClr val="000000"/>
                  </a:solidFill>
                  <a:latin typeface="Raleway Bold"/>
                  <a:ea typeface="Raleway Bold"/>
                  <a:cs typeface="Raleway Bold"/>
                  <a:sym typeface="Raleway Bold"/>
                </a:rPr>
                <a:t>Data-Driven Recruitment System</a:t>
              </a:r>
            </a:p>
            <a:p>
              <a:pPr algn="ctr">
                <a:lnSpc>
                  <a:spcPts val="5759"/>
                </a:lnSpc>
              </a:pPr>
            </a:p>
            <a:p>
              <a:pPr algn="ctr">
                <a:lnSpc>
                  <a:spcPts val="3359"/>
                </a:lnSpc>
              </a:pPr>
              <a:r>
                <a:rPr lang="en-US" b="true" sz="2799">
                  <a:solidFill>
                    <a:srgbClr val="18102B"/>
                  </a:solidFill>
                  <a:latin typeface="Raleway Bold"/>
                  <a:ea typeface="Raleway Bold"/>
                  <a:cs typeface="Raleway Bold"/>
                  <a:sym typeface="Raleway Bold"/>
                </a:rPr>
                <a:t>Optimizing</a:t>
              </a:r>
              <a:r>
                <a:rPr lang="en-US" b="true" sz="2799">
                  <a:solidFill>
                    <a:srgbClr val="18102B"/>
                  </a:solidFill>
                  <a:latin typeface="Raleway Bold"/>
                  <a:ea typeface="Raleway Bold"/>
                  <a:cs typeface="Raleway Bold"/>
                  <a:sym typeface="Raleway Bold"/>
                </a:rPr>
                <a:t> Biased Talent Acquisition Through Data-Driven HR Analytics</a:t>
              </a:r>
            </a:p>
          </p:txBody>
        </p:sp>
      </p:grpSp>
      <p:sp>
        <p:nvSpPr>
          <p:cNvPr name="AutoShape 6" id="6"/>
          <p:cNvSpPr/>
          <p:nvPr/>
        </p:nvSpPr>
        <p:spPr>
          <a:xfrm>
            <a:off x="3037800" y="6390999"/>
            <a:ext cx="12212400" cy="0"/>
          </a:xfrm>
          <a:prstGeom prst="line">
            <a:avLst/>
          </a:prstGeom>
          <a:ln cap="flat" w="38100">
            <a:solidFill>
              <a:srgbClr val="000000"/>
            </a:solidFill>
            <a:prstDash val="solid"/>
            <a:headEnd type="none" len="sm" w="sm"/>
            <a:tailEnd type="none" len="sm" w="sm"/>
          </a:ln>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
        <p:nvSpPr>
          <p:cNvPr name="TextBox 3" id="3"/>
          <p:cNvSpPr txBox="true"/>
          <p:nvPr/>
        </p:nvSpPr>
        <p:spPr>
          <a:xfrm rot="0">
            <a:off x="1547027" y="4576762"/>
            <a:ext cx="15193947" cy="1114425"/>
          </a:xfrm>
          <a:prstGeom prst="rect">
            <a:avLst/>
          </a:prstGeom>
        </p:spPr>
        <p:txBody>
          <a:bodyPr anchor="t" rtlCol="false" tIns="0" lIns="0" bIns="0" rIns="0">
            <a:spAutoFit/>
          </a:bodyPr>
          <a:lstStyle/>
          <a:p>
            <a:pPr algn="ctr">
              <a:lnSpc>
                <a:spcPts val="8640"/>
              </a:lnSpc>
            </a:pPr>
            <a:r>
              <a:rPr lang="en-US" b="true" sz="7200">
                <a:solidFill>
                  <a:srgbClr val="000000"/>
                </a:solidFill>
                <a:latin typeface="Raleway Bold"/>
                <a:ea typeface="Raleway Bold"/>
                <a:cs typeface="Raleway Bold"/>
                <a:sym typeface="Raleway Bold"/>
              </a:rPr>
              <a:t>Modeling</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1592683" y="2915205"/>
            <a:ext cx="10980615" cy="5713772"/>
            <a:chOff x="0" y="0"/>
            <a:chExt cx="16429701" cy="8549208"/>
          </a:xfrm>
        </p:grpSpPr>
        <p:sp>
          <p:nvSpPr>
            <p:cNvPr name="Freeform 4" id="4" descr="image.png"/>
            <p:cNvSpPr/>
            <p:nvPr/>
          </p:nvSpPr>
          <p:spPr>
            <a:xfrm flipH="false" flipV="false" rot="0">
              <a:off x="0" y="0"/>
              <a:ext cx="16429738" cy="8549233"/>
            </a:xfrm>
            <a:custGeom>
              <a:avLst/>
              <a:gdLst/>
              <a:ahLst/>
              <a:cxnLst/>
              <a:rect r="r" b="b" t="t" l="l"/>
              <a:pathLst>
                <a:path h="8549233" w="16429738">
                  <a:moveTo>
                    <a:pt x="250444" y="0"/>
                  </a:moveTo>
                  <a:lnTo>
                    <a:pt x="16179295" y="0"/>
                  </a:lnTo>
                  <a:cubicBezTo>
                    <a:pt x="16317610" y="0"/>
                    <a:pt x="16429738" y="112128"/>
                    <a:pt x="16429738" y="250444"/>
                  </a:cubicBezTo>
                  <a:lnTo>
                    <a:pt x="16429738" y="8298790"/>
                  </a:lnTo>
                  <a:cubicBezTo>
                    <a:pt x="16429738" y="8365211"/>
                    <a:pt x="16403352" y="8428913"/>
                    <a:pt x="16356385" y="8475880"/>
                  </a:cubicBezTo>
                  <a:cubicBezTo>
                    <a:pt x="16309417" y="8522847"/>
                    <a:pt x="16245717" y="8549233"/>
                    <a:pt x="16179295" y="8549233"/>
                  </a:cubicBezTo>
                  <a:lnTo>
                    <a:pt x="250444" y="8549233"/>
                  </a:lnTo>
                  <a:cubicBezTo>
                    <a:pt x="112128" y="8549233"/>
                    <a:pt x="0" y="8437106"/>
                    <a:pt x="0" y="8298790"/>
                  </a:cubicBezTo>
                  <a:lnTo>
                    <a:pt x="0" y="250444"/>
                  </a:lnTo>
                  <a:cubicBezTo>
                    <a:pt x="0" y="112128"/>
                    <a:pt x="112128" y="0"/>
                    <a:pt x="250444" y="0"/>
                  </a:cubicBezTo>
                  <a:close/>
                </a:path>
              </a:pathLst>
            </a:custGeom>
            <a:solidFill>
              <a:srgbClr val="A1C7CE"/>
            </a:solidFill>
            <a:ln w="85725" cap="rnd">
              <a:solidFill>
                <a:srgbClr val="4E5567"/>
              </a:solidFill>
              <a:prstDash val="solid"/>
              <a:round/>
            </a:ln>
          </p:spPr>
        </p:sp>
      </p:grpSp>
      <p:sp>
        <p:nvSpPr>
          <p:cNvPr name="TextBox 5" id="5"/>
          <p:cNvSpPr txBox="true"/>
          <p:nvPr/>
        </p:nvSpPr>
        <p:spPr>
          <a:xfrm rot="0">
            <a:off x="5301444" y="3086115"/>
            <a:ext cx="3563094" cy="598171"/>
          </a:xfrm>
          <a:prstGeom prst="rect">
            <a:avLst/>
          </a:prstGeom>
        </p:spPr>
        <p:txBody>
          <a:bodyPr anchor="t" rtlCol="false" tIns="0" lIns="0" bIns="0" rIns="0">
            <a:spAutoFit/>
          </a:bodyPr>
          <a:lstStyle/>
          <a:p>
            <a:pPr algn="l">
              <a:lnSpc>
                <a:spcPts val="5039"/>
              </a:lnSpc>
            </a:pPr>
            <a:r>
              <a:rPr lang="en-US" b="true" sz="2999">
                <a:solidFill>
                  <a:srgbClr val="000000"/>
                </a:solidFill>
                <a:latin typeface="Raleway Bold"/>
                <a:ea typeface="Raleway Bold"/>
                <a:cs typeface="Raleway Bold"/>
                <a:sym typeface="Raleway Bold"/>
              </a:rPr>
              <a:t>Logistic Regression</a:t>
            </a:r>
          </a:p>
        </p:txBody>
      </p:sp>
      <p:grpSp>
        <p:nvGrpSpPr>
          <p:cNvPr name="Group 6" id="6"/>
          <p:cNvGrpSpPr/>
          <p:nvPr/>
        </p:nvGrpSpPr>
        <p:grpSpPr>
          <a:xfrm rot="0">
            <a:off x="13338618" y="2915205"/>
            <a:ext cx="3042301" cy="5713772"/>
            <a:chOff x="0" y="0"/>
            <a:chExt cx="801264" cy="1504862"/>
          </a:xfrm>
        </p:grpSpPr>
        <p:sp>
          <p:nvSpPr>
            <p:cNvPr name="Freeform 7" id="7"/>
            <p:cNvSpPr/>
            <p:nvPr/>
          </p:nvSpPr>
          <p:spPr>
            <a:xfrm flipH="false" flipV="false" rot="0">
              <a:off x="0" y="0"/>
              <a:ext cx="801264" cy="1504862"/>
            </a:xfrm>
            <a:custGeom>
              <a:avLst/>
              <a:gdLst/>
              <a:ahLst/>
              <a:cxnLst/>
              <a:rect r="r" b="b" t="t" l="l"/>
              <a:pathLst>
                <a:path h="1504862" w="801264">
                  <a:moveTo>
                    <a:pt x="129783" y="0"/>
                  </a:moveTo>
                  <a:lnTo>
                    <a:pt x="671482" y="0"/>
                  </a:lnTo>
                  <a:cubicBezTo>
                    <a:pt x="743159" y="0"/>
                    <a:pt x="801264" y="58106"/>
                    <a:pt x="801264" y="129783"/>
                  </a:cubicBezTo>
                  <a:lnTo>
                    <a:pt x="801264" y="1375079"/>
                  </a:lnTo>
                  <a:cubicBezTo>
                    <a:pt x="801264" y="1409500"/>
                    <a:pt x="787591" y="1442510"/>
                    <a:pt x="763252" y="1466849"/>
                  </a:cubicBezTo>
                  <a:cubicBezTo>
                    <a:pt x="738913" y="1491188"/>
                    <a:pt x="705902" y="1504862"/>
                    <a:pt x="671482" y="1504862"/>
                  </a:cubicBezTo>
                  <a:lnTo>
                    <a:pt x="129783" y="1504862"/>
                  </a:lnTo>
                  <a:cubicBezTo>
                    <a:pt x="95362" y="1504862"/>
                    <a:pt x="62351" y="1491188"/>
                    <a:pt x="38012" y="1466849"/>
                  </a:cubicBezTo>
                  <a:cubicBezTo>
                    <a:pt x="13673" y="1442510"/>
                    <a:pt x="0" y="1409500"/>
                    <a:pt x="0" y="1375079"/>
                  </a:cubicBezTo>
                  <a:lnTo>
                    <a:pt x="0" y="129783"/>
                  </a:lnTo>
                  <a:cubicBezTo>
                    <a:pt x="0" y="95362"/>
                    <a:pt x="13673" y="62351"/>
                    <a:pt x="38012" y="38012"/>
                  </a:cubicBezTo>
                  <a:cubicBezTo>
                    <a:pt x="62351" y="13673"/>
                    <a:pt x="95362" y="0"/>
                    <a:pt x="129783" y="0"/>
                  </a:cubicBezTo>
                  <a:close/>
                </a:path>
              </a:pathLst>
            </a:custGeom>
            <a:solidFill>
              <a:srgbClr val="A1C7CE"/>
            </a:solidFill>
            <a:ln w="85725" cap="rnd">
              <a:solidFill>
                <a:srgbClr val="505050"/>
              </a:solidFill>
              <a:prstDash val="solid"/>
              <a:round/>
            </a:ln>
          </p:spPr>
        </p:sp>
        <p:sp>
          <p:nvSpPr>
            <p:cNvPr name="TextBox 8" id="8"/>
            <p:cNvSpPr txBox="true"/>
            <p:nvPr/>
          </p:nvSpPr>
          <p:spPr>
            <a:xfrm>
              <a:off x="0" y="-9525"/>
              <a:ext cx="801264" cy="1514387"/>
            </a:xfrm>
            <a:prstGeom prst="rect">
              <a:avLst/>
            </a:prstGeom>
          </p:spPr>
          <p:txBody>
            <a:bodyPr anchor="ctr" rtlCol="false" tIns="50800" lIns="50800" bIns="50800" rIns="50800"/>
            <a:lstStyle/>
            <a:p>
              <a:pPr algn="ctr">
                <a:lnSpc>
                  <a:spcPts val="2491"/>
                </a:lnSpc>
              </a:pPr>
            </a:p>
          </p:txBody>
        </p:sp>
      </p:grpSp>
      <p:sp>
        <p:nvSpPr>
          <p:cNvPr name="TextBox 9" id="9"/>
          <p:cNvSpPr txBox="true"/>
          <p:nvPr/>
        </p:nvSpPr>
        <p:spPr>
          <a:xfrm rot="0">
            <a:off x="13649959" y="4209958"/>
            <a:ext cx="2419619" cy="400116"/>
          </a:xfrm>
          <a:prstGeom prst="rect">
            <a:avLst/>
          </a:prstGeom>
        </p:spPr>
        <p:txBody>
          <a:bodyPr anchor="t" rtlCol="false" tIns="0" lIns="0" bIns="0" rIns="0">
            <a:spAutoFit/>
          </a:bodyPr>
          <a:lstStyle/>
          <a:p>
            <a:pPr algn="ctr" marL="0" indent="0" lvl="0">
              <a:lnSpc>
                <a:spcPts val="3120"/>
              </a:lnSpc>
              <a:spcBef>
                <a:spcPct val="0"/>
              </a:spcBef>
            </a:pPr>
            <a:r>
              <a:rPr lang="en-US" b="true" sz="2600">
                <a:solidFill>
                  <a:srgbClr val="18102B"/>
                </a:solidFill>
                <a:latin typeface="Raleway Bold"/>
                <a:ea typeface="Raleway Bold"/>
                <a:cs typeface="Raleway Bold"/>
                <a:sym typeface="Raleway Bold"/>
              </a:rPr>
              <a:t>F1 S</a:t>
            </a:r>
            <a:r>
              <a:rPr lang="en-US" b="true" sz="2600">
                <a:solidFill>
                  <a:srgbClr val="18102B"/>
                </a:solidFill>
                <a:latin typeface="Raleway Bold"/>
                <a:ea typeface="Raleway Bold"/>
                <a:cs typeface="Raleway Bold"/>
                <a:sym typeface="Raleway Bold"/>
              </a:rPr>
              <a:t>core</a:t>
            </a:r>
          </a:p>
        </p:txBody>
      </p:sp>
      <p:sp>
        <p:nvSpPr>
          <p:cNvPr name="TextBox 10" id="10"/>
          <p:cNvSpPr txBox="true"/>
          <p:nvPr/>
        </p:nvSpPr>
        <p:spPr>
          <a:xfrm rot="0">
            <a:off x="13649959" y="6038758"/>
            <a:ext cx="2419619" cy="400116"/>
          </a:xfrm>
          <a:prstGeom prst="rect">
            <a:avLst/>
          </a:prstGeom>
        </p:spPr>
        <p:txBody>
          <a:bodyPr anchor="t" rtlCol="false" tIns="0" lIns="0" bIns="0" rIns="0">
            <a:spAutoFit/>
          </a:bodyPr>
          <a:lstStyle/>
          <a:p>
            <a:pPr algn="ctr" marL="0" indent="0" lvl="0">
              <a:lnSpc>
                <a:spcPts val="3120"/>
              </a:lnSpc>
              <a:spcBef>
                <a:spcPct val="0"/>
              </a:spcBef>
            </a:pPr>
            <a:r>
              <a:rPr lang="en-US" b="true" sz="2600">
                <a:solidFill>
                  <a:srgbClr val="18102B"/>
                </a:solidFill>
                <a:latin typeface="Raleway Bold"/>
                <a:ea typeface="Raleway Bold"/>
                <a:cs typeface="Raleway Bold"/>
                <a:sym typeface="Raleway Bold"/>
              </a:rPr>
              <a:t>ROC AUC</a:t>
            </a:r>
          </a:p>
        </p:txBody>
      </p:sp>
      <p:sp>
        <p:nvSpPr>
          <p:cNvPr name="TextBox 11" id="11"/>
          <p:cNvSpPr txBox="true"/>
          <p:nvPr/>
        </p:nvSpPr>
        <p:spPr>
          <a:xfrm rot="0">
            <a:off x="13649959" y="4591090"/>
            <a:ext cx="2419619" cy="904809"/>
          </a:xfrm>
          <a:prstGeom prst="rect">
            <a:avLst/>
          </a:prstGeom>
        </p:spPr>
        <p:txBody>
          <a:bodyPr anchor="t" rtlCol="false" tIns="0" lIns="0" bIns="0" rIns="0">
            <a:spAutoFit/>
          </a:bodyPr>
          <a:lstStyle/>
          <a:p>
            <a:pPr algn="ctr" marL="0" indent="0" lvl="0">
              <a:lnSpc>
                <a:spcPts val="7080"/>
              </a:lnSpc>
              <a:spcBef>
                <a:spcPct val="0"/>
              </a:spcBef>
            </a:pPr>
            <a:r>
              <a:rPr lang="en-US" sz="5900">
                <a:solidFill>
                  <a:srgbClr val="18102B"/>
                </a:solidFill>
                <a:latin typeface="Raleway"/>
                <a:ea typeface="Raleway"/>
                <a:cs typeface="Raleway"/>
                <a:sym typeface="Raleway"/>
              </a:rPr>
              <a:t>72.3%</a:t>
            </a:r>
          </a:p>
        </p:txBody>
      </p:sp>
      <p:sp>
        <p:nvSpPr>
          <p:cNvPr name="TextBox 12" id="12"/>
          <p:cNvSpPr txBox="true"/>
          <p:nvPr/>
        </p:nvSpPr>
        <p:spPr>
          <a:xfrm rot="0">
            <a:off x="13649959" y="6419890"/>
            <a:ext cx="2419619" cy="904809"/>
          </a:xfrm>
          <a:prstGeom prst="rect">
            <a:avLst/>
          </a:prstGeom>
        </p:spPr>
        <p:txBody>
          <a:bodyPr anchor="t" rtlCol="false" tIns="0" lIns="0" bIns="0" rIns="0">
            <a:spAutoFit/>
          </a:bodyPr>
          <a:lstStyle/>
          <a:p>
            <a:pPr algn="ctr" marL="0" indent="0" lvl="0">
              <a:lnSpc>
                <a:spcPts val="7080"/>
              </a:lnSpc>
              <a:spcBef>
                <a:spcPct val="0"/>
              </a:spcBef>
            </a:pPr>
            <a:r>
              <a:rPr lang="en-US" sz="5900">
                <a:solidFill>
                  <a:srgbClr val="18102B"/>
                </a:solidFill>
                <a:latin typeface="Raleway"/>
                <a:ea typeface="Raleway"/>
                <a:cs typeface="Raleway"/>
                <a:sym typeface="Raleway"/>
              </a:rPr>
              <a:t>88.6%</a:t>
            </a:r>
          </a:p>
        </p:txBody>
      </p:sp>
      <p:sp>
        <p:nvSpPr>
          <p:cNvPr name="TextBox 13" id="13"/>
          <p:cNvSpPr txBox="true"/>
          <p:nvPr/>
        </p:nvSpPr>
        <p:spPr>
          <a:xfrm rot="0">
            <a:off x="2178480" y="3854415"/>
            <a:ext cx="9809022" cy="4419600"/>
          </a:xfrm>
          <a:prstGeom prst="rect">
            <a:avLst/>
          </a:prstGeom>
        </p:spPr>
        <p:txBody>
          <a:bodyPr anchor="t" rtlCol="false" tIns="0" lIns="0" bIns="0" rIns="0">
            <a:spAutoFit/>
          </a:bodyPr>
          <a:lstStyle/>
          <a:p>
            <a:pPr algn="l" marL="453387" indent="-226693" lvl="1">
              <a:lnSpc>
                <a:spcPts val="2519"/>
              </a:lnSpc>
              <a:buFont typeface="Arial"/>
              <a:buChar char="•"/>
            </a:pPr>
            <a:r>
              <a:rPr lang="en-US" b="true" sz="2099">
                <a:solidFill>
                  <a:srgbClr val="000000"/>
                </a:solidFill>
                <a:latin typeface="Raleway Bold"/>
                <a:ea typeface="Raleway Bold"/>
                <a:cs typeface="Raleway Bold"/>
                <a:sym typeface="Raleway Bold"/>
              </a:rPr>
              <a:t>Simple and Fast:</a:t>
            </a:r>
            <a:r>
              <a:rPr lang="en-US" sz="2099">
                <a:solidFill>
                  <a:srgbClr val="000000"/>
                </a:solidFill>
                <a:latin typeface="Raleway"/>
                <a:ea typeface="Raleway"/>
                <a:cs typeface="Raleway"/>
                <a:sym typeface="Raleway"/>
              </a:rPr>
              <a:t> This algorithm is very easy to train and allows you to quickly evaluate initial performance without the need for complex tuning.</a:t>
            </a:r>
          </a:p>
          <a:p>
            <a:pPr algn="l">
              <a:lnSpc>
                <a:spcPts val="2519"/>
              </a:lnSpc>
            </a:pPr>
          </a:p>
          <a:p>
            <a:pPr algn="l" marL="453387" indent="-226693" lvl="1">
              <a:lnSpc>
                <a:spcPts val="2519"/>
              </a:lnSpc>
              <a:buFont typeface="Arial"/>
              <a:buChar char="•"/>
            </a:pPr>
            <a:r>
              <a:rPr lang="en-US" b="true" sz="2099">
                <a:solidFill>
                  <a:srgbClr val="000000"/>
                </a:solidFill>
                <a:latin typeface="Raleway Bold"/>
                <a:ea typeface="Raleway Bold"/>
                <a:cs typeface="Raleway Bold"/>
                <a:sym typeface="Raleway Bold"/>
              </a:rPr>
              <a:t>Ideal for Simple Linear Trends:</a:t>
            </a:r>
            <a:r>
              <a:rPr lang="en-US" sz="2099">
                <a:solidFill>
                  <a:srgbClr val="000000"/>
                </a:solidFill>
                <a:latin typeface="Raleway"/>
                <a:ea typeface="Raleway"/>
                <a:cs typeface="Raleway"/>
                <a:sym typeface="Raleway"/>
              </a:rPr>
              <a:t> Works best when the relationship between features (such as test scores or experience) and selection outcomes is linear. For example, the higher the interview score, the greater the probability of a candidate being hired.</a:t>
            </a:r>
          </a:p>
          <a:p>
            <a:pPr algn="l">
              <a:lnSpc>
                <a:spcPts val="2519"/>
              </a:lnSpc>
            </a:pPr>
          </a:p>
          <a:p>
            <a:pPr algn="l" marL="453387" indent="-226693" lvl="1">
              <a:lnSpc>
                <a:spcPts val="2519"/>
              </a:lnSpc>
              <a:buFont typeface="Arial"/>
              <a:buChar char="•"/>
            </a:pPr>
            <a:r>
              <a:rPr lang="en-US" b="true" sz="2099">
                <a:solidFill>
                  <a:srgbClr val="000000"/>
                </a:solidFill>
                <a:latin typeface="Raleway Bold"/>
                <a:ea typeface="Raleway Bold"/>
                <a:cs typeface="Raleway Bold"/>
                <a:sym typeface="Raleway Bold"/>
              </a:rPr>
              <a:t>Stable and Consistent:</a:t>
            </a:r>
            <a:r>
              <a:rPr lang="en-US" sz="2099">
                <a:solidFill>
                  <a:srgbClr val="000000"/>
                </a:solidFill>
                <a:latin typeface="Raleway"/>
                <a:ea typeface="Raleway"/>
                <a:cs typeface="Raleway"/>
                <a:sym typeface="Raleway"/>
              </a:rPr>
              <a:t> Its predictions are not easily affected by small changes in the data, making it a fair benchmark for complex models like XGBoost.</a:t>
            </a:r>
          </a:p>
          <a:p>
            <a:pPr algn="l">
              <a:lnSpc>
                <a:spcPts val="2519"/>
              </a:lnSpc>
            </a:pPr>
          </a:p>
          <a:p>
            <a:pPr algn="l" marL="453387" indent="-226693" lvl="1">
              <a:lnSpc>
                <a:spcPts val="2519"/>
              </a:lnSpc>
              <a:buFont typeface="Arial"/>
              <a:buChar char="•"/>
            </a:pPr>
            <a:r>
              <a:rPr lang="en-US" b="true" sz="2099">
                <a:solidFill>
                  <a:srgbClr val="000000"/>
                </a:solidFill>
                <a:latin typeface="Raleway Bold"/>
                <a:ea typeface="Raleway Bold"/>
                <a:cs typeface="Raleway Bold"/>
                <a:sym typeface="Raleway Bold"/>
              </a:rPr>
              <a:t>Flexible with Imbalanced Data:</a:t>
            </a:r>
            <a:r>
              <a:rPr lang="en-US" sz="2099">
                <a:solidFill>
                  <a:srgbClr val="000000"/>
                </a:solidFill>
                <a:latin typeface="Raleway"/>
                <a:ea typeface="Raleway"/>
                <a:cs typeface="Raleway"/>
                <a:sym typeface="Raleway"/>
              </a:rPr>
              <a:t> Easily configurable to handle imbalanced datasets, a very common condition in real-world recruitment scenarios.</a:t>
            </a:r>
          </a:p>
        </p:txBody>
      </p:sp>
      <p:sp>
        <p:nvSpPr>
          <p:cNvPr name="TextBox 14" id="14"/>
          <p:cNvSpPr txBox="true"/>
          <p:nvPr/>
        </p:nvSpPr>
        <p:spPr>
          <a:xfrm rot="0">
            <a:off x="1028700" y="895350"/>
            <a:ext cx="6737768" cy="1062670"/>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Ba</a:t>
            </a:r>
            <a:r>
              <a:rPr lang="en-US" sz="6159">
                <a:solidFill>
                  <a:srgbClr val="18102B"/>
                </a:solidFill>
                <a:latin typeface="Raleway"/>
                <a:ea typeface="Raleway"/>
                <a:cs typeface="Raleway"/>
                <a:sym typeface="Raleway"/>
              </a:rPr>
              <a:t>seline Model</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aphicFrame>
        <p:nvGraphicFramePr>
          <p:cNvPr name="Table 3" id="3"/>
          <p:cNvGraphicFramePr>
            <a:graphicFrameLocks noGrp="true"/>
          </p:cNvGraphicFramePr>
          <p:nvPr/>
        </p:nvGraphicFramePr>
        <p:xfrm>
          <a:off x="2228338" y="2400086"/>
          <a:ext cx="13831324" cy="6867739"/>
        </p:xfrm>
        <a:graphic>
          <a:graphicData uri="http://schemas.openxmlformats.org/drawingml/2006/table">
            <a:tbl>
              <a:tblPr/>
              <a:tblGrid>
                <a:gridCol w="2257352"/>
                <a:gridCol w="2257352"/>
                <a:gridCol w="2257352"/>
                <a:gridCol w="2257352"/>
                <a:gridCol w="2400958"/>
                <a:gridCol w="2400958"/>
              </a:tblGrid>
              <a:tr h="542190">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Model</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38100">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Ac</a:t>
                      </a:r>
                      <a:r>
                        <a:rPr lang="en-US" sz="1648" b="true">
                          <a:solidFill>
                            <a:srgbClr val="000000"/>
                          </a:solidFill>
                          <a:latin typeface="Raleway Bold"/>
                          <a:ea typeface="Raleway Bold"/>
                          <a:cs typeface="Raleway Bold"/>
                          <a:sym typeface="Raleway Bold"/>
                        </a:rPr>
                        <a:t>curacy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38100">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Precision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38100">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Recall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38100">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F1-Score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38100">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ROC-AUC</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38100">
                      <a:solidFill>
                        <a:srgbClr val="365B6D"/>
                      </a:solidFill>
                      <a:prstDash val="solid"/>
                      <a:round/>
                      <a:headEnd type="none" w="med" len="med"/>
                      <a:tailEnd type="none" w="med" len="med"/>
                    </a:lnR>
                    <a:lnT cmpd="sng" algn="ctr" cap="flat" w="38100">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r>
              <a:tr h="731952">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Random Forest</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0.898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0.843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0.791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0.816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0.910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38100">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r>
              <a:tr h="653645">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Gap(%)</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10.222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15.702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20.930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18.400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8.969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38100">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r>
              <a:tr h="694800">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XGBoost</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0.882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0.791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0.794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0.899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38100">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r>
              <a:tr h="690796">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Gap(%)</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11.778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20.312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20.930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20.623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10.131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38100">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r>
              <a:tr h="542190">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Logistic Regression</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0.862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0.853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0.628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0.723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38100">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ysDash"/>
                      <a:round/>
                      <a:headEnd type="none" w="med" len="med"/>
                      <a:tailEnd type="none" w="med" len="med"/>
                    </a:lnB>
                    <a:solidFill>
                      <a:srgbClr val="F8FAFC"/>
                    </a:solidFill>
                  </a:tcPr>
                </a:tc>
              </a:tr>
              <a:tr h="542190">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Gap(%)</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4.114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5.073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27.545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18.015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6.914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38100">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r>
              <a:tr h="657649">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Decision Tree</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0.809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0.635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0.783</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0.701</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0.801</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ysDash"/>
                      <a:round/>
                      <a:headEnd type="none" w="med" len="med"/>
                      <a:tailEnd type="none" w="med" len="med"/>
                    </a:lnB>
                    <a:solidFill>
                      <a:srgbClr val="F8FAFC"/>
                    </a:solidFill>
                  </a:tcPr>
                </a:tc>
              </a:tr>
              <a:tr h="727948">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Gap(%)</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19.111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36.478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21.705</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ysDash"/>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29.861</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ysDash"/>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19.887</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28575">
                      <a:solidFill>
                        <a:srgbClr val="000000"/>
                      </a:solidFill>
                      <a:prstDash val="sysDash"/>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r>
              <a:tr h="542190">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K-Neighbors</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0.613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0.381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0.558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0.453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0.625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38100">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ysDash"/>
                      <a:round/>
                      <a:headEnd type="none" w="med" len="med"/>
                      <a:tailEnd type="none" w="med" len="med"/>
                    </a:lnB>
                    <a:solidFill>
                      <a:srgbClr val="F8FAFC"/>
                    </a:solidFill>
                  </a:tcPr>
                </a:tc>
              </a:tr>
              <a:tr h="542190">
                <a:tc>
                  <a:txBody>
                    <a:bodyPr anchor="t" rtlCol="false"/>
                    <a:lstStyle/>
                    <a:p>
                      <a:pPr algn="r">
                        <a:lnSpc>
                          <a:spcPts val="2308"/>
                        </a:lnSpc>
                        <a:defRPr/>
                      </a:pPr>
                      <a:r>
                        <a:rPr lang="en-US" sz="1648" b="true">
                          <a:solidFill>
                            <a:srgbClr val="000000"/>
                          </a:solidFill>
                          <a:latin typeface="Raleway Bold"/>
                          <a:ea typeface="Raleway Bold"/>
                          <a:cs typeface="Raleway Bold"/>
                          <a:sym typeface="Raleway Bold"/>
                        </a:rPr>
                        <a:t>Gap(%)</a:t>
                      </a:r>
                      <a:endParaRPr lang="en-US" sz="1100"/>
                    </a:p>
                  </a:txBody>
                  <a:tcPr marL="76200" marR="76200" marT="76200" marB="76200" anchor="ctr">
                    <a:lnL cmpd="sng" algn="ctr" cap="flat" w="38100">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38100">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19.549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38100">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38.894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ysDash"/>
                      <a:round/>
                      <a:headEnd type="none" w="med" len="med"/>
                      <a:tailEnd type="none" w="med" len="med"/>
                    </a:lnT>
                    <a:lnB cmpd="sng" algn="ctr" cap="flat" w="38100">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32.281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ysDash"/>
                      <a:round/>
                      <a:headEnd type="none" w="med" len="med"/>
                      <a:tailEnd type="none" w="med" len="med"/>
                    </a:lnT>
                    <a:lnB cmpd="sng" algn="ctr" cap="flat" w="38100">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36.885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ysDash"/>
                      <a:round/>
                      <a:headEnd type="none" w="med" len="med"/>
                      <a:tailEnd type="none" w="med" len="med"/>
                    </a:lnT>
                    <a:lnB cmpd="sng" algn="ctr" cap="flat" w="38100">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28.845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38100">
                      <a:solidFill>
                        <a:srgbClr val="365B6D"/>
                      </a:solidFill>
                      <a:prstDash val="solid"/>
                      <a:round/>
                      <a:headEnd type="none" w="med" len="med"/>
                      <a:tailEnd type="none" w="med" len="med"/>
                    </a:lnR>
                    <a:lnT cmpd="sng" algn="ctr" cap="flat" w="28575">
                      <a:solidFill>
                        <a:srgbClr val="000000"/>
                      </a:solidFill>
                      <a:prstDash val="sysDash"/>
                      <a:round/>
                      <a:headEnd type="none" w="med" len="med"/>
                      <a:tailEnd type="none" w="med" len="med"/>
                    </a:lnT>
                    <a:lnB cmpd="sng" algn="ctr" cap="flat" w="38100">
                      <a:solidFill>
                        <a:srgbClr val="365B6D"/>
                      </a:solidFill>
                      <a:prstDash val="solid"/>
                      <a:round/>
                      <a:headEnd type="none" w="med" len="med"/>
                      <a:tailEnd type="none" w="med" len="med"/>
                    </a:lnB>
                    <a:solidFill>
                      <a:srgbClr val="F8FAFC"/>
                    </a:solidFill>
                  </a:tcPr>
                </a:tc>
              </a:tr>
            </a:tbl>
          </a:graphicData>
        </a:graphic>
      </p:graphicFrame>
      <p:sp>
        <p:nvSpPr>
          <p:cNvPr name="TextBox 4" id="4"/>
          <p:cNvSpPr txBox="true"/>
          <p:nvPr/>
        </p:nvSpPr>
        <p:spPr>
          <a:xfrm rot="0">
            <a:off x="1028700" y="895350"/>
            <a:ext cx="6737768"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Model Experiment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aphicFrame>
        <p:nvGraphicFramePr>
          <p:cNvPr name="Table 3" id="3"/>
          <p:cNvGraphicFramePr>
            <a:graphicFrameLocks noGrp="true"/>
          </p:cNvGraphicFramePr>
          <p:nvPr/>
        </p:nvGraphicFramePr>
        <p:xfrm>
          <a:off x="1028700" y="2371809"/>
          <a:ext cx="16404609" cy="3114675"/>
        </p:xfrm>
        <a:graphic>
          <a:graphicData uri="http://schemas.openxmlformats.org/drawingml/2006/table">
            <a:tbl>
              <a:tblPr/>
              <a:tblGrid>
                <a:gridCol w="2677327"/>
                <a:gridCol w="2677327"/>
                <a:gridCol w="2677327"/>
                <a:gridCol w="2677327"/>
                <a:gridCol w="2847650"/>
                <a:gridCol w="2847650"/>
              </a:tblGrid>
              <a:tr h="519112">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Accu</a:t>
                      </a:r>
                      <a:r>
                        <a:rPr lang="en-US" sz="1648" b="true">
                          <a:solidFill>
                            <a:srgbClr val="000000"/>
                          </a:solidFill>
                          <a:latin typeface="Raleway Bold"/>
                          <a:ea typeface="Raleway Bold"/>
                          <a:cs typeface="Raleway Bold"/>
                          <a:sym typeface="Raleway Bold"/>
                        </a:rPr>
                        <a:t>racy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Pr</a:t>
                      </a:r>
                      <a:r>
                        <a:rPr lang="en-US" sz="1648" b="true">
                          <a:solidFill>
                            <a:srgbClr val="000000"/>
                          </a:solidFill>
                          <a:latin typeface="Raleway Bold"/>
                          <a:ea typeface="Raleway Bold"/>
                          <a:cs typeface="Raleway Bold"/>
                          <a:sym typeface="Raleway Bold"/>
                        </a:rPr>
                        <a:t>ecision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a:t>
                      </a:r>
                      <a:r>
                        <a:rPr lang="en-US" sz="1648" b="true">
                          <a:solidFill>
                            <a:srgbClr val="000000"/>
                          </a:solidFill>
                          <a:latin typeface="Raleway Bold"/>
                          <a:ea typeface="Raleway Bold"/>
                          <a:cs typeface="Raleway Bold"/>
                          <a:sym typeface="Raleway Bold"/>
                        </a:rPr>
                        <a:t>ecall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F1-Score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ROC-AUC</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r>
              <a:tr h="519112">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0.913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0.857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0.837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0.847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0.913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r>
              <a:tr h="519112">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Random Forest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0.873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0.765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0.806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0.785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0.894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r>
              <a:tr h="519112">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Decision Tree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0.864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0.814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0.775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0.889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r>
              <a:tr h="519112">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Logistic Regression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0.778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0.574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0.868</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0.691</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0.881</a:t>
                      </a:r>
                      <a:endParaRPr lang="en-US" sz="1100"/>
                    </a:p>
                  </a:txBody>
                  <a:tcPr marL="76200" marR="76200" marT="76200" marB="76200" anchor="ctr">
                    <a:lnL cmpd="sng" algn="ctr" cap="flat" w="28575">
                      <a:solidFill>
                        <a:srgbClr val="000000"/>
                      </a:solidFill>
                      <a:prstDash val="solid"/>
                      <a:round/>
                      <a:headEnd type="none" w="med" len="med"/>
                      <a:tailEnd type="none" w="med" len="med"/>
                    </a:lnL>
                    <a:lnR cmpd="sng" algn="ctr" cap="flat" w="28575">
                      <a:solidFill>
                        <a:srgbClr val="000000"/>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F8FAFC"/>
                    </a:solidFill>
                  </a:tcPr>
                </a:tc>
              </a:tr>
              <a:tr h="519112">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K-Neighbors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0.636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0.407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0.597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0.484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0.653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000000"/>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r>
            </a:tbl>
          </a:graphicData>
        </a:graphic>
      </p:graphicFrame>
      <p:grpSp>
        <p:nvGrpSpPr>
          <p:cNvPr name="Group 4" id="4"/>
          <p:cNvGrpSpPr/>
          <p:nvPr/>
        </p:nvGrpSpPr>
        <p:grpSpPr>
          <a:xfrm rot="0">
            <a:off x="1028700" y="5896059"/>
            <a:ext cx="16404609" cy="3167045"/>
            <a:chOff x="0" y="0"/>
            <a:chExt cx="4472710" cy="863494"/>
          </a:xfrm>
        </p:grpSpPr>
        <p:sp>
          <p:nvSpPr>
            <p:cNvPr name="Freeform 5" id="5"/>
            <p:cNvSpPr/>
            <p:nvPr/>
          </p:nvSpPr>
          <p:spPr>
            <a:xfrm flipH="false" flipV="false" rot="0">
              <a:off x="0" y="0"/>
              <a:ext cx="4472710" cy="863494"/>
            </a:xfrm>
            <a:custGeom>
              <a:avLst/>
              <a:gdLst/>
              <a:ahLst/>
              <a:cxnLst/>
              <a:rect r="r" b="b" t="t" l="l"/>
              <a:pathLst>
                <a:path h="863494" w="4472710">
                  <a:moveTo>
                    <a:pt x="23597" y="0"/>
                  </a:moveTo>
                  <a:lnTo>
                    <a:pt x="4449113" y="0"/>
                  </a:lnTo>
                  <a:cubicBezTo>
                    <a:pt x="4455371" y="0"/>
                    <a:pt x="4461373" y="2486"/>
                    <a:pt x="4465799" y="6911"/>
                  </a:cubicBezTo>
                  <a:cubicBezTo>
                    <a:pt x="4470224" y="11337"/>
                    <a:pt x="4472710" y="17339"/>
                    <a:pt x="4472710" y="23597"/>
                  </a:cubicBezTo>
                  <a:lnTo>
                    <a:pt x="4472710" y="839897"/>
                  </a:lnTo>
                  <a:cubicBezTo>
                    <a:pt x="4472710" y="852929"/>
                    <a:pt x="4462145" y="863494"/>
                    <a:pt x="4449113" y="863494"/>
                  </a:cubicBezTo>
                  <a:lnTo>
                    <a:pt x="23597" y="863494"/>
                  </a:lnTo>
                  <a:cubicBezTo>
                    <a:pt x="10565" y="863494"/>
                    <a:pt x="0" y="852929"/>
                    <a:pt x="0" y="839897"/>
                  </a:cubicBezTo>
                  <a:lnTo>
                    <a:pt x="0" y="23597"/>
                  </a:lnTo>
                  <a:cubicBezTo>
                    <a:pt x="0" y="10565"/>
                    <a:pt x="10565" y="0"/>
                    <a:pt x="23597" y="0"/>
                  </a:cubicBezTo>
                  <a:close/>
                </a:path>
              </a:pathLst>
            </a:custGeom>
            <a:solidFill>
              <a:srgbClr val="F8FAFC"/>
            </a:solidFill>
            <a:ln w="38100" cap="rnd">
              <a:solidFill>
                <a:srgbClr val="7E8C92"/>
              </a:solidFill>
              <a:prstDash val="solid"/>
              <a:round/>
            </a:ln>
          </p:spPr>
        </p:sp>
        <p:sp>
          <p:nvSpPr>
            <p:cNvPr name="TextBox 6" id="6"/>
            <p:cNvSpPr txBox="true"/>
            <p:nvPr/>
          </p:nvSpPr>
          <p:spPr>
            <a:xfrm>
              <a:off x="0" y="-19050"/>
              <a:ext cx="4472710" cy="882544"/>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Raleway"/>
                  <a:ea typeface="Raleway"/>
                  <a:cs typeface="Raleway"/>
                  <a:sym typeface="Raleway"/>
                </a:rPr>
                <a:t>Hyperparameter tuning was performed us</a:t>
              </a:r>
              <a:r>
                <a:rPr lang="en-US" sz="2100" spc="8">
                  <a:solidFill>
                    <a:srgbClr val="000000"/>
                  </a:solidFill>
                  <a:latin typeface="Raleway"/>
                  <a:ea typeface="Raleway"/>
                  <a:cs typeface="Raleway"/>
                  <a:sym typeface="Raleway"/>
                </a:rPr>
                <a:t>ing the RandomSearchCV method with cross-validation 5. </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For complex algorithms like XGBoost or Random Forest was time-consuming.</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Bayesian methods produce sub-optimal results.</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RandomizedSearchCV is easier to implement and debug if errors occur.</a:t>
              </a:r>
            </a:p>
          </p:txBody>
        </p:sp>
      </p:grpSp>
      <p:sp>
        <p:nvSpPr>
          <p:cNvPr name="TextBox 7" id="7"/>
          <p:cNvSpPr txBox="true"/>
          <p:nvPr/>
        </p:nvSpPr>
        <p:spPr>
          <a:xfrm rot="0">
            <a:off x="1028700" y="895350"/>
            <a:ext cx="8632752" cy="1062736"/>
          </a:xfrm>
          <a:prstGeom prst="rect">
            <a:avLst/>
          </a:prstGeom>
        </p:spPr>
        <p:txBody>
          <a:bodyPr anchor="t" rtlCol="false" tIns="0" lIns="0" bIns="0" rIns="0">
            <a:spAutoFit/>
          </a:bodyPr>
          <a:lstStyle/>
          <a:p>
            <a:pPr algn="l">
              <a:lnSpc>
                <a:spcPts val="8623"/>
              </a:lnSpc>
              <a:spcBef>
                <a:spcPct val="0"/>
              </a:spcBef>
            </a:pPr>
            <a:r>
              <a:rPr lang="en-US" sz="6159">
                <a:solidFill>
                  <a:srgbClr val="18102B"/>
                </a:solidFill>
                <a:latin typeface="Raleway"/>
                <a:ea typeface="Raleway"/>
                <a:cs typeface="Raleway"/>
                <a:sym typeface="Raleway"/>
              </a:rPr>
              <a:t>Hyp</a:t>
            </a:r>
            <a:r>
              <a:rPr lang="en-US" sz="6159">
                <a:solidFill>
                  <a:srgbClr val="18102B"/>
                </a:solidFill>
                <a:latin typeface="Raleway"/>
                <a:ea typeface="Raleway"/>
                <a:cs typeface="Raleway"/>
                <a:sym typeface="Raleway"/>
              </a:rPr>
              <a:t>erparameter Tuning</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aphicFrame>
        <p:nvGraphicFramePr>
          <p:cNvPr name="Table 3" id="3"/>
          <p:cNvGraphicFramePr>
            <a:graphicFrameLocks noGrp="true"/>
          </p:cNvGraphicFramePr>
          <p:nvPr/>
        </p:nvGraphicFramePr>
        <p:xfrm>
          <a:off x="1038225" y="2629016"/>
          <a:ext cx="16404609" cy="1571625"/>
        </p:xfrm>
        <a:graphic>
          <a:graphicData uri="http://schemas.openxmlformats.org/drawingml/2006/table">
            <a:tbl>
              <a:tblPr/>
              <a:tblGrid>
                <a:gridCol w="2677327"/>
                <a:gridCol w="2677327"/>
                <a:gridCol w="2677327"/>
                <a:gridCol w="2677327"/>
                <a:gridCol w="2847650"/>
                <a:gridCol w="2847650"/>
              </a:tblGrid>
              <a:tr h="523875">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Ac</a:t>
                      </a:r>
                      <a:r>
                        <a:rPr lang="en-US" sz="1648" b="true">
                          <a:solidFill>
                            <a:srgbClr val="000000"/>
                          </a:solidFill>
                          <a:latin typeface="Raleway Bold"/>
                          <a:ea typeface="Raleway Bold"/>
                          <a:cs typeface="Raleway Bold"/>
                          <a:sym typeface="Raleway Bold"/>
                        </a:rPr>
                        <a:t>curacy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Precision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Recall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ROC-AUC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F1-Score  Gap(%)</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r>
              <a:tr h="523875">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6.286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12.857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12.918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7.835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12.890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r>
              <a:tr h="523875">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Random Forest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4.754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16.643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10.276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7.106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13.501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F8FAFC"/>
                    </a:solidFill>
                  </a:tcPr>
                </a:tc>
              </a:tr>
            </a:tbl>
          </a:graphicData>
        </a:graphic>
      </p:graphicFrame>
      <p:grpSp>
        <p:nvGrpSpPr>
          <p:cNvPr name="Group 4" id="4"/>
          <p:cNvGrpSpPr/>
          <p:nvPr/>
        </p:nvGrpSpPr>
        <p:grpSpPr>
          <a:xfrm rot="0">
            <a:off x="1038225" y="4867391"/>
            <a:ext cx="16404609" cy="3436904"/>
            <a:chOff x="0" y="0"/>
            <a:chExt cx="4472710" cy="937070"/>
          </a:xfrm>
        </p:grpSpPr>
        <p:sp>
          <p:nvSpPr>
            <p:cNvPr name="Freeform 5" id="5"/>
            <p:cNvSpPr/>
            <p:nvPr/>
          </p:nvSpPr>
          <p:spPr>
            <a:xfrm flipH="false" flipV="false" rot="0">
              <a:off x="0" y="0"/>
              <a:ext cx="4472710" cy="937070"/>
            </a:xfrm>
            <a:custGeom>
              <a:avLst/>
              <a:gdLst/>
              <a:ahLst/>
              <a:cxnLst/>
              <a:rect r="r" b="b" t="t" l="l"/>
              <a:pathLst>
                <a:path h="937070" w="4472710">
                  <a:moveTo>
                    <a:pt x="23597" y="0"/>
                  </a:moveTo>
                  <a:lnTo>
                    <a:pt x="4449113" y="0"/>
                  </a:lnTo>
                  <a:cubicBezTo>
                    <a:pt x="4455371" y="0"/>
                    <a:pt x="4461373" y="2486"/>
                    <a:pt x="4465799" y="6911"/>
                  </a:cubicBezTo>
                  <a:cubicBezTo>
                    <a:pt x="4470224" y="11337"/>
                    <a:pt x="4472710" y="17339"/>
                    <a:pt x="4472710" y="23597"/>
                  </a:cubicBezTo>
                  <a:lnTo>
                    <a:pt x="4472710" y="913474"/>
                  </a:lnTo>
                  <a:cubicBezTo>
                    <a:pt x="4472710" y="926506"/>
                    <a:pt x="4462145" y="937070"/>
                    <a:pt x="4449113" y="937070"/>
                  </a:cubicBezTo>
                  <a:lnTo>
                    <a:pt x="23597" y="937070"/>
                  </a:lnTo>
                  <a:cubicBezTo>
                    <a:pt x="10565" y="937070"/>
                    <a:pt x="0" y="926506"/>
                    <a:pt x="0" y="913474"/>
                  </a:cubicBezTo>
                  <a:lnTo>
                    <a:pt x="0" y="23597"/>
                  </a:lnTo>
                  <a:cubicBezTo>
                    <a:pt x="0" y="10565"/>
                    <a:pt x="10565" y="0"/>
                    <a:pt x="23597" y="0"/>
                  </a:cubicBezTo>
                  <a:close/>
                </a:path>
              </a:pathLst>
            </a:custGeom>
            <a:solidFill>
              <a:srgbClr val="F8FAFC"/>
            </a:solidFill>
          </p:spPr>
        </p:sp>
        <p:sp>
          <p:nvSpPr>
            <p:cNvPr name="TextBox 6" id="6"/>
            <p:cNvSpPr txBox="true"/>
            <p:nvPr/>
          </p:nvSpPr>
          <p:spPr>
            <a:xfrm>
              <a:off x="0" y="-19050"/>
              <a:ext cx="4472710" cy="956120"/>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Raleway"/>
                  <a:ea typeface="Raleway"/>
                  <a:cs typeface="Raleway"/>
                  <a:sym typeface="Raleway"/>
                </a:rPr>
                <a:t>Random Forest has the smallest Accuracy Gap (4.75%). However, XGBoost remains highly competitive with a stable gap across the board, including a solid ROC-AUC Gap of (7.83%), whi</a:t>
              </a:r>
              <a:r>
                <a:rPr lang="en-US" sz="2100" spc="8">
                  <a:solidFill>
                    <a:srgbClr val="000000"/>
                  </a:solidFill>
                  <a:latin typeface="Raleway"/>
                  <a:ea typeface="Raleway"/>
                  <a:cs typeface="Raleway"/>
                  <a:sym typeface="Raleway"/>
                </a:rPr>
                <a:t>ch ensures the model's performance on real-world hiring data will be predictable and measurable.</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Most gap metrics for both models are now within an acceptable and safer range (10% - 14%). This consistency shows that the model has successfully learned general patterns from the dataset of 1,500 candidates.</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Overall, XGBoost is the preferred choice because it maintains the best balance between high predictive power and a stable gap, particularly in ROC-AUC, making it the most reliable model for the Hiresights recruitment system.</a:t>
              </a:r>
            </a:p>
          </p:txBody>
        </p:sp>
      </p:grpSp>
      <p:sp>
        <p:nvSpPr>
          <p:cNvPr name="TextBox 7" id="7"/>
          <p:cNvSpPr txBox="true"/>
          <p:nvPr/>
        </p:nvSpPr>
        <p:spPr>
          <a:xfrm rot="0">
            <a:off x="1038225" y="895350"/>
            <a:ext cx="11682773" cy="1062670"/>
          </a:xfrm>
          <a:prstGeom prst="rect">
            <a:avLst/>
          </a:prstGeom>
        </p:spPr>
        <p:txBody>
          <a:bodyPr anchor="t" rtlCol="false" tIns="0" lIns="0" bIns="0" rIns="0">
            <a:spAutoFit/>
          </a:bodyPr>
          <a:lstStyle/>
          <a:p>
            <a:pPr algn="l">
              <a:lnSpc>
                <a:spcPts val="8623"/>
              </a:lnSpc>
              <a:spcBef>
                <a:spcPct val="0"/>
              </a:spcBef>
            </a:pPr>
            <a:r>
              <a:rPr lang="en-US" sz="6159">
                <a:solidFill>
                  <a:srgbClr val="18102B"/>
                </a:solidFill>
                <a:latin typeface="Raleway"/>
                <a:ea typeface="Raleway"/>
                <a:cs typeface="Raleway"/>
                <a:sym typeface="Raleway"/>
              </a:rPr>
              <a:t>Hyp</a:t>
            </a:r>
            <a:r>
              <a:rPr lang="en-US" sz="6159">
                <a:solidFill>
                  <a:srgbClr val="18102B"/>
                </a:solidFill>
                <a:latin typeface="Raleway"/>
                <a:ea typeface="Raleway"/>
                <a:cs typeface="Raleway"/>
                <a:sym typeface="Raleway"/>
              </a:rPr>
              <a:t>erparameter Tuning (Gap %)</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aphicFrame>
        <p:nvGraphicFramePr>
          <p:cNvPr name="Table 3" id="3"/>
          <p:cNvGraphicFramePr>
            <a:graphicFrameLocks noGrp="true"/>
          </p:cNvGraphicFramePr>
          <p:nvPr/>
        </p:nvGraphicFramePr>
        <p:xfrm>
          <a:off x="1038225" y="2106058"/>
          <a:ext cx="16404609" cy="2085975"/>
        </p:xfrm>
        <a:graphic>
          <a:graphicData uri="http://schemas.openxmlformats.org/drawingml/2006/table">
            <a:tbl>
              <a:tblPr/>
              <a:tblGrid>
                <a:gridCol w="2301680"/>
                <a:gridCol w="2301680"/>
                <a:gridCol w="2301680"/>
                <a:gridCol w="2301680"/>
                <a:gridCol w="2301680"/>
                <a:gridCol w="2448105"/>
                <a:gridCol w="2448105"/>
              </a:tblGrid>
              <a:tr h="521494">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Model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Ac</a:t>
                      </a:r>
                      <a:r>
                        <a:rPr lang="en-US" sz="1648" b="true">
                          <a:solidFill>
                            <a:srgbClr val="000000"/>
                          </a:solidFill>
                          <a:latin typeface="Raleway Bold"/>
                          <a:ea typeface="Raleway Bold"/>
                          <a:cs typeface="Raleway Bold"/>
                          <a:sym typeface="Raleway Bold"/>
                        </a:rPr>
                        <a:t>curacy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Precision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Recall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F1-Score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Dataset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ROC-AUC</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r>
              <a:tr h="521494">
                <a:tc rowSpan="3">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0.966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0.976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Train</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0.991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21494">
                <a:tc vMerge="true">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0.913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0.857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0.837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0.847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Test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0.913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E9EDEE"/>
                    </a:solidFill>
                  </a:tcPr>
                </a:tc>
              </a:tr>
              <a:tr h="521494">
                <a:tc vMerge="true">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XGBoost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6.286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12.857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12.918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12.890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Gap (%)</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a:solidFill>
                            <a:srgbClr val="000000"/>
                          </a:solidFill>
                          <a:latin typeface="Raleway"/>
                          <a:ea typeface="Raleway"/>
                          <a:cs typeface="Raleway"/>
                          <a:sym typeface="Raleway"/>
                        </a:rPr>
                        <a:t>7.835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000000"/>
                      </a:solidFill>
                      <a:prstDash val="solid"/>
                      <a:round/>
                      <a:headEnd type="none" w="med" len="med"/>
                      <a:tailEnd type="none" w="med" len="med"/>
                    </a:lnB>
                    <a:solidFill>
                      <a:srgbClr val="E9EDEE"/>
                    </a:solidFill>
                  </a:tcPr>
                </a:tc>
              </a:tr>
            </a:tbl>
          </a:graphicData>
        </a:graphic>
      </p:graphicFrame>
      <p:grpSp>
        <p:nvGrpSpPr>
          <p:cNvPr name="Group 4" id="4"/>
          <p:cNvGrpSpPr/>
          <p:nvPr/>
        </p:nvGrpSpPr>
        <p:grpSpPr>
          <a:xfrm rot="0">
            <a:off x="1038225" y="4344433"/>
            <a:ext cx="16404609" cy="2087216"/>
            <a:chOff x="0" y="0"/>
            <a:chExt cx="4472710" cy="569079"/>
          </a:xfrm>
        </p:grpSpPr>
        <p:sp>
          <p:nvSpPr>
            <p:cNvPr name="Freeform 5" id="5"/>
            <p:cNvSpPr/>
            <p:nvPr/>
          </p:nvSpPr>
          <p:spPr>
            <a:xfrm flipH="false" flipV="false" rot="0">
              <a:off x="0" y="0"/>
              <a:ext cx="4472710" cy="569079"/>
            </a:xfrm>
            <a:custGeom>
              <a:avLst/>
              <a:gdLst/>
              <a:ahLst/>
              <a:cxnLst/>
              <a:rect r="r" b="b" t="t" l="l"/>
              <a:pathLst>
                <a:path h="569079" w="4472710">
                  <a:moveTo>
                    <a:pt x="23597" y="0"/>
                  </a:moveTo>
                  <a:lnTo>
                    <a:pt x="4449113" y="0"/>
                  </a:lnTo>
                  <a:cubicBezTo>
                    <a:pt x="4455371" y="0"/>
                    <a:pt x="4461373" y="2486"/>
                    <a:pt x="4465799" y="6911"/>
                  </a:cubicBezTo>
                  <a:cubicBezTo>
                    <a:pt x="4470224" y="11337"/>
                    <a:pt x="4472710" y="17339"/>
                    <a:pt x="4472710" y="23597"/>
                  </a:cubicBezTo>
                  <a:lnTo>
                    <a:pt x="4472710" y="545482"/>
                  </a:lnTo>
                  <a:cubicBezTo>
                    <a:pt x="4472710" y="558514"/>
                    <a:pt x="4462145" y="569079"/>
                    <a:pt x="4449113" y="569079"/>
                  </a:cubicBezTo>
                  <a:lnTo>
                    <a:pt x="23597" y="569079"/>
                  </a:lnTo>
                  <a:cubicBezTo>
                    <a:pt x="10565" y="569079"/>
                    <a:pt x="0" y="558514"/>
                    <a:pt x="0" y="545482"/>
                  </a:cubicBezTo>
                  <a:lnTo>
                    <a:pt x="0" y="23597"/>
                  </a:lnTo>
                  <a:cubicBezTo>
                    <a:pt x="0" y="10565"/>
                    <a:pt x="10565" y="0"/>
                    <a:pt x="23597" y="0"/>
                  </a:cubicBezTo>
                  <a:close/>
                </a:path>
              </a:pathLst>
            </a:custGeom>
            <a:solidFill>
              <a:srgbClr val="A1C7CE"/>
            </a:solidFill>
          </p:spPr>
        </p:sp>
        <p:sp>
          <p:nvSpPr>
            <p:cNvPr name="TextBox 6" id="6"/>
            <p:cNvSpPr txBox="true"/>
            <p:nvPr/>
          </p:nvSpPr>
          <p:spPr>
            <a:xfrm>
              <a:off x="0" y="-19050"/>
              <a:ext cx="4472710" cy="588129"/>
            </a:xfrm>
            <a:prstGeom prst="rect">
              <a:avLst/>
            </a:prstGeom>
          </p:spPr>
          <p:txBody>
            <a:bodyPr anchor="ctr" rtlCol="false" tIns="49361" lIns="49361" bIns="49361" rIns="49361"/>
            <a:lstStyle/>
            <a:p>
              <a:pPr algn="l">
                <a:lnSpc>
                  <a:spcPts val="2520"/>
                </a:lnSpc>
              </a:pPr>
            </a:p>
          </p:txBody>
        </p:sp>
      </p:grpSp>
      <p:graphicFrame>
        <p:nvGraphicFramePr>
          <p:cNvPr name="Table 7" id="7"/>
          <p:cNvGraphicFramePr>
            <a:graphicFrameLocks noGrp="true"/>
          </p:cNvGraphicFramePr>
          <p:nvPr/>
        </p:nvGraphicFramePr>
        <p:xfrm>
          <a:off x="8265732" y="6696345"/>
          <a:ext cx="4407485" cy="3114675"/>
        </p:xfrm>
        <a:graphic>
          <a:graphicData uri="http://schemas.openxmlformats.org/drawingml/2006/table">
            <a:tbl>
              <a:tblPr/>
              <a:tblGrid>
                <a:gridCol w="2536108"/>
                <a:gridCol w="1871377"/>
              </a:tblGrid>
              <a:tr h="519112">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Val</a:t>
                      </a:r>
                      <a:r>
                        <a:rPr lang="en-US" sz="1648" b="true">
                          <a:solidFill>
                            <a:srgbClr val="000000"/>
                          </a:solidFill>
                          <a:latin typeface="Raleway Bold"/>
                          <a:ea typeface="Raleway Bold"/>
                          <a:cs typeface="Raleway Bold"/>
                          <a:sym typeface="Raleway Bold"/>
                        </a:rPr>
                        <a:t>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Best Hyperparameter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A1C7CE"/>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50.0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reg_lambda</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300.0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n_estimators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6.0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max_depth</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0.1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learning_rate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9112">
                <a:tc>
                  <a:txBody>
                    <a:bodyPr anchor="t" rtlCol="false"/>
                    <a:lstStyle/>
                    <a:p>
                      <a:pPr algn="ctr">
                        <a:lnSpc>
                          <a:spcPts val="2308"/>
                        </a:lnSpc>
                        <a:defRPr/>
                      </a:pPr>
                      <a:r>
                        <a:rPr lang="en-US" sz="1648">
                          <a:solidFill>
                            <a:srgbClr val="000000"/>
                          </a:solidFill>
                          <a:latin typeface="Raleway"/>
                          <a:ea typeface="Raleway"/>
                          <a:cs typeface="Raleway"/>
                          <a:sym typeface="Raleway"/>
                        </a:rPr>
                        <a:t>0.2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308"/>
                        </a:lnSpc>
                        <a:defRPr/>
                      </a:pPr>
                      <a:r>
                        <a:rPr lang="en-US" sz="1648" b="true">
                          <a:solidFill>
                            <a:srgbClr val="000000"/>
                          </a:solidFill>
                          <a:latin typeface="Raleway Bold"/>
                          <a:ea typeface="Raleway Bold"/>
                          <a:cs typeface="Raleway Bold"/>
                          <a:sym typeface="Raleway Bold"/>
                        </a:rPr>
                        <a:t>gamma</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bl>
          </a:graphicData>
        </a:graphic>
      </p:graphicFrame>
      <p:sp>
        <p:nvSpPr>
          <p:cNvPr name="TextBox 8" id="8"/>
          <p:cNvSpPr txBox="true"/>
          <p:nvPr/>
        </p:nvSpPr>
        <p:spPr>
          <a:xfrm rot="0">
            <a:off x="1260501" y="4638324"/>
            <a:ext cx="15998799" cy="1590840"/>
          </a:xfrm>
          <a:prstGeom prst="rect">
            <a:avLst/>
          </a:prstGeom>
        </p:spPr>
        <p:txBody>
          <a:bodyPr anchor="t" rtlCol="false" tIns="0" lIns="0" bIns="0" rIns="0">
            <a:spAutoFit/>
          </a:bodyPr>
          <a:lstStyle/>
          <a:p>
            <a:pPr algn="l" marL="453387" indent="-226693" lvl="1">
              <a:lnSpc>
                <a:spcPts val="2519"/>
              </a:lnSpc>
              <a:buFont typeface="Arial"/>
              <a:buChar char="•"/>
            </a:pPr>
            <a:r>
              <a:rPr lang="en-US" sz="2099">
                <a:solidFill>
                  <a:srgbClr val="000000"/>
                </a:solidFill>
                <a:latin typeface="Raleway"/>
                <a:ea typeface="Raleway"/>
                <a:cs typeface="Raleway"/>
                <a:sym typeface="Raleway"/>
              </a:rPr>
              <a:t>XGBoos</a:t>
            </a:r>
            <a:r>
              <a:rPr lang="en-US" sz="2099">
                <a:solidFill>
                  <a:srgbClr val="000000"/>
                </a:solidFill>
                <a:latin typeface="Raleway"/>
                <a:ea typeface="Raleway"/>
                <a:cs typeface="Raleway"/>
                <a:sym typeface="Raleway"/>
              </a:rPr>
              <a:t>t demonstrated good model stability with an Accuracy Gap of (6.28%). This indicates that the model has adequate generalization capabilities for new data in the future.</a:t>
            </a:r>
          </a:p>
          <a:p>
            <a:pPr algn="l">
              <a:lnSpc>
                <a:spcPts val="2519"/>
              </a:lnSpc>
            </a:pPr>
          </a:p>
          <a:p>
            <a:pPr algn="l" marL="453387" indent="-226693" lvl="1">
              <a:lnSpc>
                <a:spcPts val="2519"/>
              </a:lnSpc>
              <a:buFont typeface="Arial"/>
              <a:buChar char="•"/>
            </a:pPr>
            <a:r>
              <a:rPr lang="en-US" sz="2099">
                <a:solidFill>
                  <a:srgbClr val="000000"/>
                </a:solidFill>
                <a:latin typeface="Raleway"/>
                <a:ea typeface="Raleway"/>
                <a:cs typeface="Raleway"/>
                <a:sym typeface="Raleway"/>
              </a:rPr>
              <a:t>XGBoost achieved scores of  F1-score (84.7%) and ROC-AUC (91.3%) on the competitive test set, demonstrating its ability to accurately identify potential candidates.</a:t>
            </a:r>
          </a:p>
        </p:txBody>
      </p:sp>
      <p:sp>
        <p:nvSpPr>
          <p:cNvPr name="TextBox 9" id="9"/>
          <p:cNvSpPr txBox="true"/>
          <p:nvPr/>
        </p:nvSpPr>
        <p:spPr>
          <a:xfrm rot="0">
            <a:off x="1038225" y="895350"/>
            <a:ext cx="7658189" cy="1062736"/>
          </a:xfrm>
          <a:prstGeom prst="rect">
            <a:avLst/>
          </a:prstGeom>
        </p:spPr>
        <p:txBody>
          <a:bodyPr anchor="t" rtlCol="false" tIns="0" lIns="0" bIns="0" rIns="0">
            <a:spAutoFit/>
          </a:bodyPr>
          <a:lstStyle/>
          <a:p>
            <a:pPr algn="l">
              <a:lnSpc>
                <a:spcPts val="8623"/>
              </a:lnSpc>
              <a:spcBef>
                <a:spcPct val="0"/>
              </a:spcBef>
            </a:pPr>
            <a:r>
              <a:rPr lang="en-US" sz="6159">
                <a:solidFill>
                  <a:srgbClr val="18102B"/>
                </a:solidFill>
                <a:latin typeface="Raleway"/>
                <a:ea typeface="Raleway"/>
                <a:cs typeface="Raleway"/>
                <a:sym typeface="Raleway"/>
              </a:rPr>
              <a:t>B</a:t>
            </a:r>
            <a:r>
              <a:rPr lang="en-US" sz="6159">
                <a:solidFill>
                  <a:srgbClr val="18102B"/>
                </a:solidFill>
                <a:latin typeface="Raleway"/>
                <a:ea typeface="Raleway"/>
                <a:cs typeface="Raleway"/>
                <a:sym typeface="Raleway"/>
              </a:rPr>
              <a:t>est Model: XGBoost</a:t>
            </a:r>
          </a:p>
        </p:txBody>
      </p:sp>
      <p:grpSp>
        <p:nvGrpSpPr>
          <p:cNvPr name="Group 10" id="10"/>
          <p:cNvGrpSpPr/>
          <p:nvPr/>
        </p:nvGrpSpPr>
        <p:grpSpPr>
          <a:xfrm rot="0">
            <a:off x="13495279" y="6696345"/>
            <a:ext cx="3947555" cy="3114675"/>
            <a:chOff x="0" y="0"/>
            <a:chExt cx="5263407" cy="4152900"/>
          </a:xfrm>
        </p:grpSpPr>
        <p:grpSp>
          <p:nvGrpSpPr>
            <p:cNvPr name="Group 11" id="11"/>
            <p:cNvGrpSpPr/>
            <p:nvPr/>
          </p:nvGrpSpPr>
          <p:grpSpPr>
            <a:xfrm rot="0">
              <a:off x="0" y="0"/>
              <a:ext cx="5106327" cy="1908905"/>
              <a:chOff x="0" y="0"/>
              <a:chExt cx="1051574" cy="393111"/>
            </a:xfrm>
          </p:grpSpPr>
          <p:sp>
            <p:nvSpPr>
              <p:cNvPr name="Freeform 12" id="12"/>
              <p:cNvSpPr/>
              <p:nvPr/>
            </p:nvSpPr>
            <p:spPr>
              <a:xfrm flipH="false" flipV="false" rot="0">
                <a:off x="0" y="0"/>
                <a:ext cx="1051574" cy="393111"/>
              </a:xfrm>
              <a:custGeom>
                <a:avLst/>
                <a:gdLst/>
                <a:ahLst/>
                <a:cxnLst/>
                <a:rect r="r" b="b" t="t" l="l"/>
                <a:pathLst>
                  <a:path h="393111" w="1051574">
                    <a:moveTo>
                      <a:pt x="103098" y="0"/>
                    </a:moveTo>
                    <a:lnTo>
                      <a:pt x="948476" y="0"/>
                    </a:lnTo>
                    <a:cubicBezTo>
                      <a:pt x="975819" y="0"/>
                      <a:pt x="1002043" y="10862"/>
                      <a:pt x="1021377" y="30197"/>
                    </a:cubicBezTo>
                    <a:cubicBezTo>
                      <a:pt x="1040712" y="49531"/>
                      <a:pt x="1051574" y="75754"/>
                      <a:pt x="1051574" y="103098"/>
                    </a:cubicBezTo>
                    <a:lnTo>
                      <a:pt x="1051574" y="290014"/>
                    </a:lnTo>
                    <a:cubicBezTo>
                      <a:pt x="1051574" y="346953"/>
                      <a:pt x="1005415" y="393111"/>
                      <a:pt x="948476" y="393111"/>
                    </a:cubicBezTo>
                    <a:lnTo>
                      <a:pt x="103098" y="393111"/>
                    </a:lnTo>
                    <a:cubicBezTo>
                      <a:pt x="46158" y="393111"/>
                      <a:pt x="0" y="346953"/>
                      <a:pt x="0" y="290014"/>
                    </a:cubicBezTo>
                    <a:lnTo>
                      <a:pt x="0" y="103098"/>
                    </a:lnTo>
                    <a:cubicBezTo>
                      <a:pt x="0" y="46158"/>
                      <a:pt x="46158" y="0"/>
                      <a:pt x="103098" y="0"/>
                    </a:cubicBezTo>
                    <a:close/>
                  </a:path>
                </a:pathLst>
              </a:custGeom>
              <a:solidFill>
                <a:srgbClr val="BCCADB"/>
              </a:solidFill>
              <a:ln w="38100" cap="rnd">
                <a:solidFill>
                  <a:srgbClr val="7E8C92"/>
                </a:solidFill>
                <a:prstDash val="solid"/>
                <a:round/>
              </a:ln>
            </p:spPr>
          </p:sp>
          <p:sp>
            <p:nvSpPr>
              <p:cNvPr name="TextBox 13" id="13"/>
              <p:cNvSpPr txBox="true"/>
              <p:nvPr/>
            </p:nvSpPr>
            <p:spPr>
              <a:xfrm>
                <a:off x="0" y="-19050"/>
                <a:ext cx="1051574" cy="412161"/>
              </a:xfrm>
              <a:prstGeom prst="rect">
                <a:avLst/>
              </a:prstGeom>
            </p:spPr>
            <p:txBody>
              <a:bodyPr anchor="ctr" rtlCol="false" tIns="49014" lIns="49014" bIns="49014" rIns="49014"/>
              <a:lstStyle/>
              <a:p>
                <a:pPr algn="ctr">
                  <a:lnSpc>
                    <a:spcPts val="1919"/>
                  </a:lnSpc>
                </a:pPr>
              </a:p>
            </p:txBody>
          </p:sp>
        </p:grpSp>
        <p:sp>
          <p:nvSpPr>
            <p:cNvPr name="TextBox 14" id="14"/>
            <p:cNvSpPr txBox="true"/>
            <p:nvPr/>
          </p:nvSpPr>
          <p:spPr>
            <a:xfrm rot="0">
              <a:off x="0" y="166892"/>
              <a:ext cx="5250707" cy="334317"/>
            </a:xfrm>
            <a:prstGeom prst="rect">
              <a:avLst/>
            </a:prstGeom>
          </p:spPr>
          <p:txBody>
            <a:bodyPr anchor="t" rtlCol="false" tIns="0" lIns="0" bIns="0" rIns="0">
              <a:spAutoFit/>
            </a:bodyPr>
            <a:lstStyle/>
            <a:p>
              <a:pPr algn="ctr">
                <a:lnSpc>
                  <a:spcPts val="1906"/>
                </a:lnSpc>
                <a:spcBef>
                  <a:spcPct val="0"/>
                </a:spcBef>
              </a:pPr>
              <a:r>
                <a:rPr lang="en-US" b="true" sz="1588" spc="6">
                  <a:solidFill>
                    <a:srgbClr val="000000"/>
                  </a:solidFill>
                  <a:latin typeface="Poppins Bold"/>
                  <a:ea typeface="Poppins Bold"/>
                  <a:cs typeface="Poppins Bold"/>
                  <a:sym typeface="Poppins Bold"/>
                </a:rPr>
                <a:t>Before Hyperparameter </a:t>
              </a:r>
              <a:r>
                <a:rPr lang="en-US" b="true" sz="1588" spc="6">
                  <a:solidFill>
                    <a:srgbClr val="000000"/>
                  </a:solidFill>
                  <a:latin typeface="Poppins Bold"/>
                  <a:ea typeface="Poppins Bold"/>
                  <a:cs typeface="Poppins Bold"/>
                  <a:sym typeface="Poppins Bold"/>
                </a:rPr>
                <a:t>Tuning </a:t>
              </a:r>
            </a:p>
          </p:txBody>
        </p:sp>
        <p:sp>
          <p:nvSpPr>
            <p:cNvPr name="TextBox 15" id="15"/>
            <p:cNvSpPr txBox="true"/>
            <p:nvPr/>
          </p:nvSpPr>
          <p:spPr>
            <a:xfrm rot="0">
              <a:off x="510039" y="601171"/>
              <a:ext cx="3830957" cy="1098455"/>
            </a:xfrm>
            <a:prstGeom prst="rect">
              <a:avLst/>
            </a:prstGeom>
          </p:spPr>
          <p:txBody>
            <a:bodyPr anchor="t" rtlCol="false" tIns="0" lIns="0" bIns="0" rIns="0">
              <a:spAutoFit/>
            </a:bodyPr>
            <a:lstStyle/>
            <a:p>
              <a:pPr algn="ctr">
                <a:lnSpc>
                  <a:spcPts val="2224"/>
                </a:lnSpc>
              </a:pPr>
              <a:r>
                <a:rPr lang="en-US" sz="1588" spc="6">
                  <a:solidFill>
                    <a:srgbClr val="000000"/>
                  </a:solidFill>
                  <a:latin typeface="Poppins"/>
                  <a:ea typeface="Poppins"/>
                  <a:cs typeface="Poppins"/>
                  <a:sym typeface="Poppins"/>
                </a:rPr>
                <a:t>F1 Score: 79.4%</a:t>
              </a:r>
            </a:p>
            <a:p>
              <a:pPr algn="ctr">
                <a:lnSpc>
                  <a:spcPts val="2224"/>
                </a:lnSpc>
              </a:pPr>
            </a:p>
            <a:p>
              <a:pPr algn="ctr">
                <a:lnSpc>
                  <a:spcPts val="2224"/>
                </a:lnSpc>
              </a:pPr>
              <a:r>
                <a:rPr lang="en-US" sz="1588" spc="6">
                  <a:solidFill>
                    <a:srgbClr val="000000"/>
                  </a:solidFill>
                  <a:latin typeface="Poppins"/>
                  <a:ea typeface="Poppins"/>
                  <a:cs typeface="Poppins"/>
                  <a:sym typeface="Poppins"/>
                </a:rPr>
                <a:t>ROC-AUC: </a:t>
              </a:r>
              <a:r>
                <a:rPr lang="en-US" sz="1588" spc="6">
                  <a:solidFill>
                    <a:srgbClr val="000000"/>
                  </a:solidFill>
                  <a:latin typeface="Poppins"/>
                  <a:ea typeface="Poppins"/>
                  <a:cs typeface="Poppins"/>
                  <a:sym typeface="Poppins"/>
                </a:rPr>
                <a:t>89.9</a:t>
              </a:r>
              <a:r>
                <a:rPr lang="en-US" sz="1588" spc="6">
                  <a:solidFill>
                    <a:srgbClr val="000000"/>
                  </a:solidFill>
                  <a:latin typeface="Poppins"/>
                  <a:ea typeface="Poppins"/>
                  <a:cs typeface="Poppins"/>
                  <a:sym typeface="Poppins"/>
                </a:rPr>
                <a:t>%</a:t>
              </a:r>
            </a:p>
          </p:txBody>
        </p:sp>
        <p:grpSp>
          <p:nvGrpSpPr>
            <p:cNvPr name="Group 16" id="16"/>
            <p:cNvGrpSpPr/>
            <p:nvPr/>
          </p:nvGrpSpPr>
          <p:grpSpPr>
            <a:xfrm rot="0">
              <a:off x="12700" y="2243995"/>
              <a:ext cx="5106327" cy="1908905"/>
              <a:chOff x="0" y="0"/>
              <a:chExt cx="1051574" cy="393111"/>
            </a:xfrm>
          </p:grpSpPr>
          <p:sp>
            <p:nvSpPr>
              <p:cNvPr name="Freeform 17" id="17"/>
              <p:cNvSpPr/>
              <p:nvPr/>
            </p:nvSpPr>
            <p:spPr>
              <a:xfrm flipH="false" flipV="false" rot="0">
                <a:off x="0" y="0"/>
                <a:ext cx="1051574" cy="393111"/>
              </a:xfrm>
              <a:custGeom>
                <a:avLst/>
                <a:gdLst/>
                <a:ahLst/>
                <a:cxnLst/>
                <a:rect r="r" b="b" t="t" l="l"/>
                <a:pathLst>
                  <a:path h="393111" w="1051574">
                    <a:moveTo>
                      <a:pt x="103098" y="0"/>
                    </a:moveTo>
                    <a:lnTo>
                      <a:pt x="948476" y="0"/>
                    </a:lnTo>
                    <a:cubicBezTo>
                      <a:pt x="975819" y="0"/>
                      <a:pt x="1002043" y="10862"/>
                      <a:pt x="1021377" y="30197"/>
                    </a:cubicBezTo>
                    <a:cubicBezTo>
                      <a:pt x="1040712" y="49531"/>
                      <a:pt x="1051574" y="75754"/>
                      <a:pt x="1051574" y="103098"/>
                    </a:cubicBezTo>
                    <a:lnTo>
                      <a:pt x="1051574" y="290014"/>
                    </a:lnTo>
                    <a:cubicBezTo>
                      <a:pt x="1051574" y="346953"/>
                      <a:pt x="1005415" y="393111"/>
                      <a:pt x="948476" y="393111"/>
                    </a:cubicBezTo>
                    <a:lnTo>
                      <a:pt x="103098" y="393111"/>
                    </a:lnTo>
                    <a:cubicBezTo>
                      <a:pt x="46158" y="393111"/>
                      <a:pt x="0" y="346953"/>
                      <a:pt x="0" y="290014"/>
                    </a:cubicBezTo>
                    <a:lnTo>
                      <a:pt x="0" y="103098"/>
                    </a:lnTo>
                    <a:cubicBezTo>
                      <a:pt x="0" y="46158"/>
                      <a:pt x="46158" y="0"/>
                      <a:pt x="103098" y="0"/>
                    </a:cubicBezTo>
                    <a:close/>
                  </a:path>
                </a:pathLst>
              </a:custGeom>
              <a:solidFill>
                <a:srgbClr val="F8FAFC"/>
              </a:solidFill>
              <a:ln w="38100" cap="rnd">
                <a:solidFill>
                  <a:srgbClr val="BCCADB"/>
                </a:solidFill>
                <a:prstDash val="solid"/>
                <a:round/>
              </a:ln>
            </p:spPr>
          </p:sp>
          <p:sp>
            <p:nvSpPr>
              <p:cNvPr name="TextBox 18" id="18"/>
              <p:cNvSpPr txBox="true"/>
              <p:nvPr/>
            </p:nvSpPr>
            <p:spPr>
              <a:xfrm>
                <a:off x="0" y="-19050"/>
                <a:ext cx="1051574" cy="412161"/>
              </a:xfrm>
              <a:prstGeom prst="rect">
                <a:avLst/>
              </a:prstGeom>
            </p:spPr>
            <p:txBody>
              <a:bodyPr anchor="ctr" rtlCol="false" tIns="49014" lIns="49014" bIns="49014" rIns="49014"/>
              <a:lstStyle/>
              <a:p>
                <a:pPr algn="ctr">
                  <a:lnSpc>
                    <a:spcPts val="1919"/>
                  </a:lnSpc>
                </a:pPr>
              </a:p>
            </p:txBody>
          </p:sp>
        </p:grpSp>
        <p:sp>
          <p:nvSpPr>
            <p:cNvPr name="TextBox 19" id="19"/>
            <p:cNvSpPr txBox="true"/>
            <p:nvPr/>
          </p:nvSpPr>
          <p:spPr>
            <a:xfrm rot="0">
              <a:off x="12700" y="2423255"/>
              <a:ext cx="5250707" cy="334317"/>
            </a:xfrm>
            <a:prstGeom prst="rect">
              <a:avLst/>
            </a:prstGeom>
          </p:spPr>
          <p:txBody>
            <a:bodyPr anchor="t" rtlCol="false" tIns="0" lIns="0" bIns="0" rIns="0">
              <a:spAutoFit/>
            </a:bodyPr>
            <a:lstStyle/>
            <a:p>
              <a:pPr algn="ctr">
                <a:lnSpc>
                  <a:spcPts val="1906"/>
                </a:lnSpc>
                <a:spcBef>
                  <a:spcPct val="0"/>
                </a:spcBef>
              </a:pPr>
              <a:r>
                <a:rPr lang="en-US" b="true" sz="1588" spc="6">
                  <a:solidFill>
                    <a:srgbClr val="000000"/>
                  </a:solidFill>
                  <a:latin typeface="Poppins Bold"/>
                  <a:ea typeface="Poppins Bold"/>
                  <a:cs typeface="Poppins Bold"/>
                  <a:sym typeface="Poppins Bold"/>
                </a:rPr>
                <a:t>After Hyperparameter </a:t>
              </a:r>
              <a:r>
                <a:rPr lang="en-US" b="true" sz="1588" spc="6">
                  <a:solidFill>
                    <a:srgbClr val="000000"/>
                  </a:solidFill>
                  <a:latin typeface="Poppins Bold"/>
                  <a:ea typeface="Poppins Bold"/>
                  <a:cs typeface="Poppins Bold"/>
                  <a:sym typeface="Poppins Bold"/>
                </a:rPr>
                <a:t>Tuning </a:t>
              </a:r>
            </a:p>
          </p:txBody>
        </p:sp>
        <p:sp>
          <p:nvSpPr>
            <p:cNvPr name="TextBox 20" id="20"/>
            <p:cNvSpPr txBox="true"/>
            <p:nvPr/>
          </p:nvSpPr>
          <p:spPr>
            <a:xfrm rot="0">
              <a:off x="704521" y="2833944"/>
              <a:ext cx="3441992" cy="1125891"/>
            </a:xfrm>
            <a:prstGeom prst="rect">
              <a:avLst/>
            </a:prstGeom>
          </p:spPr>
          <p:txBody>
            <a:bodyPr anchor="t" rtlCol="false" tIns="0" lIns="0" bIns="0" rIns="0">
              <a:spAutoFit/>
            </a:bodyPr>
            <a:lstStyle/>
            <a:p>
              <a:pPr algn="ctr">
                <a:lnSpc>
                  <a:spcPts val="2282"/>
                </a:lnSpc>
              </a:pPr>
              <a:r>
                <a:rPr lang="en-US" sz="1630" spc="6">
                  <a:solidFill>
                    <a:srgbClr val="000000"/>
                  </a:solidFill>
                  <a:latin typeface="Poppins"/>
                  <a:ea typeface="Poppins"/>
                  <a:cs typeface="Poppins"/>
                  <a:sym typeface="Poppins"/>
                </a:rPr>
                <a:t>F1 Score: 84.7%</a:t>
              </a:r>
            </a:p>
            <a:p>
              <a:pPr algn="ctr">
                <a:lnSpc>
                  <a:spcPts val="2282"/>
                </a:lnSpc>
              </a:pPr>
            </a:p>
            <a:p>
              <a:pPr algn="ctr">
                <a:lnSpc>
                  <a:spcPts val="2282"/>
                </a:lnSpc>
              </a:pPr>
              <a:r>
                <a:rPr lang="en-US" sz="1630" spc="6">
                  <a:solidFill>
                    <a:srgbClr val="000000"/>
                  </a:solidFill>
                  <a:latin typeface="Poppins"/>
                  <a:ea typeface="Poppins"/>
                  <a:cs typeface="Poppins"/>
                  <a:sym typeface="Poppins"/>
                </a:rPr>
                <a:t>ROC-AUC: 91.3%</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771838" y="2292353"/>
            <a:ext cx="7487462" cy="6297228"/>
            <a:chOff x="0" y="0"/>
            <a:chExt cx="2041453" cy="1716937"/>
          </a:xfrm>
        </p:grpSpPr>
        <p:sp>
          <p:nvSpPr>
            <p:cNvPr name="Freeform 4" id="4"/>
            <p:cNvSpPr/>
            <p:nvPr/>
          </p:nvSpPr>
          <p:spPr>
            <a:xfrm flipH="false" flipV="false" rot="0">
              <a:off x="0" y="0"/>
              <a:ext cx="2041453" cy="1716937"/>
            </a:xfrm>
            <a:custGeom>
              <a:avLst/>
              <a:gdLst/>
              <a:ahLst/>
              <a:cxnLst/>
              <a:rect r="r" b="b" t="t" l="l"/>
              <a:pathLst>
                <a:path h="1716937" w="2041453">
                  <a:moveTo>
                    <a:pt x="51699" y="0"/>
                  </a:moveTo>
                  <a:lnTo>
                    <a:pt x="1989754" y="0"/>
                  </a:lnTo>
                  <a:cubicBezTo>
                    <a:pt x="2018307" y="0"/>
                    <a:pt x="2041453" y="23147"/>
                    <a:pt x="2041453" y="51699"/>
                  </a:cubicBezTo>
                  <a:lnTo>
                    <a:pt x="2041453" y="1665238"/>
                  </a:lnTo>
                  <a:cubicBezTo>
                    <a:pt x="2041453" y="1693790"/>
                    <a:pt x="2018307" y="1716937"/>
                    <a:pt x="1989754" y="1716937"/>
                  </a:cubicBezTo>
                  <a:lnTo>
                    <a:pt x="51699" y="1716937"/>
                  </a:lnTo>
                  <a:cubicBezTo>
                    <a:pt x="23147" y="1716937"/>
                    <a:pt x="0" y="1693790"/>
                    <a:pt x="0" y="1665238"/>
                  </a:cubicBezTo>
                  <a:lnTo>
                    <a:pt x="0" y="51699"/>
                  </a:lnTo>
                  <a:cubicBezTo>
                    <a:pt x="0" y="23147"/>
                    <a:pt x="23147" y="0"/>
                    <a:pt x="51699" y="0"/>
                  </a:cubicBezTo>
                  <a:close/>
                </a:path>
              </a:pathLst>
            </a:custGeom>
            <a:solidFill>
              <a:srgbClr val="A1C7CE"/>
            </a:solidFill>
          </p:spPr>
        </p:sp>
        <p:sp>
          <p:nvSpPr>
            <p:cNvPr name="TextBox 5" id="5"/>
            <p:cNvSpPr txBox="true"/>
            <p:nvPr/>
          </p:nvSpPr>
          <p:spPr>
            <a:xfrm>
              <a:off x="0" y="-19050"/>
              <a:ext cx="2041453" cy="1735987"/>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Raleway"/>
                  <a:ea typeface="Raleway"/>
                  <a:cs typeface="Raleway"/>
                  <a:sym typeface="Raleway"/>
                </a:rPr>
                <a:t>The model correctly identified the majority of the data. Of the 450 data points, the model only incorrectly predicted 39.</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The model successfully identified 108 of the 129 candidates who were actually Hired. There were 21 potential candidates missed (predicted as Not Hired), indicating room for improvement to capture more talent.</a:t>
              </a:r>
            </a:p>
            <a:p>
              <a:pPr algn="l">
                <a:lnSpc>
                  <a:spcPts val="2520"/>
                </a:lnSpc>
              </a:pPr>
            </a:p>
            <a:p>
              <a:pPr algn="l" marL="453390" indent="-226695" lvl="1">
                <a:lnSpc>
                  <a:spcPts val="2520"/>
                </a:lnSpc>
                <a:buFont typeface="Arial"/>
                <a:buChar char="•"/>
              </a:pPr>
              <a:r>
                <a:rPr lang="en-US" sz="2100" spc="8">
                  <a:solidFill>
                    <a:srgbClr val="000000"/>
                  </a:solidFill>
                  <a:latin typeface="Raleway"/>
                  <a:ea typeface="Raleway"/>
                  <a:cs typeface="Raleway"/>
                  <a:sym typeface="Raleway"/>
                </a:rPr>
                <a:t>Based on the Confusion Matrix, the XGBoost model demonstrated solid performance in the recruitment process with a high level of accuracy and minimal misclassification.</a:t>
              </a:r>
            </a:p>
          </p:txBody>
        </p:sp>
      </p:grpSp>
      <p:sp>
        <p:nvSpPr>
          <p:cNvPr name="Freeform 6" id="6"/>
          <p:cNvSpPr/>
          <p:nvPr/>
        </p:nvSpPr>
        <p:spPr>
          <a:xfrm flipH="false" flipV="false" rot="0">
            <a:off x="1278835" y="2471147"/>
            <a:ext cx="7865165" cy="6259110"/>
          </a:xfrm>
          <a:custGeom>
            <a:avLst/>
            <a:gdLst/>
            <a:ahLst/>
            <a:cxnLst/>
            <a:rect r="r" b="b" t="t" l="l"/>
            <a:pathLst>
              <a:path h="6259110" w="7865165">
                <a:moveTo>
                  <a:pt x="0" y="0"/>
                </a:moveTo>
                <a:lnTo>
                  <a:pt x="7865165" y="0"/>
                </a:lnTo>
                <a:lnTo>
                  <a:pt x="7865165" y="6259111"/>
                </a:lnTo>
                <a:lnTo>
                  <a:pt x="0" y="6259111"/>
                </a:lnTo>
                <a:lnTo>
                  <a:pt x="0" y="0"/>
                </a:lnTo>
                <a:close/>
              </a:path>
            </a:pathLst>
          </a:custGeom>
          <a:blipFill>
            <a:blip r:embed="rId3"/>
            <a:stretch>
              <a:fillRect l="0" t="0" r="0" b="0"/>
            </a:stretch>
          </a:blipFill>
        </p:spPr>
      </p:sp>
      <p:sp>
        <p:nvSpPr>
          <p:cNvPr name="TextBox 7" id="7"/>
          <p:cNvSpPr txBox="true"/>
          <p:nvPr/>
        </p:nvSpPr>
        <p:spPr>
          <a:xfrm rot="0">
            <a:off x="1038225" y="895350"/>
            <a:ext cx="7658189" cy="1062736"/>
          </a:xfrm>
          <a:prstGeom prst="rect">
            <a:avLst/>
          </a:prstGeom>
        </p:spPr>
        <p:txBody>
          <a:bodyPr anchor="t" rtlCol="false" tIns="0" lIns="0" bIns="0" rIns="0">
            <a:spAutoFit/>
          </a:bodyPr>
          <a:lstStyle/>
          <a:p>
            <a:pPr algn="l">
              <a:lnSpc>
                <a:spcPts val="8623"/>
              </a:lnSpc>
              <a:spcBef>
                <a:spcPct val="0"/>
              </a:spcBef>
            </a:pPr>
            <a:r>
              <a:rPr lang="en-US" sz="6159">
                <a:solidFill>
                  <a:srgbClr val="18102B"/>
                </a:solidFill>
                <a:latin typeface="Raleway"/>
                <a:ea typeface="Raleway"/>
                <a:cs typeface="Raleway"/>
                <a:sym typeface="Raleway"/>
              </a:rPr>
              <a:t>Confu</a:t>
            </a:r>
            <a:r>
              <a:rPr lang="en-US" sz="6159">
                <a:solidFill>
                  <a:srgbClr val="18102B"/>
                </a:solidFill>
                <a:latin typeface="Raleway"/>
                <a:ea typeface="Raleway"/>
                <a:cs typeface="Raleway"/>
                <a:sym typeface="Raleway"/>
              </a:rPr>
              <a:t>sion Matrix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DAHHAUYIHsg</dc:identifier>
  <dcterms:modified xsi:type="dcterms:W3CDTF">2011-08-01T06:04:30Z</dcterms:modified>
  <cp:revision>1</cp:revision>
  <dc:title>Smote PPT Presentasi – Kelompok 2 – HIRESIGHTS</dc:title>
</cp:coreProperties>
</file>