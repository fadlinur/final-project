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notesMaster+xml" PartName="/ppt/notesMasters/notesMaster1.xml"/>
  <Override ContentType="application/vnd.openxmlformats-officedocument.presentationml.notesSlide+xml" PartName="/ppt/notesSlides/notesSlide1.xml"/>
  <Override ContentType="application/vnd.openxmlformats-officedocument.presentationml.notesSlide+xml" PartName="/ppt/notesSlides/notesSlide2.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9"/>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x="18288000" cy="10287000"/>
  <p:notesSz cx="6858000" cy="9144000"/>
  <p:embeddedFontLst>
    <p:embeddedFont>
      <p:font typeface="Raleway Bold" charset="1" panose="00000000000000000000"/>
      <p:regular r:id="rId22"/>
    </p:embeddedFont>
    <p:embeddedFont>
      <p:font typeface="Raleway" charset="1" panose="00000000000000000000"/>
      <p:regular r:id="rId23"/>
    </p:embeddedFont>
    <p:embeddedFont>
      <p:font typeface="Poppins" charset="1" panose="00000500000000000000"/>
      <p:regular r:id="rId24"/>
    </p:embeddedFont>
    <p:embeddedFont>
      <p:font typeface="Poppins Bold" charset="1" panose="00000800000000000000"/>
      <p:regular r:id="rId25"/>
    </p:embeddedFont>
    <p:embeddedFont>
      <p:font typeface="Canva Sans Bold" charset="1" panose="020B0803030501040103"/>
      <p:regular r:id="rId26"/>
    </p:embeddedFont>
    <p:embeddedFont>
      <p:font typeface="Canva Sans" charset="1" panose="020B0503030501040103"/>
      <p:regular r:id="rId2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notesMasters/notesMaster1.xml" Type="http://schemas.openxmlformats.org/officeDocument/2006/relationships/notesMaster"/><Relationship Id="rId2" Target="presProps.xml" Type="http://schemas.openxmlformats.org/officeDocument/2006/relationships/presProps"/><Relationship Id="rId20" Target="theme/theme2.xml" Type="http://schemas.openxmlformats.org/officeDocument/2006/relationships/theme"/><Relationship Id="rId21" Target="notesSlides/notesSlide1.xml" Type="http://schemas.openxmlformats.org/officeDocument/2006/relationships/notesSlide"/><Relationship Id="rId22" Target="fonts/font22.fntdata" Type="http://schemas.openxmlformats.org/officeDocument/2006/relationships/font"/><Relationship Id="rId23" Target="fonts/font23.fntdata" Type="http://schemas.openxmlformats.org/officeDocument/2006/relationships/font"/><Relationship Id="rId24" Target="fonts/font24.fntdata" Type="http://schemas.openxmlformats.org/officeDocument/2006/relationships/font"/><Relationship Id="rId25" Target="fonts/font25.fntdata" Type="http://schemas.openxmlformats.org/officeDocument/2006/relationships/font"/><Relationship Id="rId26" Target="fonts/font26.fntdata" Type="http://schemas.openxmlformats.org/officeDocument/2006/relationships/font"/><Relationship Id="rId27" Target="fonts/font27.fntdata" Type="http://schemas.openxmlformats.org/officeDocument/2006/relationships/font"/><Relationship Id="rId28" Target="notesSlides/notesSlide2.xml" Type="http://schemas.openxmlformats.org/officeDocument/2006/relationships/notesSlide"/><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notesMasters/_rels/notesMaster1.xml.rels><?xml version="1.0" encoding="UTF-8" standalone="yes"?><Relationships xmlns="http://schemas.openxmlformats.org/package/2006/relationships"><Relationship Id="rId1" Target="../theme/theme2.xml" Type="http://schemas.openxmlformats.org/officeDocument/2006/relationships/theme"/></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1.xml" Type="http://schemas.openxmlformats.org/officeDocument/2006/relationships/slide"/></Relationships>
</file>

<file path=ppt/notesSlides/_rels/notesSlide2.xml.rels><?xml version="1.0" encoding="UTF-8" standalone="yes"?><Relationships xmlns="http://schemas.openxmlformats.org/package/2006/relationships"><Relationship Id="rId1" Target="../notesMasters/notesMaster1.xml" Type="http://schemas.openxmlformats.org/officeDocument/2006/relationships/notesMaster"/><Relationship Id="rId2" Target="../slides/slide7.xml" Type="http://schemas.openxmlformats.org/officeDocument/2006/relationships/slide"/></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rPr lang="en-US"/>
              <a:t/>
            </a:r>
            <a:endParaRPr lang="en-US" smtClean="0"/>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1.xml" Type="http://schemas.openxmlformats.org/officeDocument/2006/relationships/notesSlide"/><Relationship Id="rId3" Target="../media/image1.jpeg" Type="http://schemas.openxmlformats.org/officeDocument/2006/relationships/image"/><Relationship Id="rId4" Target="../media/image2.jpe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png" Type="http://schemas.openxmlformats.org/officeDocument/2006/relationships/image"/><Relationship Id="rId4" Target="../media/image5.svg" Type="http://schemas.openxmlformats.org/officeDocument/2006/relationships/image"/><Relationship Id="rId5" Target="../media/image6.png" Type="http://schemas.openxmlformats.org/officeDocument/2006/relationships/image"/><Relationship Id="rId6"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8.png" Type="http://schemas.openxmlformats.org/officeDocument/2006/relationships/image"/><Relationship Id="rId4" Target="../media/image9.pn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0.pn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notesSlides/notesSlide2.xml" Type="http://schemas.openxmlformats.org/officeDocument/2006/relationships/notesSlide"/><Relationship Id="rId3" Target="../media/image1.jpe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1.png" Type="http://schemas.openxmlformats.org/officeDocument/2006/relationships/image"/><Relationship Id="rId4" Target="../media/image12.png" Type="http://schemas.openxmlformats.org/officeDocument/2006/relationships/image"/><Relationship Id="rId5" Target="../media/image13.png" Type="http://schemas.openxmlformats.org/officeDocument/2006/relationships/image"/><Relationship Id="rId6" Target="../media/image1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5.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6.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17.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grpSp>
        <p:nvGrpSpPr>
          <p:cNvPr name="Group 3" id="3"/>
          <p:cNvGrpSpPr/>
          <p:nvPr/>
        </p:nvGrpSpPr>
        <p:grpSpPr>
          <a:xfrm rot="0">
            <a:off x="1455601" y="3624900"/>
            <a:ext cx="15376798" cy="4150353"/>
            <a:chOff x="0" y="0"/>
            <a:chExt cx="20502397" cy="5533803"/>
          </a:xfrm>
        </p:grpSpPr>
        <p:sp>
          <p:nvSpPr>
            <p:cNvPr name="Freeform 4" id="4"/>
            <p:cNvSpPr/>
            <p:nvPr/>
          </p:nvSpPr>
          <p:spPr>
            <a:xfrm flipH="false" flipV="false" rot="0">
              <a:off x="0" y="0"/>
              <a:ext cx="20502400" cy="5533805"/>
            </a:xfrm>
            <a:custGeom>
              <a:avLst/>
              <a:gdLst/>
              <a:ahLst/>
              <a:cxnLst/>
              <a:rect r="r" b="b" t="t" l="l"/>
              <a:pathLst>
                <a:path h="5533805" w="20502400">
                  <a:moveTo>
                    <a:pt x="0" y="0"/>
                  </a:moveTo>
                  <a:lnTo>
                    <a:pt x="20502400" y="0"/>
                  </a:lnTo>
                  <a:lnTo>
                    <a:pt x="20502400" y="5533805"/>
                  </a:lnTo>
                  <a:lnTo>
                    <a:pt x="0" y="5533805"/>
                  </a:lnTo>
                  <a:close/>
                </a:path>
              </a:pathLst>
            </a:custGeom>
            <a:blipFill>
              <a:blip r:embed="rId4">
                <a:alphaModFix amt="0"/>
              </a:blip>
              <a:stretch>
                <a:fillRect l="0" t="-35601" r="0" b="-8780"/>
              </a:stretch>
            </a:blipFill>
          </p:spPr>
        </p:sp>
        <p:sp>
          <p:nvSpPr>
            <p:cNvPr name="TextBox 5" id="5"/>
            <p:cNvSpPr txBox="true"/>
            <p:nvPr/>
          </p:nvSpPr>
          <p:spPr>
            <a:xfrm>
              <a:off x="0" y="-19050"/>
              <a:ext cx="20502397" cy="5552853"/>
            </a:xfrm>
            <a:prstGeom prst="rect">
              <a:avLst/>
            </a:prstGeom>
          </p:spPr>
          <p:txBody>
            <a:bodyPr anchor="ctr" rtlCol="false" tIns="0" lIns="0" bIns="0" rIns="0"/>
            <a:lstStyle/>
            <a:p>
              <a:pPr algn="ctr">
                <a:lnSpc>
                  <a:spcPts val="8640"/>
                </a:lnSpc>
              </a:pPr>
              <a:r>
                <a:rPr lang="en-US" sz="7200" b="true">
                  <a:solidFill>
                    <a:srgbClr val="000000"/>
                  </a:solidFill>
                  <a:latin typeface="Raleway Bold"/>
                  <a:ea typeface="Raleway Bold"/>
                  <a:cs typeface="Raleway Bold"/>
                  <a:sym typeface="Raleway Bold"/>
                </a:rPr>
                <a:t>Data-Driven Recruitment System</a:t>
              </a:r>
            </a:p>
            <a:p>
              <a:pPr algn="ctr">
                <a:lnSpc>
                  <a:spcPts val="5759"/>
                </a:lnSpc>
              </a:pPr>
            </a:p>
            <a:p>
              <a:pPr algn="ctr">
                <a:lnSpc>
                  <a:spcPts val="3359"/>
                </a:lnSpc>
              </a:pPr>
              <a:r>
                <a:rPr lang="en-US" b="true" sz="2799">
                  <a:solidFill>
                    <a:srgbClr val="18102B"/>
                  </a:solidFill>
                  <a:latin typeface="Raleway Bold"/>
                  <a:ea typeface="Raleway Bold"/>
                  <a:cs typeface="Raleway Bold"/>
                  <a:sym typeface="Raleway Bold"/>
                </a:rPr>
                <a:t>Optimizing</a:t>
              </a:r>
              <a:r>
                <a:rPr lang="en-US" b="true" sz="2799">
                  <a:solidFill>
                    <a:srgbClr val="18102B"/>
                  </a:solidFill>
                  <a:latin typeface="Raleway Bold"/>
                  <a:ea typeface="Raleway Bold"/>
                  <a:cs typeface="Raleway Bold"/>
                  <a:sym typeface="Raleway Bold"/>
                </a:rPr>
                <a:t> Biased Talent Acquisition Through Data-Driven HR Analytics</a:t>
              </a:r>
            </a:p>
          </p:txBody>
        </p:sp>
      </p:grpSp>
      <p:sp>
        <p:nvSpPr>
          <p:cNvPr name="AutoShape 6" id="6"/>
          <p:cNvSpPr/>
          <p:nvPr/>
        </p:nvSpPr>
        <p:spPr>
          <a:xfrm>
            <a:off x="3037800" y="6390999"/>
            <a:ext cx="12212400" cy="0"/>
          </a:xfrm>
          <a:prstGeom prst="line">
            <a:avLst/>
          </a:prstGeom>
          <a:ln cap="flat" w="38100">
            <a:solidFill>
              <a:srgbClr val="000000"/>
            </a:solidFill>
            <a:prstDash val="solid"/>
            <a:headEnd type="none" len="sm" w="sm"/>
            <a:tailEnd type="none" len="sm" w="sm"/>
          </a:ln>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3810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025" t="-5066" r="-2040" b="0"/>
            </a:stretch>
          </a:blipFill>
        </p:spPr>
      </p:sp>
      <p:sp>
        <p:nvSpPr>
          <p:cNvPr name="TextBox 3" id="3"/>
          <p:cNvSpPr txBox="true"/>
          <p:nvPr/>
        </p:nvSpPr>
        <p:spPr>
          <a:xfrm rot="0">
            <a:off x="1842932" y="5124450"/>
            <a:ext cx="14678336" cy="1114425"/>
          </a:xfrm>
          <a:prstGeom prst="rect">
            <a:avLst/>
          </a:prstGeom>
        </p:spPr>
        <p:txBody>
          <a:bodyPr anchor="t" rtlCol="false" tIns="0" lIns="0" bIns="0" rIns="0">
            <a:spAutoFit/>
          </a:bodyPr>
          <a:lstStyle/>
          <a:p>
            <a:pPr algn="ctr" marL="0" indent="0" lvl="0">
              <a:lnSpc>
                <a:spcPts val="8640"/>
              </a:lnSpc>
              <a:spcBef>
                <a:spcPct val="0"/>
              </a:spcBef>
            </a:pPr>
            <a:r>
              <a:rPr lang="en-US" b="true" sz="7200" strike="noStrike" u="none">
                <a:solidFill>
                  <a:srgbClr val="2F2F2F"/>
                </a:solidFill>
                <a:latin typeface="Raleway Bold"/>
                <a:ea typeface="Raleway Bold"/>
                <a:cs typeface="Raleway Bold"/>
                <a:sym typeface="Raleway Bold"/>
              </a:rPr>
              <a:t>Exploratory Data Analysis</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604055" y="518342"/>
            <a:ext cx="7568939" cy="962660"/>
          </a:xfrm>
          <a:prstGeom prst="rect">
            <a:avLst/>
          </a:prstGeom>
        </p:spPr>
        <p:txBody>
          <a:bodyPr anchor="t" rtlCol="false" tIns="0" lIns="0" bIns="0" rIns="0">
            <a:spAutoFit/>
          </a:bodyPr>
          <a:lstStyle/>
          <a:p>
            <a:pPr algn="l">
              <a:lnSpc>
                <a:spcPts val="7840"/>
              </a:lnSpc>
              <a:spcBef>
                <a:spcPct val="0"/>
              </a:spcBef>
            </a:pPr>
            <a:r>
              <a:rPr lang="en-US" sz="5600">
                <a:solidFill>
                  <a:srgbClr val="18102B"/>
                </a:solidFill>
                <a:latin typeface="Raleway"/>
                <a:ea typeface="Raleway"/>
                <a:cs typeface="Raleway"/>
                <a:sym typeface="Raleway"/>
              </a:rPr>
              <a:t>Descriptive Statistics</a:t>
            </a:r>
          </a:p>
        </p:txBody>
      </p:sp>
      <p:sp>
        <p:nvSpPr>
          <p:cNvPr name="TextBox 4" id="4"/>
          <p:cNvSpPr txBox="true"/>
          <p:nvPr/>
        </p:nvSpPr>
        <p:spPr>
          <a:xfrm rot="0">
            <a:off x="604055" y="1776277"/>
            <a:ext cx="7901302" cy="1861185"/>
          </a:xfrm>
          <a:prstGeom prst="rect">
            <a:avLst/>
          </a:prstGeom>
        </p:spPr>
        <p:txBody>
          <a:bodyPr anchor="t" rtlCol="false" tIns="0" lIns="0" bIns="0" rIns="0">
            <a:spAutoFit/>
          </a:bodyPr>
          <a:lstStyle/>
          <a:p>
            <a:pPr algn="l" marL="453390" indent="-226695" lvl="1">
              <a:lnSpc>
                <a:spcPts val="2940"/>
              </a:lnSpc>
              <a:buFont typeface="Arial"/>
              <a:buChar char="•"/>
            </a:pPr>
            <a:r>
              <a:rPr lang="en-US" sz="2100" spc="8">
                <a:solidFill>
                  <a:srgbClr val="18102B"/>
                </a:solidFill>
                <a:latin typeface="Poppins"/>
                <a:ea typeface="Poppins"/>
                <a:cs typeface="Poppins"/>
                <a:sym typeface="Poppins"/>
              </a:rPr>
              <a:t>Data shape: </a:t>
            </a:r>
            <a:r>
              <a:rPr lang="en-US" sz="2100" spc="8">
                <a:solidFill>
                  <a:srgbClr val="18102B"/>
                </a:solidFill>
                <a:latin typeface="Poppins"/>
                <a:ea typeface="Poppins"/>
                <a:cs typeface="Poppins"/>
                <a:sym typeface="Poppins"/>
              </a:rPr>
              <a:t>1.500 rows and 11 feature columns</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Feature type:</a:t>
            </a:r>
            <a:r>
              <a:rPr lang="en-US" sz="2100" spc="8">
                <a:solidFill>
                  <a:srgbClr val="18102B"/>
                </a:solidFill>
                <a:latin typeface="Poppins"/>
                <a:ea typeface="Poppins"/>
                <a:cs typeface="Poppins"/>
                <a:sym typeface="Poppins"/>
              </a:rPr>
              <a:t> 7 numerical, 3 categorical, 1 target</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M</a:t>
            </a:r>
            <a:r>
              <a:rPr lang="en-US" sz="2100" spc="8">
                <a:solidFill>
                  <a:srgbClr val="18102B"/>
                </a:solidFill>
                <a:latin typeface="Poppins"/>
                <a:ea typeface="Poppins"/>
                <a:cs typeface="Poppins"/>
                <a:sym typeface="Poppins"/>
              </a:rPr>
              <a:t>issing values: 0</a:t>
            </a:r>
          </a:p>
          <a:p>
            <a:pPr algn="l" marL="453390" indent="-226695" lvl="1">
              <a:lnSpc>
                <a:spcPts val="2940"/>
              </a:lnSpc>
              <a:buFont typeface="Arial"/>
              <a:buChar char="•"/>
            </a:pPr>
            <a:r>
              <a:rPr lang="en-US" sz="2100" spc="8">
                <a:solidFill>
                  <a:srgbClr val="18102B"/>
                </a:solidFill>
                <a:latin typeface="Poppins"/>
                <a:ea typeface="Poppins"/>
                <a:cs typeface="Poppins"/>
                <a:sym typeface="Poppins"/>
              </a:rPr>
              <a:t>Duplicate values: 0</a:t>
            </a:r>
          </a:p>
          <a:p>
            <a:pPr algn="l" marL="453390" indent="-226695" lvl="1">
              <a:lnSpc>
                <a:spcPts val="2940"/>
              </a:lnSpc>
              <a:spcBef>
                <a:spcPct val="0"/>
              </a:spcBef>
              <a:buFont typeface="Arial"/>
              <a:buChar char="•"/>
            </a:pPr>
            <a:r>
              <a:rPr lang="en-US" sz="2100" spc="8">
                <a:solidFill>
                  <a:srgbClr val="18102B"/>
                </a:solidFill>
                <a:latin typeface="Poppins"/>
                <a:ea typeface="Poppins"/>
                <a:cs typeface="Poppins"/>
                <a:sym typeface="Poppins"/>
              </a:rPr>
              <a:t>O</a:t>
            </a:r>
            <a:r>
              <a:rPr lang="en-US" sz="2100" spc="8">
                <a:solidFill>
                  <a:srgbClr val="18102B"/>
                </a:solidFill>
                <a:latin typeface="Poppins"/>
                <a:ea typeface="Poppins"/>
                <a:cs typeface="Poppins"/>
                <a:sym typeface="Poppins"/>
              </a:rPr>
              <a:t>utliers: 0</a:t>
            </a:r>
          </a:p>
        </p:txBody>
      </p:sp>
      <p:grpSp>
        <p:nvGrpSpPr>
          <p:cNvPr name="Group 5" id="5"/>
          <p:cNvGrpSpPr/>
          <p:nvPr/>
        </p:nvGrpSpPr>
        <p:grpSpPr>
          <a:xfrm rot="0">
            <a:off x="12895828" y="5397873"/>
            <a:ext cx="366168" cy="366168"/>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8102B"/>
            </a:solidFill>
          </p:spPr>
        </p:sp>
        <p:sp>
          <p:nvSpPr>
            <p:cNvPr name="TextBox 7" id="7"/>
            <p:cNvSpPr txBox="true"/>
            <p:nvPr/>
          </p:nvSpPr>
          <p:spPr>
            <a:xfrm>
              <a:off x="76200" y="19050"/>
              <a:ext cx="660400" cy="717550"/>
            </a:xfrm>
            <a:prstGeom prst="rect">
              <a:avLst/>
            </a:prstGeom>
          </p:spPr>
          <p:txBody>
            <a:bodyPr anchor="ctr" rtlCol="false" tIns="50800" lIns="50800" bIns="50800" rIns="50800"/>
            <a:lstStyle/>
            <a:p>
              <a:pPr algn="ctr">
                <a:lnSpc>
                  <a:spcPts val="3368"/>
                </a:lnSpc>
              </a:pPr>
            </a:p>
          </p:txBody>
        </p:sp>
      </p:grpSp>
      <p:sp>
        <p:nvSpPr>
          <p:cNvPr name="Freeform 8" id="8"/>
          <p:cNvSpPr/>
          <p:nvPr/>
        </p:nvSpPr>
        <p:spPr>
          <a:xfrm flipH="false" flipV="false" rot="0">
            <a:off x="12972281" y="5469436"/>
            <a:ext cx="223040" cy="223040"/>
          </a:xfrm>
          <a:custGeom>
            <a:avLst/>
            <a:gdLst/>
            <a:ahLst/>
            <a:cxnLst/>
            <a:rect r="r" b="b" t="t" l="l"/>
            <a:pathLst>
              <a:path h="223040" w="223040">
                <a:moveTo>
                  <a:pt x="0" y="0"/>
                </a:moveTo>
                <a:lnTo>
                  <a:pt x="223040" y="0"/>
                </a:lnTo>
                <a:lnTo>
                  <a:pt x="223040" y="223041"/>
                </a:lnTo>
                <a:lnTo>
                  <a:pt x="0" y="223041"/>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aphicFrame>
        <p:nvGraphicFramePr>
          <p:cNvPr name="Table 9" id="9"/>
          <p:cNvGraphicFramePr>
            <a:graphicFrameLocks noGrp="true"/>
          </p:cNvGraphicFramePr>
          <p:nvPr/>
        </p:nvGraphicFramePr>
        <p:xfrm>
          <a:off x="7993638" y="800598"/>
          <a:ext cx="10071675" cy="8839200"/>
        </p:xfrm>
        <a:graphic>
          <a:graphicData uri="http://schemas.openxmlformats.org/drawingml/2006/table">
            <a:tbl>
              <a:tblPr/>
              <a:tblGrid>
                <a:gridCol w="2786952"/>
                <a:gridCol w="7284723"/>
              </a:tblGrid>
              <a:tr h="591187">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Features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Raleway Bold"/>
                          <a:ea typeface="Raleway Bold"/>
                          <a:cs typeface="Raleway Bold"/>
                          <a:sym typeface="Raleway Bold"/>
                        </a:rPr>
                        <a:t>Description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E9EDEE"/>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age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ExperienceYears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years of work experience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PreviousCompanies</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total previous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924922">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DistanceFromCompany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home distance from</a:t>
                      </a:r>
                      <a:r>
                        <a:rPr lang="en-US" sz="1800">
                          <a:solidFill>
                            <a:srgbClr val="000000"/>
                          </a:solidFill>
                          <a:latin typeface="Poppins"/>
                          <a:ea typeface="Poppins"/>
                          <a:cs typeface="Poppins"/>
                          <a:sym typeface="Poppins"/>
                        </a:rPr>
                        <a:t> company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InterviewScore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Candidate’s interview</a:t>
                      </a:r>
                      <a:r>
                        <a:rPr lang="en-US" sz="1800">
                          <a:solidFill>
                            <a:srgbClr val="000000"/>
                          </a:solidFill>
                          <a:latin typeface="Poppins"/>
                          <a:ea typeface="Poppins"/>
                          <a:cs typeface="Poppins"/>
                          <a:sym typeface="Poppins"/>
                        </a:rPr>
                        <a:t>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SkillScore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technical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PersonalityScore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Ca</a:t>
                      </a:r>
                      <a:r>
                        <a:rPr lang="en-US" sz="1800">
                          <a:solidFill>
                            <a:srgbClr val="000000"/>
                          </a:solidFill>
                          <a:latin typeface="Poppins"/>
                          <a:ea typeface="Poppins"/>
                          <a:cs typeface="Poppins"/>
                          <a:sym typeface="Poppins"/>
                        </a:rPr>
                        <a:t>ndidate’s personality score result</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7E8C92"/>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Gender</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0 = Male, 1 = Female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EducationLevel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High Shcool, 2 = Diploma/Bachelor, 3 = Magister, 4 = PhD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RecruitmentStrategy</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1 = Internal, 2 = External, 3 = Referral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A1C7CE"/>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HiringDecision</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Target: 0 = Not Hired, 1 = Hired</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BCCADB"/>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TotalScore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(InterviewScore + SkillScore + PersonalityScore) / 3</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r>
              <a:tr h="610258">
                <a:tc>
                  <a:txBody>
                    <a:bodyPr anchor="t" rtlCol="false"/>
                    <a:lstStyle/>
                    <a:p>
                      <a:pPr algn="l">
                        <a:lnSpc>
                          <a:spcPts val="2520"/>
                        </a:lnSpc>
                        <a:defRPr/>
                      </a:pPr>
                      <a:r>
                        <a:rPr lang="en-US" sz="1800" b="true">
                          <a:solidFill>
                            <a:srgbClr val="000000"/>
                          </a:solidFill>
                          <a:latin typeface="Poppins Bold"/>
                          <a:ea typeface="Poppins Bold"/>
                          <a:cs typeface="Poppins Bold"/>
                          <a:sym typeface="Poppins Bold"/>
                        </a:rPr>
                        <a:t>ExperienceLevel</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c>
                  <a:txBody>
                    <a:bodyPr anchor="t" rtlCol="false"/>
                    <a:lstStyle/>
                    <a:p>
                      <a:pPr algn="l">
                        <a:lnSpc>
                          <a:spcPts val="2520"/>
                        </a:lnSpc>
                        <a:defRPr/>
                      </a:pPr>
                      <a:r>
                        <a:rPr lang="en-US" sz="1800">
                          <a:solidFill>
                            <a:srgbClr val="000000"/>
                          </a:solidFill>
                          <a:latin typeface="Poppins"/>
                          <a:ea typeface="Poppins"/>
                          <a:cs typeface="Poppins"/>
                          <a:sym typeface="Poppins"/>
                        </a:rPr>
                        <a:t>Junior (0-2 YoE), Medior (2-5 YoE), Senior (5+ YoE)</a:t>
                      </a:r>
                      <a:endParaRPr lang="en-US" sz="1100"/>
                    </a:p>
                  </a:txBody>
                  <a:tcPr marL="76200" marR="76200" marT="76200" marB="76200" anchor="ctr">
                    <a:lnL cmpd="sng" algn="ctr" cap="flat" w="9525">
                      <a:solidFill>
                        <a:srgbClr val="000000"/>
                      </a:solidFill>
                      <a:prstDash val="solid"/>
                      <a:round/>
                      <a:headEnd type="none" w="med" len="med"/>
                      <a:tailEnd type="none" w="med" len="med"/>
                    </a:lnL>
                    <a:lnR cmpd="sng" algn="ctr" cap="flat" w="9525">
                      <a:solidFill>
                        <a:srgbClr val="000000"/>
                      </a:solidFill>
                      <a:prstDash val="solid"/>
                      <a:round/>
                      <a:headEnd type="none" w="med" len="med"/>
                      <a:tailEnd type="none" w="med" len="med"/>
                    </a:lnR>
                    <a:lnT cmpd="sng" algn="ctr" cap="flat" w="9525">
                      <a:solidFill>
                        <a:srgbClr val="000000"/>
                      </a:solidFill>
                      <a:prstDash val="solid"/>
                      <a:round/>
                      <a:headEnd type="none" w="med" len="med"/>
                      <a:tailEnd type="none" w="med" len="med"/>
                    </a:lnT>
                    <a:lnB cmpd="sng" algn="ctr" cap="flat" w="9525">
                      <a:solidFill>
                        <a:srgbClr val="000000"/>
                      </a:solidFill>
                      <a:prstDash val="solid"/>
                      <a:round/>
                      <a:headEnd type="none" w="med" len="med"/>
                      <a:tailEnd type="none" w="med" len="med"/>
                    </a:lnB>
                    <a:solidFill>
                      <a:srgbClr val="D9D9D9"/>
                    </a:solidFill>
                  </a:tcPr>
                </a:tc>
              </a:tr>
            </a:tbl>
          </a:graphicData>
        </a:graphic>
      </p:graphicFrame>
      <p:grpSp>
        <p:nvGrpSpPr>
          <p:cNvPr name="Group 10" id="10"/>
          <p:cNvGrpSpPr/>
          <p:nvPr/>
        </p:nvGrpSpPr>
        <p:grpSpPr>
          <a:xfrm rot="0">
            <a:off x="604055" y="3989887"/>
            <a:ext cx="6780551" cy="5649912"/>
            <a:chOff x="0" y="0"/>
            <a:chExt cx="9040735" cy="7533216"/>
          </a:xfrm>
        </p:grpSpPr>
        <p:grpSp>
          <p:nvGrpSpPr>
            <p:cNvPr name="Group 11" id="11"/>
            <p:cNvGrpSpPr/>
            <p:nvPr/>
          </p:nvGrpSpPr>
          <p:grpSpPr>
            <a:xfrm rot="0">
              <a:off x="0" y="3848030"/>
              <a:ext cx="4320699" cy="3685185"/>
              <a:chOff x="0" y="0"/>
              <a:chExt cx="682684" cy="582271"/>
            </a:xfrm>
          </p:grpSpPr>
          <p:sp>
            <p:nvSpPr>
              <p:cNvPr name="Freeform 12" id="12"/>
              <p:cNvSpPr/>
              <p:nvPr/>
            </p:nvSpPr>
            <p:spPr>
              <a:xfrm flipH="false" flipV="false" rot="0">
                <a:off x="0" y="0"/>
                <a:ext cx="682684" cy="582271"/>
              </a:xfrm>
              <a:custGeom>
                <a:avLst/>
                <a:gdLst/>
                <a:ahLst/>
                <a:cxnLst/>
                <a:rect r="r" b="b" t="t" l="l"/>
                <a:pathLst>
                  <a:path h="582271" w="682684">
                    <a:moveTo>
                      <a:pt x="78397" y="0"/>
                    </a:moveTo>
                    <a:lnTo>
                      <a:pt x="604287" y="0"/>
                    </a:lnTo>
                    <a:cubicBezTo>
                      <a:pt x="647585" y="0"/>
                      <a:pt x="682684" y="35100"/>
                      <a:pt x="682684" y="78397"/>
                    </a:cubicBezTo>
                    <a:lnTo>
                      <a:pt x="682684" y="503874"/>
                    </a:lnTo>
                    <a:cubicBezTo>
                      <a:pt x="682684" y="524666"/>
                      <a:pt x="674425" y="544607"/>
                      <a:pt x="659722" y="559309"/>
                    </a:cubicBezTo>
                    <a:cubicBezTo>
                      <a:pt x="645020" y="574012"/>
                      <a:pt x="625079" y="582271"/>
                      <a:pt x="604287" y="582271"/>
                    </a:cubicBezTo>
                    <a:lnTo>
                      <a:pt x="78397" y="582271"/>
                    </a:lnTo>
                    <a:cubicBezTo>
                      <a:pt x="57605" y="582271"/>
                      <a:pt x="37664" y="574012"/>
                      <a:pt x="22962" y="559309"/>
                    </a:cubicBezTo>
                    <a:cubicBezTo>
                      <a:pt x="8260" y="544607"/>
                      <a:pt x="0" y="524666"/>
                      <a:pt x="0" y="503874"/>
                    </a:cubicBezTo>
                    <a:lnTo>
                      <a:pt x="0" y="78397"/>
                    </a:lnTo>
                    <a:cubicBezTo>
                      <a:pt x="0" y="35100"/>
                      <a:pt x="35100" y="0"/>
                      <a:pt x="78397" y="0"/>
                    </a:cubicBezTo>
                    <a:close/>
                  </a:path>
                </a:pathLst>
              </a:custGeom>
              <a:solidFill>
                <a:srgbClr val="BCCADB"/>
              </a:solidFill>
            </p:spPr>
          </p:sp>
          <p:sp>
            <p:nvSpPr>
              <p:cNvPr name="TextBox 13" id="13"/>
              <p:cNvSpPr txBox="true"/>
              <p:nvPr/>
            </p:nvSpPr>
            <p:spPr>
              <a:xfrm>
                <a:off x="0" y="-57150"/>
                <a:ext cx="682684" cy="639421"/>
              </a:xfrm>
              <a:prstGeom prst="rect">
                <a:avLst/>
              </a:prstGeom>
            </p:spPr>
            <p:txBody>
              <a:bodyPr anchor="ctr" rtlCol="false" tIns="50800" lIns="50800" bIns="50800" rIns="50800"/>
              <a:lstStyle/>
              <a:p>
                <a:pPr algn="ctr">
                  <a:lnSpc>
                    <a:spcPts val="3368"/>
                  </a:lnSpc>
                </a:pPr>
              </a:p>
            </p:txBody>
          </p:sp>
        </p:grpSp>
        <p:pic>
          <p:nvPicPr>
            <p:cNvPr name="Picture 14" id="14"/>
            <p:cNvPicPr>
              <a:picLocks noChangeAspect="true"/>
            </p:cNvPicPr>
            <p:nvPr/>
          </p:nvPicPr>
          <p:blipFill>
            <a:blip r:embed="rId5"/>
            <a:stretch>
              <a:fillRect/>
            </a:stretch>
          </p:blipFill>
          <p:spPr>
            <a:xfrm rot="0">
              <a:off x="428062" y="5095760"/>
              <a:ext cx="2532365" cy="654194"/>
            </a:xfrm>
            <a:prstGeom prst="rect">
              <a:avLst/>
            </a:prstGeom>
          </p:spPr>
        </p:pic>
        <p:pic>
          <p:nvPicPr>
            <p:cNvPr name="Picture 15" id="15"/>
            <p:cNvPicPr>
              <a:picLocks noChangeAspect="true"/>
            </p:cNvPicPr>
            <p:nvPr/>
          </p:nvPicPr>
          <p:blipFill>
            <a:blip r:embed="rId6"/>
            <a:stretch>
              <a:fillRect/>
            </a:stretch>
          </p:blipFill>
          <p:spPr>
            <a:xfrm rot="0">
              <a:off x="428062" y="6372854"/>
              <a:ext cx="2532365" cy="654194"/>
            </a:xfrm>
            <a:prstGeom prst="rect">
              <a:avLst/>
            </a:prstGeom>
          </p:spPr>
        </p:pic>
        <p:sp>
          <p:nvSpPr>
            <p:cNvPr name="TextBox 16" id="16"/>
            <p:cNvSpPr txBox="true"/>
            <p:nvPr/>
          </p:nvSpPr>
          <p:spPr>
            <a:xfrm rot="0">
              <a:off x="639092" y="4842365"/>
              <a:ext cx="4265725" cy="381684"/>
            </a:xfrm>
            <a:prstGeom prst="rect">
              <a:avLst/>
            </a:prstGeom>
          </p:spPr>
          <p:txBody>
            <a:bodyPr anchor="t" rtlCol="false" tIns="0" lIns="0" bIns="0" rIns="0">
              <a:spAutoFit/>
            </a:bodyPr>
            <a:lstStyle/>
            <a:p>
              <a:pPr algn="l">
                <a:lnSpc>
                  <a:spcPts val="2450"/>
                </a:lnSpc>
              </a:pPr>
              <a:r>
                <a:rPr lang="en-US" sz="1750" b="true">
                  <a:solidFill>
                    <a:srgbClr val="18102B"/>
                  </a:solidFill>
                  <a:latin typeface="Raleway Bold"/>
                  <a:ea typeface="Raleway Bold"/>
                  <a:cs typeface="Raleway Bold"/>
                  <a:sym typeface="Raleway Bold"/>
                </a:rPr>
                <a:t>Hired</a:t>
              </a:r>
            </a:p>
          </p:txBody>
        </p:sp>
        <p:sp>
          <p:nvSpPr>
            <p:cNvPr name="TextBox 17" id="17"/>
            <p:cNvSpPr txBox="true"/>
            <p:nvPr/>
          </p:nvSpPr>
          <p:spPr>
            <a:xfrm rot="0">
              <a:off x="619314" y="6161279"/>
              <a:ext cx="1522649" cy="381684"/>
            </a:xfrm>
            <a:prstGeom prst="rect">
              <a:avLst/>
            </a:prstGeom>
          </p:spPr>
          <p:txBody>
            <a:bodyPr anchor="t" rtlCol="false" tIns="0" lIns="0" bIns="0" rIns="0">
              <a:spAutoFit/>
            </a:bodyPr>
            <a:lstStyle/>
            <a:p>
              <a:pPr algn="l">
                <a:lnSpc>
                  <a:spcPts val="2450"/>
                </a:lnSpc>
              </a:pPr>
              <a:r>
                <a:rPr lang="en-US" sz="1750" b="true">
                  <a:solidFill>
                    <a:srgbClr val="18102B"/>
                  </a:solidFill>
                  <a:latin typeface="Raleway Bold"/>
                  <a:ea typeface="Raleway Bold"/>
                  <a:cs typeface="Raleway Bold"/>
                  <a:sym typeface="Raleway Bold"/>
                </a:rPr>
                <a:t>Not Hired</a:t>
              </a:r>
            </a:p>
          </p:txBody>
        </p:sp>
        <p:sp>
          <p:nvSpPr>
            <p:cNvPr name="TextBox 18" id="18"/>
            <p:cNvSpPr txBox="true"/>
            <p:nvPr/>
          </p:nvSpPr>
          <p:spPr>
            <a:xfrm rot="0">
              <a:off x="2806640" y="4990994"/>
              <a:ext cx="1074800" cy="564918"/>
            </a:xfrm>
            <a:prstGeom prst="rect">
              <a:avLst/>
            </a:prstGeom>
          </p:spPr>
          <p:txBody>
            <a:bodyPr anchor="t" rtlCol="false" tIns="0" lIns="0" bIns="0" rIns="0">
              <a:spAutoFit/>
            </a:bodyPr>
            <a:lstStyle/>
            <a:p>
              <a:pPr algn="l">
                <a:lnSpc>
                  <a:spcPts val="3522"/>
                </a:lnSpc>
              </a:pPr>
              <a:r>
                <a:rPr lang="en-US" sz="2515" b="true">
                  <a:solidFill>
                    <a:srgbClr val="18102B"/>
                  </a:solidFill>
                  <a:latin typeface="Raleway Bold"/>
                  <a:ea typeface="Raleway Bold"/>
                  <a:cs typeface="Raleway Bold"/>
                  <a:sym typeface="Raleway Bold"/>
                </a:rPr>
                <a:t>31%</a:t>
              </a:r>
            </a:p>
          </p:txBody>
        </p:sp>
        <p:sp>
          <p:nvSpPr>
            <p:cNvPr name="TextBox 19" id="19"/>
            <p:cNvSpPr txBox="true"/>
            <p:nvPr/>
          </p:nvSpPr>
          <p:spPr>
            <a:xfrm rot="0">
              <a:off x="2806640" y="6268088"/>
              <a:ext cx="1074800" cy="564918"/>
            </a:xfrm>
            <a:prstGeom prst="rect">
              <a:avLst/>
            </a:prstGeom>
          </p:spPr>
          <p:txBody>
            <a:bodyPr anchor="t" rtlCol="false" tIns="0" lIns="0" bIns="0" rIns="0">
              <a:spAutoFit/>
            </a:bodyPr>
            <a:lstStyle/>
            <a:p>
              <a:pPr algn="l">
                <a:lnSpc>
                  <a:spcPts val="3522"/>
                </a:lnSpc>
              </a:pPr>
              <a:r>
                <a:rPr lang="en-US" sz="2515" b="true">
                  <a:solidFill>
                    <a:srgbClr val="18102B"/>
                  </a:solidFill>
                  <a:latin typeface="Raleway Bold"/>
                  <a:ea typeface="Raleway Bold"/>
                  <a:cs typeface="Raleway Bold"/>
                  <a:sym typeface="Raleway Bold"/>
                </a:rPr>
                <a:t>69%</a:t>
              </a:r>
            </a:p>
          </p:txBody>
        </p:sp>
        <p:grpSp>
          <p:nvGrpSpPr>
            <p:cNvPr name="Group 20" id="20"/>
            <p:cNvGrpSpPr/>
            <p:nvPr/>
          </p:nvGrpSpPr>
          <p:grpSpPr>
            <a:xfrm rot="0">
              <a:off x="0" y="0"/>
              <a:ext cx="4394033" cy="3685185"/>
              <a:chOff x="0" y="0"/>
              <a:chExt cx="1047040" cy="878131"/>
            </a:xfrm>
          </p:grpSpPr>
          <p:sp>
            <p:nvSpPr>
              <p:cNvPr name="Freeform 21" id="21"/>
              <p:cNvSpPr/>
              <p:nvPr/>
            </p:nvSpPr>
            <p:spPr>
              <a:xfrm flipH="false" flipV="false" rot="0">
                <a:off x="0" y="0"/>
                <a:ext cx="1047040" cy="878131"/>
              </a:xfrm>
              <a:custGeom>
                <a:avLst/>
                <a:gdLst/>
                <a:ahLst/>
                <a:cxnLst/>
                <a:rect r="r" b="b" t="t" l="l"/>
                <a:pathLst>
                  <a:path h="878131" w="1047040">
                    <a:moveTo>
                      <a:pt x="131051" y="0"/>
                    </a:moveTo>
                    <a:lnTo>
                      <a:pt x="915989" y="0"/>
                    </a:lnTo>
                    <a:cubicBezTo>
                      <a:pt x="950746" y="0"/>
                      <a:pt x="984079" y="13807"/>
                      <a:pt x="1008656" y="38384"/>
                    </a:cubicBezTo>
                    <a:cubicBezTo>
                      <a:pt x="1033233" y="62961"/>
                      <a:pt x="1047040" y="96294"/>
                      <a:pt x="1047040" y="131051"/>
                    </a:cubicBezTo>
                    <a:lnTo>
                      <a:pt x="1047040" y="747080"/>
                    </a:lnTo>
                    <a:cubicBezTo>
                      <a:pt x="1047040" y="819457"/>
                      <a:pt x="988366" y="878131"/>
                      <a:pt x="915989" y="878131"/>
                    </a:cubicBezTo>
                    <a:lnTo>
                      <a:pt x="131051" y="878131"/>
                    </a:lnTo>
                    <a:cubicBezTo>
                      <a:pt x="96294" y="878131"/>
                      <a:pt x="62961" y="864324"/>
                      <a:pt x="38384" y="839747"/>
                    </a:cubicBezTo>
                    <a:cubicBezTo>
                      <a:pt x="13807" y="815170"/>
                      <a:pt x="0" y="781836"/>
                      <a:pt x="0" y="747080"/>
                    </a:cubicBezTo>
                    <a:lnTo>
                      <a:pt x="0" y="131051"/>
                    </a:lnTo>
                    <a:cubicBezTo>
                      <a:pt x="0" y="96294"/>
                      <a:pt x="13807" y="62961"/>
                      <a:pt x="38384" y="38384"/>
                    </a:cubicBezTo>
                    <a:cubicBezTo>
                      <a:pt x="62961" y="13807"/>
                      <a:pt x="96294" y="0"/>
                      <a:pt x="131051" y="0"/>
                    </a:cubicBezTo>
                    <a:close/>
                  </a:path>
                </a:pathLst>
              </a:custGeom>
              <a:solidFill>
                <a:srgbClr val="7E8C92"/>
              </a:solidFill>
            </p:spPr>
          </p:sp>
          <p:sp>
            <p:nvSpPr>
              <p:cNvPr name="TextBox 22" id="22"/>
              <p:cNvSpPr txBox="true"/>
              <p:nvPr/>
            </p:nvSpPr>
            <p:spPr>
              <a:xfrm>
                <a:off x="0" y="-19050"/>
                <a:ext cx="1047040" cy="897181"/>
              </a:xfrm>
              <a:prstGeom prst="rect">
                <a:avLst/>
              </a:prstGeom>
            </p:spPr>
            <p:txBody>
              <a:bodyPr anchor="ctr" rtlCol="false" tIns="38726" lIns="38726" bIns="38726" rIns="38726"/>
              <a:lstStyle/>
              <a:p>
                <a:pPr algn="ctr">
                  <a:lnSpc>
                    <a:spcPts val="1919"/>
                  </a:lnSpc>
                </a:pPr>
              </a:p>
            </p:txBody>
          </p:sp>
        </p:grpSp>
        <p:grpSp>
          <p:nvGrpSpPr>
            <p:cNvPr name="Group 23" id="23"/>
            <p:cNvGrpSpPr/>
            <p:nvPr/>
          </p:nvGrpSpPr>
          <p:grpSpPr>
            <a:xfrm rot="0">
              <a:off x="4646701" y="0"/>
              <a:ext cx="4394033" cy="3685185"/>
              <a:chOff x="0" y="0"/>
              <a:chExt cx="1047040" cy="878131"/>
            </a:xfrm>
          </p:grpSpPr>
          <p:sp>
            <p:nvSpPr>
              <p:cNvPr name="Freeform 24" id="24"/>
              <p:cNvSpPr/>
              <p:nvPr/>
            </p:nvSpPr>
            <p:spPr>
              <a:xfrm flipH="false" flipV="false" rot="0">
                <a:off x="0" y="0"/>
                <a:ext cx="1047040" cy="878131"/>
              </a:xfrm>
              <a:custGeom>
                <a:avLst/>
                <a:gdLst/>
                <a:ahLst/>
                <a:cxnLst/>
                <a:rect r="r" b="b" t="t" l="l"/>
                <a:pathLst>
                  <a:path h="878131" w="1047040">
                    <a:moveTo>
                      <a:pt x="131051" y="0"/>
                    </a:moveTo>
                    <a:lnTo>
                      <a:pt x="915989" y="0"/>
                    </a:lnTo>
                    <a:cubicBezTo>
                      <a:pt x="950746" y="0"/>
                      <a:pt x="984079" y="13807"/>
                      <a:pt x="1008656" y="38384"/>
                    </a:cubicBezTo>
                    <a:cubicBezTo>
                      <a:pt x="1033233" y="62961"/>
                      <a:pt x="1047040" y="96294"/>
                      <a:pt x="1047040" y="131051"/>
                    </a:cubicBezTo>
                    <a:lnTo>
                      <a:pt x="1047040" y="747080"/>
                    </a:lnTo>
                    <a:cubicBezTo>
                      <a:pt x="1047040" y="819457"/>
                      <a:pt x="988366" y="878131"/>
                      <a:pt x="915989" y="878131"/>
                    </a:cubicBezTo>
                    <a:lnTo>
                      <a:pt x="131051" y="878131"/>
                    </a:lnTo>
                    <a:cubicBezTo>
                      <a:pt x="96294" y="878131"/>
                      <a:pt x="62961" y="864324"/>
                      <a:pt x="38384" y="839747"/>
                    </a:cubicBezTo>
                    <a:cubicBezTo>
                      <a:pt x="13807" y="815170"/>
                      <a:pt x="0" y="781836"/>
                      <a:pt x="0" y="747080"/>
                    </a:cubicBezTo>
                    <a:lnTo>
                      <a:pt x="0" y="131051"/>
                    </a:lnTo>
                    <a:cubicBezTo>
                      <a:pt x="0" y="96294"/>
                      <a:pt x="13807" y="62961"/>
                      <a:pt x="38384" y="38384"/>
                    </a:cubicBezTo>
                    <a:cubicBezTo>
                      <a:pt x="62961" y="13807"/>
                      <a:pt x="96294" y="0"/>
                      <a:pt x="131051" y="0"/>
                    </a:cubicBezTo>
                    <a:close/>
                  </a:path>
                </a:pathLst>
              </a:custGeom>
              <a:solidFill>
                <a:srgbClr val="A1C7CE"/>
              </a:solidFill>
            </p:spPr>
          </p:sp>
          <p:sp>
            <p:nvSpPr>
              <p:cNvPr name="TextBox 25" id="25"/>
              <p:cNvSpPr txBox="true"/>
              <p:nvPr/>
            </p:nvSpPr>
            <p:spPr>
              <a:xfrm>
                <a:off x="0" y="-19050"/>
                <a:ext cx="1047040" cy="897181"/>
              </a:xfrm>
              <a:prstGeom prst="rect">
                <a:avLst/>
              </a:prstGeom>
            </p:spPr>
            <p:txBody>
              <a:bodyPr anchor="ctr" rtlCol="false" tIns="38726" lIns="38726" bIns="38726" rIns="38726"/>
              <a:lstStyle/>
              <a:p>
                <a:pPr algn="ctr">
                  <a:lnSpc>
                    <a:spcPts val="1919"/>
                  </a:lnSpc>
                </a:pPr>
              </a:p>
            </p:txBody>
          </p:sp>
        </p:grpSp>
        <p:sp>
          <p:nvSpPr>
            <p:cNvPr name="TextBox 26" id="26"/>
            <p:cNvSpPr txBox="true"/>
            <p:nvPr/>
          </p:nvSpPr>
          <p:spPr>
            <a:xfrm rot="0">
              <a:off x="639092" y="353081"/>
              <a:ext cx="2455415" cy="291515"/>
            </a:xfrm>
            <a:prstGeom prst="rect">
              <a:avLst/>
            </a:prstGeom>
          </p:spPr>
          <p:txBody>
            <a:bodyPr anchor="t" rtlCol="false" tIns="0" lIns="0" bIns="0" rIns="0">
              <a:spAutoFit/>
            </a:bodyPr>
            <a:lstStyle/>
            <a:p>
              <a:pPr algn="ctr">
                <a:lnSpc>
                  <a:spcPts val="1647"/>
                </a:lnSpc>
                <a:spcBef>
                  <a:spcPct val="0"/>
                </a:spcBef>
              </a:pPr>
              <a:r>
                <a:rPr lang="en-US" b="true" sz="1373" spc="5">
                  <a:solidFill>
                    <a:srgbClr val="000000"/>
                  </a:solidFill>
                  <a:latin typeface="Poppins Bold"/>
                  <a:ea typeface="Poppins Bold"/>
                  <a:cs typeface="Poppins Bold"/>
                  <a:sym typeface="Poppins Bold"/>
                </a:rPr>
                <a:t>Numerical Features</a:t>
              </a:r>
            </a:p>
          </p:txBody>
        </p:sp>
        <p:sp>
          <p:nvSpPr>
            <p:cNvPr name="TextBox 27" id="27"/>
            <p:cNvSpPr txBox="true"/>
            <p:nvPr/>
          </p:nvSpPr>
          <p:spPr>
            <a:xfrm rot="0">
              <a:off x="5179655" y="353081"/>
              <a:ext cx="2647779"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Categorical Features</a:t>
              </a:r>
            </a:p>
          </p:txBody>
        </p:sp>
        <p:sp>
          <p:nvSpPr>
            <p:cNvPr name="TextBox 28" id="28"/>
            <p:cNvSpPr txBox="true"/>
            <p:nvPr/>
          </p:nvSpPr>
          <p:spPr>
            <a:xfrm rot="0">
              <a:off x="435864" y="713832"/>
              <a:ext cx="3310843" cy="2213007"/>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Age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ExperienceYears</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PreviousCompanies</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DistanceFromCompany</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InterviewScore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SkillScore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PersonalityScore</a:t>
              </a:r>
            </a:p>
          </p:txBody>
        </p:sp>
        <p:sp>
          <p:nvSpPr>
            <p:cNvPr name="TextBox 29" id="29"/>
            <p:cNvSpPr txBox="true"/>
            <p:nvPr/>
          </p:nvSpPr>
          <p:spPr>
            <a:xfrm rot="0">
              <a:off x="5139684" y="713832"/>
              <a:ext cx="2899080" cy="949301"/>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G</a:t>
              </a:r>
              <a:r>
                <a:rPr lang="en-US" sz="1373" spc="5">
                  <a:solidFill>
                    <a:srgbClr val="000000"/>
                  </a:solidFill>
                  <a:latin typeface="Poppins"/>
                  <a:ea typeface="Poppins"/>
                  <a:cs typeface="Poppins"/>
                  <a:sym typeface="Poppins"/>
                </a:rPr>
                <a:t>ender</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EducationLevel</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RecruitmentStrategy</a:t>
              </a:r>
            </a:p>
          </p:txBody>
        </p:sp>
        <p:sp>
          <p:nvSpPr>
            <p:cNvPr name="TextBox 30" id="30"/>
            <p:cNvSpPr txBox="true"/>
            <p:nvPr/>
          </p:nvSpPr>
          <p:spPr>
            <a:xfrm rot="0">
              <a:off x="596653" y="4180122"/>
              <a:ext cx="3127393"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Target: Hiring Decision</a:t>
              </a:r>
            </a:p>
          </p:txBody>
        </p:sp>
        <p:grpSp>
          <p:nvGrpSpPr>
            <p:cNvPr name="Group 31" id="31"/>
            <p:cNvGrpSpPr/>
            <p:nvPr/>
          </p:nvGrpSpPr>
          <p:grpSpPr>
            <a:xfrm rot="0">
              <a:off x="4646701" y="3848030"/>
              <a:ext cx="4320699" cy="3685185"/>
              <a:chOff x="0" y="0"/>
              <a:chExt cx="682684" cy="582271"/>
            </a:xfrm>
          </p:grpSpPr>
          <p:sp>
            <p:nvSpPr>
              <p:cNvPr name="Freeform 32" id="32"/>
              <p:cNvSpPr/>
              <p:nvPr/>
            </p:nvSpPr>
            <p:spPr>
              <a:xfrm flipH="false" flipV="false" rot="0">
                <a:off x="0" y="0"/>
                <a:ext cx="682684" cy="582271"/>
              </a:xfrm>
              <a:custGeom>
                <a:avLst/>
                <a:gdLst/>
                <a:ahLst/>
                <a:cxnLst/>
                <a:rect r="r" b="b" t="t" l="l"/>
                <a:pathLst>
                  <a:path h="582271" w="682684">
                    <a:moveTo>
                      <a:pt x="78397" y="0"/>
                    </a:moveTo>
                    <a:lnTo>
                      <a:pt x="604287" y="0"/>
                    </a:lnTo>
                    <a:cubicBezTo>
                      <a:pt x="647585" y="0"/>
                      <a:pt x="682684" y="35100"/>
                      <a:pt x="682684" y="78397"/>
                    </a:cubicBezTo>
                    <a:lnTo>
                      <a:pt x="682684" y="503874"/>
                    </a:lnTo>
                    <a:cubicBezTo>
                      <a:pt x="682684" y="524666"/>
                      <a:pt x="674425" y="544607"/>
                      <a:pt x="659722" y="559309"/>
                    </a:cubicBezTo>
                    <a:cubicBezTo>
                      <a:pt x="645020" y="574012"/>
                      <a:pt x="625079" y="582271"/>
                      <a:pt x="604287" y="582271"/>
                    </a:cubicBezTo>
                    <a:lnTo>
                      <a:pt x="78397" y="582271"/>
                    </a:lnTo>
                    <a:cubicBezTo>
                      <a:pt x="57605" y="582271"/>
                      <a:pt x="37664" y="574012"/>
                      <a:pt x="22962" y="559309"/>
                    </a:cubicBezTo>
                    <a:cubicBezTo>
                      <a:pt x="8260" y="544607"/>
                      <a:pt x="0" y="524666"/>
                      <a:pt x="0" y="503874"/>
                    </a:cubicBezTo>
                    <a:lnTo>
                      <a:pt x="0" y="78397"/>
                    </a:lnTo>
                    <a:cubicBezTo>
                      <a:pt x="0" y="35100"/>
                      <a:pt x="35100" y="0"/>
                      <a:pt x="78397" y="0"/>
                    </a:cubicBezTo>
                    <a:close/>
                  </a:path>
                </a:pathLst>
              </a:custGeom>
              <a:solidFill>
                <a:srgbClr val="D9D9D9"/>
              </a:solidFill>
            </p:spPr>
          </p:sp>
          <p:sp>
            <p:nvSpPr>
              <p:cNvPr name="TextBox 33" id="33"/>
              <p:cNvSpPr txBox="true"/>
              <p:nvPr/>
            </p:nvSpPr>
            <p:spPr>
              <a:xfrm>
                <a:off x="0" y="-57150"/>
                <a:ext cx="682684" cy="639421"/>
              </a:xfrm>
              <a:prstGeom prst="rect">
                <a:avLst/>
              </a:prstGeom>
            </p:spPr>
            <p:txBody>
              <a:bodyPr anchor="ctr" rtlCol="false" tIns="50800" lIns="50800" bIns="50800" rIns="50800"/>
              <a:lstStyle/>
              <a:p>
                <a:pPr algn="ctr">
                  <a:lnSpc>
                    <a:spcPts val="3368"/>
                  </a:lnSpc>
                </a:pPr>
              </a:p>
            </p:txBody>
          </p:sp>
        </p:grpSp>
        <p:sp>
          <p:nvSpPr>
            <p:cNvPr name="TextBox 34" id="34"/>
            <p:cNvSpPr txBox="true"/>
            <p:nvPr/>
          </p:nvSpPr>
          <p:spPr>
            <a:xfrm rot="0">
              <a:off x="5280021" y="4180122"/>
              <a:ext cx="3127393" cy="296881"/>
            </a:xfrm>
            <a:prstGeom prst="rect">
              <a:avLst/>
            </a:prstGeom>
          </p:spPr>
          <p:txBody>
            <a:bodyPr anchor="t" rtlCol="false" tIns="0" lIns="0" bIns="0" rIns="0">
              <a:spAutoFit/>
            </a:bodyPr>
            <a:lstStyle/>
            <a:p>
              <a:pPr algn="l">
                <a:lnSpc>
                  <a:spcPts val="1647"/>
                </a:lnSpc>
                <a:spcBef>
                  <a:spcPct val="0"/>
                </a:spcBef>
              </a:pPr>
              <a:r>
                <a:rPr lang="en-US" b="true" sz="1373" spc="5">
                  <a:solidFill>
                    <a:srgbClr val="000000"/>
                  </a:solidFill>
                  <a:latin typeface="Poppins Bold"/>
                  <a:ea typeface="Poppins Bold"/>
                  <a:cs typeface="Poppins Bold"/>
                  <a:sym typeface="Poppins Bold"/>
                </a:rPr>
                <a:t>Feature Engineering</a:t>
              </a:r>
            </a:p>
          </p:txBody>
        </p:sp>
        <p:sp>
          <p:nvSpPr>
            <p:cNvPr name="TextBox 35" id="35"/>
            <p:cNvSpPr txBox="true"/>
            <p:nvPr/>
          </p:nvSpPr>
          <p:spPr>
            <a:xfrm rot="0">
              <a:off x="5139684" y="4717235"/>
              <a:ext cx="2899080" cy="633242"/>
            </a:xfrm>
            <a:prstGeom prst="rect">
              <a:avLst/>
            </a:prstGeom>
          </p:spPr>
          <p:txBody>
            <a:bodyPr anchor="t" rtlCol="false" tIns="0" lIns="0" bIns="0" rIns="0">
              <a:spAutoFit/>
            </a:bodyPr>
            <a:lstStyle/>
            <a:p>
              <a:pPr algn="just" marL="296441" indent="-148221" lvl="1">
                <a:lnSpc>
                  <a:spcPts val="1922"/>
                </a:lnSpc>
                <a:buFont typeface="Arial"/>
                <a:buChar char="•"/>
              </a:pPr>
              <a:r>
                <a:rPr lang="en-US" sz="1373" spc="5">
                  <a:solidFill>
                    <a:srgbClr val="000000"/>
                  </a:solidFill>
                  <a:latin typeface="Poppins"/>
                  <a:ea typeface="Poppins"/>
                  <a:cs typeface="Poppins"/>
                  <a:sym typeface="Poppins"/>
                </a:rPr>
                <a:t>TotalScore</a:t>
              </a:r>
            </a:p>
            <a:p>
              <a:pPr algn="just" marL="296441" indent="-148221" lvl="1">
                <a:lnSpc>
                  <a:spcPts val="1922"/>
                </a:lnSpc>
                <a:buFont typeface="Arial"/>
                <a:buChar char="•"/>
              </a:pPr>
              <a:r>
                <a:rPr lang="en-US" sz="1373" spc="5">
                  <a:solidFill>
                    <a:srgbClr val="000000"/>
                  </a:solidFill>
                  <a:latin typeface="Poppins"/>
                  <a:ea typeface="Poppins"/>
                  <a:cs typeface="Poppins"/>
                  <a:sym typeface="Poppins"/>
                </a:rPr>
                <a:t>ExperienceLevel</a:t>
              </a:r>
            </a:p>
          </p:txBody>
        </p:sp>
      </p:gr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905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702291" y="7155850"/>
            <a:ext cx="17056703" cy="2791866"/>
            <a:chOff x="0" y="0"/>
            <a:chExt cx="4650503" cy="761201"/>
          </a:xfrm>
        </p:grpSpPr>
        <p:sp>
          <p:nvSpPr>
            <p:cNvPr name="Freeform 4" id="4"/>
            <p:cNvSpPr/>
            <p:nvPr/>
          </p:nvSpPr>
          <p:spPr>
            <a:xfrm flipH="false" flipV="false" rot="0">
              <a:off x="0" y="0"/>
              <a:ext cx="4650503" cy="761201"/>
            </a:xfrm>
            <a:custGeom>
              <a:avLst/>
              <a:gdLst/>
              <a:ahLst/>
              <a:cxnLst/>
              <a:rect r="r" b="b" t="t" l="l"/>
              <a:pathLst>
                <a:path h="761201" w="4650503">
                  <a:moveTo>
                    <a:pt x="22695" y="0"/>
                  </a:moveTo>
                  <a:lnTo>
                    <a:pt x="4627809" y="0"/>
                  </a:lnTo>
                  <a:cubicBezTo>
                    <a:pt x="4640343" y="0"/>
                    <a:pt x="4650503" y="10161"/>
                    <a:pt x="4650503" y="22695"/>
                  </a:cubicBezTo>
                  <a:lnTo>
                    <a:pt x="4650503" y="738507"/>
                  </a:lnTo>
                  <a:cubicBezTo>
                    <a:pt x="4650503" y="751040"/>
                    <a:pt x="4640343" y="761201"/>
                    <a:pt x="4627809" y="761201"/>
                  </a:cubicBezTo>
                  <a:lnTo>
                    <a:pt x="22695" y="761201"/>
                  </a:lnTo>
                  <a:cubicBezTo>
                    <a:pt x="10161" y="761201"/>
                    <a:pt x="0" y="751040"/>
                    <a:pt x="0" y="738507"/>
                  </a:cubicBezTo>
                  <a:lnTo>
                    <a:pt x="0" y="22695"/>
                  </a:lnTo>
                  <a:cubicBezTo>
                    <a:pt x="0" y="10161"/>
                    <a:pt x="10161" y="0"/>
                    <a:pt x="22695" y="0"/>
                  </a:cubicBezTo>
                  <a:close/>
                </a:path>
              </a:pathLst>
            </a:custGeom>
            <a:solidFill>
              <a:srgbClr val="A1C7CE"/>
            </a:solidFill>
          </p:spPr>
        </p:sp>
        <p:sp>
          <p:nvSpPr>
            <p:cNvPr name="TextBox 5" id="5"/>
            <p:cNvSpPr txBox="true"/>
            <p:nvPr/>
          </p:nvSpPr>
          <p:spPr>
            <a:xfrm>
              <a:off x="0" y="-19050"/>
              <a:ext cx="4650503" cy="780251"/>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No data points were found outside the whiskers for each featu</a:t>
              </a:r>
              <a:r>
                <a:rPr lang="en-US" sz="2100" spc="8">
                  <a:solidFill>
                    <a:srgbClr val="000000"/>
                  </a:solidFill>
                  <a:latin typeface="Poppins"/>
                  <a:ea typeface="Poppins"/>
                  <a:cs typeface="Poppins"/>
                  <a:sym typeface="Poppins"/>
                </a:rPr>
                <a:t>res. This indicates the dataset is free from outliers, thus model will not be affected by significantly deviant values.</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The distribution plot looks approximately symmetric, meaning no significant skew is present.</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Due to the neat data distribution and lack of outliers, this dataset is ideal and can move into the modeling stage without the need for complex outlier handling.</a:t>
              </a:r>
            </a:p>
          </p:txBody>
        </p:sp>
      </p:grpSp>
      <p:sp>
        <p:nvSpPr>
          <p:cNvPr name="Freeform 6" id="6"/>
          <p:cNvSpPr/>
          <p:nvPr/>
        </p:nvSpPr>
        <p:spPr>
          <a:xfrm flipH="false" flipV="false" rot="0">
            <a:off x="702291" y="1905683"/>
            <a:ext cx="8115300" cy="5050540"/>
          </a:xfrm>
          <a:custGeom>
            <a:avLst/>
            <a:gdLst/>
            <a:ahLst/>
            <a:cxnLst/>
            <a:rect r="r" b="b" t="t" l="l"/>
            <a:pathLst>
              <a:path h="5050540" w="8115300">
                <a:moveTo>
                  <a:pt x="0" y="0"/>
                </a:moveTo>
                <a:lnTo>
                  <a:pt x="8115300" y="0"/>
                </a:lnTo>
                <a:lnTo>
                  <a:pt x="8115300" y="5050540"/>
                </a:lnTo>
                <a:lnTo>
                  <a:pt x="0" y="5050540"/>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Univari</a:t>
            </a:r>
            <a:r>
              <a:rPr lang="en-US" sz="6159">
                <a:solidFill>
                  <a:srgbClr val="18102B"/>
                </a:solidFill>
                <a:latin typeface="Raleway"/>
                <a:ea typeface="Raleway"/>
                <a:cs typeface="Raleway"/>
                <a:sym typeface="Raleway"/>
              </a:rPr>
              <a:t>ate Analysis</a:t>
            </a:r>
          </a:p>
        </p:txBody>
      </p:sp>
      <p:sp>
        <p:nvSpPr>
          <p:cNvPr name="Freeform 8" id="8"/>
          <p:cNvSpPr/>
          <p:nvPr/>
        </p:nvSpPr>
        <p:spPr>
          <a:xfrm flipH="false" flipV="false" rot="0">
            <a:off x="9144000" y="1905683"/>
            <a:ext cx="8614994" cy="5050540"/>
          </a:xfrm>
          <a:custGeom>
            <a:avLst/>
            <a:gdLst/>
            <a:ahLst/>
            <a:cxnLst/>
            <a:rect r="r" b="b" t="t" l="l"/>
            <a:pathLst>
              <a:path h="5050540" w="8614994">
                <a:moveTo>
                  <a:pt x="0" y="0"/>
                </a:moveTo>
                <a:lnTo>
                  <a:pt x="8614994" y="0"/>
                </a:lnTo>
                <a:lnTo>
                  <a:pt x="8614994" y="5050540"/>
                </a:lnTo>
                <a:lnTo>
                  <a:pt x="0" y="5050540"/>
                </a:lnTo>
                <a:lnTo>
                  <a:pt x="0" y="0"/>
                </a:lnTo>
                <a:close/>
              </a:path>
            </a:pathLst>
          </a:custGeom>
          <a:blipFill>
            <a:blip r:embed="rId4"/>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9144000" y="2471876"/>
            <a:ext cx="8010838" cy="6335345"/>
            <a:chOff x="0" y="0"/>
            <a:chExt cx="2184152" cy="1727329"/>
          </a:xfrm>
        </p:grpSpPr>
        <p:sp>
          <p:nvSpPr>
            <p:cNvPr name="Freeform 4" id="4"/>
            <p:cNvSpPr/>
            <p:nvPr/>
          </p:nvSpPr>
          <p:spPr>
            <a:xfrm flipH="false" flipV="false" rot="0">
              <a:off x="0" y="0"/>
              <a:ext cx="2184152" cy="1727329"/>
            </a:xfrm>
            <a:custGeom>
              <a:avLst/>
              <a:gdLst/>
              <a:ahLst/>
              <a:cxnLst/>
              <a:rect r="r" b="b" t="t" l="l"/>
              <a:pathLst>
                <a:path h="1727329" w="2184152">
                  <a:moveTo>
                    <a:pt x="48322" y="0"/>
                  </a:moveTo>
                  <a:lnTo>
                    <a:pt x="2135830" y="0"/>
                  </a:lnTo>
                  <a:cubicBezTo>
                    <a:pt x="2148646" y="0"/>
                    <a:pt x="2160937" y="5091"/>
                    <a:pt x="2169999" y="14153"/>
                  </a:cubicBezTo>
                  <a:cubicBezTo>
                    <a:pt x="2179061" y="23215"/>
                    <a:pt x="2184152" y="35506"/>
                    <a:pt x="2184152" y="48322"/>
                  </a:cubicBezTo>
                  <a:lnTo>
                    <a:pt x="2184152" y="1679008"/>
                  </a:lnTo>
                  <a:cubicBezTo>
                    <a:pt x="2184152" y="1691824"/>
                    <a:pt x="2179061" y="1704114"/>
                    <a:pt x="2169999" y="1713176"/>
                  </a:cubicBezTo>
                  <a:cubicBezTo>
                    <a:pt x="2160937" y="1722238"/>
                    <a:pt x="2148646" y="1727329"/>
                    <a:pt x="2135830" y="1727329"/>
                  </a:cubicBezTo>
                  <a:lnTo>
                    <a:pt x="48322" y="1727329"/>
                  </a:lnTo>
                  <a:cubicBezTo>
                    <a:pt x="35506" y="1727329"/>
                    <a:pt x="23215" y="1722238"/>
                    <a:pt x="14153" y="1713176"/>
                  </a:cubicBezTo>
                  <a:cubicBezTo>
                    <a:pt x="5091" y="1704114"/>
                    <a:pt x="0" y="1691824"/>
                    <a:pt x="0" y="1679008"/>
                  </a:cubicBezTo>
                  <a:lnTo>
                    <a:pt x="0" y="48322"/>
                  </a:lnTo>
                  <a:cubicBezTo>
                    <a:pt x="0" y="35506"/>
                    <a:pt x="5091" y="23215"/>
                    <a:pt x="14153" y="14153"/>
                  </a:cubicBezTo>
                  <a:cubicBezTo>
                    <a:pt x="23215" y="5091"/>
                    <a:pt x="35506" y="0"/>
                    <a:pt x="48322" y="0"/>
                  </a:cubicBezTo>
                  <a:close/>
                </a:path>
              </a:pathLst>
            </a:custGeom>
            <a:solidFill>
              <a:srgbClr val="A1C7CE"/>
            </a:solidFill>
          </p:spPr>
        </p:sp>
        <p:sp>
          <p:nvSpPr>
            <p:cNvPr name="TextBox 5" id="5"/>
            <p:cNvSpPr txBox="true"/>
            <p:nvPr/>
          </p:nvSpPr>
          <p:spPr>
            <a:xfrm>
              <a:off x="0" y="-19050"/>
              <a:ext cx="2184152" cy="1746379"/>
            </a:xfrm>
            <a:prstGeom prst="rect">
              <a:avLst/>
            </a:prstGeom>
          </p:spPr>
          <p:txBody>
            <a:bodyPr anchor="ctr" rtlCol="false" tIns="49361" lIns="49361" bIns="49361" rIns="49361"/>
            <a:lstStyle/>
            <a:p>
              <a:pPr algn="l" marL="453390" indent="-226695" lvl="1">
                <a:lnSpc>
                  <a:spcPts val="2520"/>
                </a:lnSpc>
                <a:buFont typeface="Arial"/>
                <a:buChar char="•"/>
              </a:pPr>
              <a:r>
                <a:rPr lang="en-US" sz="2100" spc="8">
                  <a:solidFill>
                    <a:srgbClr val="000000"/>
                  </a:solidFill>
                  <a:latin typeface="Poppins"/>
                  <a:ea typeface="Poppins"/>
                  <a:cs typeface="Poppins"/>
                  <a:sym typeface="Poppins"/>
                </a:rPr>
                <a:t>Most of the numerical features have a low to moderate correlation with each other, with correlation values ranging from -0.052 to 0.584. </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No features show a very </a:t>
              </a:r>
              <a:r>
                <a:rPr lang="en-US" sz="2100" spc="8">
                  <a:solidFill>
                    <a:srgbClr val="000000"/>
                  </a:solidFill>
                  <a:latin typeface="Poppins"/>
                  <a:ea typeface="Poppins"/>
                  <a:cs typeface="Poppins"/>
                  <a:sym typeface="Poppins"/>
                </a:rPr>
                <a:t>high correlation (above 0.8), which indicates that there is no significant multicollinearity among them.</a:t>
              </a:r>
            </a:p>
            <a:p>
              <a:pPr algn="l">
                <a:lnSpc>
                  <a:spcPts val="2520"/>
                </a:lnSpc>
              </a:pPr>
            </a:p>
            <a:p>
              <a:pPr algn="l" marL="453390" indent="-226695" lvl="1">
                <a:lnSpc>
                  <a:spcPts val="2520"/>
                </a:lnSpc>
                <a:buFont typeface="Arial"/>
                <a:buChar char="•"/>
              </a:pPr>
              <a:r>
                <a:rPr lang="en-US" sz="2100" spc="8">
                  <a:solidFill>
                    <a:srgbClr val="000000"/>
                  </a:solidFill>
                  <a:latin typeface="Poppins"/>
                  <a:ea typeface="Poppins"/>
                  <a:cs typeface="Poppins"/>
                  <a:sym typeface="Poppins"/>
                </a:rPr>
                <a:t>Fea</a:t>
              </a:r>
              <a:r>
                <a:rPr lang="en-US" sz="2100" spc="8">
                  <a:solidFill>
                    <a:srgbClr val="000000"/>
                  </a:solidFill>
                  <a:latin typeface="Poppins"/>
                  <a:ea typeface="Poppins"/>
                  <a:cs typeface="Poppins"/>
                  <a:sym typeface="Poppins"/>
                </a:rPr>
                <a:t>tures such as </a:t>
              </a:r>
              <a:r>
                <a:rPr lang="en-US" b="true" sz="2100" spc="8">
                  <a:solidFill>
                    <a:srgbClr val="000000"/>
                  </a:solidFill>
                  <a:latin typeface="Poppins Bold"/>
                  <a:ea typeface="Poppins Bold"/>
                  <a:cs typeface="Poppins Bold"/>
                  <a:sym typeface="Poppins Bold"/>
                </a:rPr>
                <a:t>ExperienceYears</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InterviewScore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SkillScore</a:t>
              </a:r>
              <a:r>
                <a:rPr lang="en-US" sz="2100" spc="8">
                  <a:solidFill>
                    <a:srgbClr val="000000"/>
                  </a:solidFill>
                  <a:latin typeface="Poppins"/>
                  <a:ea typeface="Poppins"/>
                  <a:cs typeface="Poppins"/>
                  <a:sym typeface="Poppins"/>
                </a:rPr>
                <a:t>, </a:t>
              </a:r>
              <a:r>
                <a:rPr lang="en-US" b="true" sz="2100" spc="8">
                  <a:solidFill>
                    <a:srgbClr val="000000"/>
                  </a:solidFill>
                  <a:latin typeface="Poppins Bold"/>
                  <a:ea typeface="Poppins Bold"/>
                  <a:cs typeface="Poppins Bold"/>
                  <a:sym typeface="Poppins Bold"/>
                </a:rPr>
                <a:t>PersonalityScore, TotalScore</a:t>
              </a:r>
              <a:r>
                <a:rPr lang="en-US" sz="2100" spc="8">
                  <a:solidFill>
                    <a:srgbClr val="000000"/>
                  </a:solidFill>
                  <a:latin typeface="Poppins"/>
                  <a:ea typeface="Poppins"/>
                  <a:cs typeface="Poppins"/>
                  <a:sym typeface="Poppins"/>
                </a:rPr>
                <a:t> show a significant positive correlation with the target label (</a:t>
              </a:r>
              <a:r>
                <a:rPr lang="en-US" b="true" sz="2100" spc="8">
                  <a:solidFill>
                    <a:srgbClr val="000000"/>
                  </a:solidFill>
                  <a:latin typeface="Poppins Bold"/>
                  <a:ea typeface="Poppins Bold"/>
                  <a:cs typeface="Poppins Bold"/>
                  <a:sym typeface="Poppins Bold"/>
                </a:rPr>
                <a:t>HiringDecision</a:t>
              </a:r>
              <a:r>
                <a:rPr lang="en-US" sz="2100" spc="8">
                  <a:solidFill>
                    <a:srgbClr val="000000"/>
                  </a:solidFill>
                  <a:latin typeface="Poppins"/>
                  <a:ea typeface="Poppins"/>
                  <a:cs typeface="Poppins"/>
                  <a:sym typeface="Poppins"/>
                </a:rPr>
                <a:t>)."</a:t>
              </a:r>
            </a:p>
            <a:p>
              <a:pPr algn="l">
                <a:lnSpc>
                  <a:spcPts val="2520"/>
                </a:lnSpc>
              </a:pPr>
            </a:p>
          </p:txBody>
        </p:sp>
      </p:grpSp>
      <p:sp>
        <p:nvSpPr>
          <p:cNvPr name="Freeform 6" id="6"/>
          <p:cNvSpPr/>
          <p:nvPr/>
        </p:nvSpPr>
        <p:spPr>
          <a:xfrm flipH="false" flipV="false" rot="0">
            <a:off x="1028700" y="2309980"/>
            <a:ext cx="7455484" cy="6543527"/>
          </a:xfrm>
          <a:custGeom>
            <a:avLst/>
            <a:gdLst/>
            <a:ahLst/>
            <a:cxnLst/>
            <a:rect r="r" b="b" t="t" l="l"/>
            <a:pathLst>
              <a:path h="6543527" w="7455484">
                <a:moveTo>
                  <a:pt x="0" y="0"/>
                </a:moveTo>
                <a:lnTo>
                  <a:pt x="7455484" y="0"/>
                </a:lnTo>
                <a:lnTo>
                  <a:pt x="7455484" y="6543528"/>
                </a:lnTo>
                <a:lnTo>
                  <a:pt x="0" y="6543528"/>
                </a:lnTo>
                <a:lnTo>
                  <a:pt x="0" y="0"/>
                </a:lnTo>
                <a:close/>
              </a:path>
            </a:pathLst>
          </a:custGeom>
          <a:blipFill>
            <a:blip r:embed="rId3"/>
            <a:stretch>
              <a:fillRect l="0" t="0" r="0" b="0"/>
            </a:stretch>
          </a:blipFill>
        </p:spPr>
      </p:sp>
      <p:sp>
        <p:nvSpPr>
          <p:cNvPr name="TextBox 7" id="7"/>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Multivari</a:t>
            </a:r>
            <a:r>
              <a:rPr lang="en-US" sz="6159">
                <a:solidFill>
                  <a:srgbClr val="18102B"/>
                </a:solidFill>
                <a:latin typeface="Raleway"/>
                <a:ea typeface="Raleway"/>
                <a:cs typeface="Raleway"/>
                <a:sym typeface="Raleway"/>
              </a:rPr>
              <a:t>ate Analysis</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597514" y="572463"/>
            <a:ext cx="13362446" cy="1062736"/>
          </a:xfrm>
          <a:prstGeom prst="rect">
            <a:avLst/>
          </a:prstGeom>
        </p:spPr>
        <p:txBody>
          <a:bodyPr anchor="t" rtlCol="false" tIns="0" lIns="0" bIns="0" rIns="0">
            <a:spAutoFit/>
          </a:bodyPr>
          <a:lstStyle/>
          <a:p>
            <a:pPr algn="l">
              <a:lnSpc>
                <a:spcPts val="8623"/>
              </a:lnSpc>
              <a:spcBef>
                <a:spcPct val="0"/>
              </a:spcBef>
            </a:pPr>
            <a:r>
              <a:rPr lang="en-US" sz="6159">
                <a:solidFill>
                  <a:srgbClr val="18102B"/>
                </a:solidFill>
                <a:latin typeface="Raleway"/>
                <a:ea typeface="Raleway"/>
                <a:cs typeface="Raleway"/>
                <a:sym typeface="Raleway"/>
              </a:rPr>
              <a:t>Chi-Square &amp; ANOVA</a:t>
            </a:r>
            <a:r>
              <a:rPr lang="en-US" sz="6159">
                <a:solidFill>
                  <a:srgbClr val="18102B"/>
                </a:solidFill>
                <a:latin typeface="Raleway"/>
                <a:ea typeface="Raleway"/>
                <a:cs typeface="Raleway"/>
                <a:sym typeface="Raleway"/>
              </a:rPr>
              <a:t> Test Result</a:t>
            </a:r>
          </a:p>
        </p:txBody>
      </p:sp>
      <p:graphicFrame>
        <p:nvGraphicFramePr>
          <p:cNvPr name="Table 4" id="4"/>
          <p:cNvGraphicFramePr>
            <a:graphicFrameLocks noGrp="true"/>
          </p:cNvGraphicFramePr>
          <p:nvPr/>
        </p:nvGraphicFramePr>
        <p:xfrm>
          <a:off x="597514" y="2857500"/>
          <a:ext cx="8704148" cy="4667250"/>
        </p:xfrm>
        <a:graphic>
          <a:graphicData uri="http://schemas.openxmlformats.org/drawingml/2006/table">
            <a:tbl>
              <a:tblPr/>
              <a:tblGrid>
                <a:gridCol w="3532059"/>
                <a:gridCol w="2586044"/>
                <a:gridCol w="2586044"/>
              </a:tblGrid>
              <a:tr h="603772">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F-stat</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Age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0.004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0.9493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ExperienceYears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23.281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PreviousCompanies</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3.039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0.0815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DistanceFromCompany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0.403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0.5254</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marL="0" indent="0" lvl="0">
                        <a:lnSpc>
                          <a:spcPts val="2308"/>
                        </a:lnSpc>
                        <a:spcBef>
                          <a:spcPct val="0"/>
                        </a:spcBef>
                        <a:defRPr/>
                      </a:pPr>
                      <a:r>
                        <a:rPr lang="en-US" sz="1648" strike="noStrike" u="none">
                          <a:solidFill>
                            <a:srgbClr val="000000"/>
                          </a:solidFill>
                          <a:latin typeface="Canva Sans"/>
                          <a:ea typeface="Canva Sans"/>
                          <a:cs typeface="Canva Sans"/>
                          <a:sym typeface="Canva Sans"/>
                        </a:rPr>
                        <a:t>InterviewScore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32.069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SkillScore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64.046</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PersonalityScore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43.499</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07935">
                <a:tc>
                  <a:txBody>
                    <a:bodyPr anchor="t" rtlCol="false"/>
                    <a:lstStyle/>
                    <a:p>
                      <a:pPr algn="r">
                        <a:lnSpc>
                          <a:spcPts val="2308"/>
                        </a:lnSpc>
                        <a:defRPr/>
                      </a:pPr>
                      <a:r>
                        <a:rPr lang="en-US" sz="1648">
                          <a:solidFill>
                            <a:srgbClr val="000000"/>
                          </a:solidFill>
                          <a:latin typeface="Canva Sans"/>
                          <a:ea typeface="Canva Sans"/>
                          <a:cs typeface="Canva Sans"/>
                          <a:sym typeface="Canva Sans"/>
                        </a:rPr>
                        <a:t>TotalScore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151.138</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bl>
          </a:graphicData>
        </a:graphic>
      </p:graphicFrame>
      <p:sp>
        <p:nvSpPr>
          <p:cNvPr name="TextBox 5" id="5"/>
          <p:cNvSpPr txBox="true"/>
          <p:nvPr/>
        </p:nvSpPr>
        <p:spPr>
          <a:xfrm rot="0">
            <a:off x="4095649" y="2055123"/>
            <a:ext cx="1707877"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ANOVA</a:t>
            </a:r>
          </a:p>
        </p:txBody>
      </p:sp>
      <p:sp>
        <p:nvSpPr>
          <p:cNvPr name="TextBox 6" id="6"/>
          <p:cNvSpPr txBox="true"/>
          <p:nvPr/>
        </p:nvSpPr>
        <p:spPr>
          <a:xfrm rot="0">
            <a:off x="12661546" y="2055123"/>
            <a:ext cx="2596828" cy="665480"/>
          </a:xfrm>
          <a:prstGeom prst="rect">
            <a:avLst/>
          </a:prstGeom>
        </p:spPr>
        <p:txBody>
          <a:bodyPr anchor="t" rtlCol="false" tIns="0" lIns="0" bIns="0" rIns="0">
            <a:spAutoFit/>
          </a:bodyPr>
          <a:lstStyle/>
          <a:p>
            <a:pPr algn="ctr">
              <a:lnSpc>
                <a:spcPts val="5320"/>
              </a:lnSpc>
              <a:spcBef>
                <a:spcPct val="0"/>
              </a:spcBef>
            </a:pPr>
            <a:r>
              <a:rPr lang="en-US" b="true" sz="3800">
                <a:solidFill>
                  <a:srgbClr val="18102B"/>
                </a:solidFill>
                <a:latin typeface="Raleway Bold"/>
                <a:ea typeface="Raleway Bold"/>
                <a:cs typeface="Raleway Bold"/>
                <a:sym typeface="Raleway Bold"/>
              </a:rPr>
              <a:t>Chi-Square</a:t>
            </a:r>
          </a:p>
        </p:txBody>
      </p:sp>
      <p:graphicFrame>
        <p:nvGraphicFramePr>
          <p:cNvPr name="Table 7" id="7"/>
          <p:cNvGraphicFramePr>
            <a:graphicFrameLocks noGrp="true"/>
          </p:cNvGraphicFramePr>
          <p:nvPr/>
        </p:nvGraphicFramePr>
        <p:xfrm>
          <a:off x="10132854" y="2857500"/>
          <a:ext cx="7654211" cy="2647950"/>
        </p:xfrm>
        <a:graphic>
          <a:graphicData uri="http://schemas.openxmlformats.org/drawingml/2006/table">
            <a:tbl>
              <a:tblPr/>
              <a:tblGrid>
                <a:gridCol w="3222192"/>
                <a:gridCol w="1565171"/>
                <a:gridCol w="1936846"/>
                <a:gridCol w="930002"/>
              </a:tblGrid>
              <a:tr h="606621">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Chi2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p-value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dof</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ctr">
                        <a:lnSpc>
                          <a:spcPts val="2940"/>
                        </a:lnSpc>
                        <a:defRPr/>
                      </a:pPr>
                      <a:r>
                        <a:rPr lang="en-US" sz="2100" b="true">
                          <a:solidFill>
                            <a:srgbClr val="000000"/>
                          </a:solidFill>
                          <a:latin typeface="Canva Sans Bold"/>
                          <a:ea typeface="Canva Sans Bold"/>
                          <a:cs typeface="Canva Sans Bold"/>
                          <a:sym typeface="Canva Sans Bold"/>
                        </a:rPr>
                        <a:t>Feature</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0.001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0.9755</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Gender</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104.667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3</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EducationLevel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488.597</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RecruitmentStrategy</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r h="510332">
                <a:tc>
                  <a:txBody>
                    <a:bodyPr anchor="t" rtlCol="false"/>
                    <a:lstStyle/>
                    <a:p>
                      <a:pPr algn="r">
                        <a:lnSpc>
                          <a:spcPts val="2308"/>
                        </a:lnSpc>
                        <a:defRPr/>
                      </a:pPr>
                      <a:r>
                        <a:rPr lang="en-US" sz="1648">
                          <a:solidFill>
                            <a:srgbClr val="000000"/>
                          </a:solidFill>
                          <a:latin typeface="Canva Sans"/>
                          <a:ea typeface="Canva Sans"/>
                          <a:cs typeface="Canva Sans"/>
                          <a:sym typeface="Canva Sans"/>
                        </a:rPr>
                        <a:t>39.521</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0.0</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2</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c>
                  <a:txBody>
                    <a:bodyPr anchor="t" rtlCol="false"/>
                    <a:lstStyle/>
                    <a:p>
                      <a:pPr algn="r">
                        <a:lnSpc>
                          <a:spcPts val="2308"/>
                        </a:lnSpc>
                        <a:defRPr/>
                      </a:pPr>
                      <a:r>
                        <a:rPr lang="en-US" sz="1648">
                          <a:solidFill>
                            <a:srgbClr val="000000"/>
                          </a:solidFill>
                          <a:latin typeface="Canva Sans"/>
                          <a:ea typeface="Canva Sans"/>
                          <a:cs typeface="Canva Sans"/>
                          <a:sym typeface="Canva Sans"/>
                        </a:rPr>
                        <a:t>ExperienceLevel</a:t>
                      </a:r>
                      <a:endParaRPr lang="en-US" sz="1100"/>
                    </a:p>
                  </a:txBody>
                  <a:tcPr marL="76200" marR="76200" marT="76200" marB="76200" anchor="ctr">
                    <a:lnL cmpd="sng" algn="ctr" cap="flat" w="28575">
                      <a:solidFill>
                        <a:srgbClr val="365B6D"/>
                      </a:solidFill>
                      <a:prstDash val="solid"/>
                      <a:round/>
                      <a:headEnd type="none" w="med" len="med"/>
                      <a:tailEnd type="none" w="med" len="med"/>
                    </a:lnL>
                    <a:lnR cmpd="sng" algn="ctr" cap="flat" w="28575">
                      <a:solidFill>
                        <a:srgbClr val="365B6D"/>
                      </a:solidFill>
                      <a:prstDash val="solid"/>
                      <a:round/>
                      <a:headEnd type="none" w="med" len="med"/>
                      <a:tailEnd type="none" w="med" len="med"/>
                    </a:lnR>
                    <a:lnT cmpd="sng" algn="ctr" cap="flat" w="28575">
                      <a:solidFill>
                        <a:srgbClr val="365B6D"/>
                      </a:solidFill>
                      <a:prstDash val="solid"/>
                      <a:round/>
                      <a:headEnd type="none" w="med" len="med"/>
                      <a:tailEnd type="none" w="med" len="med"/>
                    </a:lnT>
                    <a:lnB cmpd="sng" algn="ctr" cap="flat" w="28575">
                      <a:solidFill>
                        <a:srgbClr val="365B6D"/>
                      </a:solidFill>
                      <a:prstDash val="solid"/>
                      <a:round/>
                      <a:headEnd type="none" w="med" len="med"/>
                      <a:tailEnd type="none" w="med" len="med"/>
                    </a:lnB>
                    <a:solidFill>
                      <a:srgbClr val="E9EDEE"/>
                    </a:solidFill>
                  </a:tcPr>
                </a:tc>
              </a:tr>
            </a:tbl>
          </a:graphicData>
        </a:graphic>
      </p:graphicFrame>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3"/>
            <a:stretch>
              <a:fillRect l="0" t="0" r="0" b="0"/>
            </a:stretch>
          </a:blipFill>
        </p:spPr>
      </p:sp>
      <p:sp>
        <p:nvSpPr>
          <p:cNvPr name="TextBox 3" id="3"/>
          <p:cNvSpPr txBox="true"/>
          <p:nvPr/>
        </p:nvSpPr>
        <p:spPr>
          <a:xfrm rot="0">
            <a:off x="1547027" y="4576762"/>
            <a:ext cx="15193947" cy="1114425"/>
          </a:xfrm>
          <a:prstGeom prst="rect">
            <a:avLst/>
          </a:prstGeom>
        </p:spPr>
        <p:txBody>
          <a:bodyPr anchor="t" rtlCol="false" tIns="0" lIns="0" bIns="0" rIns="0">
            <a:spAutoFit/>
          </a:bodyPr>
          <a:lstStyle/>
          <a:p>
            <a:pPr algn="ctr">
              <a:lnSpc>
                <a:spcPts val="8640"/>
              </a:lnSpc>
            </a:pPr>
            <a:r>
              <a:rPr lang="en-US" b="true" sz="7200">
                <a:solidFill>
                  <a:srgbClr val="000000"/>
                </a:solidFill>
                <a:latin typeface="Raleway Bold"/>
                <a:ea typeface="Raleway Bold"/>
                <a:cs typeface="Raleway Bold"/>
                <a:sym typeface="Raleway Bold"/>
              </a:rPr>
              <a:t>Insight Extraction</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86777" y="6532068"/>
            <a:ext cx="16114446" cy="3491666"/>
            <a:chOff x="0" y="0"/>
            <a:chExt cx="4393597" cy="952001"/>
          </a:xfrm>
        </p:grpSpPr>
        <p:sp>
          <p:nvSpPr>
            <p:cNvPr name="Freeform 4" id="4"/>
            <p:cNvSpPr/>
            <p:nvPr/>
          </p:nvSpPr>
          <p:spPr>
            <a:xfrm flipH="false" flipV="false" rot="0">
              <a:off x="0" y="0"/>
              <a:ext cx="4393597" cy="952001"/>
            </a:xfrm>
            <a:custGeom>
              <a:avLst/>
              <a:gdLst/>
              <a:ahLst/>
              <a:cxnLst/>
              <a:rect r="r" b="b" t="t" l="l"/>
              <a:pathLst>
                <a:path h="952001" w="4393597">
                  <a:moveTo>
                    <a:pt x="24022" y="0"/>
                  </a:moveTo>
                  <a:lnTo>
                    <a:pt x="4369576" y="0"/>
                  </a:lnTo>
                  <a:cubicBezTo>
                    <a:pt x="4375946" y="0"/>
                    <a:pt x="4382057" y="2531"/>
                    <a:pt x="4386562" y="7036"/>
                  </a:cubicBezTo>
                  <a:cubicBezTo>
                    <a:pt x="4391066" y="11541"/>
                    <a:pt x="4393597" y="17651"/>
                    <a:pt x="4393597" y="24022"/>
                  </a:cubicBezTo>
                  <a:lnTo>
                    <a:pt x="4393597" y="927980"/>
                  </a:lnTo>
                  <a:cubicBezTo>
                    <a:pt x="4393597" y="941247"/>
                    <a:pt x="4382843" y="952001"/>
                    <a:pt x="4369576" y="952001"/>
                  </a:cubicBezTo>
                  <a:lnTo>
                    <a:pt x="24022" y="952001"/>
                  </a:lnTo>
                  <a:cubicBezTo>
                    <a:pt x="10755" y="952001"/>
                    <a:pt x="0" y="941247"/>
                    <a:pt x="0" y="927980"/>
                  </a:cubicBezTo>
                  <a:lnTo>
                    <a:pt x="0" y="24022"/>
                  </a:lnTo>
                  <a:cubicBezTo>
                    <a:pt x="0" y="10755"/>
                    <a:pt x="10755" y="0"/>
                    <a:pt x="24022" y="0"/>
                  </a:cubicBezTo>
                  <a:close/>
                </a:path>
              </a:pathLst>
            </a:custGeom>
            <a:solidFill>
              <a:srgbClr val="A1C7CE"/>
            </a:solidFill>
          </p:spPr>
        </p:sp>
        <p:sp>
          <p:nvSpPr>
            <p:cNvPr name="TextBox 5" id="5"/>
            <p:cNvSpPr txBox="true"/>
            <p:nvPr/>
          </p:nvSpPr>
          <p:spPr>
            <a:xfrm>
              <a:off x="0" y="-19050"/>
              <a:ext cx="4393597" cy="971051"/>
            </a:xfrm>
            <a:prstGeom prst="rect">
              <a:avLst/>
            </a:prstGeom>
          </p:spPr>
          <p:txBody>
            <a:bodyPr anchor="ctr" rtlCol="false" tIns="49361" lIns="49361" bIns="49361" rIns="49361"/>
            <a:lstStyle/>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InterviewScore</a:t>
              </a:r>
              <a:r>
                <a:rPr lang="en-US" sz="1900" spc="7">
                  <a:solidFill>
                    <a:srgbClr val="000000"/>
                  </a:solidFill>
                  <a:latin typeface="Poppins"/>
                  <a:ea typeface="Poppins"/>
                  <a:cs typeface="Poppins"/>
                  <a:sym typeface="Poppins"/>
                </a:rPr>
                <a:t>: Unsuccessful candidates had a median interview score above 60. Accepted candidates had a median below 50. This indicates that in this dataset, interview scores were not a primary determinant of recruitment success, or that other factors were more dominant.</a:t>
              </a:r>
            </a:p>
            <a:p>
              <a:pPr algn="l">
                <a:lnSpc>
                  <a:spcPts val="2280"/>
                </a:lnSpc>
              </a:pPr>
            </a:p>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SkillScore</a:t>
              </a:r>
              <a:r>
                <a:rPr lang="en-US" sz="1900" spc="7">
                  <a:solidFill>
                    <a:srgbClr val="000000"/>
                  </a:solidFill>
                  <a:latin typeface="Poppins"/>
                  <a:ea typeface="Poppins"/>
                  <a:cs typeface="Poppins"/>
                  <a:sym typeface="Poppins"/>
                </a:rPr>
                <a:t>: The range of skill scores for successful candidates was wider, with a median of around 45. Meanwhile, unsuccessful candidates had a higher concentration of scores in the upper range (median &gt;60).</a:t>
              </a:r>
            </a:p>
            <a:p>
              <a:pPr algn="l">
                <a:lnSpc>
                  <a:spcPts val="2280"/>
                </a:lnSpc>
              </a:pPr>
            </a:p>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PersonalityScore</a:t>
              </a:r>
              <a:r>
                <a:rPr lang="en-US" sz="1900" spc="7">
                  <a:solidFill>
                    <a:srgbClr val="000000"/>
                  </a:solidFill>
                  <a:latin typeface="Poppins"/>
                  <a:ea typeface="Poppins"/>
                  <a:cs typeface="Poppins"/>
                  <a:sym typeface="Poppins"/>
                </a:rPr>
                <a:t>: Shows a similar pattern to the other variables, with the lower bound (Q1) for successful candidates being (~20) and the lower bound (Q1) for unsuccessful candidates being (~30).</a:t>
              </a:r>
            </a:p>
            <a:p>
              <a:pPr algn="l">
                <a:lnSpc>
                  <a:spcPts val="2280"/>
                </a:lnSpc>
              </a:pPr>
            </a:p>
            <a:p>
              <a:pPr algn="l" marL="410211" indent="-205106" lvl="1">
                <a:lnSpc>
                  <a:spcPts val="2280"/>
                </a:lnSpc>
                <a:buFont typeface="Arial"/>
                <a:buChar char="•"/>
              </a:pPr>
              <a:r>
                <a:rPr lang="en-US" b="true" sz="1900" spc="7">
                  <a:solidFill>
                    <a:srgbClr val="000000"/>
                  </a:solidFill>
                  <a:latin typeface="Poppins Bold"/>
                  <a:ea typeface="Poppins Bold"/>
                  <a:cs typeface="Poppins Bold"/>
                  <a:sym typeface="Poppins Bold"/>
                </a:rPr>
                <a:t>TotalScore</a:t>
              </a:r>
              <a:r>
                <a:rPr lang="en-US" sz="1900" spc="7">
                  <a:solidFill>
                    <a:srgbClr val="000000"/>
                  </a:solidFill>
                  <a:latin typeface="Poppins"/>
                  <a:ea typeface="Poppins"/>
                  <a:cs typeface="Poppins"/>
                  <a:sym typeface="Poppins"/>
                </a:rPr>
                <a:t>: The Not Hired group exhibits a higher median total score (~58) compared to the Hired group (~48).</a:t>
              </a:r>
            </a:p>
          </p:txBody>
        </p:sp>
      </p:grpSp>
      <p:sp>
        <p:nvSpPr>
          <p:cNvPr name="Freeform 6" id="6"/>
          <p:cNvSpPr/>
          <p:nvPr/>
        </p:nvSpPr>
        <p:spPr>
          <a:xfrm flipH="false" flipV="false" rot="0">
            <a:off x="1751093" y="1648937"/>
            <a:ext cx="3587620" cy="4659477"/>
          </a:xfrm>
          <a:custGeom>
            <a:avLst/>
            <a:gdLst/>
            <a:ahLst/>
            <a:cxnLst/>
            <a:rect r="r" b="b" t="t" l="l"/>
            <a:pathLst>
              <a:path h="4659477" w="3587620">
                <a:moveTo>
                  <a:pt x="0" y="0"/>
                </a:moveTo>
                <a:lnTo>
                  <a:pt x="3587620" y="0"/>
                </a:lnTo>
                <a:lnTo>
                  <a:pt x="3587620" y="4659477"/>
                </a:lnTo>
                <a:lnTo>
                  <a:pt x="0" y="4659477"/>
                </a:lnTo>
                <a:lnTo>
                  <a:pt x="0" y="0"/>
                </a:lnTo>
                <a:close/>
              </a:path>
            </a:pathLst>
          </a:custGeom>
          <a:blipFill>
            <a:blip r:embed="rId3"/>
            <a:stretch>
              <a:fillRect l="0" t="0" r="0" b="0"/>
            </a:stretch>
          </a:blipFill>
        </p:spPr>
      </p:sp>
      <p:sp>
        <p:nvSpPr>
          <p:cNvPr name="Freeform 7" id="7"/>
          <p:cNvSpPr/>
          <p:nvPr/>
        </p:nvSpPr>
        <p:spPr>
          <a:xfrm flipH="false" flipV="false" rot="0">
            <a:off x="5496873" y="1661592"/>
            <a:ext cx="3545551" cy="4646821"/>
          </a:xfrm>
          <a:custGeom>
            <a:avLst/>
            <a:gdLst/>
            <a:ahLst/>
            <a:cxnLst/>
            <a:rect r="r" b="b" t="t" l="l"/>
            <a:pathLst>
              <a:path h="4646821" w="3545551">
                <a:moveTo>
                  <a:pt x="0" y="0"/>
                </a:moveTo>
                <a:lnTo>
                  <a:pt x="3545552" y="0"/>
                </a:lnTo>
                <a:lnTo>
                  <a:pt x="3545552" y="4646822"/>
                </a:lnTo>
                <a:lnTo>
                  <a:pt x="0" y="4646822"/>
                </a:lnTo>
                <a:lnTo>
                  <a:pt x="0" y="0"/>
                </a:lnTo>
                <a:close/>
              </a:path>
            </a:pathLst>
          </a:custGeom>
          <a:blipFill>
            <a:blip r:embed="rId4"/>
            <a:stretch>
              <a:fillRect l="0" t="0" r="0" b="0"/>
            </a:stretch>
          </a:blipFill>
        </p:spPr>
      </p:sp>
      <p:sp>
        <p:nvSpPr>
          <p:cNvPr name="Freeform 8" id="8"/>
          <p:cNvSpPr/>
          <p:nvPr/>
        </p:nvSpPr>
        <p:spPr>
          <a:xfrm flipH="false" flipV="false" rot="0">
            <a:off x="9188942" y="1663407"/>
            <a:ext cx="3506173" cy="4645007"/>
          </a:xfrm>
          <a:custGeom>
            <a:avLst/>
            <a:gdLst/>
            <a:ahLst/>
            <a:cxnLst/>
            <a:rect r="r" b="b" t="t" l="l"/>
            <a:pathLst>
              <a:path h="4645007" w="3506173">
                <a:moveTo>
                  <a:pt x="0" y="0"/>
                </a:moveTo>
                <a:lnTo>
                  <a:pt x="3506173" y="0"/>
                </a:lnTo>
                <a:lnTo>
                  <a:pt x="3506173" y="4645007"/>
                </a:lnTo>
                <a:lnTo>
                  <a:pt x="0" y="4645007"/>
                </a:lnTo>
                <a:lnTo>
                  <a:pt x="0" y="0"/>
                </a:lnTo>
                <a:close/>
              </a:path>
            </a:pathLst>
          </a:custGeom>
          <a:blipFill>
            <a:blip r:embed="rId5"/>
            <a:stretch>
              <a:fillRect l="0" t="0" r="0" b="0"/>
            </a:stretch>
          </a:blipFill>
        </p:spPr>
      </p:sp>
      <p:sp>
        <p:nvSpPr>
          <p:cNvPr name="Freeform 9" id="9"/>
          <p:cNvSpPr/>
          <p:nvPr/>
        </p:nvSpPr>
        <p:spPr>
          <a:xfrm flipH="false" flipV="false" rot="0">
            <a:off x="12857040" y="1648937"/>
            <a:ext cx="3443828" cy="4654063"/>
          </a:xfrm>
          <a:custGeom>
            <a:avLst/>
            <a:gdLst/>
            <a:ahLst/>
            <a:cxnLst/>
            <a:rect r="r" b="b" t="t" l="l"/>
            <a:pathLst>
              <a:path h="4654063" w="3443828">
                <a:moveTo>
                  <a:pt x="0" y="0"/>
                </a:moveTo>
                <a:lnTo>
                  <a:pt x="3443828" y="0"/>
                </a:lnTo>
                <a:lnTo>
                  <a:pt x="3443828" y="4654062"/>
                </a:lnTo>
                <a:lnTo>
                  <a:pt x="0" y="4654062"/>
                </a:lnTo>
                <a:lnTo>
                  <a:pt x="0" y="0"/>
                </a:lnTo>
                <a:close/>
              </a:path>
            </a:pathLst>
          </a:custGeom>
          <a:blipFill>
            <a:blip r:embed="rId6"/>
            <a:stretch>
              <a:fillRect l="0" t="0" r="0" b="0"/>
            </a:stretch>
          </a:blipFill>
        </p:spPr>
      </p:sp>
      <p:sp>
        <p:nvSpPr>
          <p:cNvPr name="TextBox 10" id="10"/>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Score-based Features Likely Insignificant to Hiring Decision</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017865" y="2950915"/>
            <a:ext cx="7818949" cy="5331360"/>
            <a:chOff x="0" y="0"/>
            <a:chExt cx="2131833" cy="1453593"/>
          </a:xfrm>
        </p:grpSpPr>
        <p:sp>
          <p:nvSpPr>
            <p:cNvPr name="Freeform 4" id="4"/>
            <p:cNvSpPr/>
            <p:nvPr/>
          </p:nvSpPr>
          <p:spPr>
            <a:xfrm flipH="false" flipV="false" rot="0">
              <a:off x="0" y="0"/>
              <a:ext cx="2131833" cy="1453593"/>
            </a:xfrm>
            <a:custGeom>
              <a:avLst/>
              <a:gdLst/>
              <a:ahLst/>
              <a:cxnLst/>
              <a:rect r="r" b="b" t="t" l="l"/>
              <a:pathLst>
                <a:path h="1453593" w="2131833">
                  <a:moveTo>
                    <a:pt x="49507" y="0"/>
                  </a:moveTo>
                  <a:lnTo>
                    <a:pt x="2082326" y="0"/>
                  </a:lnTo>
                  <a:cubicBezTo>
                    <a:pt x="2109668" y="0"/>
                    <a:pt x="2131833" y="22165"/>
                    <a:pt x="2131833" y="49507"/>
                  </a:cubicBezTo>
                  <a:lnTo>
                    <a:pt x="2131833" y="1404086"/>
                  </a:lnTo>
                  <a:cubicBezTo>
                    <a:pt x="2131833" y="1431428"/>
                    <a:pt x="2109668" y="1453593"/>
                    <a:pt x="2082326" y="1453593"/>
                  </a:cubicBezTo>
                  <a:lnTo>
                    <a:pt x="49507" y="1453593"/>
                  </a:lnTo>
                  <a:cubicBezTo>
                    <a:pt x="22165" y="1453593"/>
                    <a:pt x="0" y="1431428"/>
                    <a:pt x="0" y="1404086"/>
                  </a:cubicBezTo>
                  <a:lnTo>
                    <a:pt x="0" y="49507"/>
                  </a:lnTo>
                  <a:cubicBezTo>
                    <a:pt x="0" y="22165"/>
                    <a:pt x="22165" y="0"/>
                    <a:pt x="49507" y="0"/>
                  </a:cubicBezTo>
                  <a:close/>
                </a:path>
              </a:pathLst>
            </a:custGeom>
            <a:solidFill>
              <a:srgbClr val="A1C7CE"/>
            </a:solidFill>
          </p:spPr>
        </p:sp>
        <p:sp>
          <p:nvSpPr>
            <p:cNvPr name="TextBox 5" id="5"/>
            <p:cNvSpPr txBox="true"/>
            <p:nvPr/>
          </p:nvSpPr>
          <p:spPr>
            <a:xfrm>
              <a:off x="0" y="-19050"/>
              <a:ext cx="2131833" cy="1472643"/>
            </a:xfrm>
            <a:prstGeom prst="rect">
              <a:avLst/>
            </a:prstGeom>
          </p:spPr>
          <p:txBody>
            <a:bodyPr anchor="ctr" rtlCol="false" tIns="49361" lIns="49361" bIns="49361" rIns="49361"/>
            <a:lstStyle/>
            <a:p>
              <a:pPr algn="l" marL="410211" indent="-205106" lvl="1">
                <a:lnSpc>
                  <a:spcPts val="2280"/>
                </a:lnSpc>
                <a:buFont typeface="Arial"/>
                <a:buChar char="•"/>
              </a:pPr>
              <a:r>
                <a:rPr lang="en-US" sz="1900" spc="7">
                  <a:solidFill>
                    <a:srgbClr val="000000"/>
                  </a:solidFill>
                  <a:latin typeface="Poppins"/>
                  <a:ea typeface="Poppins"/>
                  <a:cs typeface="Poppins"/>
                  <a:sym typeface="Poppins"/>
                </a:rPr>
                <a:t>From the data shown, we can visualize a direct positive correlation between experience level and hiring success. Senior-level candidates are significantly more likely to be hired compared to Junior and Medior levels, suggesting a strong industry preference for established expertise.</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Senior candidates have the highest hiring rate at 36.6%, which is nearly double that of Junior candidates (18.9%) whereas Junior applicants face the toughest competition, with a non-hiring rate of 81.1%.</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Incremental Growth: There is a steady upward trend in "Hired" percentages as candidates move from Junior (18.9%) to Medior (22.2%) and finally Senior (36.6%).</a:t>
              </a:r>
            </a:p>
          </p:txBody>
        </p:sp>
      </p:grpSp>
      <p:sp>
        <p:nvSpPr>
          <p:cNvPr name="TextBox 6" id="6"/>
          <p:cNvSpPr txBox="true"/>
          <p:nvPr/>
        </p:nvSpPr>
        <p:spPr>
          <a:xfrm rot="0">
            <a:off x="907463" y="2288083"/>
            <a:ext cx="8512639"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ExperienceLevel is significant to HiringDecision</a:t>
            </a:r>
          </a:p>
        </p:txBody>
      </p:sp>
      <p:sp>
        <p:nvSpPr>
          <p:cNvPr name="Freeform 7" id="7"/>
          <p:cNvSpPr/>
          <p:nvPr/>
        </p:nvSpPr>
        <p:spPr>
          <a:xfrm flipH="false" flipV="false" rot="0">
            <a:off x="542091" y="2950915"/>
            <a:ext cx="9243384" cy="5331360"/>
          </a:xfrm>
          <a:custGeom>
            <a:avLst/>
            <a:gdLst/>
            <a:ahLst/>
            <a:cxnLst/>
            <a:rect r="r" b="b" t="t" l="l"/>
            <a:pathLst>
              <a:path h="5331360" w="9243384">
                <a:moveTo>
                  <a:pt x="0" y="0"/>
                </a:moveTo>
                <a:lnTo>
                  <a:pt x="9243384" y="0"/>
                </a:lnTo>
                <a:lnTo>
                  <a:pt x="9243384" y="5331360"/>
                </a:lnTo>
                <a:lnTo>
                  <a:pt x="0" y="5331360"/>
                </a:lnTo>
                <a:lnTo>
                  <a:pt x="0" y="0"/>
                </a:lnTo>
                <a:close/>
              </a:path>
            </a:pathLst>
          </a:custGeom>
          <a:blipFill>
            <a:blip r:embed="rId3"/>
            <a:stretch>
              <a:fillRect l="0" t="-8141" r="0" b="0"/>
            </a:stretch>
          </a:blipFill>
        </p:spPr>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Senior-level Candidates are More Likely to be Hired</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352870" y="2830131"/>
            <a:ext cx="7297573" cy="5177909"/>
            <a:chOff x="0" y="0"/>
            <a:chExt cx="1989680" cy="1411755"/>
          </a:xfrm>
        </p:grpSpPr>
        <p:sp>
          <p:nvSpPr>
            <p:cNvPr name="Freeform 4" id="4"/>
            <p:cNvSpPr/>
            <p:nvPr/>
          </p:nvSpPr>
          <p:spPr>
            <a:xfrm flipH="false" flipV="false" rot="0">
              <a:off x="0" y="0"/>
              <a:ext cx="1989680" cy="1411755"/>
            </a:xfrm>
            <a:custGeom>
              <a:avLst/>
              <a:gdLst/>
              <a:ahLst/>
              <a:cxnLst/>
              <a:rect r="r" b="b" t="t" l="l"/>
              <a:pathLst>
                <a:path h="1411755" w="1989680">
                  <a:moveTo>
                    <a:pt x="53044" y="0"/>
                  </a:moveTo>
                  <a:lnTo>
                    <a:pt x="1936636" y="0"/>
                  </a:lnTo>
                  <a:cubicBezTo>
                    <a:pt x="1965932" y="0"/>
                    <a:pt x="1989680" y="23749"/>
                    <a:pt x="1989680" y="53044"/>
                  </a:cubicBezTo>
                  <a:lnTo>
                    <a:pt x="1989680" y="1358710"/>
                  </a:lnTo>
                  <a:cubicBezTo>
                    <a:pt x="1989680" y="1388006"/>
                    <a:pt x="1965932" y="1411755"/>
                    <a:pt x="1936636" y="1411755"/>
                  </a:cubicBezTo>
                  <a:lnTo>
                    <a:pt x="53044" y="1411755"/>
                  </a:lnTo>
                  <a:cubicBezTo>
                    <a:pt x="23749" y="1411755"/>
                    <a:pt x="0" y="1388006"/>
                    <a:pt x="0" y="1358710"/>
                  </a:cubicBezTo>
                  <a:lnTo>
                    <a:pt x="0" y="53044"/>
                  </a:lnTo>
                  <a:cubicBezTo>
                    <a:pt x="0" y="23749"/>
                    <a:pt x="23749" y="0"/>
                    <a:pt x="53044" y="0"/>
                  </a:cubicBezTo>
                  <a:close/>
                </a:path>
              </a:pathLst>
            </a:custGeom>
            <a:solidFill>
              <a:srgbClr val="A1C7CE"/>
            </a:solidFill>
          </p:spPr>
        </p:sp>
        <p:sp>
          <p:nvSpPr>
            <p:cNvPr name="TextBox 5" id="5"/>
            <p:cNvSpPr txBox="true"/>
            <p:nvPr/>
          </p:nvSpPr>
          <p:spPr>
            <a:xfrm>
              <a:off x="0" y="-19050"/>
              <a:ext cx="1989680" cy="1430805"/>
            </a:xfrm>
            <a:prstGeom prst="rect">
              <a:avLst/>
            </a:prstGeom>
          </p:spPr>
          <p:txBody>
            <a:bodyPr anchor="ctr" rtlCol="false" tIns="49361" lIns="49361" bIns="49361" rIns="49361"/>
            <a:lstStyle/>
            <a:p>
              <a:pPr algn="l" marL="410211" indent="-205106" lvl="1">
                <a:lnSpc>
                  <a:spcPts val="2280"/>
                </a:lnSpc>
                <a:buFont typeface="Arial"/>
                <a:buChar char="•"/>
              </a:pPr>
              <a:r>
                <a:rPr lang="en-US" sz="1900" spc="7">
                  <a:solidFill>
                    <a:srgbClr val="000000"/>
                  </a:solidFill>
                  <a:latin typeface="Poppins"/>
                  <a:ea typeface="Poppins"/>
                  <a:cs typeface="Poppins"/>
                  <a:sym typeface="Poppins"/>
                </a:rPr>
                <a:t>Candidates with a high school (22.8%) and a diploma/bachelor (23.4%) have almost equally low acceptance rates. The vast majority (over 76%) of this group failed the selection process.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Magister’s</a:t>
              </a:r>
              <a:r>
                <a:rPr lang="en-US" sz="1900" spc="7">
                  <a:solidFill>
                    <a:srgbClr val="000000"/>
                  </a:solidFill>
                  <a:latin typeface="Poppins"/>
                  <a:ea typeface="Poppins"/>
                  <a:cs typeface="Poppins"/>
                  <a:sym typeface="Poppins"/>
                </a:rPr>
                <a:t> degree graduates shows a significant increase in their chances of being accepted, reaching 46%. This suggests that a magister’s degree is an important "threshold" for companies in selecting candidates.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PhD</a:t>
              </a:r>
              <a:r>
                <a:rPr lang="en-US" sz="1900" spc="7">
                  <a:solidFill>
                    <a:srgbClr val="000000"/>
                  </a:solidFill>
                  <a:latin typeface="Poppins"/>
                  <a:ea typeface="Poppins"/>
                  <a:cs typeface="Poppins"/>
                  <a:sym typeface="Poppins"/>
                </a:rPr>
                <a:t> degree graduates have the highest hiring rate at 56.6%. This was the only group where more candidates were accepted than rejected (above 50% ratio).</a:t>
              </a:r>
            </a:p>
            <a:p>
              <a:pPr algn="l">
                <a:lnSpc>
                  <a:spcPts val="2280"/>
                </a:lnSpc>
              </a:pPr>
            </a:p>
          </p:txBody>
        </p:sp>
      </p:grpSp>
      <p:sp>
        <p:nvSpPr>
          <p:cNvPr name="Freeform 6" id="6"/>
          <p:cNvSpPr/>
          <p:nvPr/>
        </p:nvSpPr>
        <p:spPr>
          <a:xfrm flipH="false" flipV="false" rot="0">
            <a:off x="575996" y="2830131"/>
            <a:ext cx="9428239" cy="5177909"/>
          </a:xfrm>
          <a:custGeom>
            <a:avLst/>
            <a:gdLst/>
            <a:ahLst/>
            <a:cxnLst/>
            <a:rect r="r" b="b" t="t" l="l"/>
            <a:pathLst>
              <a:path h="5177909" w="9428239">
                <a:moveTo>
                  <a:pt x="0" y="0"/>
                </a:moveTo>
                <a:lnTo>
                  <a:pt x="9428239" y="0"/>
                </a:lnTo>
                <a:lnTo>
                  <a:pt x="9428239" y="5177909"/>
                </a:lnTo>
                <a:lnTo>
                  <a:pt x="0" y="5177909"/>
                </a:lnTo>
                <a:lnTo>
                  <a:pt x="0" y="0"/>
                </a:lnTo>
                <a:close/>
              </a:path>
            </a:pathLst>
          </a:custGeom>
          <a:blipFill>
            <a:blip r:embed="rId3"/>
            <a:stretch>
              <a:fillRect l="0" t="-6334" r="0" b="-4055"/>
            </a:stretch>
          </a:blipFill>
        </p:spPr>
      </p:sp>
      <p:sp>
        <p:nvSpPr>
          <p:cNvPr name="TextBox 7" id="7"/>
          <p:cNvSpPr txBox="true"/>
          <p:nvPr/>
        </p:nvSpPr>
        <p:spPr>
          <a:xfrm rot="0">
            <a:off x="1065290" y="2212943"/>
            <a:ext cx="8449650"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EducationLevel is significant to HiringDecision</a:t>
            </a:r>
          </a:p>
        </p:txBody>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Higher Education Level = Higher Probability to be Hired</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9525"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0352870" y="2830131"/>
            <a:ext cx="7297573" cy="5177909"/>
            <a:chOff x="0" y="0"/>
            <a:chExt cx="1989680" cy="1411755"/>
          </a:xfrm>
        </p:grpSpPr>
        <p:sp>
          <p:nvSpPr>
            <p:cNvPr name="Freeform 4" id="4"/>
            <p:cNvSpPr/>
            <p:nvPr/>
          </p:nvSpPr>
          <p:spPr>
            <a:xfrm flipH="false" flipV="false" rot="0">
              <a:off x="0" y="0"/>
              <a:ext cx="1989680" cy="1411755"/>
            </a:xfrm>
            <a:custGeom>
              <a:avLst/>
              <a:gdLst/>
              <a:ahLst/>
              <a:cxnLst/>
              <a:rect r="r" b="b" t="t" l="l"/>
              <a:pathLst>
                <a:path h="1411755" w="1989680">
                  <a:moveTo>
                    <a:pt x="53044" y="0"/>
                  </a:moveTo>
                  <a:lnTo>
                    <a:pt x="1936636" y="0"/>
                  </a:lnTo>
                  <a:cubicBezTo>
                    <a:pt x="1965932" y="0"/>
                    <a:pt x="1989680" y="23749"/>
                    <a:pt x="1989680" y="53044"/>
                  </a:cubicBezTo>
                  <a:lnTo>
                    <a:pt x="1989680" y="1358710"/>
                  </a:lnTo>
                  <a:cubicBezTo>
                    <a:pt x="1989680" y="1388006"/>
                    <a:pt x="1965932" y="1411755"/>
                    <a:pt x="1936636" y="1411755"/>
                  </a:cubicBezTo>
                  <a:lnTo>
                    <a:pt x="53044" y="1411755"/>
                  </a:lnTo>
                  <a:cubicBezTo>
                    <a:pt x="23749" y="1411755"/>
                    <a:pt x="0" y="1388006"/>
                    <a:pt x="0" y="1358710"/>
                  </a:cubicBezTo>
                  <a:lnTo>
                    <a:pt x="0" y="53044"/>
                  </a:lnTo>
                  <a:cubicBezTo>
                    <a:pt x="0" y="23749"/>
                    <a:pt x="23749" y="0"/>
                    <a:pt x="53044" y="0"/>
                  </a:cubicBezTo>
                  <a:close/>
                </a:path>
              </a:pathLst>
            </a:custGeom>
            <a:solidFill>
              <a:srgbClr val="A1C7CE"/>
            </a:solidFill>
          </p:spPr>
        </p:sp>
        <p:sp>
          <p:nvSpPr>
            <p:cNvPr name="TextBox 5" id="5"/>
            <p:cNvSpPr txBox="true"/>
            <p:nvPr/>
          </p:nvSpPr>
          <p:spPr>
            <a:xfrm>
              <a:off x="0" y="-19050"/>
              <a:ext cx="1989680" cy="1430805"/>
            </a:xfrm>
            <a:prstGeom prst="rect">
              <a:avLst/>
            </a:prstGeom>
          </p:spPr>
          <p:txBody>
            <a:bodyPr anchor="ctr" rtlCol="false" tIns="49361" lIns="49361" bIns="49361" rIns="49361"/>
            <a:lstStyle/>
            <a:p>
              <a:pPr algn="l" marL="410211" indent="-205106" lvl="1">
                <a:lnSpc>
                  <a:spcPts val="2280"/>
                </a:lnSpc>
                <a:buFont typeface="Arial"/>
                <a:buChar char="•"/>
              </a:pPr>
              <a:r>
                <a:rPr lang="en-US" sz="1900" spc="7">
                  <a:solidFill>
                    <a:srgbClr val="000000"/>
                  </a:solidFill>
                  <a:latin typeface="Poppins"/>
                  <a:ea typeface="Poppins"/>
                  <a:cs typeface="Poppins"/>
                  <a:sym typeface="Poppins"/>
                </a:rPr>
                <a:t>Candidates with a high school (22.8%) and a diploma/bachelor (23.4%) have almost equally low acceptance rates. The vast majority (over 76%) of this group failed the selection process.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Magister’s</a:t>
              </a:r>
              <a:r>
                <a:rPr lang="en-US" sz="1900" spc="7">
                  <a:solidFill>
                    <a:srgbClr val="000000"/>
                  </a:solidFill>
                  <a:latin typeface="Poppins"/>
                  <a:ea typeface="Poppins"/>
                  <a:cs typeface="Poppins"/>
                  <a:sym typeface="Poppins"/>
                </a:rPr>
                <a:t> degree graduates shows a significant increase in their chances of being accepted, reaching 46%. This suggests that a magister’s degree is an important "threshold" for companies in selecting candidates.</a:t>
              </a:r>
            </a:p>
            <a:p>
              <a:pPr algn="l">
                <a:lnSpc>
                  <a:spcPts val="2280"/>
                </a:lnSpc>
              </a:pPr>
            </a:p>
            <a:p>
              <a:pPr algn="l" marL="410211" indent="-205106" lvl="1">
                <a:lnSpc>
                  <a:spcPts val="2280"/>
                </a:lnSpc>
                <a:buFont typeface="Arial"/>
                <a:buChar char="•"/>
              </a:pPr>
              <a:r>
                <a:rPr lang="en-US" sz="1900" spc="7">
                  <a:solidFill>
                    <a:srgbClr val="000000"/>
                  </a:solidFill>
                  <a:latin typeface="Poppins"/>
                  <a:ea typeface="Poppins"/>
                  <a:cs typeface="Poppins"/>
                  <a:sym typeface="Poppins"/>
                </a:rPr>
                <a:t>PhD</a:t>
              </a:r>
              <a:r>
                <a:rPr lang="en-US" sz="1900" spc="7">
                  <a:solidFill>
                    <a:srgbClr val="000000"/>
                  </a:solidFill>
                  <a:latin typeface="Poppins"/>
                  <a:ea typeface="Poppins"/>
                  <a:cs typeface="Poppins"/>
                  <a:sym typeface="Poppins"/>
                </a:rPr>
                <a:t> degree graduates have the highest hiring rate at 56.6%. This was the only group where more candidates were accepted than rejected (above 50% ratio).</a:t>
              </a:r>
            </a:p>
            <a:p>
              <a:pPr algn="l">
                <a:lnSpc>
                  <a:spcPts val="2280"/>
                </a:lnSpc>
              </a:pPr>
            </a:p>
          </p:txBody>
        </p:sp>
      </p:grpSp>
      <p:sp>
        <p:nvSpPr>
          <p:cNvPr name="Freeform 6" id="6"/>
          <p:cNvSpPr/>
          <p:nvPr/>
        </p:nvSpPr>
        <p:spPr>
          <a:xfrm flipH="false" flipV="false" rot="0">
            <a:off x="575996" y="2830131"/>
            <a:ext cx="9428239" cy="5177909"/>
          </a:xfrm>
          <a:custGeom>
            <a:avLst/>
            <a:gdLst/>
            <a:ahLst/>
            <a:cxnLst/>
            <a:rect r="r" b="b" t="t" l="l"/>
            <a:pathLst>
              <a:path h="5177909" w="9428239">
                <a:moveTo>
                  <a:pt x="0" y="0"/>
                </a:moveTo>
                <a:lnTo>
                  <a:pt x="9428239" y="0"/>
                </a:lnTo>
                <a:lnTo>
                  <a:pt x="9428239" y="5177909"/>
                </a:lnTo>
                <a:lnTo>
                  <a:pt x="0" y="5177909"/>
                </a:lnTo>
                <a:lnTo>
                  <a:pt x="0" y="0"/>
                </a:lnTo>
                <a:close/>
              </a:path>
            </a:pathLst>
          </a:custGeom>
          <a:blipFill>
            <a:blip r:embed="rId3"/>
            <a:stretch>
              <a:fillRect l="0" t="-6334" r="0" b="-4055"/>
            </a:stretch>
          </a:blipFill>
        </p:spPr>
      </p:sp>
      <p:sp>
        <p:nvSpPr>
          <p:cNvPr name="TextBox 7" id="7"/>
          <p:cNvSpPr txBox="true"/>
          <p:nvPr/>
        </p:nvSpPr>
        <p:spPr>
          <a:xfrm rot="0">
            <a:off x="1065290" y="2212943"/>
            <a:ext cx="8449650" cy="490855"/>
          </a:xfrm>
          <a:prstGeom prst="rect">
            <a:avLst/>
          </a:prstGeom>
        </p:spPr>
        <p:txBody>
          <a:bodyPr anchor="t" rtlCol="false" tIns="0" lIns="0" bIns="0" rIns="0">
            <a:spAutoFit/>
          </a:bodyPr>
          <a:lstStyle/>
          <a:p>
            <a:pPr algn="ctr">
              <a:lnSpc>
                <a:spcPts val="3919"/>
              </a:lnSpc>
              <a:spcBef>
                <a:spcPct val="0"/>
              </a:spcBef>
            </a:pPr>
            <a:r>
              <a:rPr lang="en-US" b="true" sz="2799">
                <a:solidFill>
                  <a:srgbClr val="18102B"/>
                </a:solidFill>
                <a:latin typeface="Raleway Bold"/>
                <a:ea typeface="Raleway Bold"/>
                <a:cs typeface="Raleway Bold"/>
                <a:sym typeface="Raleway Bold"/>
              </a:rPr>
              <a:t>EducationLevel is significant to HiringDecision</a:t>
            </a:r>
          </a:p>
        </p:txBody>
      </p:sp>
      <p:sp>
        <p:nvSpPr>
          <p:cNvPr name="TextBox 8" id="8"/>
          <p:cNvSpPr txBox="true"/>
          <p:nvPr/>
        </p:nvSpPr>
        <p:spPr>
          <a:xfrm rot="0">
            <a:off x="1086777" y="534797"/>
            <a:ext cx="16172523" cy="729995"/>
          </a:xfrm>
          <a:prstGeom prst="rect">
            <a:avLst/>
          </a:prstGeom>
        </p:spPr>
        <p:txBody>
          <a:bodyPr anchor="t" rtlCol="false" tIns="0" lIns="0" bIns="0" rIns="0">
            <a:spAutoFit/>
          </a:bodyPr>
          <a:lstStyle/>
          <a:p>
            <a:pPr algn="ctr">
              <a:lnSpc>
                <a:spcPts val="5964"/>
              </a:lnSpc>
              <a:spcBef>
                <a:spcPct val="0"/>
              </a:spcBef>
            </a:pPr>
            <a:r>
              <a:rPr lang="en-US" sz="4260">
                <a:solidFill>
                  <a:srgbClr val="18102B"/>
                </a:solidFill>
                <a:latin typeface="Raleway"/>
                <a:ea typeface="Raleway"/>
                <a:cs typeface="Raleway"/>
                <a:sym typeface="Raleway"/>
              </a:rPr>
              <a:t>Higher Education Level = Higher Probability to be Hired</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grpSp>
        <p:nvGrpSpPr>
          <p:cNvPr name="Group 3" id="3"/>
          <p:cNvGrpSpPr/>
          <p:nvPr/>
        </p:nvGrpSpPr>
        <p:grpSpPr>
          <a:xfrm rot="0">
            <a:off x="11572930" y="3255439"/>
            <a:ext cx="4809972" cy="6836556"/>
            <a:chOff x="0" y="0"/>
            <a:chExt cx="6014936" cy="8549208"/>
          </a:xfrm>
        </p:grpSpPr>
        <p:sp>
          <p:nvSpPr>
            <p:cNvPr name="Freeform 4" id="4" descr="image.png"/>
            <p:cNvSpPr/>
            <p:nvPr/>
          </p:nvSpPr>
          <p:spPr>
            <a:xfrm flipH="false" flipV="false" rot="-10800000">
              <a:off x="0" y="0"/>
              <a:ext cx="6014974" cy="8549233"/>
            </a:xfrm>
            <a:custGeom>
              <a:avLst/>
              <a:gdLst/>
              <a:ahLst/>
              <a:cxnLst/>
              <a:rect r="r" b="b" t="t" l="l"/>
              <a:pathLst>
                <a:path h="8549233" w="6014974">
                  <a:moveTo>
                    <a:pt x="6014974" y="8549233"/>
                  </a:moveTo>
                  <a:lnTo>
                    <a:pt x="0" y="8549233"/>
                  </a:lnTo>
                  <a:lnTo>
                    <a:pt x="0" y="0"/>
                  </a:lnTo>
                  <a:lnTo>
                    <a:pt x="6014974" y="0"/>
                  </a:lnTo>
                  <a:lnTo>
                    <a:pt x="6014974" y="8549233"/>
                  </a:lnTo>
                  <a:close/>
                </a:path>
              </a:pathLst>
            </a:custGeom>
            <a:blipFill>
              <a:blip r:embed="rId3"/>
              <a:stretch>
                <a:fillRect l="-82078" t="0" r="-8815" b="0"/>
              </a:stretch>
            </a:blipFill>
          </p:spPr>
        </p:sp>
      </p:grpSp>
      <p:sp>
        <p:nvSpPr>
          <p:cNvPr name="TextBox 5" id="5"/>
          <p:cNvSpPr txBox="true"/>
          <p:nvPr/>
        </p:nvSpPr>
        <p:spPr>
          <a:xfrm rot="0">
            <a:off x="702291" y="350823"/>
            <a:ext cx="7781894" cy="1062736"/>
          </a:xfrm>
          <a:prstGeom prst="rect">
            <a:avLst/>
          </a:prstGeom>
        </p:spPr>
        <p:txBody>
          <a:bodyPr anchor="t" rtlCol="false" tIns="0" lIns="0" bIns="0" rIns="0">
            <a:spAutoFit/>
          </a:bodyPr>
          <a:lstStyle/>
          <a:p>
            <a:pPr algn="ctr">
              <a:lnSpc>
                <a:spcPts val="8623"/>
              </a:lnSpc>
              <a:spcBef>
                <a:spcPct val="0"/>
              </a:spcBef>
            </a:pPr>
            <a:r>
              <a:rPr lang="en-US" sz="6159">
                <a:solidFill>
                  <a:srgbClr val="000000"/>
                </a:solidFill>
                <a:latin typeface="Raleway"/>
                <a:ea typeface="Raleway"/>
                <a:cs typeface="Raleway"/>
                <a:sym typeface="Raleway"/>
              </a:rPr>
              <a:t>Fe</a:t>
            </a:r>
            <a:r>
              <a:rPr lang="en-US" sz="6159">
                <a:solidFill>
                  <a:srgbClr val="000000"/>
                </a:solidFill>
                <a:latin typeface="Raleway"/>
                <a:ea typeface="Raleway"/>
                <a:cs typeface="Raleway"/>
                <a:sym typeface="Raleway"/>
              </a:rPr>
              <a:t>ature Selection</a:t>
            </a:r>
          </a:p>
        </p:txBody>
      </p:sp>
      <p:sp>
        <p:nvSpPr>
          <p:cNvPr name="TextBox 6" id="6"/>
          <p:cNvSpPr txBox="true"/>
          <p:nvPr/>
        </p:nvSpPr>
        <p:spPr>
          <a:xfrm rot="0">
            <a:off x="1345165" y="2157331"/>
            <a:ext cx="15602278" cy="790088"/>
          </a:xfrm>
          <a:prstGeom prst="rect">
            <a:avLst/>
          </a:prstGeom>
        </p:spPr>
        <p:txBody>
          <a:bodyPr anchor="t" rtlCol="false" tIns="0" lIns="0" bIns="0" rIns="0">
            <a:spAutoFit/>
          </a:bodyPr>
          <a:lstStyle/>
          <a:p>
            <a:pPr algn="just">
              <a:lnSpc>
                <a:spcPts val="3176"/>
              </a:lnSpc>
            </a:pPr>
            <a:r>
              <a:rPr lang="en-US" sz="2269">
                <a:solidFill>
                  <a:srgbClr val="000000"/>
                </a:solidFill>
                <a:latin typeface="Raleway"/>
                <a:ea typeface="Raleway"/>
                <a:cs typeface="Raleway"/>
                <a:sym typeface="Raleway"/>
              </a:rPr>
              <a:t>The features identified as strongly correlated with the target should be prioritized for modeling, as they are expected to yield the best evaluation results.</a:t>
            </a:r>
          </a:p>
        </p:txBody>
      </p:sp>
      <p:grpSp>
        <p:nvGrpSpPr>
          <p:cNvPr name="Group 7" id="7"/>
          <p:cNvGrpSpPr/>
          <p:nvPr/>
        </p:nvGrpSpPr>
        <p:grpSpPr>
          <a:xfrm rot="0">
            <a:off x="1345165" y="3255439"/>
            <a:ext cx="4809972" cy="6836556"/>
            <a:chOff x="0" y="0"/>
            <a:chExt cx="6014936" cy="8549208"/>
          </a:xfrm>
        </p:grpSpPr>
        <p:sp>
          <p:nvSpPr>
            <p:cNvPr name="Freeform 8" id="8"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grpSp>
        <p:nvGrpSpPr>
          <p:cNvPr name="Group 9" id="9"/>
          <p:cNvGrpSpPr/>
          <p:nvPr/>
        </p:nvGrpSpPr>
        <p:grpSpPr>
          <a:xfrm rot="0">
            <a:off x="6441230" y="3255439"/>
            <a:ext cx="4809972" cy="6836556"/>
            <a:chOff x="0" y="0"/>
            <a:chExt cx="6014936" cy="8549208"/>
          </a:xfrm>
        </p:grpSpPr>
        <p:sp>
          <p:nvSpPr>
            <p:cNvPr name="Freeform 10" id="10" descr="image.png"/>
            <p:cNvSpPr/>
            <p:nvPr/>
          </p:nvSpPr>
          <p:spPr>
            <a:xfrm flipH="false" flipV="false" rot="0">
              <a:off x="0" y="0"/>
              <a:ext cx="6014974" cy="8549233"/>
            </a:xfrm>
            <a:custGeom>
              <a:avLst/>
              <a:gdLst/>
              <a:ahLst/>
              <a:cxnLst/>
              <a:rect r="r" b="b" t="t" l="l"/>
              <a:pathLst>
                <a:path h="8549233" w="6014974">
                  <a:moveTo>
                    <a:pt x="0" y="0"/>
                  </a:moveTo>
                  <a:lnTo>
                    <a:pt x="6014974" y="0"/>
                  </a:lnTo>
                  <a:lnTo>
                    <a:pt x="6014974" y="8549233"/>
                  </a:lnTo>
                  <a:lnTo>
                    <a:pt x="0" y="8549233"/>
                  </a:lnTo>
                  <a:lnTo>
                    <a:pt x="0" y="0"/>
                  </a:lnTo>
                  <a:close/>
                </a:path>
              </a:pathLst>
            </a:custGeom>
            <a:blipFill>
              <a:blip r:embed="rId3"/>
              <a:stretch>
                <a:fillRect l="-8814" t="0" r="-82078" b="0"/>
              </a:stretch>
            </a:blipFill>
          </p:spPr>
        </p:sp>
      </p:grpSp>
      <p:sp>
        <p:nvSpPr>
          <p:cNvPr name="TextBox 11" id="11"/>
          <p:cNvSpPr txBox="true"/>
          <p:nvPr/>
        </p:nvSpPr>
        <p:spPr>
          <a:xfrm rot="0">
            <a:off x="6757650"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InterviewScore</a:t>
            </a:r>
          </a:p>
          <a:p>
            <a:pPr algn="ctr">
              <a:lnSpc>
                <a:spcPts val="2026"/>
              </a:lnSpc>
              <a:spcBef>
                <a:spcPct val="0"/>
              </a:spcBef>
            </a:pPr>
            <a:r>
              <a:rPr lang="en-US" sz="1688" spc="6">
                <a:solidFill>
                  <a:srgbClr val="FEFEFE"/>
                </a:solidFill>
                <a:latin typeface="Raleway"/>
                <a:ea typeface="Raleway"/>
                <a:cs typeface="Raleway"/>
                <a:sym typeface="Raleway"/>
              </a:rPr>
              <a:t>Interview Score shows a moderate correlation with hiring outcomes, where candidates with higher scores are more likely to be accepted.</a:t>
            </a:r>
          </a:p>
        </p:txBody>
      </p:sp>
      <p:sp>
        <p:nvSpPr>
          <p:cNvPr name="TextBox 12" id="12"/>
          <p:cNvSpPr txBox="true"/>
          <p:nvPr/>
        </p:nvSpPr>
        <p:spPr>
          <a:xfrm rot="0">
            <a:off x="1493505" y="3721550"/>
            <a:ext cx="4513291"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ExperienceYears</a:t>
            </a:r>
          </a:p>
          <a:p>
            <a:pPr algn="ctr">
              <a:lnSpc>
                <a:spcPts val="2026"/>
              </a:lnSpc>
              <a:spcBef>
                <a:spcPct val="0"/>
              </a:spcBef>
            </a:pPr>
            <a:r>
              <a:rPr lang="en-US" sz="1688" spc="6">
                <a:solidFill>
                  <a:srgbClr val="FEFEFE"/>
                </a:solidFill>
                <a:latin typeface="Raleway"/>
                <a:ea typeface="Raleway"/>
                <a:cs typeface="Raleway"/>
                <a:sym typeface="Raleway"/>
              </a:rPr>
              <a:t>ExperienceYears shows a moderate correlation with hiring outcomes and contains many unique values, making it suitable for binning.</a:t>
            </a:r>
          </a:p>
        </p:txBody>
      </p:sp>
      <p:sp>
        <p:nvSpPr>
          <p:cNvPr name="TextBox 13" id="13"/>
          <p:cNvSpPr txBox="true"/>
          <p:nvPr/>
        </p:nvSpPr>
        <p:spPr>
          <a:xfrm rot="0">
            <a:off x="6805531" y="3721550"/>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SkillScore</a:t>
            </a:r>
          </a:p>
          <a:p>
            <a:pPr algn="ctr">
              <a:lnSpc>
                <a:spcPts val="2026"/>
              </a:lnSpc>
              <a:spcBef>
                <a:spcPct val="0"/>
              </a:spcBef>
            </a:pPr>
            <a:r>
              <a:rPr lang="en-US" sz="1688" spc="6">
                <a:solidFill>
                  <a:srgbClr val="FEFEFE"/>
                </a:solidFill>
                <a:latin typeface="Raleway"/>
                <a:ea typeface="Raleway"/>
                <a:cs typeface="Raleway"/>
                <a:sym typeface="Raleway"/>
              </a:rPr>
              <a:t>Skill Score shows a moderate correlation with hiring outcomes, where candidates with higher scores are more likely to be accepted.</a:t>
            </a:r>
          </a:p>
        </p:txBody>
      </p:sp>
      <p:sp>
        <p:nvSpPr>
          <p:cNvPr name="TextBox 14" id="14"/>
          <p:cNvSpPr txBox="true"/>
          <p:nvPr/>
        </p:nvSpPr>
        <p:spPr>
          <a:xfrm rot="0">
            <a:off x="6505003" y="6770387"/>
            <a:ext cx="4586663" cy="160029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PersonalityScore</a:t>
            </a:r>
          </a:p>
          <a:p>
            <a:pPr algn="ctr">
              <a:lnSpc>
                <a:spcPts val="2026"/>
              </a:lnSpc>
              <a:spcBef>
                <a:spcPct val="0"/>
              </a:spcBef>
            </a:pPr>
            <a:r>
              <a:rPr lang="en-US" sz="1688" spc="6">
                <a:solidFill>
                  <a:srgbClr val="FEFEFE"/>
                </a:solidFill>
                <a:latin typeface="Raleway"/>
                <a:ea typeface="Raleway"/>
                <a:cs typeface="Raleway"/>
                <a:sym typeface="Raleway"/>
              </a:rPr>
              <a:t>Personality Score shows a moderate correlation with hiring outcomes, with higher scores linked to a greater likelihood of acceptance.</a:t>
            </a:r>
          </a:p>
          <a:p>
            <a:pPr algn="ctr">
              <a:lnSpc>
                <a:spcPts val="2364"/>
              </a:lnSpc>
              <a:spcBef>
                <a:spcPct val="0"/>
              </a:spcBef>
            </a:pPr>
          </a:p>
        </p:txBody>
      </p:sp>
      <p:sp>
        <p:nvSpPr>
          <p:cNvPr name="TextBox 15" id="15"/>
          <p:cNvSpPr txBox="true"/>
          <p:nvPr/>
        </p:nvSpPr>
        <p:spPr>
          <a:xfrm rot="0">
            <a:off x="1661641" y="5245938"/>
            <a:ext cx="4081370" cy="1305374"/>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EducationLevel</a:t>
            </a:r>
          </a:p>
          <a:p>
            <a:pPr algn="ctr">
              <a:lnSpc>
                <a:spcPts val="2026"/>
              </a:lnSpc>
              <a:spcBef>
                <a:spcPct val="0"/>
              </a:spcBef>
            </a:pPr>
            <a:r>
              <a:rPr lang="en-US" sz="1688" spc="6">
                <a:solidFill>
                  <a:srgbClr val="FEFEFE"/>
                </a:solidFill>
                <a:latin typeface="Raleway"/>
                <a:ea typeface="Raleway"/>
                <a:cs typeface="Raleway"/>
                <a:sym typeface="Raleway"/>
              </a:rPr>
              <a:t>Candidate education level shows a fairly strong correlation with hiring outcomes, with higher educational levels associated with greater acceptance.</a:t>
            </a:r>
          </a:p>
        </p:txBody>
      </p:sp>
      <p:sp>
        <p:nvSpPr>
          <p:cNvPr name="TextBox 16" id="16"/>
          <p:cNvSpPr txBox="true"/>
          <p:nvPr/>
        </p:nvSpPr>
        <p:spPr>
          <a:xfrm rot="0">
            <a:off x="1463556" y="6781088"/>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RecruitmentStrategy</a:t>
            </a:r>
          </a:p>
          <a:p>
            <a:pPr algn="ctr">
              <a:lnSpc>
                <a:spcPts val="2026"/>
              </a:lnSpc>
              <a:spcBef>
                <a:spcPct val="0"/>
              </a:spcBef>
            </a:pPr>
            <a:r>
              <a:rPr lang="en-US" sz="1688" spc="6">
                <a:solidFill>
                  <a:srgbClr val="FEFEFE"/>
                </a:solidFill>
                <a:latin typeface="Raleway"/>
                <a:ea typeface="Raleway"/>
                <a:cs typeface="Raleway"/>
                <a:sym typeface="Raleway"/>
              </a:rPr>
              <a:t>Recruitment strategy shows a strong correlation with hiring outcomes, with aggressive strategies leading to higher acceptance rates.</a:t>
            </a:r>
          </a:p>
        </p:txBody>
      </p:sp>
      <p:sp>
        <p:nvSpPr>
          <p:cNvPr name="TextBox 17" id="17"/>
          <p:cNvSpPr txBox="true"/>
          <p:nvPr/>
        </p:nvSpPr>
        <p:spPr>
          <a:xfrm rot="0">
            <a:off x="11945298" y="5245938"/>
            <a:ext cx="4081370" cy="105514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5CE1E6"/>
                </a:solidFill>
                <a:latin typeface="Raleway Bold"/>
                <a:ea typeface="Raleway Bold"/>
                <a:cs typeface="Raleway Bold"/>
                <a:sym typeface="Raleway Bold"/>
              </a:rPr>
              <a:t>TotalScore</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is feature is often more powerful in predicting hiring decisions than a single score.</a:t>
            </a:r>
          </a:p>
        </p:txBody>
      </p:sp>
      <p:sp>
        <p:nvSpPr>
          <p:cNvPr name="TextBox 18" id="18"/>
          <p:cNvSpPr txBox="true"/>
          <p:nvPr/>
        </p:nvSpPr>
        <p:spPr>
          <a:xfrm rot="0">
            <a:off x="11603626" y="6906282"/>
            <a:ext cx="4513291" cy="1055141"/>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5CE1E6"/>
                </a:solidFill>
                <a:latin typeface="Raleway Bold"/>
                <a:ea typeface="Raleway Bold"/>
                <a:cs typeface="Raleway Bold"/>
                <a:sym typeface="Raleway Bold"/>
              </a:rPr>
              <a:t>ExperienceLevel</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ere is a significant relationship where higher levels of experience tend to have a greater chance of acceptance.</a:t>
            </a:r>
          </a:p>
        </p:txBody>
      </p:sp>
      <p:sp>
        <p:nvSpPr>
          <p:cNvPr name="TextBox 19" id="19"/>
          <p:cNvSpPr txBox="true"/>
          <p:nvPr/>
        </p:nvSpPr>
        <p:spPr>
          <a:xfrm rot="0">
            <a:off x="1493505" y="8315217"/>
            <a:ext cx="4477539" cy="1305529"/>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Age</a:t>
            </a:r>
          </a:p>
          <a:p>
            <a:pPr algn="ctr">
              <a:lnSpc>
                <a:spcPts val="2026"/>
              </a:lnSpc>
              <a:spcBef>
                <a:spcPct val="0"/>
              </a:spcBef>
            </a:pPr>
            <a:r>
              <a:rPr lang="en-US" sz="1688" spc="6">
                <a:solidFill>
                  <a:srgbClr val="FEFEFE"/>
                </a:solidFill>
                <a:latin typeface="Raleway"/>
                <a:ea typeface="Raleway"/>
                <a:cs typeface="Raleway"/>
                <a:sym typeface="Raleway"/>
              </a:rPr>
              <a:t>Ag</a:t>
            </a:r>
            <a:r>
              <a:rPr lang="en-US" sz="1688" spc="6">
                <a:solidFill>
                  <a:srgbClr val="FEFEFE"/>
                </a:solidFill>
                <a:latin typeface="Raleway"/>
                <a:ea typeface="Raleway"/>
                <a:cs typeface="Raleway"/>
                <a:sym typeface="Raleway"/>
              </a:rPr>
              <a:t>e had no significant correlation with recruitment outcomes, indicating that the model provides equal opportunities regardless of candidate age.</a:t>
            </a:r>
          </a:p>
        </p:txBody>
      </p:sp>
      <p:sp>
        <p:nvSpPr>
          <p:cNvPr name="TextBox 20" id="20"/>
          <p:cNvSpPr txBox="true"/>
          <p:nvPr/>
        </p:nvSpPr>
        <p:spPr>
          <a:xfrm rot="0">
            <a:off x="6661951" y="8315217"/>
            <a:ext cx="4477539" cy="1555793"/>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PreviousCompanies</a:t>
            </a:r>
          </a:p>
          <a:p>
            <a:pPr algn="ctr">
              <a:lnSpc>
                <a:spcPts val="2026"/>
              </a:lnSpc>
              <a:spcBef>
                <a:spcPct val="0"/>
              </a:spcBef>
            </a:pPr>
            <a:r>
              <a:rPr lang="en-US" sz="1688" spc="6">
                <a:solidFill>
                  <a:srgbClr val="FEFEFE"/>
                </a:solidFill>
                <a:latin typeface="Raleway"/>
                <a:ea typeface="Raleway"/>
                <a:cs typeface="Raleway"/>
                <a:sym typeface="Raleway"/>
              </a:rPr>
              <a:t>Th</a:t>
            </a:r>
            <a:r>
              <a:rPr lang="en-US" sz="1688" spc="6">
                <a:solidFill>
                  <a:srgbClr val="FEFEFE"/>
                </a:solidFill>
                <a:latin typeface="Raleway"/>
                <a:ea typeface="Raleway"/>
                <a:cs typeface="Raleway"/>
                <a:sym typeface="Raleway"/>
              </a:rPr>
              <a:t>is feature shows an insignificant effect. This means that the number of companies a candidate has previously worked for is not a major determinant of hiring decisions in this model.</a:t>
            </a:r>
          </a:p>
        </p:txBody>
      </p:sp>
      <p:sp>
        <p:nvSpPr>
          <p:cNvPr name="TextBox 21" id="21"/>
          <p:cNvSpPr txBox="true"/>
          <p:nvPr/>
        </p:nvSpPr>
        <p:spPr>
          <a:xfrm rot="0">
            <a:off x="11747213" y="3721550"/>
            <a:ext cx="4477539" cy="1055265"/>
          </a:xfrm>
          <a:prstGeom prst="rect">
            <a:avLst/>
          </a:prstGeom>
        </p:spPr>
        <p:txBody>
          <a:bodyPr anchor="t" rtlCol="false" tIns="0" lIns="0" bIns="0" rIns="0">
            <a:spAutoFit/>
          </a:bodyPr>
          <a:lstStyle/>
          <a:p>
            <a:pPr algn="ctr">
              <a:lnSpc>
                <a:spcPts val="2364"/>
              </a:lnSpc>
              <a:spcBef>
                <a:spcPct val="0"/>
              </a:spcBef>
            </a:pPr>
            <a:r>
              <a:rPr lang="en-US" b="true" sz="1970" spc="7" u="sng">
                <a:solidFill>
                  <a:srgbClr val="C1FF72"/>
                </a:solidFill>
                <a:latin typeface="Raleway Bold"/>
                <a:ea typeface="Raleway Bold"/>
                <a:cs typeface="Raleway Bold"/>
                <a:sym typeface="Raleway Bold"/>
              </a:rPr>
              <a:t>DistanceFromCompany</a:t>
            </a:r>
          </a:p>
          <a:p>
            <a:pPr algn="ctr">
              <a:lnSpc>
                <a:spcPts val="2026"/>
              </a:lnSpc>
              <a:spcBef>
                <a:spcPct val="0"/>
              </a:spcBef>
            </a:pPr>
            <a:r>
              <a:rPr lang="en-US" sz="1688" spc="6">
                <a:solidFill>
                  <a:srgbClr val="FEFEFE"/>
                </a:solidFill>
                <a:latin typeface="Raleway"/>
                <a:ea typeface="Raleway"/>
                <a:cs typeface="Raleway"/>
                <a:sym typeface="Raleway"/>
              </a:rPr>
              <a:t>D</a:t>
            </a:r>
            <a:r>
              <a:rPr lang="en-US" sz="1688" spc="6">
                <a:solidFill>
                  <a:srgbClr val="FEFEFE"/>
                </a:solidFill>
                <a:latin typeface="Raleway"/>
                <a:ea typeface="Raleway"/>
                <a:cs typeface="Raleway"/>
                <a:sym typeface="Raleway"/>
              </a:rPr>
              <a:t>istanceFromCompany did not show a statistically significant effect on recruitment decisions.</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0" y="0"/>
            <a:ext cx="18288000" cy="10287000"/>
          </a:xfrm>
          <a:custGeom>
            <a:avLst/>
            <a:gdLst/>
            <a:ahLst/>
            <a:cxnLst/>
            <a:rect r="r" b="b" t="t" l="l"/>
            <a:pathLst>
              <a:path h="10287000" w="18288000">
                <a:moveTo>
                  <a:pt x="0" y="0"/>
                </a:moveTo>
                <a:lnTo>
                  <a:pt x="18288000" y="0"/>
                </a:lnTo>
                <a:lnTo>
                  <a:pt x="18288000" y="10287000"/>
                </a:lnTo>
                <a:lnTo>
                  <a:pt x="0" y="10287000"/>
                </a:lnTo>
                <a:lnTo>
                  <a:pt x="0" y="0"/>
                </a:lnTo>
                <a:close/>
              </a:path>
            </a:pathLst>
          </a:custGeom>
          <a:blipFill>
            <a:blip r:embed="rId2"/>
            <a:stretch>
              <a:fillRect l="-3520" t="0" r="-5578" b="-9099"/>
            </a:stretch>
          </a:blipFill>
        </p:spPr>
      </p:sp>
      <p:sp>
        <p:nvSpPr>
          <p:cNvPr name="TextBox 3" id="3"/>
          <p:cNvSpPr txBox="true"/>
          <p:nvPr/>
        </p:nvSpPr>
        <p:spPr>
          <a:xfrm rot="0">
            <a:off x="854691" y="503223"/>
            <a:ext cx="7742328" cy="1062736"/>
          </a:xfrm>
          <a:prstGeom prst="rect">
            <a:avLst/>
          </a:prstGeom>
        </p:spPr>
        <p:txBody>
          <a:bodyPr anchor="t" rtlCol="false" tIns="0" lIns="0" bIns="0" rIns="0">
            <a:spAutoFit/>
          </a:bodyPr>
          <a:lstStyle/>
          <a:p>
            <a:pPr algn="ctr">
              <a:lnSpc>
                <a:spcPts val="8623"/>
              </a:lnSpc>
              <a:spcBef>
                <a:spcPct val="0"/>
              </a:spcBef>
            </a:pPr>
            <a:r>
              <a:rPr lang="en-US" sz="6159">
                <a:solidFill>
                  <a:srgbClr val="18102B"/>
                </a:solidFill>
                <a:latin typeface="Raleway"/>
                <a:ea typeface="Raleway"/>
                <a:cs typeface="Raleway"/>
                <a:sym typeface="Raleway"/>
              </a:rPr>
              <a:t>Dat</a:t>
            </a:r>
            <a:r>
              <a:rPr lang="en-US" sz="6159">
                <a:solidFill>
                  <a:srgbClr val="18102B"/>
                </a:solidFill>
                <a:latin typeface="Raleway"/>
                <a:ea typeface="Raleway"/>
                <a:cs typeface="Raleway"/>
                <a:sym typeface="Raleway"/>
              </a:rPr>
              <a:t>a Pre-processing</a:t>
            </a:r>
          </a:p>
        </p:txBody>
      </p:sp>
      <p:grpSp>
        <p:nvGrpSpPr>
          <p:cNvPr name="Group 4" id="4"/>
          <p:cNvGrpSpPr/>
          <p:nvPr/>
        </p:nvGrpSpPr>
        <p:grpSpPr>
          <a:xfrm rot="0">
            <a:off x="10706681" y="5093262"/>
            <a:ext cx="3078444" cy="4625902"/>
            <a:chOff x="0" y="0"/>
            <a:chExt cx="10623847" cy="15964193"/>
          </a:xfrm>
        </p:grpSpPr>
        <p:sp>
          <p:nvSpPr>
            <p:cNvPr name="Freeform 5" id="5"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6" id="6"/>
          <p:cNvSpPr txBox="true"/>
          <p:nvPr/>
        </p:nvSpPr>
        <p:spPr>
          <a:xfrm rot="0">
            <a:off x="10913271" y="5308370"/>
            <a:ext cx="2665265" cy="2066925"/>
          </a:xfrm>
          <a:prstGeom prst="rect">
            <a:avLst/>
          </a:prstGeom>
        </p:spPr>
        <p:txBody>
          <a:bodyPr anchor="t" rtlCol="false" tIns="0" lIns="0" bIns="0" rIns="0">
            <a:spAutoFit/>
          </a:bodyPr>
          <a:lstStyle/>
          <a:p>
            <a:pPr algn="ctr">
              <a:lnSpc>
                <a:spcPts val="2280"/>
              </a:lnSpc>
            </a:pPr>
            <a:r>
              <a:rPr lang="en-US" b="true" sz="1900" spc="7">
                <a:solidFill>
                  <a:srgbClr val="C1FF72"/>
                </a:solidFill>
                <a:latin typeface="Raleway Bold"/>
                <a:ea typeface="Raleway Bold"/>
                <a:cs typeface="Raleway Bold"/>
                <a:sym typeface="Raleway Bold"/>
              </a:rPr>
              <a:t>StandarScaler</a:t>
            </a:r>
          </a:p>
          <a:p>
            <a:pPr algn="ctr">
              <a:lnSpc>
                <a:spcPts val="2279"/>
              </a:lnSpc>
              <a:spcBef>
                <a:spcPct val="0"/>
              </a:spcBef>
            </a:pPr>
          </a:p>
          <a:p>
            <a:pPr algn="ctr">
              <a:lnSpc>
                <a:spcPts val="1980"/>
              </a:lnSpc>
              <a:spcBef>
                <a:spcPct val="0"/>
              </a:spcBef>
            </a:pPr>
            <a:r>
              <a:rPr lang="en-US" sz="1650" spc="6">
                <a:solidFill>
                  <a:srgbClr val="FFFFFF"/>
                </a:solidFill>
                <a:latin typeface="Raleway"/>
                <a:ea typeface="Raleway"/>
                <a:cs typeface="Raleway"/>
                <a:sym typeface="Raleway"/>
              </a:rPr>
              <a:t>Numerical features will be processed using StandardScaler to ensure they share a similar range, allowing the model to learn more effectively.</a:t>
            </a:r>
          </a:p>
        </p:txBody>
      </p:sp>
      <p:grpSp>
        <p:nvGrpSpPr>
          <p:cNvPr name="Group 7" id="7"/>
          <p:cNvGrpSpPr/>
          <p:nvPr/>
        </p:nvGrpSpPr>
        <p:grpSpPr>
          <a:xfrm rot="0">
            <a:off x="1233825" y="5093262"/>
            <a:ext cx="3078444" cy="4625902"/>
            <a:chOff x="0" y="0"/>
            <a:chExt cx="10623847" cy="15964193"/>
          </a:xfrm>
        </p:grpSpPr>
        <p:sp>
          <p:nvSpPr>
            <p:cNvPr name="Freeform 8" id="8"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9" id="9"/>
          <p:cNvSpPr txBox="true"/>
          <p:nvPr/>
        </p:nvSpPr>
        <p:spPr>
          <a:xfrm rot="0">
            <a:off x="1459077" y="7657536"/>
            <a:ext cx="2627941" cy="1819275"/>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One Hot Encoding</a:t>
            </a:r>
          </a:p>
          <a:p>
            <a:pPr algn="ctr">
              <a:lnSpc>
                <a:spcPts val="2277"/>
              </a:lnSpc>
              <a:spcBef>
                <a:spcPct val="0"/>
              </a:spcBef>
            </a:pPr>
          </a:p>
          <a:p>
            <a:pPr algn="ctr">
              <a:lnSpc>
                <a:spcPts val="1952"/>
              </a:lnSpc>
              <a:spcBef>
                <a:spcPct val="0"/>
              </a:spcBef>
            </a:pPr>
            <a:r>
              <a:rPr lang="en-US" sz="1627" spc="6">
                <a:solidFill>
                  <a:srgbClr val="FFFFFF"/>
                </a:solidFill>
                <a:latin typeface="Raleway"/>
                <a:ea typeface="Raleway"/>
                <a:cs typeface="Raleway"/>
                <a:sym typeface="Raleway"/>
              </a:rPr>
              <a:t>For c</a:t>
            </a:r>
            <a:r>
              <a:rPr lang="en-US" sz="1627" spc="6">
                <a:solidFill>
                  <a:srgbClr val="FFFFFF"/>
                </a:solidFill>
                <a:latin typeface="Raleway"/>
                <a:ea typeface="Raleway"/>
                <a:cs typeface="Raleway"/>
                <a:sym typeface="Raleway"/>
              </a:rPr>
              <a:t>ategorical features with more than two unique values. For example: ExperienceYear (Junior, Medior, Senior)</a:t>
            </a:r>
          </a:p>
        </p:txBody>
      </p:sp>
      <p:sp>
        <p:nvSpPr>
          <p:cNvPr name="TextBox 10" id="10"/>
          <p:cNvSpPr txBox="true"/>
          <p:nvPr/>
        </p:nvSpPr>
        <p:spPr>
          <a:xfrm rot="0">
            <a:off x="1459077" y="5308370"/>
            <a:ext cx="2627941" cy="2009775"/>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Ordinal Encoding</a:t>
            </a:r>
          </a:p>
          <a:p>
            <a:pPr algn="ctr">
              <a:lnSpc>
                <a:spcPts val="2277"/>
              </a:lnSpc>
              <a:spcBef>
                <a:spcPct val="0"/>
              </a:spcBef>
            </a:pPr>
          </a:p>
          <a:p>
            <a:pPr algn="ctr">
              <a:lnSpc>
                <a:spcPts val="1919"/>
              </a:lnSpc>
              <a:spcBef>
                <a:spcPct val="0"/>
              </a:spcBef>
            </a:pPr>
            <a:r>
              <a:rPr lang="en-US" sz="1599" spc="6">
                <a:solidFill>
                  <a:srgbClr val="FFFFFF"/>
                </a:solidFill>
                <a:latin typeface="Raleway"/>
                <a:ea typeface="Raleway"/>
                <a:cs typeface="Raleway"/>
                <a:sym typeface="Raleway"/>
              </a:rPr>
              <a:t>For categorical features with logical order. Example: EducationLevel where each category is converted to a number representing that order (1, 2, 3, 4).</a:t>
            </a:r>
          </a:p>
        </p:txBody>
      </p:sp>
      <p:grpSp>
        <p:nvGrpSpPr>
          <p:cNvPr name="Group 11" id="11"/>
          <p:cNvGrpSpPr/>
          <p:nvPr/>
        </p:nvGrpSpPr>
        <p:grpSpPr>
          <a:xfrm rot="0">
            <a:off x="1028700" y="2545021"/>
            <a:ext cx="16243644" cy="2488000"/>
            <a:chOff x="0" y="0"/>
            <a:chExt cx="21658192" cy="3317334"/>
          </a:xfrm>
        </p:grpSpPr>
        <p:sp>
          <p:nvSpPr>
            <p:cNvPr name="TextBox 12" id="12"/>
            <p:cNvSpPr txBox="true"/>
            <p:nvPr/>
          </p:nvSpPr>
          <p:spPr>
            <a:xfrm rot="0">
              <a:off x="12601735" y="-19050"/>
              <a:ext cx="5135757" cy="1543050"/>
            </a:xfrm>
            <a:prstGeom prst="rect">
              <a:avLst/>
            </a:prstGeom>
          </p:spPr>
          <p:txBody>
            <a:bodyPr anchor="t" rtlCol="false" tIns="0" lIns="0" bIns="0" rIns="0">
              <a:spAutoFit/>
            </a:bodyPr>
            <a:lstStyle/>
            <a:p>
              <a:pPr algn="ctr">
                <a:lnSpc>
                  <a:spcPts val="4560"/>
                </a:lnSpc>
              </a:pPr>
              <a:r>
                <a:rPr lang="en-US" b="true" sz="3800">
                  <a:solidFill>
                    <a:srgbClr val="000000"/>
                  </a:solidFill>
                  <a:latin typeface="Raleway Bold"/>
                  <a:ea typeface="Raleway Bold"/>
                  <a:cs typeface="Raleway Bold"/>
                  <a:sym typeface="Raleway Bold"/>
                </a:rPr>
                <a:t>Feature </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Scaling</a:t>
              </a:r>
            </a:p>
          </p:txBody>
        </p:sp>
        <p:sp>
          <p:nvSpPr>
            <p:cNvPr name="TextBox 13" id="13"/>
            <p:cNvSpPr txBox="true"/>
            <p:nvPr/>
          </p:nvSpPr>
          <p:spPr>
            <a:xfrm rot="0">
              <a:off x="0" y="-19050"/>
              <a:ext cx="5017062" cy="1543050"/>
            </a:xfrm>
            <a:prstGeom prst="rect">
              <a:avLst/>
            </a:prstGeom>
          </p:spPr>
          <p:txBody>
            <a:bodyPr anchor="t" rtlCol="false" tIns="0" lIns="0" bIns="0" rIns="0">
              <a:spAutoFit/>
            </a:bodyPr>
            <a:lstStyle/>
            <a:p>
              <a:pPr algn="ctr">
                <a:lnSpc>
                  <a:spcPts val="4560"/>
                </a:lnSpc>
              </a:pPr>
              <a:r>
                <a:rPr lang="en-US" sz="3800" b="true">
                  <a:solidFill>
                    <a:srgbClr val="000000"/>
                  </a:solidFill>
                  <a:latin typeface="Raleway Bold"/>
                  <a:ea typeface="Raleway Bold"/>
                  <a:cs typeface="Raleway Bold"/>
                  <a:sym typeface="Raleway Bold"/>
                </a:rPr>
                <a:t>Fe</a:t>
              </a:r>
              <a:r>
                <a:rPr lang="en-US" b="true" sz="3800">
                  <a:solidFill>
                    <a:srgbClr val="000000"/>
                  </a:solidFill>
                  <a:latin typeface="Raleway Bold"/>
                  <a:ea typeface="Raleway Bold"/>
                  <a:cs typeface="Raleway Bold"/>
                  <a:sym typeface="Raleway Bold"/>
                </a:rPr>
                <a:t>ature</a:t>
              </a:r>
            </a:p>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Encoding</a:t>
              </a:r>
            </a:p>
          </p:txBody>
        </p:sp>
        <p:sp>
          <p:nvSpPr>
            <p:cNvPr name="TextBox 14" id="14"/>
            <p:cNvSpPr txBox="true"/>
            <p:nvPr/>
          </p:nvSpPr>
          <p:spPr>
            <a:xfrm rot="0">
              <a:off x="17554719" y="-19050"/>
              <a:ext cx="3632251"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Model Training</a:t>
              </a:r>
            </a:p>
          </p:txBody>
        </p:sp>
        <p:sp>
          <p:nvSpPr>
            <p:cNvPr name="TextBox 15" id="15"/>
            <p:cNvSpPr txBox="true"/>
            <p:nvPr/>
          </p:nvSpPr>
          <p:spPr>
            <a:xfrm rot="0">
              <a:off x="4678787" y="-19050"/>
              <a:ext cx="3988353"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Split D</a:t>
              </a:r>
              <a:r>
                <a:rPr lang="en-US" b="true" sz="3800">
                  <a:solidFill>
                    <a:srgbClr val="000000"/>
                  </a:solidFill>
                  <a:latin typeface="Raleway Bold"/>
                  <a:ea typeface="Raleway Bold"/>
                  <a:cs typeface="Raleway Bold"/>
                  <a:sym typeface="Raleway Bold"/>
                </a:rPr>
                <a:t>ata (70:30)</a:t>
              </a:r>
            </a:p>
          </p:txBody>
        </p:sp>
        <p:sp>
          <p:nvSpPr>
            <p:cNvPr name="TextBox 16" id="16"/>
            <p:cNvSpPr txBox="true"/>
            <p:nvPr/>
          </p:nvSpPr>
          <p:spPr>
            <a:xfrm rot="0">
              <a:off x="8527579" y="-19050"/>
              <a:ext cx="4595026" cy="1543050"/>
            </a:xfrm>
            <a:prstGeom prst="rect">
              <a:avLst/>
            </a:prstGeom>
          </p:spPr>
          <p:txBody>
            <a:bodyPr anchor="t" rtlCol="false" tIns="0" lIns="0" bIns="0" rIns="0">
              <a:spAutoFit/>
            </a:bodyPr>
            <a:lstStyle/>
            <a:p>
              <a:pPr algn="ctr" marL="0" indent="0" lvl="0">
                <a:lnSpc>
                  <a:spcPts val="4560"/>
                </a:lnSpc>
                <a:spcBef>
                  <a:spcPct val="0"/>
                </a:spcBef>
              </a:pPr>
              <a:r>
                <a:rPr lang="en-US" b="true" sz="3800">
                  <a:solidFill>
                    <a:srgbClr val="000000"/>
                  </a:solidFill>
                  <a:latin typeface="Raleway Bold"/>
                  <a:ea typeface="Raleway Bold"/>
                  <a:cs typeface="Raleway Bold"/>
                  <a:sym typeface="Raleway Bold"/>
                </a:rPr>
                <a:t>D</a:t>
              </a:r>
              <a:r>
                <a:rPr lang="en-US" b="true" sz="3800">
                  <a:solidFill>
                    <a:srgbClr val="000000"/>
                  </a:solidFill>
                  <a:latin typeface="Raleway Bold"/>
                  <a:ea typeface="Raleway Bold"/>
                  <a:cs typeface="Raleway Bold"/>
                  <a:sym typeface="Raleway Bold"/>
                </a:rPr>
                <a:t>ata Balancing</a:t>
              </a:r>
            </a:p>
          </p:txBody>
        </p:sp>
        <p:grpSp>
          <p:nvGrpSpPr>
            <p:cNvPr name="Group 17" id="17"/>
            <p:cNvGrpSpPr/>
            <p:nvPr/>
          </p:nvGrpSpPr>
          <p:grpSpPr>
            <a:xfrm rot="0">
              <a:off x="222469" y="2598183"/>
              <a:ext cx="4574696" cy="341605"/>
              <a:chOff x="0" y="0"/>
              <a:chExt cx="4574696" cy="341605"/>
            </a:xfrm>
          </p:grpSpPr>
          <p:sp>
            <p:nvSpPr>
              <p:cNvPr name="Freeform 18" id="18"/>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19" id="19"/>
            <p:cNvGrpSpPr/>
            <p:nvPr/>
          </p:nvGrpSpPr>
          <p:grpSpPr>
            <a:xfrm rot="0">
              <a:off x="221183" y="2975729"/>
              <a:ext cx="4574696" cy="341605"/>
              <a:chOff x="0" y="0"/>
              <a:chExt cx="4574696" cy="341605"/>
            </a:xfrm>
          </p:grpSpPr>
          <p:sp>
            <p:nvSpPr>
              <p:cNvPr name="Freeform 20" id="20"/>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21" id="21"/>
            <p:cNvGrpSpPr/>
            <p:nvPr/>
          </p:nvGrpSpPr>
          <p:grpSpPr>
            <a:xfrm rot="0">
              <a:off x="4444381" y="2598183"/>
              <a:ext cx="4574696" cy="341605"/>
              <a:chOff x="0" y="0"/>
              <a:chExt cx="4574696" cy="341605"/>
            </a:xfrm>
          </p:grpSpPr>
          <p:sp>
            <p:nvSpPr>
              <p:cNvPr name="Freeform 22" id="22"/>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3" id="23"/>
            <p:cNvGrpSpPr/>
            <p:nvPr/>
          </p:nvGrpSpPr>
          <p:grpSpPr>
            <a:xfrm rot="0">
              <a:off x="4443096" y="2975729"/>
              <a:ext cx="4574696" cy="341605"/>
              <a:chOff x="0" y="0"/>
              <a:chExt cx="4574696" cy="341605"/>
            </a:xfrm>
          </p:grpSpPr>
          <p:sp>
            <p:nvSpPr>
              <p:cNvPr name="Freeform 24" id="24"/>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D9D9D9"/>
              </a:solidFill>
            </p:spPr>
          </p:sp>
        </p:grpSp>
        <p:grpSp>
          <p:nvGrpSpPr>
            <p:cNvPr name="Group 25" id="25"/>
            <p:cNvGrpSpPr/>
            <p:nvPr/>
          </p:nvGrpSpPr>
          <p:grpSpPr>
            <a:xfrm rot="0">
              <a:off x="8668425" y="2598183"/>
              <a:ext cx="4574696" cy="341605"/>
              <a:chOff x="0" y="0"/>
              <a:chExt cx="4574696" cy="341605"/>
            </a:xfrm>
          </p:grpSpPr>
          <p:sp>
            <p:nvSpPr>
              <p:cNvPr name="Freeform 26" id="26"/>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nvGrpSpPr>
            <p:cNvPr name="Group 27" id="27"/>
            <p:cNvGrpSpPr/>
            <p:nvPr/>
          </p:nvGrpSpPr>
          <p:grpSpPr>
            <a:xfrm rot="0">
              <a:off x="8667139" y="2975729"/>
              <a:ext cx="4574696" cy="341605"/>
              <a:chOff x="0" y="0"/>
              <a:chExt cx="4574696" cy="341605"/>
            </a:xfrm>
          </p:grpSpPr>
          <p:sp>
            <p:nvSpPr>
              <p:cNvPr name="Freeform 28" id="2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29" id="29"/>
            <p:cNvGrpSpPr/>
            <p:nvPr/>
          </p:nvGrpSpPr>
          <p:grpSpPr>
            <a:xfrm rot="0">
              <a:off x="12882266" y="2598183"/>
              <a:ext cx="4574696" cy="341605"/>
              <a:chOff x="0" y="0"/>
              <a:chExt cx="4574696" cy="341605"/>
            </a:xfrm>
          </p:grpSpPr>
          <p:sp>
            <p:nvSpPr>
              <p:cNvPr name="Freeform 30" id="3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4E5567"/>
              </a:solidFill>
            </p:spPr>
          </p:sp>
        </p:grpSp>
        <p:grpSp>
          <p:nvGrpSpPr>
            <p:cNvPr name="Group 31" id="31"/>
            <p:cNvGrpSpPr/>
            <p:nvPr/>
          </p:nvGrpSpPr>
          <p:grpSpPr>
            <a:xfrm rot="0">
              <a:off x="12880981" y="2975729"/>
              <a:ext cx="4574696" cy="341605"/>
              <a:chOff x="0" y="0"/>
              <a:chExt cx="4574696" cy="341605"/>
            </a:xfrm>
          </p:grpSpPr>
          <p:sp>
            <p:nvSpPr>
              <p:cNvPr name="Freeform 32" id="32"/>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3" id="33"/>
            <p:cNvGrpSpPr/>
            <p:nvPr/>
          </p:nvGrpSpPr>
          <p:grpSpPr>
            <a:xfrm rot="0">
              <a:off x="17083496" y="2598183"/>
              <a:ext cx="4574696" cy="341605"/>
              <a:chOff x="0" y="0"/>
              <a:chExt cx="4574696" cy="341605"/>
            </a:xfrm>
          </p:grpSpPr>
          <p:sp>
            <p:nvSpPr>
              <p:cNvPr name="Freeform 34" id="34"/>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2F2F2F"/>
              </a:solidFill>
            </p:spPr>
          </p:sp>
        </p:grpSp>
        <p:grpSp>
          <p:nvGrpSpPr>
            <p:cNvPr name="Group 35" id="35"/>
            <p:cNvGrpSpPr/>
            <p:nvPr/>
          </p:nvGrpSpPr>
          <p:grpSpPr>
            <a:xfrm rot="0">
              <a:off x="17082211" y="2975729"/>
              <a:ext cx="4574696" cy="341605"/>
              <a:chOff x="0" y="0"/>
              <a:chExt cx="4574696" cy="341605"/>
            </a:xfrm>
          </p:grpSpPr>
          <p:sp>
            <p:nvSpPr>
              <p:cNvPr name="Freeform 36" id="36"/>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4E5567"/>
              </a:solidFill>
            </p:spPr>
          </p:sp>
        </p:grpSp>
        <p:grpSp>
          <p:nvGrpSpPr>
            <p:cNvPr name="Group 37" id="37"/>
            <p:cNvGrpSpPr/>
            <p:nvPr/>
          </p:nvGrpSpPr>
          <p:grpSpPr>
            <a:xfrm rot="0">
              <a:off x="12880981" y="2975729"/>
              <a:ext cx="4574696" cy="341605"/>
              <a:chOff x="0" y="0"/>
              <a:chExt cx="4574696" cy="341605"/>
            </a:xfrm>
          </p:grpSpPr>
          <p:sp>
            <p:nvSpPr>
              <p:cNvPr name="Freeform 38" id="38"/>
              <p:cNvSpPr/>
              <p:nvPr/>
            </p:nvSpPr>
            <p:spPr>
              <a:xfrm flipH="false" flipV="false" rot="0">
                <a:off x="0" y="0"/>
                <a:ext cx="4574631" cy="341630"/>
              </a:xfrm>
              <a:custGeom>
                <a:avLst/>
                <a:gdLst/>
                <a:ahLst/>
                <a:cxnLst/>
                <a:rect r="r" b="b" t="t" l="l"/>
                <a:pathLst>
                  <a:path h="341630" w="4574631">
                    <a:moveTo>
                      <a:pt x="0" y="341630"/>
                    </a:moveTo>
                    <a:lnTo>
                      <a:pt x="424381" y="0"/>
                    </a:lnTo>
                    <a:lnTo>
                      <a:pt x="4574631" y="0"/>
                    </a:lnTo>
                    <a:lnTo>
                      <a:pt x="4150412" y="341630"/>
                    </a:lnTo>
                    <a:close/>
                  </a:path>
                </a:pathLst>
              </a:custGeom>
              <a:solidFill>
                <a:srgbClr val="7E8C92"/>
              </a:solidFill>
            </p:spPr>
          </p:sp>
        </p:grpSp>
        <p:grpSp>
          <p:nvGrpSpPr>
            <p:cNvPr name="Group 39" id="39"/>
            <p:cNvGrpSpPr/>
            <p:nvPr/>
          </p:nvGrpSpPr>
          <p:grpSpPr>
            <a:xfrm rot="0">
              <a:off x="12880981" y="2598183"/>
              <a:ext cx="4574696" cy="341605"/>
              <a:chOff x="0" y="0"/>
              <a:chExt cx="4574696" cy="341605"/>
            </a:xfrm>
          </p:grpSpPr>
          <p:sp>
            <p:nvSpPr>
              <p:cNvPr name="Freeform 40" id="40"/>
              <p:cNvSpPr/>
              <p:nvPr/>
            </p:nvSpPr>
            <p:spPr>
              <a:xfrm flipH="false" flipV="false" rot="0">
                <a:off x="0" y="0"/>
                <a:ext cx="4574631" cy="341630"/>
              </a:xfrm>
              <a:custGeom>
                <a:avLst/>
                <a:gdLst/>
                <a:ahLst/>
                <a:cxnLst/>
                <a:rect r="r" b="b" t="t" l="l"/>
                <a:pathLst>
                  <a:path h="341630" w="4574631">
                    <a:moveTo>
                      <a:pt x="4574631" y="341630"/>
                    </a:moveTo>
                    <a:lnTo>
                      <a:pt x="4150412" y="0"/>
                    </a:lnTo>
                    <a:lnTo>
                      <a:pt x="0" y="0"/>
                    </a:lnTo>
                    <a:lnTo>
                      <a:pt x="424381" y="341630"/>
                    </a:lnTo>
                    <a:close/>
                  </a:path>
                </a:pathLst>
              </a:custGeom>
              <a:solidFill>
                <a:srgbClr val="FFFFFF"/>
              </a:solidFill>
            </p:spPr>
          </p:sp>
        </p:grpSp>
      </p:grpSp>
      <p:grpSp>
        <p:nvGrpSpPr>
          <p:cNvPr name="Group 41" id="41"/>
          <p:cNvGrpSpPr/>
          <p:nvPr/>
        </p:nvGrpSpPr>
        <p:grpSpPr>
          <a:xfrm rot="0">
            <a:off x="7550881" y="5093262"/>
            <a:ext cx="3078444" cy="4625902"/>
            <a:chOff x="0" y="0"/>
            <a:chExt cx="10623847" cy="15964193"/>
          </a:xfrm>
        </p:grpSpPr>
        <p:sp>
          <p:nvSpPr>
            <p:cNvPr name="Freeform 42" id="42" descr="image.png"/>
            <p:cNvSpPr/>
            <p:nvPr/>
          </p:nvSpPr>
          <p:spPr>
            <a:xfrm flipH="false" flipV="false" rot="0">
              <a:off x="0" y="0"/>
              <a:ext cx="10623886" cy="15964219"/>
            </a:xfrm>
            <a:custGeom>
              <a:avLst/>
              <a:gdLst/>
              <a:ahLst/>
              <a:cxnLst/>
              <a:rect r="r" b="b" t="t" l="l"/>
              <a:pathLst>
                <a:path h="15964219" w="10623886">
                  <a:moveTo>
                    <a:pt x="0" y="0"/>
                  </a:moveTo>
                  <a:lnTo>
                    <a:pt x="10623886" y="0"/>
                  </a:lnTo>
                  <a:lnTo>
                    <a:pt x="10623886" y="15964219"/>
                  </a:lnTo>
                  <a:lnTo>
                    <a:pt x="0" y="15964219"/>
                  </a:lnTo>
                  <a:lnTo>
                    <a:pt x="0" y="0"/>
                  </a:lnTo>
                  <a:close/>
                </a:path>
              </a:pathLst>
            </a:custGeom>
            <a:solidFill>
              <a:srgbClr val="7E8C92"/>
            </a:solidFill>
          </p:spPr>
        </p:sp>
      </p:grpSp>
      <p:sp>
        <p:nvSpPr>
          <p:cNvPr name="TextBox 43" id="43"/>
          <p:cNvSpPr txBox="true"/>
          <p:nvPr/>
        </p:nvSpPr>
        <p:spPr>
          <a:xfrm rot="0">
            <a:off x="7834342" y="5308370"/>
            <a:ext cx="2632360" cy="3057525"/>
          </a:xfrm>
          <a:prstGeom prst="rect">
            <a:avLst/>
          </a:prstGeom>
        </p:spPr>
        <p:txBody>
          <a:bodyPr anchor="t" rtlCol="false" tIns="0" lIns="0" bIns="0" rIns="0">
            <a:spAutoFit/>
          </a:bodyPr>
          <a:lstStyle/>
          <a:p>
            <a:pPr algn="ctr">
              <a:lnSpc>
                <a:spcPts val="2277"/>
              </a:lnSpc>
            </a:pPr>
            <a:r>
              <a:rPr lang="en-US" b="true" sz="1898" spc="7">
                <a:solidFill>
                  <a:srgbClr val="C1FF72"/>
                </a:solidFill>
                <a:latin typeface="Raleway Bold"/>
                <a:ea typeface="Raleway Bold"/>
                <a:cs typeface="Raleway Bold"/>
                <a:sym typeface="Raleway Bold"/>
              </a:rPr>
              <a:t>SMOTE</a:t>
            </a:r>
          </a:p>
          <a:p>
            <a:pPr algn="ctr">
              <a:lnSpc>
                <a:spcPts val="2277"/>
              </a:lnSpc>
              <a:spcBef>
                <a:spcPct val="0"/>
              </a:spcBef>
            </a:pPr>
          </a:p>
          <a:p>
            <a:pPr algn="ctr">
              <a:lnSpc>
                <a:spcPts val="1980"/>
              </a:lnSpc>
              <a:spcBef>
                <a:spcPct val="0"/>
              </a:spcBef>
            </a:pPr>
            <a:r>
              <a:rPr lang="en-US" sz="1650" spc="6">
                <a:solidFill>
                  <a:srgbClr val="FFFFFF"/>
                </a:solidFill>
                <a:latin typeface="Raleway"/>
                <a:ea typeface="Raleway"/>
                <a:cs typeface="Raleway"/>
                <a:sym typeface="Raleway"/>
              </a:rPr>
              <a:t>This technique handles imbalanced data by creating new, synthetic data for the minority class. SMOTE helps the model learn to better recognize the characteristics of the minority class, thereby improving detection performance.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DAHHAUYIHsg</dc:identifier>
  <dcterms:modified xsi:type="dcterms:W3CDTF">2011-08-01T06:04:30Z</dcterms:modified>
  <cp:revision>1</cp:revision>
  <dc:title>Smote PPT Presentasi – Kelompok 2 – HIRESIGHTS</dc:title>
</cp:coreProperties>
</file>