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3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Lst>
  <p:sldSz cx="18288000" cy="10287000"/>
  <p:notesSz cx="6858000" cy="9144000"/>
  <p:embeddedFontLst>
    <p:embeddedFont>
      <p:font typeface="Raleway Bold" charset="1" panose="00000000000000000000"/>
      <p:regular r:id="rId29"/>
    </p:embeddedFont>
    <p:embeddedFont>
      <p:font typeface="Raleway" charset="1" panose="00000000000000000000"/>
      <p:regular r:id="rId30"/>
    </p:embeddedFont>
    <p:embeddedFont>
      <p:font typeface="Poppins Bold" charset="1" panose="00000800000000000000"/>
      <p:regular r:id="rId31"/>
    </p:embeddedFont>
    <p:embeddedFont>
      <p:font typeface="Poppins" charset="1" panose="00000500000000000000"/>
      <p:regular r:id="rId32"/>
    </p:embeddedFont>
    <p:embeddedFont>
      <p:font typeface="Canva Sans Bold" charset="1" panose="020B0803030501040103"/>
      <p:regular r:id="rId33"/>
    </p:embeddedFont>
    <p:embeddedFont>
      <p:font typeface="Canva Sans" charset="1" panose="020B0503030501040103"/>
      <p:regular r:id="rId34"/>
    </p:embeddedFont>
    <p:embeddedFont>
      <p:font typeface="Barlow" charset="1" panose="00000500000000000000"/>
      <p:regular r:id="rId40"/>
    </p:embeddedFont>
    <p:embeddedFont>
      <p:font typeface="Barlow Bold" charset="1" panose="00000800000000000000"/>
      <p:regular r:id="rId4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fonts/font29.fntdata" Type="http://schemas.openxmlformats.org/officeDocument/2006/relationships/font"/><Relationship Id="rId3" Target="viewProps.xml" Type="http://schemas.openxmlformats.org/officeDocument/2006/relationships/viewProps"/><Relationship Id="rId30" Target="fonts/font30.fntdata" Type="http://schemas.openxmlformats.org/officeDocument/2006/relationships/font"/><Relationship Id="rId31" Target="fonts/font31.fntdata" Type="http://schemas.openxmlformats.org/officeDocument/2006/relationships/font"/><Relationship Id="rId32" Target="fonts/font32.fntdata" Type="http://schemas.openxmlformats.org/officeDocument/2006/relationships/font"/><Relationship Id="rId33" Target="fonts/font33.fntdata" Type="http://schemas.openxmlformats.org/officeDocument/2006/relationships/font"/><Relationship Id="rId34" Target="fonts/font34.fntdata" Type="http://schemas.openxmlformats.org/officeDocument/2006/relationships/font"/><Relationship Id="rId35" Target="notesMasters/notesMaster1.xml" Type="http://schemas.openxmlformats.org/officeDocument/2006/relationships/notesMaster"/><Relationship Id="rId36" Target="theme/theme2.xml" Type="http://schemas.openxmlformats.org/officeDocument/2006/relationships/theme"/><Relationship Id="rId37" Target="notesSlides/notesSlide1.xml" Type="http://schemas.openxmlformats.org/officeDocument/2006/relationships/notesSlide"/><Relationship Id="rId38" Target="notesSlides/notesSlide2.xml" Type="http://schemas.openxmlformats.org/officeDocument/2006/relationships/notesSlide"/><Relationship Id="rId39" Target="notesSlides/notesSlide3.xml" Type="http://schemas.openxmlformats.org/officeDocument/2006/relationships/notesSlide"/><Relationship Id="rId4" Target="theme/theme1.xml" Type="http://schemas.openxmlformats.org/officeDocument/2006/relationships/theme"/><Relationship Id="rId40" Target="fonts/font40.fntdata" Type="http://schemas.openxmlformats.org/officeDocument/2006/relationships/font"/><Relationship Id="rId41" Target="fonts/font41.fntdata" Type="http://schemas.openxmlformats.org/officeDocument/2006/relationships/font"/><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6.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png" Type="http://schemas.openxmlformats.org/officeDocument/2006/relationships/image"/><Relationship Id="rId4" Target="../media/image4.png" Type="http://schemas.openxmlformats.org/officeDocument/2006/relationships/image"/><Relationship Id="rId5" Target="../media/image5.png" Type="http://schemas.openxmlformats.org/officeDocument/2006/relationships/image"/><Relationship Id="rId6" Target="../media/image6.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7.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10.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jpe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13.png" Type="http://schemas.openxmlformats.org/officeDocument/2006/relationships/image"/><Relationship Id="rId6" Target="../media/image14.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15.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16.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17.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18.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18.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1.jpe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 Id="rId3" Target="../media/image2.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19.pn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20.png" Type="http://schemas.openxmlformats.org/officeDocument/2006/relationships/image"/><Relationship Id="rId4" Target="https://github.com/fadlinur/Final-Project.git" TargetMode="External" Type="http://schemas.openxmlformats.org/officeDocument/2006/relationships/hyperlink"/><Relationship Id="rId5" Target="https://github.com/fadlinur/Final-Project.git" TargetMode="External" Type="http://schemas.openxmlformats.org/officeDocument/2006/relationships/hyperlink"/></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3810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025" t="-5066" r="-2040" b="0"/>
            </a:stretch>
          </a:blipFill>
        </p:spPr>
      </p:sp>
      <p:sp>
        <p:nvSpPr>
          <p:cNvPr name="TextBox 3" id="3"/>
          <p:cNvSpPr txBox="true"/>
          <p:nvPr/>
        </p:nvSpPr>
        <p:spPr>
          <a:xfrm rot="0">
            <a:off x="1842932" y="5124450"/>
            <a:ext cx="14678336" cy="1114425"/>
          </a:xfrm>
          <a:prstGeom prst="rect">
            <a:avLst/>
          </a:prstGeom>
        </p:spPr>
        <p:txBody>
          <a:bodyPr anchor="t" rtlCol="false" tIns="0" lIns="0" bIns="0" rIns="0">
            <a:spAutoFit/>
          </a:bodyPr>
          <a:lstStyle/>
          <a:p>
            <a:pPr algn="ctr" marL="0" indent="0" lvl="0">
              <a:lnSpc>
                <a:spcPts val="8640"/>
              </a:lnSpc>
              <a:spcBef>
                <a:spcPct val="0"/>
              </a:spcBef>
            </a:pPr>
            <a:r>
              <a:rPr lang="en-US" b="true" sz="7200" strike="noStrike" u="none">
                <a:solidFill>
                  <a:srgbClr val="2F2F2F"/>
                </a:solidFill>
                <a:latin typeface="Raleway Bold"/>
                <a:ea typeface="Raleway Bold"/>
                <a:cs typeface="Raleway Bold"/>
                <a:sym typeface="Raleway Bold"/>
              </a:rPr>
              <a:t>Exploratory Data Analysis</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604055" y="7743011"/>
            <a:ext cx="7901302" cy="2020521"/>
            <a:chOff x="0" y="0"/>
            <a:chExt cx="1820747" cy="465601"/>
          </a:xfrm>
        </p:grpSpPr>
        <p:sp>
          <p:nvSpPr>
            <p:cNvPr name="Freeform 4" id="4"/>
            <p:cNvSpPr/>
            <p:nvPr/>
          </p:nvSpPr>
          <p:spPr>
            <a:xfrm flipH="false" flipV="false" rot="0">
              <a:off x="0" y="0"/>
              <a:ext cx="1820747" cy="465601"/>
            </a:xfrm>
            <a:custGeom>
              <a:avLst/>
              <a:gdLst/>
              <a:ahLst/>
              <a:cxnLst/>
              <a:rect r="r" b="b" t="t" l="l"/>
              <a:pathLst>
                <a:path h="465601" w="1820747">
                  <a:moveTo>
                    <a:pt x="29395" y="0"/>
                  </a:moveTo>
                  <a:lnTo>
                    <a:pt x="1791352" y="0"/>
                  </a:lnTo>
                  <a:cubicBezTo>
                    <a:pt x="1799148" y="0"/>
                    <a:pt x="1806625" y="3097"/>
                    <a:pt x="1812138" y="8610"/>
                  </a:cubicBezTo>
                  <a:cubicBezTo>
                    <a:pt x="1817650" y="14122"/>
                    <a:pt x="1820747" y="21599"/>
                    <a:pt x="1820747" y="29395"/>
                  </a:cubicBezTo>
                  <a:lnTo>
                    <a:pt x="1820747" y="436207"/>
                  </a:lnTo>
                  <a:cubicBezTo>
                    <a:pt x="1820747" y="444003"/>
                    <a:pt x="1817650" y="451479"/>
                    <a:pt x="1812138" y="456992"/>
                  </a:cubicBezTo>
                  <a:cubicBezTo>
                    <a:pt x="1806625" y="462504"/>
                    <a:pt x="1799148" y="465601"/>
                    <a:pt x="1791352" y="465601"/>
                  </a:cubicBezTo>
                  <a:lnTo>
                    <a:pt x="29395" y="465601"/>
                  </a:lnTo>
                  <a:cubicBezTo>
                    <a:pt x="21599" y="465601"/>
                    <a:pt x="14122" y="462504"/>
                    <a:pt x="8610" y="456992"/>
                  </a:cubicBezTo>
                  <a:cubicBezTo>
                    <a:pt x="3097" y="451479"/>
                    <a:pt x="0" y="444003"/>
                    <a:pt x="0" y="436207"/>
                  </a:cubicBezTo>
                  <a:lnTo>
                    <a:pt x="0" y="29395"/>
                  </a:lnTo>
                  <a:cubicBezTo>
                    <a:pt x="0" y="21599"/>
                    <a:pt x="3097" y="14122"/>
                    <a:pt x="8610" y="8610"/>
                  </a:cubicBezTo>
                  <a:cubicBezTo>
                    <a:pt x="14122" y="3097"/>
                    <a:pt x="21599" y="0"/>
                    <a:pt x="29395" y="0"/>
                  </a:cubicBezTo>
                  <a:close/>
                </a:path>
              </a:pathLst>
            </a:custGeom>
            <a:solidFill>
              <a:srgbClr val="BCCADB"/>
            </a:solidFill>
          </p:spPr>
        </p:sp>
        <p:sp>
          <p:nvSpPr>
            <p:cNvPr name="TextBox 5" id="5"/>
            <p:cNvSpPr txBox="true"/>
            <p:nvPr/>
          </p:nvSpPr>
          <p:spPr>
            <a:xfrm>
              <a:off x="0" y="-57150"/>
              <a:ext cx="1820747" cy="522751"/>
            </a:xfrm>
            <a:prstGeom prst="rect">
              <a:avLst/>
            </a:prstGeom>
          </p:spPr>
          <p:txBody>
            <a:bodyPr anchor="ctr" rtlCol="false" tIns="50800" lIns="50800" bIns="50800" rIns="50800"/>
            <a:lstStyle/>
            <a:p>
              <a:pPr algn="ctr">
                <a:lnSpc>
                  <a:spcPts val="3368"/>
                </a:lnSpc>
              </a:pPr>
            </a:p>
          </p:txBody>
        </p:sp>
      </p:grpSp>
      <p:pic>
        <p:nvPicPr>
          <p:cNvPr name="Picture 6" id="6"/>
          <p:cNvPicPr>
            <a:picLocks noChangeAspect="true"/>
          </p:cNvPicPr>
          <p:nvPr/>
        </p:nvPicPr>
        <p:blipFill>
          <a:blip r:embed="rId3"/>
          <a:stretch>
            <a:fillRect/>
          </a:stretch>
        </p:blipFill>
        <p:spPr>
          <a:xfrm rot="0">
            <a:off x="764744" y="8849168"/>
            <a:ext cx="3167467" cy="818262"/>
          </a:xfrm>
          <a:prstGeom prst="rect">
            <a:avLst/>
          </a:prstGeom>
        </p:spPr>
      </p:pic>
      <p:pic>
        <p:nvPicPr>
          <p:cNvPr name="Picture 7" id="7"/>
          <p:cNvPicPr>
            <a:picLocks noChangeAspect="true"/>
          </p:cNvPicPr>
          <p:nvPr/>
        </p:nvPicPr>
        <p:blipFill>
          <a:blip r:embed="rId4"/>
          <a:stretch>
            <a:fillRect/>
          </a:stretch>
        </p:blipFill>
        <p:spPr>
          <a:xfrm rot="0">
            <a:off x="4989222" y="8849168"/>
            <a:ext cx="3167467" cy="818262"/>
          </a:xfrm>
          <a:prstGeom prst="rect">
            <a:avLst/>
          </a:prstGeom>
        </p:spPr>
      </p:pic>
      <p:sp>
        <p:nvSpPr>
          <p:cNvPr name="TextBox 8" id="8"/>
          <p:cNvSpPr txBox="true"/>
          <p:nvPr/>
        </p:nvSpPr>
        <p:spPr>
          <a:xfrm rot="0">
            <a:off x="1028700" y="8674851"/>
            <a:ext cx="2924878" cy="273685"/>
          </a:xfrm>
          <a:prstGeom prst="rect">
            <a:avLst/>
          </a:prstGeom>
        </p:spPr>
        <p:txBody>
          <a:bodyPr anchor="t" rtlCol="false" tIns="0" lIns="0" bIns="0" rIns="0">
            <a:spAutoFit/>
          </a:bodyPr>
          <a:lstStyle/>
          <a:p>
            <a:pPr algn="l">
              <a:lnSpc>
                <a:spcPts val="2239"/>
              </a:lnSpc>
            </a:pPr>
            <a:r>
              <a:rPr lang="en-US" sz="1599" b="true">
                <a:solidFill>
                  <a:srgbClr val="18102B"/>
                </a:solidFill>
                <a:latin typeface="Raleway Bold"/>
                <a:ea typeface="Raleway Bold"/>
                <a:cs typeface="Raleway Bold"/>
                <a:sym typeface="Raleway Bold"/>
              </a:rPr>
              <a:t>Hired</a:t>
            </a:r>
          </a:p>
        </p:txBody>
      </p:sp>
      <p:sp>
        <p:nvSpPr>
          <p:cNvPr name="TextBox 9" id="9"/>
          <p:cNvSpPr txBox="true"/>
          <p:nvPr/>
        </p:nvSpPr>
        <p:spPr>
          <a:xfrm rot="0">
            <a:off x="5253178" y="8674851"/>
            <a:ext cx="1044034" cy="273685"/>
          </a:xfrm>
          <a:prstGeom prst="rect">
            <a:avLst/>
          </a:prstGeom>
        </p:spPr>
        <p:txBody>
          <a:bodyPr anchor="t" rtlCol="false" tIns="0" lIns="0" bIns="0" rIns="0">
            <a:spAutoFit/>
          </a:bodyPr>
          <a:lstStyle/>
          <a:p>
            <a:pPr algn="l">
              <a:lnSpc>
                <a:spcPts val="2239"/>
              </a:lnSpc>
            </a:pPr>
            <a:r>
              <a:rPr lang="en-US" sz="1599" b="true">
                <a:solidFill>
                  <a:srgbClr val="18102B"/>
                </a:solidFill>
                <a:latin typeface="Raleway Bold"/>
                <a:ea typeface="Raleway Bold"/>
                <a:cs typeface="Raleway Bold"/>
                <a:sym typeface="Raleway Bold"/>
              </a:rPr>
              <a:t>Not Hired</a:t>
            </a:r>
          </a:p>
        </p:txBody>
      </p:sp>
      <p:sp>
        <p:nvSpPr>
          <p:cNvPr name="TextBox 10" id="10"/>
          <p:cNvSpPr txBox="true"/>
          <p:nvPr/>
        </p:nvSpPr>
        <p:spPr>
          <a:xfrm rot="0">
            <a:off x="3092267" y="8602778"/>
            <a:ext cx="736958" cy="398780"/>
          </a:xfrm>
          <a:prstGeom prst="rect">
            <a:avLst/>
          </a:prstGeom>
        </p:spPr>
        <p:txBody>
          <a:bodyPr anchor="t" rtlCol="false" tIns="0" lIns="0" bIns="0" rIns="0">
            <a:spAutoFit/>
          </a:bodyPr>
          <a:lstStyle/>
          <a:p>
            <a:pPr algn="l">
              <a:lnSpc>
                <a:spcPts val="3220"/>
              </a:lnSpc>
            </a:pPr>
            <a:r>
              <a:rPr lang="en-US" sz="2300" b="true">
                <a:solidFill>
                  <a:srgbClr val="18102B"/>
                </a:solidFill>
                <a:latin typeface="Raleway Bold"/>
                <a:ea typeface="Raleway Bold"/>
                <a:cs typeface="Raleway Bold"/>
                <a:sym typeface="Raleway Bold"/>
              </a:rPr>
              <a:t>31%</a:t>
            </a:r>
          </a:p>
        </p:txBody>
      </p:sp>
      <p:sp>
        <p:nvSpPr>
          <p:cNvPr name="TextBox 11" id="11"/>
          <p:cNvSpPr txBox="true"/>
          <p:nvPr/>
        </p:nvSpPr>
        <p:spPr>
          <a:xfrm rot="0">
            <a:off x="7568939" y="8602778"/>
            <a:ext cx="736958" cy="398780"/>
          </a:xfrm>
          <a:prstGeom prst="rect">
            <a:avLst/>
          </a:prstGeom>
        </p:spPr>
        <p:txBody>
          <a:bodyPr anchor="t" rtlCol="false" tIns="0" lIns="0" bIns="0" rIns="0">
            <a:spAutoFit/>
          </a:bodyPr>
          <a:lstStyle/>
          <a:p>
            <a:pPr algn="l">
              <a:lnSpc>
                <a:spcPts val="3220"/>
              </a:lnSpc>
            </a:pPr>
            <a:r>
              <a:rPr lang="en-US" sz="2300" b="true">
                <a:solidFill>
                  <a:srgbClr val="18102B"/>
                </a:solidFill>
                <a:latin typeface="Raleway Bold"/>
                <a:ea typeface="Raleway Bold"/>
                <a:cs typeface="Raleway Bold"/>
                <a:sym typeface="Raleway Bold"/>
              </a:rPr>
              <a:t>69%</a:t>
            </a:r>
          </a:p>
        </p:txBody>
      </p:sp>
      <p:sp>
        <p:nvSpPr>
          <p:cNvPr name="TextBox 12" id="12"/>
          <p:cNvSpPr txBox="true"/>
          <p:nvPr/>
        </p:nvSpPr>
        <p:spPr>
          <a:xfrm rot="0">
            <a:off x="1540472" y="7909490"/>
            <a:ext cx="6028467" cy="398780"/>
          </a:xfrm>
          <a:prstGeom prst="rect">
            <a:avLst/>
          </a:prstGeom>
        </p:spPr>
        <p:txBody>
          <a:bodyPr anchor="t" rtlCol="false" tIns="0" lIns="0" bIns="0" rIns="0">
            <a:spAutoFit/>
          </a:bodyPr>
          <a:lstStyle/>
          <a:p>
            <a:pPr algn="ctr">
              <a:lnSpc>
                <a:spcPts val="3220"/>
              </a:lnSpc>
            </a:pPr>
            <a:r>
              <a:rPr lang="en-US" sz="2300" b="true">
                <a:solidFill>
                  <a:srgbClr val="18102B"/>
                </a:solidFill>
                <a:latin typeface="Raleway Bold"/>
                <a:ea typeface="Raleway Bold"/>
                <a:cs typeface="Raleway Bold"/>
                <a:sym typeface="Raleway Bold"/>
              </a:rPr>
              <a:t>Target: Hiring Decision</a:t>
            </a:r>
          </a:p>
        </p:txBody>
      </p:sp>
      <p:sp>
        <p:nvSpPr>
          <p:cNvPr name="TextBox 13" id="13"/>
          <p:cNvSpPr txBox="true"/>
          <p:nvPr/>
        </p:nvSpPr>
        <p:spPr>
          <a:xfrm rot="0">
            <a:off x="604055" y="518342"/>
            <a:ext cx="7568939" cy="962660"/>
          </a:xfrm>
          <a:prstGeom prst="rect">
            <a:avLst/>
          </a:prstGeom>
        </p:spPr>
        <p:txBody>
          <a:bodyPr anchor="t" rtlCol="false" tIns="0" lIns="0" bIns="0" rIns="0">
            <a:spAutoFit/>
          </a:bodyPr>
          <a:lstStyle/>
          <a:p>
            <a:pPr algn="l">
              <a:lnSpc>
                <a:spcPts val="7840"/>
              </a:lnSpc>
              <a:spcBef>
                <a:spcPct val="0"/>
              </a:spcBef>
            </a:pPr>
            <a:r>
              <a:rPr lang="en-US" sz="5600">
                <a:solidFill>
                  <a:srgbClr val="18102B"/>
                </a:solidFill>
                <a:latin typeface="Raleway"/>
                <a:ea typeface="Raleway"/>
                <a:cs typeface="Raleway"/>
                <a:sym typeface="Raleway"/>
              </a:rPr>
              <a:t>Descriptive Statistics</a:t>
            </a:r>
          </a:p>
        </p:txBody>
      </p:sp>
      <p:grpSp>
        <p:nvGrpSpPr>
          <p:cNvPr name="Group 14" id="14"/>
          <p:cNvGrpSpPr/>
          <p:nvPr/>
        </p:nvGrpSpPr>
        <p:grpSpPr>
          <a:xfrm rot="0">
            <a:off x="604055" y="3637462"/>
            <a:ext cx="7901302" cy="3886990"/>
            <a:chOff x="0" y="0"/>
            <a:chExt cx="10535069" cy="5182653"/>
          </a:xfrm>
        </p:grpSpPr>
        <p:sp>
          <p:nvSpPr>
            <p:cNvPr name="TextBox 15" id="15"/>
            <p:cNvSpPr txBox="true"/>
            <p:nvPr/>
          </p:nvSpPr>
          <p:spPr>
            <a:xfrm rot="0">
              <a:off x="4522999" y="-9525"/>
              <a:ext cx="2351642" cy="466725"/>
            </a:xfrm>
            <a:prstGeom prst="rect">
              <a:avLst/>
            </a:prstGeom>
          </p:spPr>
          <p:txBody>
            <a:bodyPr anchor="t" rtlCol="false" tIns="0" lIns="0" bIns="0" rIns="0">
              <a:spAutoFit/>
            </a:bodyPr>
            <a:lstStyle/>
            <a:p>
              <a:pPr algn="l" marL="0" indent="0" lvl="0">
                <a:lnSpc>
                  <a:spcPts val="2760"/>
                </a:lnSpc>
                <a:spcBef>
                  <a:spcPct val="0"/>
                </a:spcBef>
              </a:pPr>
              <a:r>
                <a:rPr lang="en-US" b="true" sz="2300">
                  <a:solidFill>
                    <a:srgbClr val="000000"/>
                  </a:solidFill>
                  <a:latin typeface="Raleway Bold"/>
                  <a:ea typeface="Raleway Bold"/>
                  <a:cs typeface="Raleway Bold"/>
                  <a:sym typeface="Raleway Bold"/>
                </a:rPr>
                <a:t>Features</a:t>
              </a:r>
            </a:p>
          </p:txBody>
        </p:sp>
        <p:grpSp>
          <p:nvGrpSpPr>
            <p:cNvPr name="Group 16" id="16"/>
            <p:cNvGrpSpPr/>
            <p:nvPr/>
          </p:nvGrpSpPr>
          <p:grpSpPr>
            <a:xfrm rot="0">
              <a:off x="0" y="888347"/>
              <a:ext cx="5120319" cy="4294306"/>
              <a:chOff x="0" y="0"/>
              <a:chExt cx="1047040" cy="878131"/>
            </a:xfrm>
          </p:grpSpPr>
          <p:sp>
            <p:nvSpPr>
              <p:cNvPr name="Freeform 17" id="17"/>
              <p:cNvSpPr/>
              <p:nvPr/>
            </p:nvSpPr>
            <p:spPr>
              <a:xfrm flipH="false" flipV="false" rot="0">
                <a:off x="0" y="0"/>
                <a:ext cx="1047040" cy="878131"/>
              </a:xfrm>
              <a:custGeom>
                <a:avLst/>
                <a:gdLst/>
                <a:ahLst/>
                <a:cxnLst/>
                <a:rect r="r" b="b" t="t" l="l"/>
                <a:pathLst>
                  <a:path h="878131" w="1047040">
                    <a:moveTo>
                      <a:pt x="99903" y="0"/>
                    </a:moveTo>
                    <a:lnTo>
                      <a:pt x="947137" y="0"/>
                    </a:lnTo>
                    <a:cubicBezTo>
                      <a:pt x="1002312" y="0"/>
                      <a:pt x="1047040" y="44728"/>
                      <a:pt x="1047040" y="99903"/>
                    </a:cubicBezTo>
                    <a:lnTo>
                      <a:pt x="1047040" y="778228"/>
                    </a:lnTo>
                    <a:cubicBezTo>
                      <a:pt x="1047040" y="833403"/>
                      <a:pt x="1002312" y="878131"/>
                      <a:pt x="947137" y="878131"/>
                    </a:cubicBezTo>
                    <a:lnTo>
                      <a:pt x="99903" y="878131"/>
                    </a:lnTo>
                    <a:cubicBezTo>
                      <a:pt x="44728" y="878131"/>
                      <a:pt x="0" y="833403"/>
                      <a:pt x="0" y="778228"/>
                    </a:cubicBezTo>
                    <a:lnTo>
                      <a:pt x="0" y="99903"/>
                    </a:lnTo>
                    <a:cubicBezTo>
                      <a:pt x="0" y="44728"/>
                      <a:pt x="44728" y="0"/>
                      <a:pt x="99903" y="0"/>
                    </a:cubicBezTo>
                    <a:close/>
                  </a:path>
                </a:pathLst>
              </a:custGeom>
              <a:solidFill>
                <a:srgbClr val="7E8C92"/>
              </a:solidFill>
            </p:spPr>
          </p:sp>
          <p:sp>
            <p:nvSpPr>
              <p:cNvPr name="TextBox 18" id="18"/>
              <p:cNvSpPr txBox="true"/>
              <p:nvPr/>
            </p:nvSpPr>
            <p:spPr>
              <a:xfrm>
                <a:off x="0" y="-19050"/>
                <a:ext cx="1047040" cy="897181"/>
              </a:xfrm>
              <a:prstGeom prst="rect">
                <a:avLst/>
              </a:prstGeom>
            </p:spPr>
            <p:txBody>
              <a:bodyPr anchor="ctr" rtlCol="false" tIns="50800" lIns="50800" bIns="50800" rIns="50800"/>
              <a:lstStyle/>
              <a:p>
                <a:pPr algn="ctr">
                  <a:lnSpc>
                    <a:spcPts val="1919"/>
                  </a:lnSpc>
                </a:pPr>
              </a:p>
            </p:txBody>
          </p:sp>
        </p:grpSp>
        <p:grpSp>
          <p:nvGrpSpPr>
            <p:cNvPr name="Group 19" id="19"/>
            <p:cNvGrpSpPr/>
            <p:nvPr/>
          </p:nvGrpSpPr>
          <p:grpSpPr>
            <a:xfrm rot="0">
              <a:off x="5414750" y="888347"/>
              <a:ext cx="5120319" cy="4294306"/>
              <a:chOff x="0" y="0"/>
              <a:chExt cx="1047040" cy="878131"/>
            </a:xfrm>
          </p:grpSpPr>
          <p:sp>
            <p:nvSpPr>
              <p:cNvPr name="Freeform 20" id="20"/>
              <p:cNvSpPr/>
              <p:nvPr/>
            </p:nvSpPr>
            <p:spPr>
              <a:xfrm flipH="false" flipV="false" rot="0">
                <a:off x="0" y="0"/>
                <a:ext cx="1047040" cy="878131"/>
              </a:xfrm>
              <a:custGeom>
                <a:avLst/>
                <a:gdLst/>
                <a:ahLst/>
                <a:cxnLst/>
                <a:rect r="r" b="b" t="t" l="l"/>
                <a:pathLst>
                  <a:path h="878131" w="1047040">
                    <a:moveTo>
                      <a:pt x="99903" y="0"/>
                    </a:moveTo>
                    <a:lnTo>
                      <a:pt x="947137" y="0"/>
                    </a:lnTo>
                    <a:cubicBezTo>
                      <a:pt x="1002312" y="0"/>
                      <a:pt x="1047040" y="44728"/>
                      <a:pt x="1047040" y="99903"/>
                    </a:cubicBezTo>
                    <a:lnTo>
                      <a:pt x="1047040" y="778228"/>
                    </a:lnTo>
                    <a:cubicBezTo>
                      <a:pt x="1047040" y="833403"/>
                      <a:pt x="1002312" y="878131"/>
                      <a:pt x="947137" y="878131"/>
                    </a:cubicBezTo>
                    <a:lnTo>
                      <a:pt x="99903" y="878131"/>
                    </a:lnTo>
                    <a:cubicBezTo>
                      <a:pt x="44728" y="878131"/>
                      <a:pt x="0" y="833403"/>
                      <a:pt x="0" y="778228"/>
                    </a:cubicBezTo>
                    <a:lnTo>
                      <a:pt x="0" y="99903"/>
                    </a:lnTo>
                    <a:cubicBezTo>
                      <a:pt x="0" y="44728"/>
                      <a:pt x="44728" y="0"/>
                      <a:pt x="99903" y="0"/>
                    </a:cubicBezTo>
                    <a:close/>
                  </a:path>
                </a:pathLst>
              </a:custGeom>
              <a:solidFill>
                <a:srgbClr val="A1C7CE"/>
              </a:solidFill>
            </p:spPr>
          </p:sp>
          <p:sp>
            <p:nvSpPr>
              <p:cNvPr name="TextBox 21" id="21"/>
              <p:cNvSpPr txBox="true"/>
              <p:nvPr/>
            </p:nvSpPr>
            <p:spPr>
              <a:xfrm>
                <a:off x="0" y="-19050"/>
                <a:ext cx="1047040" cy="897181"/>
              </a:xfrm>
              <a:prstGeom prst="rect">
                <a:avLst/>
              </a:prstGeom>
            </p:spPr>
            <p:txBody>
              <a:bodyPr anchor="ctr" rtlCol="false" tIns="50800" lIns="50800" bIns="50800" rIns="50800"/>
              <a:lstStyle/>
              <a:p>
                <a:pPr algn="ctr">
                  <a:lnSpc>
                    <a:spcPts val="1919"/>
                  </a:lnSpc>
                </a:pPr>
              </a:p>
            </p:txBody>
          </p:sp>
        </p:grpSp>
        <p:sp>
          <p:nvSpPr>
            <p:cNvPr name="TextBox 22" id="22"/>
            <p:cNvSpPr txBox="true"/>
            <p:nvPr/>
          </p:nvSpPr>
          <p:spPr>
            <a:xfrm rot="0">
              <a:off x="744727" y="1302937"/>
              <a:ext cx="1815432" cy="336550"/>
            </a:xfrm>
            <a:prstGeom prst="rect">
              <a:avLst/>
            </a:prstGeom>
          </p:spPr>
          <p:txBody>
            <a:bodyPr anchor="t" rtlCol="false" tIns="0" lIns="0" bIns="0" rIns="0">
              <a:spAutoFit/>
            </a:bodyPr>
            <a:lstStyle/>
            <a:p>
              <a:pPr algn="ctr">
                <a:lnSpc>
                  <a:spcPts val="1919"/>
                </a:lnSpc>
                <a:spcBef>
                  <a:spcPct val="0"/>
                </a:spcBef>
              </a:pPr>
              <a:r>
                <a:rPr lang="en-US" b="true" sz="1599" spc="6">
                  <a:solidFill>
                    <a:srgbClr val="000000"/>
                  </a:solidFill>
                  <a:latin typeface="Poppins Bold"/>
                  <a:ea typeface="Poppins Bold"/>
                  <a:cs typeface="Poppins Bold"/>
                  <a:sym typeface="Poppins Bold"/>
                </a:rPr>
                <a:t>Numerical</a:t>
              </a:r>
            </a:p>
          </p:txBody>
        </p:sp>
        <p:sp>
          <p:nvSpPr>
            <p:cNvPr name="TextBox 23" id="23"/>
            <p:cNvSpPr txBox="true"/>
            <p:nvPr/>
          </p:nvSpPr>
          <p:spPr>
            <a:xfrm rot="0">
              <a:off x="6035796" y="1302937"/>
              <a:ext cx="2226626" cy="336550"/>
            </a:xfrm>
            <a:prstGeom prst="rect">
              <a:avLst/>
            </a:prstGeom>
          </p:spPr>
          <p:txBody>
            <a:bodyPr anchor="t" rtlCol="false" tIns="0" lIns="0" bIns="0" rIns="0">
              <a:spAutoFit/>
            </a:bodyPr>
            <a:lstStyle/>
            <a:p>
              <a:pPr algn="ctr">
                <a:lnSpc>
                  <a:spcPts val="1919"/>
                </a:lnSpc>
                <a:spcBef>
                  <a:spcPct val="0"/>
                </a:spcBef>
              </a:pPr>
              <a:r>
                <a:rPr lang="en-US" b="true" sz="1599" spc="6">
                  <a:solidFill>
                    <a:srgbClr val="000000"/>
                  </a:solidFill>
                  <a:latin typeface="Poppins Bold"/>
                  <a:ea typeface="Poppins Bold"/>
                  <a:cs typeface="Poppins Bold"/>
                  <a:sym typeface="Poppins Bold"/>
                </a:rPr>
                <a:t>Categorical</a:t>
              </a:r>
            </a:p>
          </p:txBody>
        </p:sp>
        <p:sp>
          <p:nvSpPr>
            <p:cNvPr name="TextBox 24" id="24"/>
            <p:cNvSpPr txBox="true"/>
            <p:nvPr/>
          </p:nvSpPr>
          <p:spPr>
            <a:xfrm rot="0">
              <a:off x="507908" y="1728040"/>
              <a:ext cx="3858090" cy="2570921"/>
            </a:xfrm>
            <a:prstGeom prst="rect">
              <a:avLst/>
            </a:prstGeom>
          </p:spPr>
          <p:txBody>
            <a:bodyPr anchor="t" rtlCol="false" tIns="0" lIns="0" bIns="0" rIns="0">
              <a:spAutoFit/>
            </a:bodyPr>
            <a:lstStyle/>
            <a:p>
              <a:pPr algn="just" marL="345439" indent="-172720" lvl="1">
                <a:lnSpc>
                  <a:spcPts val="2239"/>
                </a:lnSpc>
                <a:buFont typeface="Arial"/>
                <a:buChar char="•"/>
              </a:pPr>
              <a:r>
                <a:rPr lang="en-US" sz="1599" spc="6">
                  <a:solidFill>
                    <a:srgbClr val="000000"/>
                  </a:solidFill>
                  <a:latin typeface="Poppins"/>
                  <a:ea typeface="Poppins"/>
                  <a:cs typeface="Poppins"/>
                  <a:sym typeface="Poppins"/>
                </a:rPr>
                <a:t>Age</a:t>
              </a:r>
            </a:p>
            <a:p>
              <a:pPr algn="just" marL="345439" indent="-172720" lvl="1">
                <a:lnSpc>
                  <a:spcPts val="2239"/>
                </a:lnSpc>
                <a:buFont typeface="Arial"/>
                <a:buChar char="•"/>
              </a:pPr>
              <a:r>
                <a:rPr lang="en-US" sz="1599" spc="6">
                  <a:solidFill>
                    <a:srgbClr val="000000"/>
                  </a:solidFill>
                  <a:latin typeface="Poppins"/>
                  <a:ea typeface="Poppins"/>
                  <a:cs typeface="Poppins"/>
                  <a:sym typeface="Poppins"/>
                </a:rPr>
                <a:t>ExperienceYears</a:t>
              </a:r>
            </a:p>
            <a:p>
              <a:pPr algn="just" marL="345439" indent="-172720" lvl="1">
                <a:lnSpc>
                  <a:spcPts val="2239"/>
                </a:lnSpc>
                <a:buFont typeface="Arial"/>
                <a:buChar char="•"/>
              </a:pPr>
              <a:r>
                <a:rPr lang="en-US" sz="1599" spc="6">
                  <a:solidFill>
                    <a:srgbClr val="000000"/>
                  </a:solidFill>
                  <a:latin typeface="Poppins"/>
                  <a:ea typeface="Poppins"/>
                  <a:cs typeface="Poppins"/>
                  <a:sym typeface="Poppins"/>
                </a:rPr>
                <a:t>PreviousCompanies</a:t>
              </a:r>
            </a:p>
            <a:p>
              <a:pPr algn="just" marL="345439" indent="-172720" lvl="1">
                <a:lnSpc>
                  <a:spcPts val="2239"/>
                </a:lnSpc>
                <a:buFont typeface="Arial"/>
                <a:buChar char="•"/>
              </a:pPr>
              <a:r>
                <a:rPr lang="en-US" sz="1599" spc="6">
                  <a:solidFill>
                    <a:srgbClr val="000000"/>
                  </a:solidFill>
                  <a:latin typeface="Poppins"/>
                  <a:ea typeface="Poppins"/>
                  <a:cs typeface="Poppins"/>
                  <a:sym typeface="Poppins"/>
                </a:rPr>
                <a:t>DistanceFromCompany</a:t>
              </a:r>
            </a:p>
            <a:p>
              <a:pPr algn="just" marL="345439" indent="-172720" lvl="1">
                <a:lnSpc>
                  <a:spcPts val="2239"/>
                </a:lnSpc>
                <a:buFont typeface="Arial"/>
                <a:buChar char="•"/>
              </a:pPr>
              <a:r>
                <a:rPr lang="en-US" sz="1599" spc="6">
                  <a:solidFill>
                    <a:srgbClr val="000000"/>
                  </a:solidFill>
                  <a:latin typeface="Poppins"/>
                  <a:ea typeface="Poppins"/>
                  <a:cs typeface="Poppins"/>
                  <a:sym typeface="Poppins"/>
                </a:rPr>
                <a:t>InterviewScore</a:t>
              </a:r>
            </a:p>
            <a:p>
              <a:pPr algn="just" marL="345439" indent="-172720" lvl="1">
                <a:lnSpc>
                  <a:spcPts val="2239"/>
                </a:lnSpc>
                <a:buFont typeface="Arial"/>
                <a:buChar char="•"/>
              </a:pPr>
              <a:r>
                <a:rPr lang="en-US" sz="1599" spc="6">
                  <a:solidFill>
                    <a:srgbClr val="000000"/>
                  </a:solidFill>
                  <a:latin typeface="Poppins"/>
                  <a:ea typeface="Poppins"/>
                  <a:cs typeface="Poppins"/>
                  <a:sym typeface="Poppins"/>
                </a:rPr>
                <a:t>SkillScore</a:t>
              </a:r>
            </a:p>
            <a:p>
              <a:pPr algn="just" marL="345439" indent="-172720" lvl="1">
                <a:lnSpc>
                  <a:spcPts val="2239"/>
                </a:lnSpc>
                <a:buFont typeface="Arial"/>
                <a:buChar char="•"/>
              </a:pPr>
              <a:r>
                <a:rPr lang="en-US" sz="1599" spc="6">
                  <a:solidFill>
                    <a:srgbClr val="000000"/>
                  </a:solidFill>
                  <a:latin typeface="Poppins"/>
                  <a:ea typeface="Poppins"/>
                  <a:cs typeface="Poppins"/>
                  <a:sym typeface="Poppins"/>
                </a:rPr>
                <a:t>PersonalityScore</a:t>
              </a:r>
            </a:p>
          </p:txBody>
        </p:sp>
        <p:sp>
          <p:nvSpPr>
            <p:cNvPr name="TextBox 25" id="25"/>
            <p:cNvSpPr txBox="true"/>
            <p:nvPr/>
          </p:nvSpPr>
          <p:spPr>
            <a:xfrm rot="0">
              <a:off x="5989217" y="2199671"/>
              <a:ext cx="3378266" cy="1098338"/>
            </a:xfrm>
            <a:prstGeom prst="rect">
              <a:avLst/>
            </a:prstGeom>
          </p:spPr>
          <p:txBody>
            <a:bodyPr anchor="t" rtlCol="false" tIns="0" lIns="0" bIns="0" rIns="0">
              <a:spAutoFit/>
            </a:bodyPr>
            <a:lstStyle/>
            <a:p>
              <a:pPr algn="just" marL="345439" indent="-172720" lvl="1">
                <a:lnSpc>
                  <a:spcPts val="2239"/>
                </a:lnSpc>
                <a:buFont typeface="Arial"/>
                <a:buChar char="•"/>
              </a:pPr>
              <a:r>
                <a:rPr lang="en-US" sz="1599" spc="6">
                  <a:solidFill>
                    <a:srgbClr val="000000"/>
                  </a:solidFill>
                  <a:latin typeface="Poppins"/>
                  <a:ea typeface="Poppins"/>
                  <a:cs typeface="Poppins"/>
                  <a:sym typeface="Poppins"/>
                </a:rPr>
                <a:t>G</a:t>
              </a:r>
              <a:r>
                <a:rPr lang="en-US" sz="1599" spc="6">
                  <a:solidFill>
                    <a:srgbClr val="000000"/>
                  </a:solidFill>
                  <a:latin typeface="Poppins"/>
                  <a:ea typeface="Poppins"/>
                  <a:cs typeface="Poppins"/>
                  <a:sym typeface="Poppins"/>
                </a:rPr>
                <a:t>ender</a:t>
              </a:r>
            </a:p>
            <a:p>
              <a:pPr algn="just" marL="345439" indent="-172720" lvl="1">
                <a:lnSpc>
                  <a:spcPts val="2239"/>
                </a:lnSpc>
                <a:buFont typeface="Arial"/>
                <a:buChar char="•"/>
              </a:pPr>
              <a:r>
                <a:rPr lang="en-US" sz="1599" spc="6">
                  <a:solidFill>
                    <a:srgbClr val="000000"/>
                  </a:solidFill>
                  <a:latin typeface="Poppins"/>
                  <a:ea typeface="Poppins"/>
                  <a:cs typeface="Poppins"/>
                  <a:sym typeface="Poppins"/>
                </a:rPr>
                <a:t>EducationLevel</a:t>
              </a:r>
            </a:p>
            <a:p>
              <a:pPr algn="just" marL="345439" indent="-172720" lvl="1">
                <a:lnSpc>
                  <a:spcPts val="2239"/>
                </a:lnSpc>
                <a:buFont typeface="Arial"/>
                <a:buChar char="•"/>
              </a:pPr>
              <a:r>
                <a:rPr lang="en-US" sz="1599" spc="6">
                  <a:solidFill>
                    <a:srgbClr val="000000"/>
                  </a:solidFill>
                  <a:latin typeface="Poppins"/>
                  <a:ea typeface="Poppins"/>
                  <a:cs typeface="Poppins"/>
                  <a:sym typeface="Poppins"/>
                </a:rPr>
                <a:t>RecruitmentStrategy</a:t>
              </a:r>
            </a:p>
          </p:txBody>
        </p:sp>
      </p:grpSp>
      <p:sp>
        <p:nvSpPr>
          <p:cNvPr name="TextBox 26" id="26"/>
          <p:cNvSpPr txBox="true"/>
          <p:nvPr/>
        </p:nvSpPr>
        <p:spPr>
          <a:xfrm rot="0">
            <a:off x="604055" y="1776277"/>
            <a:ext cx="7901302" cy="1861185"/>
          </a:xfrm>
          <a:prstGeom prst="rect">
            <a:avLst/>
          </a:prstGeom>
        </p:spPr>
        <p:txBody>
          <a:bodyPr anchor="t" rtlCol="false" tIns="0" lIns="0" bIns="0" rIns="0">
            <a:spAutoFit/>
          </a:bodyPr>
          <a:lstStyle/>
          <a:p>
            <a:pPr algn="l" marL="453390" indent="-226695" lvl="1">
              <a:lnSpc>
                <a:spcPts val="2940"/>
              </a:lnSpc>
              <a:buFont typeface="Arial"/>
              <a:buChar char="•"/>
            </a:pPr>
            <a:r>
              <a:rPr lang="en-US" sz="2100" spc="8">
                <a:solidFill>
                  <a:srgbClr val="18102B"/>
                </a:solidFill>
                <a:latin typeface="Poppins"/>
                <a:ea typeface="Poppins"/>
                <a:cs typeface="Poppins"/>
                <a:sym typeface="Poppins"/>
              </a:rPr>
              <a:t>Data shape: </a:t>
            </a:r>
            <a:r>
              <a:rPr lang="en-US" sz="2100" spc="8">
                <a:solidFill>
                  <a:srgbClr val="18102B"/>
                </a:solidFill>
                <a:latin typeface="Poppins"/>
                <a:ea typeface="Poppins"/>
                <a:cs typeface="Poppins"/>
                <a:sym typeface="Poppins"/>
              </a:rPr>
              <a:t>1.500 rows and 11 feature columns</a:t>
            </a:r>
          </a:p>
          <a:p>
            <a:pPr algn="l" marL="453390" indent="-226695" lvl="1">
              <a:lnSpc>
                <a:spcPts val="2940"/>
              </a:lnSpc>
              <a:buFont typeface="Arial"/>
              <a:buChar char="•"/>
            </a:pPr>
            <a:r>
              <a:rPr lang="en-US" sz="2100" spc="8">
                <a:solidFill>
                  <a:srgbClr val="18102B"/>
                </a:solidFill>
                <a:latin typeface="Poppins"/>
                <a:ea typeface="Poppins"/>
                <a:cs typeface="Poppins"/>
                <a:sym typeface="Poppins"/>
              </a:rPr>
              <a:t>Feature type:</a:t>
            </a:r>
            <a:r>
              <a:rPr lang="en-US" sz="2100" spc="8">
                <a:solidFill>
                  <a:srgbClr val="18102B"/>
                </a:solidFill>
                <a:latin typeface="Poppins"/>
                <a:ea typeface="Poppins"/>
                <a:cs typeface="Poppins"/>
                <a:sym typeface="Poppins"/>
              </a:rPr>
              <a:t> 7 numerical, 3 categorical, 1 target</a:t>
            </a:r>
          </a:p>
          <a:p>
            <a:pPr algn="l" marL="453390" indent="-226695" lvl="1">
              <a:lnSpc>
                <a:spcPts val="2940"/>
              </a:lnSpc>
              <a:buFont typeface="Arial"/>
              <a:buChar char="•"/>
            </a:pPr>
            <a:r>
              <a:rPr lang="en-US" sz="2100" spc="8">
                <a:solidFill>
                  <a:srgbClr val="18102B"/>
                </a:solidFill>
                <a:latin typeface="Poppins"/>
                <a:ea typeface="Poppins"/>
                <a:cs typeface="Poppins"/>
                <a:sym typeface="Poppins"/>
              </a:rPr>
              <a:t>M</a:t>
            </a:r>
            <a:r>
              <a:rPr lang="en-US" sz="2100" spc="8">
                <a:solidFill>
                  <a:srgbClr val="18102B"/>
                </a:solidFill>
                <a:latin typeface="Poppins"/>
                <a:ea typeface="Poppins"/>
                <a:cs typeface="Poppins"/>
                <a:sym typeface="Poppins"/>
              </a:rPr>
              <a:t>issing values: 0</a:t>
            </a:r>
          </a:p>
          <a:p>
            <a:pPr algn="l" marL="453390" indent="-226695" lvl="1">
              <a:lnSpc>
                <a:spcPts val="2940"/>
              </a:lnSpc>
              <a:buFont typeface="Arial"/>
              <a:buChar char="•"/>
            </a:pPr>
            <a:r>
              <a:rPr lang="en-US" sz="2100" spc="8">
                <a:solidFill>
                  <a:srgbClr val="18102B"/>
                </a:solidFill>
                <a:latin typeface="Poppins"/>
                <a:ea typeface="Poppins"/>
                <a:cs typeface="Poppins"/>
                <a:sym typeface="Poppins"/>
              </a:rPr>
              <a:t>Duplicate values: 0</a:t>
            </a:r>
          </a:p>
          <a:p>
            <a:pPr algn="l" marL="453390" indent="-226695" lvl="1">
              <a:lnSpc>
                <a:spcPts val="2940"/>
              </a:lnSpc>
              <a:spcBef>
                <a:spcPct val="0"/>
              </a:spcBef>
              <a:buFont typeface="Arial"/>
              <a:buChar char="•"/>
            </a:pPr>
            <a:r>
              <a:rPr lang="en-US" sz="2100" spc="8">
                <a:solidFill>
                  <a:srgbClr val="18102B"/>
                </a:solidFill>
                <a:latin typeface="Poppins"/>
                <a:ea typeface="Poppins"/>
                <a:cs typeface="Poppins"/>
                <a:sym typeface="Poppins"/>
              </a:rPr>
              <a:t>O</a:t>
            </a:r>
            <a:r>
              <a:rPr lang="en-US" sz="2100" spc="8">
                <a:solidFill>
                  <a:srgbClr val="18102B"/>
                </a:solidFill>
                <a:latin typeface="Poppins"/>
                <a:ea typeface="Poppins"/>
                <a:cs typeface="Poppins"/>
                <a:sym typeface="Poppins"/>
              </a:rPr>
              <a:t>utliers: 0</a:t>
            </a:r>
          </a:p>
        </p:txBody>
      </p:sp>
      <p:grpSp>
        <p:nvGrpSpPr>
          <p:cNvPr name="Group 27" id="27"/>
          <p:cNvGrpSpPr/>
          <p:nvPr/>
        </p:nvGrpSpPr>
        <p:grpSpPr>
          <a:xfrm rot="0">
            <a:off x="12895828" y="5397873"/>
            <a:ext cx="366168" cy="366168"/>
            <a:chOff x="0" y="0"/>
            <a:chExt cx="812800" cy="812800"/>
          </a:xfrm>
        </p:grpSpPr>
        <p:sp>
          <p:nvSpPr>
            <p:cNvPr name="Freeform 28" id="2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8102B"/>
            </a:solidFill>
          </p:spPr>
        </p:sp>
        <p:sp>
          <p:nvSpPr>
            <p:cNvPr name="TextBox 29" id="29"/>
            <p:cNvSpPr txBox="true"/>
            <p:nvPr/>
          </p:nvSpPr>
          <p:spPr>
            <a:xfrm>
              <a:off x="76200" y="19050"/>
              <a:ext cx="660400" cy="717550"/>
            </a:xfrm>
            <a:prstGeom prst="rect">
              <a:avLst/>
            </a:prstGeom>
          </p:spPr>
          <p:txBody>
            <a:bodyPr anchor="ctr" rtlCol="false" tIns="50800" lIns="50800" bIns="50800" rIns="50800"/>
            <a:lstStyle/>
            <a:p>
              <a:pPr algn="ctr">
                <a:lnSpc>
                  <a:spcPts val="3368"/>
                </a:lnSpc>
              </a:pPr>
            </a:p>
          </p:txBody>
        </p:sp>
      </p:grpSp>
      <p:sp>
        <p:nvSpPr>
          <p:cNvPr name="Freeform 30" id="30"/>
          <p:cNvSpPr/>
          <p:nvPr/>
        </p:nvSpPr>
        <p:spPr>
          <a:xfrm flipH="false" flipV="false" rot="0">
            <a:off x="12972281" y="5469436"/>
            <a:ext cx="223040" cy="223040"/>
          </a:xfrm>
          <a:custGeom>
            <a:avLst/>
            <a:gdLst/>
            <a:ahLst/>
            <a:cxnLst/>
            <a:rect r="r" b="b" t="t" l="l"/>
            <a:pathLst>
              <a:path h="223040" w="223040">
                <a:moveTo>
                  <a:pt x="0" y="0"/>
                </a:moveTo>
                <a:lnTo>
                  <a:pt x="223040" y="0"/>
                </a:lnTo>
                <a:lnTo>
                  <a:pt x="223040" y="223041"/>
                </a:lnTo>
                <a:lnTo>
                  <a:pt x="0" y="22304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aphicFrame>
        <p:nvGraphicFramePr>
          <p:cNvPr name="Table 31" id="31"/>
          <p:cNvGraphicFramePr>
            <a:graphicFrameLocks noGrp="true"/>
          </p:cNvGraphicFramePr>
          <p:nvPr/>
        </p:nvGraphicFramePr>
        <p:xfrm>
          <a:off x="9144000" y="1833427"/>
          <a:ext cx="8764801" cy="7976359"/>
        </p:xfrm>
        <a:graphic>
          <a:graphicData uri="http://schemas.openxmlformats.org/drawingml/2006/table">
            <a:tbl>
              <a:tblPr/>
              <a:tblGrid>
                <a:gridCol w="3271141"/>
                <a:gridCol w="5493659"/>
              </a:tblGrid>
              <a:tr h="591256">
                <a:tc>
                  <a:txBody>
                    <a:bodyPr anchor="t" rtlCol="false"/>
                    <a:lstStyle/>
                    <a:p>
                      <a:pPr algn="ctr">
                        <a:lnSpc>
                          <a:spcPts val="2940"/>
                        </a:lnSpc>
                        <a:defRPr/>
                      </a:pPr>
                      <a:r>
                        <a:rPr lang="en-US" sz="2100" b="true">
                          <a:solidFill>
                            <a:srgbClr val="000000"/>
                          </a:solidFill>
                          <a:latin typeface="Raleway Bold"/>
                          <a:ea typeface="Raleway Bold"/>
                          <a:cs typeface="Raleway Bold"/>
                          <a:sym typeface="Raleway Bold"/>
                        </a:rPr>
                        <a:t>Features</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E9EDEE"/>
                    </a:solidFill>
                  </a:tcPr>
                </a:tc>
                <a:tc>
                  <a:txBody>
                    <a:bodyPr anchor="t" rtlCol="false"/>
                    <a:lstStyle/>
                    <a:p>
                      <a:pPr algn="ctr">
                        <a:lnSpc>
                          <a:spcPts val="2940"/>
                        </a:lnSpc>
                        <a:defRPr/>
                      </a:pPr>
                      <a:r>
                        <a:rPr lang="en-US" sz="2100" b="true">
                          <a:solidFill>
                            <a:srgbClr val="000000"/>
                          </a:solidFill>
                          <a:latin typeface="Raleway Bold"/>
                          <a:ea typeface="Raleway Bold"/>
                          <a:cs typeface="Raleway Bold"/>
                          <a:sym typeface="Raleway Bold"/>
                        </a:rPr>
                        <a:t>Description</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E9EDEE"/>
                    </a:solidFill>
                  </a:tcPr>
                </a:tc>
              </a:tr>
              <a:tr h="610329">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Age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Candidate’s age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329">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ExperienceYears</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Candidate’s total years of work experience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329">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PreviousCompanies</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Candidate’s total previous company</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329">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DistanceFromCompany</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Candidate’s home distance from</a:t>
                      </a:r>
                      <a:r>
                        <a:rPr lang="en-US" sz="1800">
                          <a:solidFill>
                            <a:srgbClr val="000000"/>
                          </a:solidFill>
                          <a:latin typeface="Poppins"/>
                          <a:ea typeface="Poppins"/>
                          <a:cs typeface="Poppins"/>
                          <a:sym typeface="Poppins"/>
                        </a:rPr>
                        <a:t> company</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329">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InterviewScore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Candidate’s interview</a:t>
                      </a:r>
                      <a:r>
                        <a:rPr lang="en-US" sz="1800">
                          <a:solidFill>
                            <a:srgbClr val="000000"/>
                          </a:solidFill>
                          <a:latin typeface="Poppins"/>
                          <a:ea typeface="Poppins"/>
                          <a:cs typeface="Poppins"/>
                          <a:sym typeface="Poppins"/>
                        </a:rPr>
                        <a:t> score result</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329">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SkillScore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a:t>
                      </a:r>
                      <a:r>
                        <a:rPr lang="en-US" sz="1800">
                          <a:solidFill>
                            <a:srgbClr val="000000"/>
                          </a:solidFill>
                          <a:latin typeface="Poppins"/>
                          <a:ea typeface="Poppins"/>
                          <a:cs typeface="Poppins"/>
                          <a:sym typeface="Poppins"/>
                        </a:rPr>
                        <a:t>ndidate’s technical score result</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329">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PersonalityScore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a:t>
                      </a:r>
                      <a:r>
                        <a:rPr lang="en-US" sz="1800">
                          <a:solidFill>
                            <a:srgbClr val="000000"/>
                          </a:solidFill>
                          <a:latin typeface="Poppins"/>
                          <a:ea typeface="Poppins"/>
                          <a:cs typeface="Poppins"/>
                          <a:sym typeface="Poppins"/>
                        </a:rPr>
                        <a:t>ndidate’s personality score result</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329">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Gender</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A1C7CE"/>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0 = Male, 1 = Female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A1C7CE"/>
                    </a:solidFill>
                  </a:tcPr>
                </a:tc>
              </a:tr>
              <a:tr h="925030">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EducationLevel</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A1C7CE"/>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1 = High Shcool, 2 = Diploma/Bachelor, 3 = Magister, 4 = PhD</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A1C7CE"/>
                    </a:solidFill>
                  </a:tcPr>
                </a:tc>
              </a:tr>
              <a:tr h="610329">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RecruitmentStrategy</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A1C7CE"/>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1 = Internal, 2 = External, 3 = Referral</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A1C7CE"/>
                    </a:solidFill>
                  </a:tcPr>
                </a:tc>
              </a:tr>
              <a:tr h="967114">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HiringDecision</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BCCADB"/>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Target: 0 = Not Hired, 1 = Hired</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BCCADB"/>
                    </a:solidFill>
                  </a:tcPr>
                </a:tc>
              </a:tr>
            </a:tbl>
          </a:graphicData>
        </a:graphic>
      </p:graphicFrame>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69448"/>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TextBox 3" id="3"/>
          <p:cNvSpPr txBox="true"/>
          <p:nvPr/>
        </p:nvSpPr>
        <p:spPr>
          <a:xfrm rot="0">
            <a:off x="702291" y="350823"/>
            <a:ext cx="7781894"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Feature Engineering</a:t>
            </a:r>
          </a:p>
        </p:txBody>
      </p:sp>
      <p:grpSp>
        <p:nvGrpSpPr>
          <p:cNvPr name="Group 4" id="4"/>
          <p:cNvGrpSpPr/>
          <p:nvPr/>
        </p:nvGrpSpPr>
        <p:grpSpPr>
          <a:xfrm rot="0">
            <a:off x="4478765" y="2393747"/>
            <a:ext cx="8010838" cy="6335345"/>
            <a:chOff x="0" y="0"/>
            <a:chExt cx="2184152" cy="1727329"/>
          </a:xfrm>
        </p:grpSpPr>
        <p:sp>
          <p:nvSpPr>
            <p:cNvPr name="Freeform 5" id="5"/>
            <p:cNvSpPr/>
            <p:nvPr/>
          </p:nvSpPr>
          <p:spPr>
            <a:xfrm flipH="false" flipV="false" rot="0">
              <a:off x="0" y="0"/>
              <a:ext cx="2184152" cy="1727329"/>
            </a:xfrm>
            <a:custGeom>
              <a:avLst/>
              <a:gdLst/>
              <a:ahLst/>
              <a:cxnLst/>
              <a:rect r="r" b="b" t="t" l="l"/>
              <a:pathLst>
                <a:path h="1727329" w="2184152">
                  <a:moveTo>
                    <a:pt x="48322" y="0"/>
                  </a:moveTo>
                  <a:lnTo>
                    <a:pt x="2135830" y="0"/>
                  </a:lnTo>
                  <a:cubicBezTo>
                    <a:pt x="2148646" y="0"/>
                    <a:pt x="2160937" y="5091"/>
                    <a:pt x="2169999" y="14153"/>
                  </a:cubicBezTo>
                  <a:cubicBezTo>
                    <a:pt x="2179061" y="23215"/>
                    <a:pt x="2184152" y="35506"/>
                    <a:pt x="2184152" y="48322"/>
                  </a:cubicBezTo>
                  <a:lnTo>
                    <a:pt x="2184152" y="1679008"/>
                  </a:lnTo>
                  <a:cubicBezTo>
                    <a:pt x="2184152" y="1691824"/>
                    <a:pt x="2179061" y="1704114"/>
                    <a:pt x="2169999" y="1713176"/>
                  </a:cubicBezTo>
                  <a:cubicBezTo>
                    <a:pt x="2160937" y="1722238"/>
                    <a:pt x="2148646" y="1727329"/>
                    <a:pt x="2135830" y="1727329"/>
                  </a:cubicBezTo>
                  <a:lnTo>
                    <a:pt x="48322" y="1727329"/>
                  </a:lnTo>
                  <a:cubicBezTo>
                    <a:pt x="35506" y="1727329"/>
                    <a:pt x="23215" y="1722238"/>
                    <a:pt x="14153" y="1713176"/>
                  </a:cubicBezTo>
                  <a:cubicBezTo>
                    <a:pt x="5091" y="1704114"/>
                    <a:pt x="0" y="1691824"/>
                    <a:pt x="0" y="1679008"/>
                  </a:cubicBezTo>
                  <a:lnTo>
                    <a:pt x="0" y="48322"/>
                  </a:lnTo>
                  <a:cubicBezTo>
                    <a:pt x="0" y="35506"/>
                    <a:pt x="5091" y="23215"/>
                    <a:pt x="14153" y="14153"/>
                  </a:cubicBezTo>
                  <a:cubicBezTo>
                    <a:pt x="23215" y="5091"/>
                    <a:pt x="35506" y="0"/>
                    <a:pt x="48322" y="0"/>
                  </a:cubicBezTo>
                  <a:close/>
                </a:path>
              </a:pathLst>
            </a:custGeom>
            <a:solidFill>
              <a:srgbClr val="A1C7CE"/>
            </a:solidFill>
          </p:spPr>
        </p:sp>
        <p:sp>
          <p:nvSpPr>
            <p:cNvPr name="TextBox 6" id="6"/>
            <p:cNvSpPr txBox="true"/>
            <p:nvPr/>
          </p:nvSpPr>
          <p:spPr>
            <a:xfrm>
              <a:off x="0" y="-19050"/>
              <a:ext cx="2184152" cy="1746379"/>
            </a:xfrm>
            <a:prstGeom prst="rect">
              <a:avLst/>
            </a:prstGeom>
          </p:spPr>
          <p:txBody>
            <a:bodyPr anchor="ctr" rtlCol="false" tIns="49361" lIns="49361" bIns="49361" rIns="49361"/>
            <a:lstStyle/>
            <a:p>
              <a:pPr algn="ctr">
                <a:lnSpc>
                  <a:spcPts val="2520"/>
                </a:lnSpc>
              </a:pPr>
              <a:r>
                <a:rPr lang="en-US" b="true" sz="2100" spc="8" u="sng">
                  <a:solidFill>
                    <a:srgbClr val="000000"/>
                  </a:solidFill>
                  <a:latin typeface="Poppins Bold"/>
                  <a:ea typeface="Poppins Bold"/>
                  <a:cs typeface="Poppins Bold"/>
                  <a:sym typeface="Poppins Bold"/>
                </a:rPr>
                <a:t>TotalScore</a:t>
              </a:r>
            </a:p>
            <a:p>
              <a:pPr algn="ctr">
                <a:lnSpc>
                  <a:spcPts val="2520"/>
                </a:lnSpc>
              </a:pPr>
              <a:r>
                <a:rPr lang="en-US" sz="2100" spc="8">
                  <a:solidFill>
                    <a:srgbClr val="000000"/>
                  </a:solidFill>
                  <a:latin typeface="Poppins"/>
                  <a:ea typeface="Poppins"/>
                  <a:cs typeface="Poppins"/>
                  <a:sym typeface="Poppins"/>
                </a:rPr>
                <a:t>Calculates the average of SkillScore, PersonalityScore, and InterviewScore. This feature often has greater</a:t>
              </a:r>
              <a:r>
                <a:rPr lang="en-US" sz="2100" spc="8">
                  <a:solidFill>
                    <a:srgbClr val="000000"/>
                  </a:solidFill>
                  <a:latin typeface="Poppins"/>
                  <a:ea typeface="Poppins"/>
                  <a:cs typeface="Poppins"/>
                  <a:sym typeface="Poppins"/>
                </a:rPr>
                <a:t> predictive power for hiring dec</a:t>
              </a:r>
              <a:r>
                <a:rPr lang="en-US" sz="2100" spc="8">
                  <a:solidFill>
                    <a:srgbClr val="000000"/>
                  </a:solidFill>
                  <a:latin typeface="Poppins"/>
                  <a:ea typeface="Poppins"/>
                  <a:cs typeface="Poppins"/>
                  <a:sym typeface="Poppins"/>
                </a:rPr>
                <a:t>isio</a:t>
              </a:r>
              <a:r>
                <a:rPr lang="en-US" sz="2100" spc="8">
                  <a:solidFill>
                    <a:srgbClr val="000000"/>
                  </a:solidFill>
                  <a:latin typeface="Poppins"/>
                  <a:ea typeface="Poppins"/>
                  <a:cs typeface="Poppins"/>
                  <a:sym typeface="Poppins"/>
                </a:rPr>
                <a:t>n</a:t>
              </a:r>
              <a:r>
                <a:rPr lang="en-US" sz="2100" spc="8">
                  <a:solidFill>
                    <a:srgbClr val="000000"/>
                  </a:solidFill>
                  <a:latin typeface="Poppins"/>
                  <a:ea typeface="Poppins"/>
                  <a:cs typeface="Poppins"/>
                  <a:sym typeface="Poppins"/>
                </a:rPr>
                <a:t>s t</a:t>
              </a:r>
              <a:r>
                <a:rPr lang="en-US" sz="2100" spc="8">
                  <a:solidFill>
                    <a:srgbClr val="000000"/>
                  </a:solidFill>
                  <a:latin typeface="Poppins"/>
                  <a:ea typeface="Poppins"/>
                  <a:cs typeface="Poppins"/>
                  <a:sym typeface="Poppins"/>
                </a:rPr>
                <a:t>han relying solely on individual </a:t>
              </a:r>
              <a:r>
                <a:rPr lang="en-US" sz="2100" spc="8">
                  <a:solidFill>
                    <a:srgbClr val="000000"/>
                  </a:solidFill>
                  <a:latin typeface="Poppins"/>
                  <a:ea typeface="Poppins"/>
                  <a:cs typeface="Poppins"/>
                  <a:sym typeface="Poppins"/>
                </a:rPr>
                <a:t>s</a:t>
              </a:r>
              <a:r>
                <a:rPr lang="en-US" sz="2100" spc="8">
                  <a:solidFill>
                    <a:srgbClr val="000000"/>
                  </a:solidFill>
                  <a:latin typeface="Poppins"/>
                  <a:ea typeface="Poppins"/>
                  <a:cs typeface="Poppins"/>
                  <a:sym typeface="Poppins"/>
                </a:rPr>
                <a:t>c</a:t>
              </a:r>
              <a:r>
                <a:rPr lang="en-US" sz="2100" spc="8">
                  <a:solidFill>
                    <a:srgbClr val="000000"/>
                  </a:solidFill>
                  <a:latin typeface="Poppins"/>
                  <a:ea typeface="Poppins"/>
                  <a:cs typeface="Poppins"/>
                  <a:sym typeface="Poppins"/>
                </a:rPr>
                <a:t>o</a:t>
              </a:r>
              <a:r>
                <a:rPr lang="en-US" sz="2100" spc="8">
                  <a:solidFill>
                    <a:srgbClr val="000000"/>
                  </a:solidFill>
                  <a:latin typeface="Poppins"/>
                  <a:ea typeface="Poppins"/>
                  <a:cs typeface="Poppins"/>
                  <a:sym typeface="Poppins"/>
                </a:rPr>
                <a:t>res.</a:t>
              </a:r>
            </a:p>
            <a:p>
              <a:pPr algn="ctr">
                <a:lnSpc>
                  <a:spcPts val="2520"/>
                </a:lnSpc>
              </a:pPr>
              <a:r>
                <a:rPr lang="en-US" sz="2100" spc="8">
                  <a:solidFill>
                    <a:srgbClr val="000000"/>
                  </a:solidFill>
                  <a:latin typeface="Poppins"/>
                  <a:ea typeface="Poppins"/>
                  <a:cs typeface="Poppins"/>
                  <a:sym typeface="Poppins"/>
                </a:rPr>
                <a:t>(InterviewScore + SkillScore + PersonalityScore) / 3</a:t>
              </a:r>
            </a:p>
            <a:p>
              <a:pPr algn="ctr">
                <a:lnSpc>
                  <a:spcPts val="2520"/>
                </a:lnSpc>
              </a:pPr>
            </a:p>
            <a:p>
              <a:pPr algn="l">
                <a:lnSpc>
                  <a:spcPts val="2520"/>
                </a:lnSpc>
              </a:pPr>
            </a:p>
            <a:p>
              <a:pPr algn="ctr">
                <a:lnSpc>
                  <a:spcPts val="2520"/>
                </a:lnSpc>
              </a:pPr>
              <a:r>
                <a:rPr lang="en-US" b="true" sz="2100" spc="8" u="sng">
                  <a:solidFill>
                    <a:srgbClr val="000000"/>
                  </a:solidFill>
                  <a:latin typeface="Poppins Bold"/>
                  <a:ea typeface="Poppins Bold"/>
                  <a:cs typeface="Poppins Bold"/>
                  <a:sym typeface="Poppins Bold"/>
                </a:rPr>
                <a:t>ExperienceLevel</a:t>
              </a:r>
            </a:p>
            <a:p>
              <a:pPr algn="ctr">
                <a:lnSpc>
                  <a:spcPts val="2520"/>
                </a:lnSpc>
              </a:pPr>
              <a:r>
                <a:rPr lang="en-US" sz="2100" spc="8">
                  <a:solidFill>
                    <a:srgbClr val="000000"/>
                  </a:solidFill>
                  <a:latin typeface="Poppins"/>
                  <a:ea typeface="Poppins"/>
                  <a:cs typeface="Poppins"/>
                  <a:sym typeface="Poppins"/>
                </a:rPr>
                <a:t>Metric to gauge an employee’s professional maturity based on years of experience which typically correlates with higher candidate viability</a:t>
              </a:r>
            </a:p>
            <a:p>
              <a:pPr algn="just" marL="453390" indent="-226695" lvl="1">
                <a:lnSpc>
                  <a:spcPts val="2520"/>
                </a:lnSpc>
                <a:buFont typeface="Arial"/>
                <a:buChar char="•"/>
              </a:pPr>
              <a:r>
                <a:rPr lang="en-US" sz="2100" spc="8">
                  <a:solidFill>
                    <a:srgbClr val="000000"/>
                  </a:solidFill>
                  <a:latin typeface="Poppins"/>
                  <a:ea typeface="Poppins"/>
                  <a:cs typeface="Poppins"/>
                  <a:sym typeface="Poppins"/>
                </a:rPr>
                <a:t>Junior  : Below 2 Years of Experience</a:t>
              </a:r>
            </a:p>
            <a:p>
              <a:pPr algn="just" marL="453390" indent="-226695" lvl="1">
                <a:lnSpc>
                  <a:spcPts val="2520"/>
                </a:lnSpc>
                <a:buFont typeface="Arial"/>
                <a:buChar char="•"/>
              </a:pPr>
              <a:r>
                <a:rPr lang="en-US" sz="2100" spc="8">
                  <a:solidFill>
                    <a:srgbClr val="000000"/>
                  </a:solidFill>
                  <a:latin typeface="Poppins"/>
                  <a:ea typeface="Poppins"/>
                  <a:cs typeface="Poppins"/>
                  <a:sym typeface="Poppins"/>
                </a:rPr>
                <a:t>Medior : Between 2 to 5 Years of Experience</a:t>
              </a:r>
            </a:p>
            <a:p>
              <a:pPr algn="just" marL="453390" indent="-226695" lvl="1">
                <a:lnSpc>
                  <a:spcPts val="2520"/>
                </a:lnSpc>
                <a:buFont typeface="Arial"/>
                <a:buChar char="•"/>
              </a:pPr>
              <a:r>
                <a:rPr lang="en-US" sz="2100" spc="8">
                  <a:solidFill>
                    <a:srgbClr val="000000"/>
                  </a:solidFill>
                  <a:latin typeface="Poppins"/>
                  <a:ea typeface="Poppins"/>
                  <a:cs typeface="Poppins"/>
                  <a:sym typeface="Poppins"/>
                </a:rPr>
                <a:t>Senior  : Above 5 Years of Experience</a:t>
              </a:r>
            </a:p>
            <a:p>
              <a:pPr algn="just">
                <a:lnSpc>
                  <a:spcPts val="2520"/>
                </a:lnSpc>
              </a:pP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905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12070608" y="2084513"/>
            <a:ext cx="5842811" cy="6335345"/>
            <a:chOff x="0" y="0"/>
            <a:chExt cx="1593040" cy="1727329"/>
          </a:xfrm>
        </p:grpSpPr>
        <p:sp>
          <p:nvSpPr>
            <p:cNvPr name="Freeform 4" id="4"/>
            <p:cNvSpPr/>
            <p:nvPr/>
          </p:nvSpPr>
          <p:spPr>
            <a:xfrm flipH="false" flipV="false" rot="0">
              <a:off x="0" y="0"/>
              <a:ext cx="1593040" cy="1727329"/>
            </a:xfrm>
            <a:custGeom>
              <a:avLst/>
              <a:gdLst/>
              <a:ahLst/>
              <a:cxnLst/>
              <a:rect r="r" b="b" t="t" l="l"/>
              <a:pathLst>
                <a:path h="1727329" w="1593040">
                  <a:moveTo>
                    <a:pt x="66252" y="0"/>
                  </a:moveTo>
                  <a:lnTo>
                    <a:pt x="1526788" y="0"/>
                  </a:lnTo>
                  <a:cubicBezTo>
                    <a:pt x="1563378" y="0"/>
                    <a:pt x="1593040" y="29662"/>
                    <a:pt x="1593040" y="66252"/>
                  </a:cubicBezTo>
                  <a:lnTo>
                    <a:pt x="1593040" y="1661078"/>
                  </a:lnTo>
                  <a:cubicBezTo>
                    <a:pt x="1593040" y="1697668"/>
                    <a:pt x="1563378" y="1727329"/>
                    <a:pt x="1526788" y="1727329"/>
                  </a:cubicBezTo>
                  <a:lnTo>
                    <a:pt x="66252" y="1727329"/>
                  </a:lnTo>
                  <a:cubicBezTo>
                    <a:pt x="29662" y="1727329"/>
                    <a:pt x="0" y="1697668"/>
                    <a:pt x="0" y="1661078"/>
                  </a:cubicBezTo>
                  <a:lnTo>
                    <a:pt x="0" y="66252"/>
                  </a:lnTo>
                  <a:cubicBezTo>
                    <a:pt x="0" y="29662"/>
                    <a:pt x="29662" y="0"/>
                    <a:pt x="66252" y="0"/>
                  </a:cubicBezTo>
                  <a:close/>
                </a:path>
              </a:pathLst>
            </a:custGeom>
            <a:solidFill>
              <a:srgbClr val="A1C7CE"/>
            </a:solidFill>
          </p:spPr>
        </p:sp>
        <p:sp>
          <p:nvSpPr>
            <p:cNvPr name="TextBox 5" id="5"/>
            <p:cNvSpPr txBox="true"/>
            <p:nvPr/>
          </p:nvSpPr>
          <p:spPr>
            <a:xfrm>
              <a:off x="0" y="-19050"/>
              <a:ext cx="1593040" cy="1746379"/>
            </a:xfrm>
            <a:prstGeom prst="rect">
              <a:avLst/>
            </a:prstGeom>
          </p:spPr>
          <p:txBody>
            <a:bodyPr anchor="ctr" rtlCol="false" tIns="49361" lIns="49361" bIns="49361" rIns="49361"/>
            <a:lstStyle/>
            <a:p>
              <a:pPr algn="l" marL="453390" indent="-226695" lvl="1">
                <a:lnSpc>
                  <a:spcPts val="2520"/>
                </a:lnSpc>
                <a:buFont typeface="Arial"/>
                <a:buChar char="•"/>
              </a:pPr>
              <a:r>
                <a:rPr lang="en-US" sz="2100" spc="8">
                  <a:solidFill>
                    <a:srgbClr val="000000"/>
                  </a:solidFill>
                  <a:latin typeface="Poppins"/>
                  <a:ea typeface="Poppins"/>
                  <a:cs typeface="Poppins"/>
                  <a:sym typeface="Poppins"/>
                </a:rPr>
                <a:t>No data points were found outside the whiskers (extension lines) for any of the featu</a:t>
              </a:r>
              <a:r>
                <a:rPr lang="en-US" sz="2100" spc="8">
                  <a:solidFill>
                    <a:srgbClr val="000000"/>
                  </a:solidFill>
                  <a:latin typeface="Poppins"/>
                  <a:ea typeface="Poppins"/>
                  <a:cs typeface="Poppins"/>
                  <a:sym typeface="Poppins"/>
                </a:rPr>
                <a:t>res. This indicates that your dataset is free of extreme data (outliers), so the model will not be affected by significantly deviant values.</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Due to the very neat data distribution and lack of outliers, this dataset is in ideal conditions for moving directly into the Machine Learning modeling stage without the need for complex outlier handling.</a:t>
              </a:r>
            </a:p>
            <a:p>
              <a:pPr algn="l">
                <a:lnSpc>
                  <a:spcPts val="2520"/>
                </a:lnSpc>
              </a:pPr>
            </a:p>
          </p:txBody>
        </p:sp>
      </p:grpSp>
      <p:sp>
        <p:nvSpPr>
          <p:cNvPr name="Freeform 6" id="6"/>
          <p:cNvSpPr/>
          <p:nvPr/>
        </p:nvSpPr>
        <p:spPr>
          <a:xfrm flipH="false" flipV="false" rot="0">
            <a:off x="1028700" y="1905683"/>
            <a:ext cx="10570764" cy="6578693"/>
          </a:xfrm>
          <a:custGeom>
            <a:avLst/>
            <a:gdLst/>
            <a:ahLst/>
            <a:cxnLst/>
            <a:rect r="r" b="b" t="t" l="l"/>
            <a:pathLst>
              <a:path h="6578693" w="10570764">
                <a:moveTo>
                  <a:pt x="0" y="0"/>
                </a:moveTo>
                <a:lnTo>
                  <a:pt x="10570764" y="0"/>
                </a:lnTo>
                <a:lnTo>
                  <a:pt x="10570764" y="6578693"/>
                </a:lnTo>
                <a:lnTo>
                  <a:pt x="0" y="6578693"/>
                </a:lnTo>
                <a:lnTo>
                  <a:pt x="0" y="0"/>
                </a:lnTo>
                <a:close/>
              </a:path>
            </a:pathLst>
          </a:custGeom>
          <a:blipFill>
            <a:blip r:embed="rId3"/>
            <a:stretch>
              <a:fillRect l="0" t="0" r="0" b="0"/>
            </a:stretch>
          </a:blipFill>
        </p:spPr>
      </p:sp>
      <p:sp>
        <p:nvSpPr>
          <p:cNvPr name="TextBox 7" id="7"/>
          <p:cNvSpPr txBox="true"/>
          <p:nvPr/>
        </p:nvSpPr>
        <p:spPr>
          <a:xfrm rot="0">
            <a:off x="702291" y="350823"/>
            <a:ext cx="7781894"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Univari</a:t>
            </a:r>
            <a:r>
              <a:rPr lang="en-US" sz="6159">
                <a:solidFill>
                  <a:srgbClr val="18102B"/>
                </a:solidFill>
                <a:latin typeface="Raleway"/>
                <a:ea typeface="Raleway"/>
                <a:cs typeface="Raleway"/>
                <a:sym typeface="Raleway"/>
              </a:rPr>
              <a:t>ate Analysis</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Freeform 3" id="3"/>
          <p:cNvSpPr/>
          <p:nvPr/>
        </p:nvSpPr>
        <p:spPr>
          <a:xfrm flipH="false" flipV="false" rot="0">
            <a:off x="3122838" y="2525703"/>
            <a:ext cx="12042324" cy="6999601"/>
          </a:xfrm>
          <a:custGeom>
            <a:avLst/>
            <a:gdLst/>
            <a:ahLst/>
            <a:cxnLst/>
            <a:rect r="r" b="b" t="t" l="l"/>
            <a:pathLst>
              <a:path h="6999601" w="12042324">
                <a:moveTo>
                  <a:pt x="0" y="0"/>
                </a:moveTo>
                <a:lnTo>
                  <a:pt x="12042324" y="0"/>
                </a:lnTo>
                <a:lnTo>
                  <a:pt x="12042324" y="6999601"/>
                </a:lnTo>
                <a:lnTo>
                  <a:pt x="0" y="6999601"/>
                </a:lnTo>
                <a:lnTo>
                  <a:pt x="0" y="0"/>
                </a:lnTo>
                <a:close/>
              </a:path>
            </a:pathLst>
          </a:custGeom>
          <a:blipFill>
            <a:blip r:embed="rId3"/>
            <a:stretch>
              <a:fillRect l="0" t="0" r="0" b="0"/>
            </a:stretch>
          </a:blipFill>
        </p:spPr>
      </p:sp>
      <p:sp>
        <p:nvSpPr>
          <p:cNvPr name="Freeform 4" id="4"/>
          <p:cNvSpPr/>
          <p:nvPr/>
        </p:nvSpPr>
        <p:spPr>
          <a:xfrm flipH="false" flipV="false" rot="0">
            <a:off x="3122838" y="2525703"/>
            <a:ext cx="11939618" cy="6999601"/>
          </a:xfrm>
          <a:custGeom>
            <a:avLst/>
            <a:gdLst/>
            <a:ahLst/>
            <a:cxnLst/>
            <a:rect r="r" b="b" t="t" l="l"/>
            <a:pathLst>
              <a:path h="6999601" w="11939618">
                <a:moveTo>
                  <a:pt x="0" y="0"/>
                </a:moveTo>
                <a:lnTo>
                  <a:pt x="11939618" y="0"/>
                </a:lnTo>
                <a:lnTo>
                  <a:pt x="11939618" y="6999601"/>
                </a:lnTo>
                <a:lnTo>
                  <a:pt x="0" y="6999601"/>
                </a:lnTo>
                <a:lnTo>
                  <a:pt x="0" y="0"/>
                </a:lnTo>
                <a:close/>
              </a:path>
            </a:pathLst>
          </a:custGeom>
          <a:blipFill>
            <a:blip r:embed="rId4"/>
            <a:stretch>
              <a:fillRect l="0" t="0" r="0" b="0"/>
            </a:stretch>
          </a:blipFill>
        </p:spPr>
      </p:sp>
      <p:sp>
        <p:nvSpPr>
          <p:cNvPr name="TextBox 5" id="5"/>
          <p:cNvSpPr txBox="true"/>
          <p:nvPr/>
        </p:nvSpPr>
        <p:spPr>
          <a:xfrm rot="0">
            <a:off x="702291" y="350823"/>
            <a:ext cx="7781894"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Univari</a:t>
            </a:r>
            <a:r>
              <a:rPr lang="en-US" sz="6159">
                <a:solidFill>
                  <a:srgbClr val="18102B"/>
                </a:solidFill>
                <a:latin typeface="Raleway"/>
                <a:ea typeface="Raleway"/>
                <a:cs typeface="Raleway"/>
                <a:sym typeface="Raleway"/>
              </a:rPr>
              <a:t>ate Analysis</a:t>
            </a:r>
          </a:p>
        </p:txBody>
      </p:sp>
      <p:sp>
        <p:nvSpPr>
          <p:cNvPr name="TextBox 6" id="6"/>
          <p:cNvSpPr txBox="true"/>
          <p:nvPr/>
        </p:nvSpPr>
        <p:spPr>
          <a:xfrm rot="0">
            <a:off x="5253053" y="1884268"/>
            <a:ext cx="7781894" cy="490855"/>
          </a:xfrm>
          <a:prstGeom prst="rect">
            <a:avLst/>
          </a:prstGeom>
        </p:spPr>
        <p:txBody>
          <a:bodyPr anchor="t" rtlCol="false" tIns="0" lIns="0" bIns="0" rIns="0">
            <a:spAutoFit/>
          </a:bodyPr>
          <a:lstStyle/>
          <a:p>
            <a:pPr algn="ctr">
              <a:lnSpc>
                <a:spcPts val="3919"/>
              </a:lnSpc>
              <a:spcBef>
                <a:spcPct val="0"/>
              </a:spcBef>
            </a:pPr>
            <a:r>
              <a:rPr lang="en-US" b="true" sz="2799">
                <a:solidFill>
                  <a:srgbClr val="18102B"/>
                </a:solidFill>
                <a:latin typeface="Raleway Bold"/>
                <a:ea typeface="Raleway Bold"/>
                <a:cs typeface="Raleway Bold"/>
                <a:sym typeface="Raleway Bold"/>
              </a:rPr>
              <a:t>Skewness detection</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9525"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9144000" y="2471876"/>
            <a:ext cx="8010838" cy="6335345"/>
            <a:chOff x="0" y="0"/>
            <a:chExt cx="2184152" cy="1727329"/>
          </a:xfrm>
        </p:grpSpPr>
        <p:sp>
          <p:nvSpPr>
            <p:cNvPr name="Freeform 4" id="4"/>
            <p:cNvSpPr/>
            <p:nvPr/>
          </p:nvSpPr>
          <p:spPr>
            <a:xfrm flipH="false" flipV="false" rot="0">
              <a:off x="0" y="0"/>
              <a:ext cx="2184152" cy="1727329"/>
            </a:xfrm>
            <a:custGeom>
              <a:avLst/>
              <a:gdLst/>
              <a:ahLst/>
              <a:cxnLst/>
              <a:rect r="r" b="b" t="t" l="l"/>
              <a:pathLst>
                <a:path h="1727329" w="2184152">
                  <a:moveTo>
                    <a:pt x="48322" y="0"/>
                  </a:moveTo>
                  <a:lnTo>
                    <a:pt x="2135830" y="0"/>
                  </a:lnTo>
                  <a:cubicBezTo>
                    <a:pt x="2148646" y="0"/>
                    <a:pt x="2160937" y="5091"/>
                    <a:pt x="2169999" y="14153"/>
                  </a:cubicBezTo>
                  <a:cubicBezTo>
                    <a:pt x="2179061" y="23215"/>
                    <a:pt x="2184152" y="35506"/>
                    <a:pt x="2184152" y="48322"/>
                  </a:cubicBezTo>
                  <a:lnTo>
                    <a:pt x="2184152" y="1679008"/>
                  </a:lnTo>
                  <a:cubicBezTo>
                    <a:pt x="2184152" y="1691824"/>
                    <a:pt x="2179061" y="1704114"/>
                    <a:pt x="2169999" y="1713176"/>
                  </a:cubicBezTo>
                  <a:cubicBezTo>
                    <a:pt x="2160937" y="1722238"/>
                    <a:pt x="2148646" y="1727329"/>
                    <a:pt x="2135830" y="1727329"/>
                  </a:cubicBezTo>
                  <a:lnTo>
                    <a:pt x="48322" y="1727329"/>
                  </a:lnTo>
                  <a:cubicBezTo>
                    <a:pt x="35506" y="1727329"/>
                    <a:pt x="23215" y="1722238"/>
                    <a:pt x="14153" y="1713176"/>
                  </a:cubicBezTo>
                  <a:cubicBezTo>
                    <a:pt x="5091" y="1704114"/>
                    <a:pt x="0" y="1691824"/>
                    <a:pt x="0" y="1679008"/>
                  </a:cubicBezTo>
                  <a:lnTo>
                    <a:pt x="0" y="48322"/>
                  </a:lnTo>
                  <a:cubicBezTo>
                    <a:pt x="0" y="35506"/>
                    <a:pt x="5091" y="23215"/>
                    <a:pt x="14153" y="14153"/>
                  </a:cubicBezTo>
                  <a:cubicBezTo>
                    <a:pt x="23215" y="5091"/>
                    <a:pt x="35506" y="0"/>
                    <a:pt x="48322" y="0"/>
                  </a:cubicBezTo>
                  <a:close/>
                </a:path>
              </a:pathLst>
            </a:custGeom>
            <a:solidFill>
              <a:srgbClr val="A1C7CE"/>
            </a:solidFill>
          </p:spPr>
        </p:sp>
        <p:sp>
          <p:nvSpPr>
            <p:cNvPr name="TextBox 5" id="5"/>
            <p:cNvSpPr txBox="true"/>
            <p:nvPr/>
          </p:nvSpPr>
          <p:spPr>
            <a:xfrm>
              <a:off x="0" y="-19050"/>
              <a:ext cx="2184152" cy="1746379"/>
            </a:xfrm>
            <a:prstGeom prst="rect">
              <a:avLst/>
            </a:prstGeom>
          </p:spPr>
          <p:txBody>
            <a:bodyPr anchor="ctr" rtlCol="false" tIns="49361" lIns="49361" bIns="49361" rIns="49361"/>
            <a:lstStyle/>
            <a:p>
              <a:pPr algn="l" marL="453390" indent="-226695" lvl="1">
                <a:lnSpc>
                  <a:spcPts val="2520"/>
                </a:lnSpc>
                <a:buFont typeface="Arial"/>
                <a:buChar char="•"/>
              </a:pPr>
              <a:r>
                <a:rPr lang="en-US" sz="2100" spc="8">
                  <a:solidFill>
                    <a:srgbClr val="000000"/>
                  </a:solidFill>
                  <a:latin typeface="Poppins"/>
                  <a:ea typeface="Poppins"/>
                  <a:cs typeface="Poppins"/>
                  <a:sym typeface="Poppins"/>
                </a:rPr>
                <a:t>Most of the numerical features have a low to moderate correlation with each other, with correlation values ranging from -0.052 to 0.584. </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No features show a very </a:t>
              </a:r>
              <a:r>
                <a:rPr lang="en-US" sz="2100" spc="8">
                  <a:solidFill>
                    <a:srgbClr val="000000"/>
                  </a:solidFill>
                  <a:latin typeface="Poppins"/>
                  <a:ea typeface="Poppins"/>
                  <a:cs typeface="Poppins"/>
                  <a:sym typeface="Poppins"/>
                </a:rPr>
                <a:t>high correlation (above 0.8), which indicates that there is no significant multicollinearity among them.</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Fea</a:t>
              </a:r>
              <a:r>
                <a:rPr lang="en-US" sz="2100" spc="8">
                  <a:solidFill>
                    <a:srgbClr val="000000"/>
                  </a:solidFill>
                  <a:latin typeface="Poppins"/>
                  <a:ea typeface="Poppins"/>
                  <a:cs typeface="Poppins"/>
                  <a:sym typeface="Poppins"/>
                </a:rPr>
                <a:t>tures such as </a:t>
              </a:r>
              <a:r>
                <a:rPr lang="en-US" b="true" sz="2100" spc="8">
                  <a:solidFill>
                    <a:srgbClr val="000000"/>
                  </a:solidFill>
                  <a:latin typeface="Poppins Bold"/>
                  <a:ea typeface="Poppins Bold"/>
                  <a:cs typeface="Poppins Bold"/>
                  <a:sym typeface="Poppins Bold"/>
                </a:rPr>
                <a:t>ExperienceYears</a:t>
              </a:r>
              <a:r>
                <a:rPr lang="en-US" sz="2100" spc="8">
                  <a:solidFill>
                    <a:srgbClr val="000000"/>
                  </a:solidFill>
                  <a:latin typeface="Poppins"/>
                  <a:ea typeface="Poppins"/>
                  <a:cs typeface="Poppins"/>
                  <a:sym typeface="Poppins"/>
                </a:rPr>
                <a:t>, </a:t>
              </a:r>
              <a:r>
                <a:rPr lang="en-US" b="true" sz="2100" spc="8">
                  <a:solidFill>
                    <a:srgbClr val="000000"/>
                  </a:solidFill>
                  <a:latin typeface="Poppins Bold"/>
                  <a:ea typeface="Poppins Bold"/>
                  <a:cs typeface="Poppins Bold"/>
                  <a:sym typeface="Poppins Bold"/>
                </a:rPr>
                <a:t>InterviewScore</a:t>
              </a:r>
              <a:r>
                <a:rPr lang="en-US" sz="2100" spc="8">
                  <a:solidFill>
                    <a:srgbClr val="000000"/>
                  </a:solidFill>
                  <a:latin typeface="Poppins"/>
                  <a:ea typeface="Poppins"/>
                  <a:cs typeface="Poppins"/>
                  <a:sym typeface="Poppins"/>
                </a:rPr>
                <a:t>, </a:t>
              </a:r>
              <a:r>
                <a:rPr lang="en-US" b="true" sz="2100" spc="8">
                  <a:solidFill>
                    <a:srgbClr val="000000"/>
                  </a:solidFill>
                  <a:latin typeface="Poppins Bold"/>
                  <a:ea typeface="Poppins Bold"/>
                  <a:cs typeface="Poppins Bold"/>
                  <a:sym typeface="Poppins Bold"/>
                </a:rPr>
                <a:t>SkillScore</a:t>
              </a:r>
              <a:r>
                <a:rPr lang="en-US" sz="2100" spc="8">
                  <a:solidFill>
                    <a:srgbClr val="000000"/>
                  </a:solidFill>
                  <a:latin typeface="Poppins"/>
                  <a:ea typeface="Poppins"/>
                  <a:cs typeface="Poppins"/>
                  <a:sym typeface="Poppins"/>
                </a:rPr>
                <a:t>, </a:t>
              </a:r>
              <a:r>
                <a:rPr lang="en-US" b="true" sz="2100" spc="8">
                  <a:solidFill>
                    <a:srgbClr val="000000"/>
                  </a:solidFill>
                  <a:latin typeface="Poppins Bold"/>
                  <a:ea typeface="Poppins Bold"/>
                  <a:cs typeface="Poppins Bold"/>
                  <a:sym typeface="Poppins Bold"/>
                </a:rPr>
                <a:t>PersonalityScore, TotalScore</a:t>
              </a:r>
              <a:r>
                <a:rPr lang="en-US" sz="2100" spc="8">
                  <a:solidFill>
                    <a:srgbClr val="000000"/>
                  </a:solidFill>
                  <a:latin typeface="Poppins"/>
                  <a:ea typeface="Poppins"/>
                  <a:cs typeface="Poppins"/>
                  <a:sym typeface="Poppins"/>
                </a:rPr>
                <a:t> show a significant positive correlation with the target label (</a:t>
              </a:r>
              <a:r>
                <a:rPr lang="en-US" b="true" sz="2100" spc="8">
                  <a:solidFill>
                    <a:srgbClr val="000000"/>
                  </a:solidFill>
                  <a:latin typeface="Poppins Bold"/>
                  <a:ea typeface="Poppins Bold"/>
                  <a:cs typeface="Poppins Bold"/>
                  <a:sym typeface="Poppins Bold"/>
                </a:rPr>
                <a:t>HiringDecision</a:t>
              </a:r>
              <a:r>
                <a:rPr lang="en-US" sz="2100" spc="8">
                  <a:solidFill>
                    <a:srgbClr val="000000"/>
                  </a:solidFill>
                  <a:latin typeface="Poppins"/>
                  <a:ea typeface="Poppins"/>
                  <a:cs typeface="Poppins"/>
                  <a:sym typeface="Poppins"/>
                </a:rPr>
                <a:t>)."</a:t>
              </a:r>
            </a:p>
            <a:p>
              <a:pPr algn="l">
                <a:lnSpc>
                  <a:spcPts val="2520"/>
                </a:lnSpc>
              </a:pPr>
            </a:p>
          </p:txBody>
        </p:sp>
      </p:grpSp>
      <p:sp>
        <p:nvSpPr>
          <p:cNvPr name="Freeform 6" id="6"/>
          <p:cNvSpPr/>
          <p:nvPr/>
        </p:nvSpPr>
        <p:spPr>
          <a:xfrm flipH="false" flipV="false" rot="0">
            <a:off x="1028700" y="2309980"/>
            <a:ext cx="7455484" cy="6543527"/>
          </a:xfrm>
          <a:custGeom>
            <a:avLst/>
            <a:gdLst/>
            <a:ahLst/>
            <a:cxnLst/>
            <a:rect r="r" b="b" t="t" l="l"/>
            <a:pathLst>
              <a:path h="6543527" w="7455484">
                <a:moveTo>
                  <a:pt x="0" y="0"/>
                </a:moveTo>
                <a:lnTo>
                  <a:pt x="7455484" y="0"/>
                </a:lnTo>
                <a:lnTo>
                  <a:pt x="7455484" y="6543528"/>
                </a:lnTo>
                <a:lnTo>
                  <a:pt x="0" y="6543528"/>
                </a:lnTo>
                <a:lnTo>
                  <a:pt x="0" y="0"/>
                </a:lnTo>
                <a:close/>
              </a:path>
            </a:pathLst>
          </a:custGeom>
          <a:blipFill>
            <a:blip r:embed="rId3"/>
            <a:stretch>
              <a:fillRect l="0" t="0" r="0" b="0"/>
            </a:stretch>
          </a:blipFill>
        </p:spPr>
      </p:sp>
      <p:sp>
        <p:nvSpPr>
          <p:cNvPr name="TextBox 7" id="7"/>
          <p:cNvSpPr txBox="true"/>
          <p:nvPr/>
        </p:nvSpPr>
        <p:spPr>
          <a:xfrm rot="0">
            <a:off x="702291" y="350823"/>
            <a:ext cx="7781894"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Multivari</a:t>
            </a:r>
            <a:r>
              <a:rPr lang="en-US" sz="6159">
                <a:solidFill>
                  <a:srgbClr val="18102B"/>
                </a:solidFill>
                <a:latin typeface="Raleway"/>
                <a:ea typeface="Raleway"/>
                <a:cs typeface="Raleway"/>
                <a:sym typeface="Raleway"/>
              </a:rPr>
              <a:t>ate Analysis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TextBox 3" id="3"/>
          <p:cNvSpPr txBox="true"/>
          <p:nvPr/>
        </p:nvSpPr>
        <p:spPr>
          <a:xfrm rot="0">
            <a:off x="597514" y="572463"/>
            <a:ext cx="13362446" cy="1062736"/>
          </a:xfrm>
          <a:prstGeom prst="rect">
            <a:avLst/>
          </a:prstGeom>
        </p:spPr>
        <p:txBody>
          <a:bodyPr anchor="t" rtlCol="false" tIns="0" lIns="0" bIns="0" rIns="0">
            <a:spAutoFit/>
          </a:bodyPr>
          <a:lstStyle/>
          <a:p>
            <a:pPr algn="l">
              <a:lnSpc>
                <a:spcPts val="8623"/>
              </a:lnSpc>
              <a:spcBef>
                <a:spcPct val="0"/>
              </a:spcBef>
            </a:pPr>
            <a:r>
              <a:rPr lang="en-US" sz="6159">
                <a:solidFill>
                  <a:srgbClr val="18102B"/>
                </a:solidFill>
                <a:latin typeface="Raleway"/>
                <a:ea typeface="Raleway"/>
                <a:cs typeface="Raleway"/>
                <a:sym typeface="Raleway"/>
              </a:rPr>
              <a:t>Chi-Square &amp; ANOVA</a:t>
            </a:r>
            <a:r>
              <a:rPr lang="en-US" sz="6159">
                <a:solidFill>
                  <a:srgbClr val="18102B"/>
                </a:solidFill>
                <a:latin typeface="Raleway"/>
                <a:ea typeface="Raleway"/>
                <a:cs typeface="Raleway"/>
                <a:sym typeface="Raleway"/>
              </a:rPr>
              <a:t> Test Result</a:t>
            </a:r>
          </a:p>
        </p:txBody>
      </p:sp>
      <p:graphicFrame>
        <p:nvGraphicFramePr>
          <p:cNvPr name="Table 4" id="4"/>
          <p:cNvGraphicFramePr>
            <a:graphicFrameLocks noGrp="true"/>
          </p:cNvGraphicFramePr>
          <p:nvPr/>
        </p:nvGraphicFramePr>
        <p:xfrm>
          <a:off x="597514" y="2857500"/>
          <a:ext cx="8704148" cy="4667250"/>
        </p:xfrm>
        <a:graphic>
          <a:graphicData uri="http://schemas.openxmlformats.org/drawingml/2006/table">
            <a:tbl>
              <a:tblPr/>
              <a:tblGrid>
                <a:gridCol w="3532059"/>
                <a:gridCol w="2586044"/>
                <a:gridCol w="2586044"/>
              </a:tblGrid>
              <a:tr h="603772">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Feature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F-stat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p-value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07935">
                <a:tc>
                  <a:txBody>
                    <a:bodyPr anchor="t" rtlCol="false"/>
                    <a:lstStyle/>
                    <a:p>
                      <a:pPr algn="r">
                        <a:lnSpc>
                          <a:spcPts val="2308"/>
                        </a:lnSpc>
                        <a:defRPr/>
                      </a:pPr>
                      <a:r>
                        <a:rPr lang="en-US" sz="1648">
                          <a:solidFill>
                            <a:srgbClr val="000000"/>
                          </a:solidFill>
                          <a:latin typeface="Canva Sans"/>
                          <a:ea typeface="Canva Sans"/>
                          <a:cs typeface="Canva Sans"/>
                          <a:sym typeface="Canva Sans"/>
                        </a:rPr>
                        <a:t>Age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0.004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0.9493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07935">
                <a:tc>
                  <a:txBody>
                    <a:bodyPr anchor="t" rtlCol="false"/>
                    <a:lstStyle/>
                    <a:p>
                      <a:pPr algn="r">
                        <a:lnSpc>
                          <a:spcPts val="2308"/>
                        </a:lnSpc>
                        <a:defRPr/>
                      </a:pPr>
                      <a:r>
                        <a:rPr lang="en-US" sz="1648">
                          <a:solidFill>
                            <a:srgbClr val="000000"/>
                          </a:solidFill>
                          <a:latin typeface="Canva Sans"/>
                          <a:ea typeface="Canva Sans"/>
                          <a:cs typeface="Canva Sans"/>
                          <a:sym typeface="Canva Sans"/>
                        </a:rPr>
                        <a:t>ExperienceYears</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23.281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07935">
                <a:tc>
                  <a:txBody>
                    <a:bodyPr anchor="t" rtlCol="false"/>
                    <a:lstStyle/>
                    <a:p>
                      <a:pPr algn="r">
                        <a:lnSpc>
                          <a:spcPts val="2308"/>
                        </a:lnSpc>
                        <a:defRPr/>
                      </a:pPr>
                      <a:r>
                        <a:rPr lang="en-US" sz="1648">
                          <a:solidFill>
                            <a:srgbClr val="000000"/>
                          </a:solidFill>
                          <a:latin typeface="Canva Sans"/>
                          <a:ea typeface="Canva Sans"/>
                          <a:cs typeface="Canva Sans"/>
                          <a:sym typeface="Canva Sans"/>
                        </a:rPr>
                        <a:t>PreviousCompanies</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3.039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0.0815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07935">
                <a:tc>
                  <a:txBody>
                    <a:bodyPr anchor="t" rtlCol="false"/>
                    <a:lstStyle/>
                    <a:p>
                      <a:pPr algn="r">
                        <a:lnSpc>
                          <a:spcPts val="2308"/>
                        </a:lnSpc>
                        <a:defRPr/>
                      </a:pPr>
                      <a:r>
                        <a:rPr lang="en-US" sz="1648">
                          <a:solidFill>
                            <a:srgbClr val="000000"/>
                          </a:solidFill>
                          <a:latin typeface="Canva Sans"/>
                          <a:ea typeface="Canva Sans"/>
                          <a:cs typeface="Canva Sans"/>
                          <a:sym typeface="Canva Sans"/>
                        </a:rPr>
                        <a:t>DistanceFromCompany</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0.403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0.5254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07935">
                <a:tc>
                  <a:txBody>
                    <a:bodyPr anchor="t" rtlCol="false"/>
                    <a:lstStyle/>
                    <a:p>
                      <a:pPr algn="r" marL="0" indent="0" lvl="0">
                        <a:lnSpc>
                          <a:spcPts val="2308"/>
                        </a:lnSpc>
                        <a:spcBef>
                          <a:spcPct val="0"/>
                        </a:spcBef>
                        <a:defRPr/>
                      </a:pPr>
                      <a:r>
                        <a:rPr lang="en-US" sz="1648" strike="noStrike" u="none">
                          <a:solidFill>
                            <a:srgbClr val="000000"/>
                          </a:solidFill>
                          <a:latin typeface="Canva Sans"/>
                          <a:ea typeface="Canva Sans"/>
                          <a:cs typeface="Canva Sans"/>
                          <a:sym typeface="Canva Sans"/>
                        </a:rPr>
                        <a:t>InterviewScore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32.069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07935">
                <a:tc>
                  <a:txBody>
                    <a:bodyPr anchor="t" rtlCol="false"/>
                    <a:lstStyle/>
                    <a:p>
                      <a:pPr algn="r">
                        <a:lnSpc>
                          <a:spcPts val="2308"/>
                        </a:lnSpc>
                        <a:defRPr/>
                      </a:pPr>
                      <a:r>
                        <a:rPr lang="en-US" sz="1648">
                          <a:solidFill>
                            <a:srgbClr val="000000"/>
                          </a:solidFill>
                          <a:latin typeface="Canva Sans"/>
                          <a:ea typeface="Canva Sans"/>
                          <a:cs typeface="Canva Sans"/>
                          <a:sym typeface="Canva Sans"/>
                        </a:rPr>
                        <a:t>SkillScore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64.046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07935">
                <a:tc>
                  <a:txBody>
                    <a:bodyPr anchor="t" rtlCol="false"/>
                    <a:lstStyle/>
                    <a:p>
                      <a:pPr algn="r">
                        <a:lnSpc>
                          <a:spcPts val="2308"/>
                        </a:lnSpc>
                        <a:defRPr/>
                      </a:pPr>
                      <a:r>
                        <a:rPr lang="en-US" sz="1648">
                          <a:solidFill>
                            <a:srgbClr val="000000"/>
                          </a:solidFill>
                          <a:latin typeface="Canva Sans"/>
                          <a:ea typeface="Canva Sans"/>
                          <a:cs typeface="Canva Sans"/>
                          <a:sym typeface="Canva Sans"/>
                        </a:rPr>
                        <a:t>PersonalityScore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43.499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07935">
                <a:tc>
                  <a:txBody>
                    <a:bodyPr anchor="t" rtlCol="false"/>
                    <a:lstStyle/>
                    <a:p>
                      <a:pPr algn="r">
                        <a:lnSpc>
                          <a:spcPts val="2308"/>
                        </a:lnSpc>
                        <a:defRPr/>
                      </a:pPr>
                      <a:r>
                        <a:rPr lang="en-US" sz="1648">
                          <a:solidFill>
                            <a:srgbClr val="000000"/>
                          </a:solidFill>
                          <a:latin typeface="Canva Sans"/>
                          <a:ea typeface="Canva Sans"/>
                          <a:cs typeface="Canva Sans"/>
                          <a:sym typeface="Canva Sans"/>
                        </a:rPr>
                        <a:t>TotalScore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151.138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bl>
          </a:graphicData>
        </a:graphic>
      </p:graphicFrame>
      <p:sp>
        <p:nvSpPr>
          <p:cNvPr name="TextBox 5" id="5"/>
          <p:cNvSpPr txBox="true"/>
          <p:nvPr/>
        </p:nvSpPr>
        <p:spPr>
          <a:xfrm rot="0">
            <a:off x="4095649" y="2055123"/>
            <a:ext cx="1707877" cy="665480"/>
          </a:xfrm>
          <a:prstGeom prst="rect">
            <a:avLst/>
          </a:prstGeom>
        </p:spPr>
        <p:txBody>
          <a:bodyPr anchor="t" rtlCol="false" tIns="0" lIns="0" bIns="0" rIns="0">
            <a:spAutoFit/>
          </a:bodyPr>
          <a:lstStyle/>
          <a:p>
            <a:pPr algn="ctr">
              <a:lnSpc>
                <a:spcPts val="5320"/>
              </a:lnSpc>
              <a:spcBef>
                <a:spcPct val="0"/>
              </a:spcBef>
            </a:pPr>
            <a:r>
              <a:rPr lang="en-US" b="true" sz="3800">
                <a:solidFill>
                  <a:srgbClr val="18102B"/>
                </a:solidFill>
                <a:latin typeface="Raleway Bold"/>
                <a:ea typeface="Raleway Bold"/>
                <a:cs typeface="Raleway Bold"/>
                <a:sym typeface="Raleway Bold"/>
              </a:rPr>
              <a:t>ANOVA</a:t>
            </a:r>
          </a:p>
        </p:txBody>
      </p:sp>
      <p:sp>
        <p:nvSpPr>
          <p:cNvPr name="TextBox 6" id="6"/>
          <p:cNvSpPr txBox="true"/>
          <p:nvPr/>
        </p:nvSpPr>
        <p:spPr>
          <a:xfrm rot="0">
            <a:off x="12661546" y="2055123"/>
            <a:ext cx="2596828" cy="665480"/>
          </a:xfrm>
          <a:prstGeom prst="rect">
            <a:avLst/>
          </a:prstGeom>
        </p:spPr>
        <p:txBody>
          <a:bodyPr anchor="t" rtlCol="false" tIns="0" lIns="0" bIns="0" rIns="0">
            <a:spAutoFit/>
          </a:bodyPr>
          <a:lstStyle/>
          <a:p>
            <a:pPr algn="ctr">
              <a:lnSpc>
                <a:spcPts val="5320"/>
              </a:lnSpc>
              <a:spcBef>
                <a:spcPct val="0"/>
              </a:spcBef>
            </a:pPr>
            <a:r>
              <a:rPr lang="en-US" b="true" sz="3800">
                <a:solidFill>
                  <a:srgbClr val="18102B"/>
                </a:solidFill>
                <a:latin typeface="Raleway Bold"/>
                <a:ea typeface="Raleway Bold"/>
                <a:cs typeface="Raleway Bold"/>
                <a:sym typeface="Raleway Bold"/>
              </a:rPr>
              <a:t>Chi-Square</a:t>
            </a:r>
          </a:p>
        </p:txBody>
      </p:sp>
      <p:graphicFrame>
        <p:nvGraphicFramePr>
          <p:cNvPr name="Table 7" id="7"/>
          <p:cNvGraphicFramePr>
            <a:graphicFrameLocks noGrp="true"/>
          </p:cNvGraphicFramePr>
          <p:nvPr/>
        </p:nvGraphicFramePr>
        <p:xfrm>
          <a:off x="10132854" y="2857500"/>
          <a:ext cx="7654211" cy="2647950"/>
        </p:xfrm>
        <a:graphic>
          <a:graphicData uri="http://schemas.openxmlformats.org/drawingml/2006/table">
            <a:tbl>
              <a:tblPr/>
              <a:tblGrid>
                <a:gridCol w="3222192"/>
                <a:gridCol w="1565171"/>
                <a:gridCol w="1936846"/>
                <a:gridCol w="930002"/>
              </a:tblGrid>
              <a:tr h="606621">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Chi2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p-value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dof</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Feature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0332">
                <a:tc>
                  <a:txBody>
                    <a:bodyPr anchor="t" rtlCol="false"/>
                    <a:lstStyle/>
                    <a:p>
                      <a:pPr algn="r">
                        <a:lnSpc>
                          <a:spcPts val="2308"/>
                        </a:lnSpc>
                        <a:defRPr/>
                      </a:pPr>
                      <a:r>
                        <a:rPr lang="en-US" sz="1648">
                          <a:solidFill>
                            <a:srgbClr val="000000"/>
                          </a:solidFill>
                          <a:latin typeface="Canva Sans"/>
                          <a:ea typeface="Canva Sans"/>
                          <a:cs typeface="Canva Sans"/>
                          <a:sym typeface="Canva Sans"/>
                        </a:rPr>
                        <a:t>0.001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0.9755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Gender</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0332">
                <a:tc>
                  <a:txBody>
                    <a:bodyPr anchor="t" rtlCol="false"/>
                    <a:lstStyle/>
                    <a:p>
                      <a:pPr algn="r">
                        <a:lnSpc>
                          <a:spcPts val="2308"/>
                        </a:lnSpc>
                        <a:defRPr/>
                      </a:pPr>
                      <a:r>
                        <a:rPr lang="en-US" sz="1648">
                          <a:solidFill>
                            <a:srgbClr val="000000"/>
                          </a:solidFill>
                          <a:latin typeface="Canva Sans"/>
                          <a:ea typeface="Canva Sans"/>
                          <a:cs typeface="Canva Sans"/>
                          <a:sym typeface="Canva Sans"/>
                        </a:rPr>
                        <a:t>104.667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EducationLevel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0332">
                <a:tc>
                  <a:txBody>
                    <a:bodyPr anchor="t" rtlCol="false"/>
                    <a:lstStyle/>
                    <a:p>
                      <a:pPr algn="r">
                        <a:lnSpc>
                          <a:spcPts val="2308"/>
                        </a:lnSpc>
                        <a:defRPr/>
                      </a:pPr>
                      <a:r>
                        <a:rPr lang="en-US" sz="1648">
                          <a:solidFill>
                            <a:srgbClr val="000000"/>
                          </a:solidFill>
                          <a:latin typeface="Canva Sans"/>
                          <a:ea typeface="Canva Sans"/>
                          <a:cs typeface="Canva Sans"/>
                          <a:sym typeface="Canva Sans"/>
                        </a:rPr>
                        <a:t>488.597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RecruitmentStrategy</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0332">
                <a:tc>
                  <a:txBody>
                    <a:bodyPr anchor="t" rtlCol="false"/>
                    <a:lstStyle/>
                    <a:p>
                      <a:pPr algn="r">
                        <a:lnSpc>
                          <a:spcPts val="2308"/>
                        </a:lnSpc>
                        <a:defRPr/>
                      </a:pPr>
                      <a:r>
                        <a:rPr lang="en-US" sz="1648">
                          <a:solidFill>
                            <a:srgbClr val="000000"/>
                          </a:solidFill>
                          <a:latin typeface="Canva Sans"/>
                          <a:ea typeface="Canva Sans"/>
                          <a:cs typeface="Canva Sans"/>
                          <a:sym typeface="Canva Sans"/>
                        </a:rPr>
                        <a:t>39.521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ExperienceLevel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sp>
        <p:nvSpPr>
          <p:cNvPr name="TextBox 3" id="3"/>
          <p:cNvSpPr txBox="true"/>
          <p:nvPr/>
        </p:nvSpPr>
        <p:spPr>
          <a:xfrm rot="0">
            <a:off x="1547027" y="4576762"/>
            <a:ext cx="15193947" cy="1114425"/>
          </a:xfrm>
          <a:prstGeom prst="rect">
            <a:avLst/>
          </a:prstGeom>
        </p:spPr>
        <p:txBody>
          <a:bodyPr anchor="t" rtlCol="false" tIns="0" lIns="0" bIns="0" rIns="0">
            <a:spAutoFit/>
          </a:bodyPr>
          <a:lstStyle/>
          <a:p>
            <a:pPr algn="ctr">
              <a:lnSpc>
                <a:spcPts val="8640"/>
              </a:lnSpc>
            </a:pPr>
            <a:r>
              <a:rPr lang="en-US" b="true" sz="7200">
                <a:solidFill>
                  <a:srgbClr val="000000"/>
                </a:solidFill>
                <a:latin typeface="Raleway Bold"/>
                <a:ea typeface="Raleway Bold"/>
                <a:cs typeface="Raleway Bold"/>
                <a:sym typeface="Raleway Bold"/>
              </a:rPr>
              <a:t>Insight Extraction</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1144854" y="6523907"/>
            <a:ext cx="16114446" cy="3735205"/>
            <a:chOff x="0" y="0"/>
            <a:chExt cx="4393597" cy="1018402"/>
          </a:xfrm>
        </p:grpSpPr>
        <p:sp>
          <p:nvSpPr>
            <p:cNvPr name="Freeform 4" id="4"/>
            <p:cNvSpPr/>
            <p:nvPr/>
          </p:nvSpPr>
          <p:spPr>
            <a:xfrm flipH="false" flipV="false" rot="0">
              <a:off x="0" y="0"/>
              <a:ext cx="4393597" cy="1018402"/>
            </a:xfrm>
            <a:custGeom>
              <a:avLst/>
              <a:gdLst/>
              <a:ahLst/>
              <a:cxnLst/>
              <a:rect r="r" b="b" t="t" l="l"/>
              <a:pathLst>
                <a:path h="1018402" w="4393597">
                  <a:moveTo>
                    <a:pt x="24022" y="0"/>
                  </a:moveTo>
                  <a:lnTo>
                    <a:pt x="4369576" y="0"/>
                  </a:lnTo>
                  <a:cubicBezTo>
                    <a:pt x="4375946" y="0"/>
                    <a:pt x="4382057" y="2531"/>
                    <a:pt x="4386562" y="7036"/>
                  </a:cubicBezTo>
                  <a:cubicBezTo>
                    <a:pt x="4391066" y="11541"/>
                    <a:pt x="4393597" y="17651"/>
                    <a:pt x="4393597" y="24022"/>
                  </a:cubicBezTo>
                  <a:lnTo>
                    <a:pt x="4393597" y="994380"/>
                  </a:lnTo>
                  <a:cubicBezTo>
                    <a:pt x="4393597" y="1007647"/>
                    <a:pt x="4382843" y="1018402"/>
                    <a:pt x="4369576" y="1018402"/>
                  </a:cubicBezTo>
                  <a:lnTo>
                    <a:pt x="24022" y="1018402"/>
                  </a:lnTo>
                  <a:cubicBezTo>
                    <a:pt x="10755" y="1018402"/>
                    <a:pt x="0" y="1007647"/>
                    <a:pt x="0" y="994380"/>
                  </a:cubicBezTo>
                  <a:lnTo>
                    <a:pt x="0" y="24022"/>
                  </a:lnTo>
                  <a:cubicBezTo>
                    <a:pt x="0" y="10755"/>
                    <a:pt x="10755" y="0"/>
                    <a:pt x="24022" y="0"/>
                  </a:cubicBezTo>
                  <a:close/>
                </a:path>
              </a:pathLst>
            </a:custGeom>
            <a:solidFill>
              <a:srgbClr val="A1C7CE"/>
            </a:solidFill>
          </p:spPr>
        </p:sp>
        <p:sp>
          <p:nvSpPr>
            <p:cNvPr name="TextBox 5" id="5"/>
            <p:cNvSpPr txBox="true"/>
            <p:nvPr/>
          </p:nvSpPr>
          <p:spPr>
            <a:xfrm>
              <a:off x="0" y="-19050"/>
              <a:ext cx="4393597" cy="1037452"/>
            </a:xfrm>
            <a:prstGeom prst="rect">
              <a:avLst/>
            </a:prstGeom>
          </p:spPr>
          <p:txBody>
            <a:bodyPr anchor="ctr" rtlCol="false" tIns="49361" lIns="49361" bIns="49361" rIns="49361"/>
            <a:lstStyle/>
            <a:p>
              <a:pPr algn="l" marL="453390" indent="-226695" lvl="1">
                <a:lnSpc>
                  <a:spcPts val="2520"/>
                </a:lnSpc>
                <a:buFont typeface="Arial"/>
                <a:buChar char="•"/>
              </a:pPr>
              <a:r>
                <a:rPr lang="en-US" b="true" sz="2100" spc="8">
                  <a:solidFill>
                    <a:srgbClr val="000000"/>
                  </a:solidFill>
                  <a:latin typeface="Poppins Bold"/>
                  <a:ea typeface="Poppins Bold"/>
                  <a:cs typeface="Poppins Bold"/>
                  <a:sym typeface="Poppins Bold"/>
                </a:rPr>
                <a:t>InterviewScore</a:t>
              </a:r>
              <a:r>
                <a:rPr lang="en-US" sz="2100" spc="8">
                  <a:solidFill>
                    <a:srgbClr val="000000"/>
                  </a:solidFill>
                  <a:latin typeface="Poppins"/>
                  <a:ea typeface="Poppins"/>
                  <a:cs typeface="Poppins"/>
                  <a:sym typeface="Poppins"/>
                </a:rPr>
                <a:t>: Unsuccessful candidates had a median interview score above 60. Accepted candidates had a median below 50. This indicates that in this dataset, interview scores were not a primary determinant of recruitment success, or that other factors were more dominant.</a:t>
              </a:r>
            </a:p>
            <a:p>
              <a:pPr algn="l">
                <a:lnSpc>
                  <a:spcPts val="2520"/>
                </a:lnSpc>
              </a:pPr>
            </a:p>
            <a:p>
              <a:pPr algn="l" marL="453390" indent="-226695" lvl="1">
                <a:lnSpc>
                  <a:spcPts val="2520"/>
                </a:lnSpc>
                <a:buFont typeface="Arial"/>
                <a:buChar char="•"/>
              </a:pPr>
              <a:r>
                <a:rPr lang="en-US" b="true" sz="2100" spc="8">
                  <a:solidFill>
                    <a:srgbClr val="000000"/>
                  </a:solidFill>
                  <a:latin typeface="Poppins Bold"/>
                  <a:ea typeface="Poppins Bold"/>
                  <a:cs typeface="Poppins Bold"/>
                  <a:sym typeface="Poppins Bold"/>
                </a:rPr>
                <a:t>SkillScore</a:t>
              </a:r>
              <a:r>
                <a:rPr lang="en-US" sz="2100" spc="8">
                  <a:solidFill>
                    <a:srgbClr val="000000"/>
                  </a:solidFill>
                  <a:latin typeface="Poppins"/>
                  <a:ea typeface="Poppins"/>
                  <a:cs typeface="Poppins"/>
                  <a:sym typeface="Poppins"/>
                </a:rPr>
                <a:t>: The range of skill scores for successful candidates was wider, with a median of around 45. Meanwhile, unsuccessful candidates had a higher concentration of scores in the upper range (median &gt;60).</a:t>
              </a:r>
            </a:p>
            <a:p>
              <a:pPr algn="l">
                <a:lnSpc>
                  <a:spcPts val="2520"/>
                </a:lnSpc>
              </a:pPr>
            </a:p>
            <a:p>
              <a:pPr algn="l" marL="453390" indent="-226695" lvl="1">
                <a:lnSpc>
                  <a:spcPts val="2520"/>
                </a:lnSpc>
                <a:buFont typeface="Arial"/>
                <a:buChar char="•"/>
              </a:pPr>
              <a:r>
                <a:rPr lang="en-US" b="true" sz="2100" spc="8">
                  <a:solidFill>
                    <a:srgbClr val="000000"/>
                  </a:solidFill>
                  <a:latin typeface="Poppins Bold"/>
                  <a:ea typeface="Poppins Bold"/>
                  <a:cs typeface="Poppins Bold"/>
                  <a:sym typeface="Poppins Bold"/>
                </a:rPr>
                <a:t>PersonalityScore</a:t>
              </a:r>
              <a:r>
                <a:rPr lang="en-US" sz="2100" spc="8">
                  <a:solidFill>
                    <a:srgbClr val="000000"/>
                  </a:solidFill>
                  <a:latin typeface="Poppins"/>
                  <a:ea typeface="Poppins"/>
                  <a:cs typeface="Poppins"/>
                  <a:sym typeface="Poppins"/>
                </a:rPr>
                <a:t>: Shows a similar pattern to the other variables, with the lower bound (Q1) for successful candidates being (~20) and the lower bound (Q1) for unsuccessful candidates being (~30).</a:t>
              </a:r>
            </a:p>
            <a:p>
              <a:pPr algn="l">
                <a:lnSpc>
                  <a:spcPts val="2520"/>
                </a:lnSpc>
              </a:pPr>
            </a:p>
            <a:p>
              <a:pPr algn="l" marL="453390" indent="-226695" lvl="1">
                <a:lnSpc>
                  <a:spcPts val="2520"/>
                </a:lnSpc>
                <a:buFont typeface="Arial"/>
                <a:buChar char="•"/>
              </a:pPr>
              <a:r>
                <a:rPr lang="en-US" b="true" sz="2100" spc="8">
                  <a:solidFill>
                    <a:srgbClr val="000000"/>
                  </a:solidFill>
                  <a:latin typeface="Poppins Bold"/>
                  <a:ea typeface="Poppins Bold"/>
                  <a:cs typeface="Poppins Bold"/>
                  <a:sym typeface="Poppins Bold"/>
                </a:rPr>
                <a:t>TotalScore</a:t>
              </a:r>
              <a:r>
                <a:rPr lang="en-US" sz="2100" spc="8">
                  <a:solidFill>
                    <a:srgbClr val="000000"/>
                  </a:solidFill>
                  <a:latin typeface="Poppins"/>
                  <a:ea typeface="Poppins"/>
                  <a:cs typeface="Poppins"/>
                  <a:sym typeface="Poppins"/>
                </a:rPr>
                <a:t>: The Not Hired group exhibits a higher median total score (~58) compared to the Hired group (~48).</a:t>
              </a:r>
            </a:p>
          </p:txBody>
        </p:sp>
      </p:grpSp>
      <p:sp>
        <p:nvSpPr>
          <p:cNvPr name="Freeform 6" id="6"/>
          <p:cNvSpPr/>
          <p:nvPr/>
        </p:nvSpPr>
        <p:spPr>
          <a:xfrm flipH="false" flipV="false" rot="0">
            <a:off x="1800714" y="1634466"/>
            <a:ext cx="3587620" cy="4659477"/>
          </a:xfrm>
          <a:custGeom>
            <a:avLst/>
            <a:gdLst/>
            <a:ahLst/>
            <a:cxnLst/>
            <a:rect r="r" b="b" t="t" l="l"/>
            <a:pathLst>
              <a:path h="4659477" w="3587620">
                <a:moveTo>
                  <a:pt x="0" y="0"/>
                </a:moveTo>
                <a:lnTo>
                  <a:pt x="3587620" y="0"/>
                </a:lnTo>
                <a:lnTo>
                  <a:pt x="3587620" y="4659477"/>
                </a:lnTo>
                <a:lnTo>
                  <a:pt x="0" y="4659477"/>
                </a:lnTo>
                <a:lnTo>
                  <a:pt x="0" y="0"/>
                </a:lnTo>
                <a:close/>
              </a:path>
            </a:pathLst>
          </a:custGeom>
          <a:blipFill>
            <a:blip r:embed="rId3"/>
            <a:stretch>
              <a:fillRect l="0" t="0" r="0" b="0"/>
            </a:stretch>
          </a:blipFill>
        </p:spPr>
      </p:sp>
      <p:sp>
        <p:nvSpPr>
          <p:cNvPr name="Freeform 7" id="7"/>
          <p:cNvSpPr/>
          <p:nvPr/>
        </p:nvSpPr>
        <p:spPr>
          <a:xfrm flipH="false" flipV="false" rot="0">
            <a:off x="5521684" y="1643522"/>
            <a:ext cx="3545551" cy="4646821"/>
          </a:xfrm>
          <a:custGeom>
            <a:avLst/>
            <a:gdLst/>
            <a:ahLst/>
            <a:cxnLst/>
            <a:rect r="r" b="b" t="t" l="l"/>
            <a:pathLst>
              <a:path h="4646821" w="3545551">
                <a:moveTo>
                  <a:pt x="0" y="0"/>
                </a:moveTo>
                <a:lnTo>
                  <a:pt x="3545551" y="0"/>
                </a:lnTo>
                <a:lnTo>
                  <a:pt x="3545551" y="4646822"/>
                </a:lnTo>
                <a:lnTo>
                  <a:pt x="0" y="4646822"/>
                </a:lnTo>
                <a:lnTo>
                  <a:pt x="0" y="0"/>
                </a:lnTo>
                <a:close/>
              </a:path>
            </a:pathLst>
          </a:custGeom>
          <a:blipFill>
            <a:blip r:embed="rId4"/>
            <a:stretch>
              <a:fillRect l="0" t="0" r="0" b="0"/>
            </a:stretch>
          </a:blipFill>
        </p:spPr>
      </p:sp>
      <p:sp>
        <p:nvSpPr>
          <p:cNvPr name="Freeform 8" id="8"/>
          <p:cNvSpPr/>
          <p:nvPr/>
        </p:nvSpPr>
        <p:spPr>
          <a:xfrm flipH="false" flipV="false" rot="0">
            <a:off x="9200585" y="1648937"/>
            <a:ext cx="3506173" cy="4645007"/>
          </a:xfrm>
          <a:custGeom>
            <a:avLst/>
            <a:gdLst/>
            <a:ahLst/>
            <a:cxnLst/>
            <a:rect r="r" b="b" t="t" l="l"/>
            <a:pathLst>
              <a:path h="4645007" w="3506173">
                <a:moveTo>
                  <a:pt x="0" y="0"/>
                </a:moveTo>
                <a:lnTo>
                  <a:pt x="3506173" y="0"/>
                </a:lnTo>
                <a:lnTo>
                  <a:pt x="3506173" y="4645006"/>
                </a:lnTo>
                <a:lnTo>
                  <a:pt x="0" y="4645006"/>
                </a:lnTo>
                <a:lnTo>
                  <a:pt x="0" y="0"/>
                </a:lnTo>
                <a:close/>
              </a:path>
            </a:pathLst>
          </a:custGeom>
          <a:blipFill>
            <a:blip r:embed="rId5"/>
            <a:stretch>
              <a:fillRect l="0" t="0" r="0" b="0"/>
            </a:stretch>
          </a:blipFill>
        </p:spPr>
      </p:sp>
      <p:sp>
        <p:nvSpPr>
          <p:cNvPr name="Freeform 9" id="9"/>
          <p:cNvSpPr/>
          <p:nvPr/>
        </p:nvSpPr>
        <p:spPr>
          <a:xfrm flipH="false" flipV="false" rot="0">
            <a:off x="12841632" y="1634466"/>
            <a:ext cx="3443828" cy="4654063"/>
          </a:xfrm>
          <a:custGeom>
            <a:avLst/>
            <a:gdLst/>
            <a:ahLst/>
            <a:cxnLst/>
            <a:rect r="r" b="b" t="t" l="l"/>
            <a:pathLst>
              <a:path h="4654063" w="3443828">
                <a:moveTo>
                  <a:pt x="0" y="0"/>
                </a:moveTo>
                <a:lnTo>
                  <a:pt x="3443828" y="0"/>
                </a:lnTo>
                <a:lnTo>
                  <a:pt x="3443828" y="4654063"/>
                </a:lnTo>
                <a:lnTo>
                  <a:pt x="0" y="4654063"/>
                </a:lnTo>
                <a:lnTo>
                  <a:pt x="0" y="0"/>
                </a:lnTo>
                <a:close/>
              </a:path>
            </a:pathLst>
          </a:custGeom>
          <a:blipFill>
            <a:blip r:embed="rId6"/>
            <a:stretch>
              <a:fillRect l="0" t="0" r="0" b="0"/>
            </a:stretch>
          </a:blipFill>
        </p:spPr>
      </p:sp>
      <p:sp>
        <p:nvSpPr>
          <p:cNvPr name="TextBox 10" id="10"/>
          <p:cNvSpPr txBox="true"/>
          <p:nvPr/>
        </p:nvSpPr>
        <p:spPr>
          <a:xfrm rot="0">
            <a:off x="702291" y="350823"/>
            <a:ext cx="4636422"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D</a:t>
            </a:r>
            <a:r>
              <a:rPr lang="en-US" sz="6159">
                <a:solidFill>
                  <a:srgbClr val="18102B"/>
                </a:solidFill>
                <a:latin typeface="Raleway"/>
                <a:ea typeface="Raleway"/>
                <a:cs typeface="Raleway"/>
                <a:sym typeface="Raleway"/>
              </a:rPr>
              <a:t>ata Insight</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9525"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9945675" y="2336711"/>
            <a:ext cx="8010838" cy="6335345"/>
            <a:chOff x="0" y="0"/>
            <a:chExt cx="2184152" cy="1727329"/>
          </a:xfrm>
        </p:grpSpPr>
        <p:sp>
          <p:nvSpPr>
            <p:cNvPr name="Freeform 4" id="4"/>
            <p:cNvSpPr/>
            <p:nvPr/>
          </p:nvSpPr>
          <p:spPr>
            <a:xfrm flipH="false" flipV="false" rot="0">
              <a:off x="0" y="0"/>
              <a:ext cx="2184152" cy="1727329"/>
            </a:xfrm>
            <a:custGeom>
              <a:avLst/>
              <a:gdLst/>
              <a:ahLst/>
              <a:cxnLst/>
              <a:rect r="r" b="b" t="t" l="l"/>
              <a:pathLst>
                <a:path h="1727329" w="2184152">
                  <a:moveTo>
                    <a:pt x="48322" y="0"/>
                  </a:moveTo>
                  <a:lnTo>
                    <a:pt x="2135830" y="0"/>
                  </a:lnTo>
                  <a:cubicBezTo>
                    <a:pt x="2148646" y="0"/>
                    <a:pt x="2160937" y="5091"/>
                    <a:pt x="2169999" y="14153"/>
                  </a:cubicBezTo>
                  <a:cubicBezTo>
                    <a:pt x="2179061" y="23215"/>
                    <a:pt x="2184152" y="35506"/>
                    <a:pt x="2184152" y="48322"/>
                  </a:cubicBezTo>
                  <a:lnTo>
                    <a:pt x="2184152" y="1679008"/>
                  </a:lnTo>
                  <a:cubicBezTo>
                    <a:pt x="2184152" y="1691824"/>
                    <a:pt x="2179061" y="1704114"/>
                    <a:pt x="2169999" y="1713176"/>
                  </a:cubicBezTo>
                  <a:cubicBezTo>
                    <a:pt x="2160937" y="1722238"/>
                    <a:pt x="2148646" y="1727329"/>
                    <a:pt x="2135830" y="1727329"/>
                  </a:cubicBezTo>
                  <a:lnTo>
                    <a:pt x="48322" y="1727329"/>
                  </a:lnTo>
                  <a:cubicBezTo>
                    <a:pt x="35506" y="1727329"/>
                    <a:pt x="23215" y="1722238"/>
                    <a:pt x="14153" y="1713176"/>
                  </a:cubicBezTo>
                  <a:cubicBezTo>
                    <a:pt x="5091" y="1704114"/>
                    <a:pt x="0" y="1691824"/>
                    <a:pt x="0" y="1679008"/>
                  </a:cubicBezTo>
                  <a:lnTo>
                    <a:pt x="0" y="48322"/>
                  </a:lnTo>
                  <a:cubicBezTo>
                    <a:pt x="0" y="35506"/>
                    <a:pt x="5091" y="23215"/>
                    <a:pt x="14153" y="14153"/>
                  </a:cubicBezTo>
                  <a:cubicBezTo>
                    <a:pt x="23215" y="5091"/>
                    <a:pt x="35506" y="0"/>
                    <a:pt x="48322" y="0"/>
                  </a:cubicBezTo>
                  <a:close/>
                </a:path>
              </a:pathLst>
            </a:custGeom>
            <a:solidFill>
              <a:srgbClr val="A1C7CE"/>
            </a:solidFill>
          </p:spPr>
        </p:sp>
        <p:sp>
          <p:nvSpPr>
            <p:cNvPr name="TextBox 5" id="5"/>
            <p:cNvSpPr txBox="true"/>
            <p:nvPr/>
          </p:nvSpPr>
          <p:spPr>
            <a:xfrm>
              <a:off x="0" y="-19050"/>
              <a:ext cx="2184152" cy="1746379"/>
            </a:xfrm>
            <a:prstGeom prst="rect">
              <a:avLst/>
            </a:prstGeom>
          </p:spPr>
          <p:txBody>
            <a:bodyPr anchor="ctr" rtlCol="false" tIns="49361" lIns="49361" bIns="49361" rIns="49361"/>
            <a:lstStyle/>
            <a:p>
              <a:pPr algn="just" marL="453390" indent="-226695" lvl="1">
                <a:lnSpc>
                  <a:spcPts val="2520"/>
                </a:lnSpc>
                <a:buFont typeface="Arial"/>
                <a:buChar char="•"/>
              </a:pPr>
              <a:r>
                <a:rPr lang="en-US" sz="2100" spc="8">
                  <a:solidFill>
                    <a:srgbClr val="000000"/>
                  </a:solidFill>
                  <a:latin typeface="Poppins"/>
                  <a:ea typeface="Poppins"/>
                  <a:cs typeface="Poppins"/>
                  <a:sym typeface="Poppins"/>
                </a:rPr>
                <a:t>From the data shown, we can visualize a direct positive correlation between experience level and hiring success. Senior-level candidates are significantly more likely to be hired compared to Junior and Medior levels, suggesting a strong industry preference for established expertise</a:t>
              </a:r>
            </a:p>
            <a:p>
              <a:pPr algn="just">
                <a:lnSpc>
                  <a:spcPts val="2520"/>
                </a:lnSpc>
              </a:pPr>
            </a:p>
            <a:p>
              <a:pPr algn="just" marL="453390" indent="-226695" lvl="1">
                <a:lnSpc>
                  <a:spcPts val="2520"/>
                </a:lnSpc>
                <a:buFont typeface="Arial"/>
                <a:buChar char="•"/>
              </a:pPr>
              <a:r>
                <a:rPr lang="en-US" sz="2100" spc="8">
                  <a:solidFill>
                    <a:srgbClr val="000000"/>
                  </a:solidFill>
                  <a:latin typeface="Poppins"/>
                  <a:ea typeface="Poppins"/>
                  <a:cs typeface="Poppins"/>
                  <a:sym typeface="Poppins"/>
                </a:rPr>
                <a:t>Senior candidates have the highest hiring rate at 36.6%, which is nearly double that of Junior candidates (18.9%) whereas Junior applicants face the toughest competition, with a non-hiring rate of 81.1%</a:t>
              </a:r>
            </a:p>
            <a:p>
              <a:pPr algn="just">
                <a:lnSpc>
                  <a:spcPts val="2520"/>
                </a:lnSpc>
              </a:pPr>
            </a:p>
            <a:p>
              <a:pPr algn="just" marL="453390" indent="-226695" lvl="1">
                <a:lnSpc>
                  <a:spcPts val="2520"/>
                </a:lnSpc>
                <a:buFont typeface="Arial"/>
                <a:buChar char="•"/>
              </a:pPr>
              <a:r>
                <a:rPr lang="en-US" sz="2100" spc="8">
                  <a:solidFill>
                    <a:srgbClr val="000000"/>
                  </a:solidFill>
                  <a:latin typeface="Poppins"/>
                  <a:ea typeface="Poppins"/>
                  <a:cs typeface="Poppins"/>
                  <a:sym typeface="Poppins"/>
                </a:rPr>
                <a:t>Incremental Growth: There is a steady upward trend in "Hired" percentages as candidates move from Junior (18.9%) to Medior (22.2%) and finally Senior (36.6%)</a:t>
              </a:r>
            </a:p>
          </p:txBody>
        </p:sp>
      </p:grpSp>
      <p:sp>
        <p:nvSpPr>
          <p:cNvPr name="TextBox 6" id="6"/>
          <p:cNvSpPr txBox="true"/>
          <p:nvPr/>
        </p:nvSpPr>
        <p:spPr>
          <a:xfrm rot="0">
            <a:off x="702291" y="350823"/>
            <a:ext cx="4656205"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D</a:t>
            </a:r>
            <a:r>
              <a:rPr lang="en-US" sz="6159">
                <a:solidFill>
                  <a:srgbClr val="18102B"/>
                </a:solidFill>
                <a:latin typeface="Raleway"/>
                <a:ea typeface="Raleway"/>
                <a:cs typeface="Raleway"/>
                <a:sym typeface="Raleway"/>
              </a:rPr>
              <a:t>ata Insight</a:t>
            </a:r>
          </a:p>
        </p:txBody>
      </p:sp>
      <p:sp>
        <p:nvSpPr>
          <p:cNvPr name="TextBox 7" id="7"/>
          <p:cNvSpPr txBox="true"/>
          <p:nvPr/>
        </p:nvSpPr>
        <p:spPr>
          <a:xfrm rot="0">
            <a:off x="1272836" y="2270036"/>
            <a:ext cx="7781894" cy="490822"/>
          </a:xfrm>
          <a:prstGeom prst="rect">
            <a:avLst/>
          </a:prstGeom>
        </p:spPr>
        <p:txBody>
          <a:bodyPr anchor="t" rtlCol="false" tIns="0" lIns="0" bIns="0" rIns="0">
            <a:spAutoFit/>
          </a:bodyPr>
          <a:lstStyle/>
          <a:p>
            <a:pPr algn="ctr">
              <a:lnSpc>
                <a:spcPts val="3919"/>
              </a:lnSpc>
              <a:spcBef>
                <a:spcPct val="0"/>
              </a:spcBef>
            </a:pPr>
            <a:r>
              <a:rPr lang="en-US" b="true" sz="2799">
                <a:solidFill>
                  <a:srgbClr val="18102B"/>
                </a:solidFill>
                <a:latin typeface="Raleway Bold"/>
                <a:ea typeface="Raleway Bold"/>
                <a:cs typeface="Raleway Bold"/>
                <a:sym typeface="Raleway Bold"/>
              </a:rPr>
              <a:t>Hiring Rate by ExperienceLevel</a:t>
            </a:r>
          </a:p>
        </p:txBody>
      </p:sp>
      <p:sp>
        <p:nvSpPr>
          <p:cNvPr name="Freeform 8" id="8"/>
          <p:cNvSpPr/>
          <p:nvPr/>
        </p:nvSpPr>
        <p:spPr>
          <a:xfrm flipH="false" flipV="false" rot="0">
            <a:off x="542091" y="2950915"/>
            <a:ext cx="9243384" cy="5331360"/>
          </a:xfrm>
          <a:custGeom>
            <a:avLst/>
            <a:gdLst/>
            <a:ahLst/>
            <a:cxnLst/>
            <a:rect r="r" b="b" t="t" l="l"/>
            <a:pathLst>
              <a:path h="5331360" w="9243384">
                <a:moveTo>
                  <a:pt x="0" y="0"/>
                </a:moveTo>
                <a:lnTo>
                  <a:pt x="9243384" y="0"/>
                </a:lnTo>
                <a:lnTo>
                  <a:pt x="9243384" y="5331360"/>
                </a:lnTo>
                <a:lnTo>
                  <a:pt x="0" y="5331360"/>
                </a:lnTo>
                <a:lnTo>
                  <a:pt x="0" y="0"/>
                </a:lnTo>
                <a:close/>
              </a:path>
            </a:pathLst>
          </a:custGeom>
          <a:blipFill>
            <a:blip r:embed="rId3"/>
            <a:stretch>
              <a:fillRect l="0" t="-8141" r="0" b="0"/>
            </a:stretch>
          </a:blipFill>
        </p:spPr>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9525"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9973873" y="2178573"/>
            <a:ext cx="8010838" cy="6335345"/>
            <a:chOff x="0" y="0"/>
            <a:chExt cx="2184152" cy="1727329"/>
          </a:xfrm>
        </p:grpSpPr>
        <p:sp>
          <p:nvSpPr>
            <p:cNvPr name="Freeform 4" id="4"/>
            <p:cNvSpPr/>
            <p:nvPr/>
          </p:nvSpPr>
          <p:spPr>
            <a:xfrm flipH="false" flipV="false" rot="0">
              <a:off x="0" y="0"/>
              <a:ext cx="2184152" cy="1727329"/>
            </a:xfrm>
            <a:custGeom>
              <a:avLst/>
              <a:gdLst/>
              <a:ahLst/>
              <a:cxnLst/>
              <a:rect r="r" b="b" t="t" l="l"/>
              <a:pathLst>
                <a:path h="1727329" w="2184152">
                  <a:moveTo>
                    <a:pt x="48322" y="0"/>
                  </a:moveTo>
                  <a:lnTo>
                    <a:pt x="2135830" y="0"/>
                  </a:lnTo>
                  <a:cubicBezTo>
                    <a:pt x="2148646" y="0"/>
                    <a:pt x="2160937" y="5091"/>
                    <a:pt x="2169999" y="14153"/>
                  </a:cubicBezTo>
                  <a:cubicBezTo>
                    <a:pt x="2179061" y="23215"/>
                    <a:pt x="2184152" y="35506"/>
                    <a:pt x="2184152" y="48322"/>
                  </a:cubicBezTo>
                  <a:lnTo>
                    <a:pt x="2184152" y="1679008"/>
                  </a:lnTo>
                  <a:cubicBezTo>
                    <a:pt x="2184152" y="1691824"/>
                    <a:pt x="2179061" y="1704114"/>
                    <a:pt x="2169999" y="1713176"/>
                  </a:cubicBezTo>
                  <a:cubicBezTo>
                    <a:pt x="2160937" y="1722238"/>
                    <a:pt x="2148646" y="1727329"/>
                    <a:pt x="2135830" y="1727329"/>
                  </a:cubicBezTo>
                  <a:lnTo>
                    <a:pt x="48322" y="1727329"/>
                  </a:lnTo>
                  <a:cubicBezTo>
                    <a:pt x="35506" y="1727329"/>
                    <a:pt x="23215" y="1722238"/>
                    <a:pt x="14153" y="1713176"/>
                  </a:cubicBezTo>
                  <a:cubicBezTo>
                    <a:pt x="5091" y="1704114"/>
                    <a:pt x="0" y="1691824"/>
                    <a:pt x="0" y="1679008"/>
                  </a:cubicBezTo>
                  <a:lnTo>
                    <a:pt x="0" y="48322"/>
                  </a:lnTo>
                  <a:cubicBezTo>
                    <a:pt x="0" y="35506"/>
                    <a:pt x="5091" y="23215"/>
                    <a:pt x="14153" y="14153"/>
                  </a:cubicBezTo>
                  <a:cubicBezTo>
                    <a:pt x="23215" y="5091"/>
                    <a:pt x="35506" y="0"/>
                    <a:pt x="48322" y="0"/>
                  </a:cubicBezTo>
                  <a:close/>
                </a:path>
              </a:pathLst>
            </a:custGeom>
            <a:solidFill>
              <a:srgbClr val="A1C7CE"/>
            </a:solidFill>
          </p:spPr>
        </p:sp>
        <p:sp>
          <p:nvSpPr>
            <p:cNvPr name="TextBox 5" id="5"/>
            <p:cNvSpPr txBox="true"/>
            <p:nvPr/>
          </p:nvSpPr>
          <p:spPr>
            <a:xfrm>
              <a:off x="0" y="-19050"/>
              <a:ext cx="2184152" cy="1746379"/>
            </a:xfrm>
            <a:prstGeom prst="rect">
              <a:avLst/>
            </a:prstGeom>
          </p:spPr>
          <p:txBody>
            <a:bodyPr anchor="ctr" rtlCol="false" tIns="49361" lIns="49361" bIns="49361" rIns="49361"/>
            <a:lstStyle/>
            <a:p>
              <a:pPr algn="l" marL="453390" indent="-226695" lvl="1">
                <a:lnSpc>
                  <a:spcPts val="2520"/>
                </a:lnSpc>
                <a:buFont typeface="Arial"/>
                <a:buChar char="•"/>
              </a:pPr>
              <a:r>
                <a:rPr lang="en-US" sz="2100" spc="8">
                  <a:solidFill>
                    <a:srgbClr val="000000"/>
                  </a:solidFill>
                  <a:latin typeface="Poppins"/>
                  <a:ea typeface="Poppins"/>
                  <a:cs typeface="Poppins"/>
                  <a:sym typeface="Poppins"/>
                </a:rPr>
                <a:t>Candidates with a high school (22.8%) and a diploma/bachelor (23.4%) have almost equally low acceptance rates. The vast majority (over 76%) of this group failed the selection process.</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Magister’s</a:t>
              </a:r>
              <a:r>
                <a:rPr lang="en-US" sz="2100" spc="8">
                  <a:solidFill>
                    <a:srgbClr val="000000"/>
                  </a:solidFill>
                  <a:latin typeface="Poppins"/>
                  <a:ea typeface="Poppins"/>
                  <a:cs typeface="Poppins"/>
                  <a:sym typeface="Poppins"/>
                </a:rPr>
                <a:t> degree graduates shows a significant increase in their chances of being accepted, reaching 46%. This suggests that a magister’s degree is an important "threshold" for companies in selecting candidates.</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PhD</a:t>
              </a:r>
              <a:r>
                <a:rPr lang="en-US" sz="2100" spc="8">
                  <a:solidFill>
                    <a:srgbClr val="000000"/>
                  </a:solidFill>
                  <a:latin typeface="Poppins"/>
                  <a:ea typeface="Poppins"/>
                  <a:cs typeface="Poppins"/>
                  <a:sym typeface="Poppins"/>
                </a:rPr>
                <a:t> degree graduates have the highest hiring rate at 56.6%. This was the only group where more candidates were accepted than rejected (above 50% ratio).</a:t>
              </a:r>
            </a:p>
            <a:p>
              <a:pPr algn="l">
                <a:lnSpc>
                  <a:spcPts val="2520"/>
                </a:lnSpc>
              </a:pPr>
            </a:p>
          </p:txBody>
        </p:sp>
      </p:grpSp>
      <p:sp>
        <p:nvSpPr>
          <p:cNvPr name="Freeform 6" id="6"/>
          <p:cNvSpPr/>
          <p:nvPr/>
        </p:nvSpPr>
        <p:spPr>
          <a:xfrm flipH="false" flipV="false" rot="0">
            <a:off x="449663" y="2830131"/>
            <a:ext cx="9428239" cy="5177909"/>
          </a:xfrm>
          <a:custGeom>
            <a:avLst/>
            <a:gdLst/>
            <a:ahLst/>
            <a:cxnLst/>
            <a:rect r="r" b="b" t="t" l="l"/>
            <a:pathLst>
              <a:path h="5177909" w="9428239">
                <a:moveTo>
                  <a:pt x="0" y="0"/>
                </a:moveTo>
                <a:lnTo>
                  <a:pt x="9428239" y="0"/>
                </a:lnTo>
                <a:lnTo>
                  <a:pt x="9428239" y="5177909"/>
                </a:lnTo>
                <a:lnTo>
                  <a:pt x="0" y="5177909"/>
                </a:lnTo>
                <a:lnTo>
                  <a:pt x="0" y="0"/>
                </a:lnTo>
                <a:close/>
              </a:path>
            </a:pathLst>
          </a:custGeom>
          <a:blipFill>
            <a:blip r:embed="rId3"/>
            <a:stretch>
              <a:fillRect l="0" t="-6334" r="0" b="-4055"/>
            </a:stretch>
          </a:blipFill>
        </p:spPr>
      </p:sp>
      <p:sp>
        <p:nvSpPr>
          <p:cNvPr name="TextBox 7" id="7"/>
          <p:cNvSpPr txBox="true"/>
          <p:nvPr/>
        </p:nvSpPr>
        <p:spPr>
          <a:xfrm rot="0">
            <a:off x="702291" y="350823"/>
            <a:ext cx="4586965"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D</a:t>
            </a:r>
            <a:r>
              <a:rPr lang="en-US" sz="6159">
                <a:solidFill>
                  <a:srgbClr val="18102B"/>
                </a:solidFill>
                <a:latin typeface="Raleway"/>
                <a:ea typeface="Raleway"/>
                <a:cs typeface="Raleway"/>
                <a:sym typeface="Raleway"/>
              </a:rPr>
              <a:t>ata Insight</a:t>
            </a:r>
          </a:p>
        </p:txBody>
      </p:sp>
      <p:sp>
        <p:nvSpPr>
          <p:cNvPr name="TextBox 8" id="8"/>
          <p:cNvSpPr txBox="true"/>
          <p:nvPr/>
        </p:nvSpPr>
        <p:spPr>
          <a:xfrm rot="0">
            <a:off x="1272836" y="2270036"/>
            <a:ext cx="7781894" cy="490822"/>
          </a:xfrm>
          <a:prstGeom prst="rect">
            <a:avLst/>
          </a:prstGeom>
        </p:spPr>
        <p:txBody>
          <a:bodyPr anchor="t" rtlCol="false" tIns="0" lIns="0" bIns="0" rIns="0">
            <a:spAutoFit/>
          </a:bodyPr>
          <a:lstStyle/>
          <a:p>
            <a:pPr algn="ctr">
              <a:lnSpc>
                <a:spcPts val="3919"/>
              </a:lnSpc>
              <a:spcBef>
                <a:spcPct val="0"/>
              </a:spcBef>
            </a:pPr>
            <a:r>
              <a:rPr lang="en-US" b="true" sz="2799">
                <a:solidFill>
                  <a:srgbClr val="18102B"/>
                </a:solidFill>
                <a:latin typeface="Raleway Bold"/>
                <a:ea typeface="Raleway Bold"/>
                <a:cs typeface="Raleway Bold"/>
                <a:sym typeface="Raleway Bold"/>
              </a:rPr>
              <a:t>Hiring Rate by EducationLevel</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9847522" y="2292353"/>
            <a:ext cx="8010838" cy="6335345"/>
            <a:chOff x="0" y="0"/>
            <a:chExt cx="2184152" cy="1727329"/>
          </a:xfrm>
        </p:grpSpPr>
        <p:sp>
          <p:nvSpPr>
            <p:cNvPr name="Freeform 4" id="4"/>
            <p:cNvSpPr/>
            <p:nvPr/>
          </p:nvSpPr>
          <p:spPr>
            <a:xfrm flipH="false" flipV="false" rot="0">
              <a:off x="0" y="0"/>
              <a:ext cx="2184152" cy="1727329"/>
            </a:xfrm>
            <a:custGeom>
              <a:avLst/>
              <a:gdLst/>
              <a:ahLst/>
              <a:cxnLst/>
              <a:rect r="r" b="b" t="t" l="l"/>
              <a:pathLst>
                <a:path h="1727329" w="2184152">
                  <a:moveTo>
                    <a:pt x="48322" y="0"/>
                  </a:moveTo>
                  <a:lnTo>
                    <a:pt x="2135830" y="0"/>
                  </a:lnTo>
                  <a:cubicBezTo>
                    <a:pt x="2148646" y="0"/>
                    <a:pt x="2160937" y="5091"/>
                    <a:pt x="2169999" y="14153"/>
                  </a:cubicBezTo>
                  <a:cubicBezTo>
                    <a:pt x="2179061" y="23215"/>
                    <a:pt x="2184152" y="35506"/>
                    <a:pt x="2184152" y="48322"/>
                  </a:cubicBezTo>
                  <a:lnTo>
                    <a:pt x="2184152" y="1679008"/>
                  </a:lnTo>
                  <a:cubicBezTo>
                    <a:pt x="2184152" y="1691824"/>
                    <a:pt x="2179061" y="1704114"/>
                    <a:pt x="2169999" y="1713176"/>
                  </a:cubicBezTo>
                  <a:cubicBezTo>
                    <a:pt x="2160937" y="1722238"/>
                    <a:pt x="2148646" y="1727329"/>
                    <a:pt x="2135830" y="1727329"/>
                  </a:cubicBezTo>
                  <a:lnTo>
                    <a:pt x="48322" y="1727329"/>
                  </a:lnTo>
                  <a:cubicBezTo>
                    <a:pt x="35506" y="1727329"/>
                    <a:pt x="23215" y="1722238"/>
                    <a:pt x="14153" y="1713176"/>
                  </a:cubicBezTo>
                  <a:cubicBezTo>
                    <a:pt x="5091" y="1704114"/>
                    <a:pt x="0" y="1691824"/>
                    <a:pt x="0" y="1679008"/>
                  </a:cubicBezTo>
                  <a:lnTo>
                    <a:pt x="0" y="48322"/>
                  </a:lnTo>
                  <a:cubicBezTo>
                    <a:pt x="0" y="35506"/>
                    <a:pt x="5091" y="23215"/>
                    <a:pt x="14153" y="14153"/>
                  </a:cubicBezTo>
                  <a:cubicBezTo>
                    <a:pt x="23215" y="5091"/>
                    <a:pt x="35506" y="0"/>
                    <a:pt x="48322" y="0"/>
                  </a:cubicBezTo>
                  <a:close/>
                </a:path>
              </a:pathLst>
            </a:custGeom>
            <a:solidFill>
              <a:srgbClr val="A1C7CE"/>
            </a:solidFill>
          </p:spPr>
        </p:sp>
        <p:sp>
          <p:nvSpPr>
            <p:cNvPr name="TextBox 5" id="5"/>
            <p:cNvSpPr txBox="true"/>
            <p:nvPr/>
          </p:nvSpPr>
          <p:spPr>
            <a:xfrm>
              <a:off x="0" y="-19050"/>
              <a:ext cx="2184152" cy="1746379"/>
            </a:xfrm>
            <a:prstGeom prst="rect">
              <a:avLst/>
            </a:prstGeom>
          </p:spPr>
          <p:txBody>
            <a:bodyPr anchor="ctr" rtlCol="false" tIns="49361" lIns="49361" bIns="49361" rIns="49361"/>
            <a:lstStyle/>
            <a:p>
              <a:pPr algn="l" marL="453390" indent="-226695" lvl="1">
                <a:lnSpc>
                  <a:spcPts val="2520"/>
                </a:lnSpc>
                <a:buFont typeface="Arial"/>
                <a:buChar char="•"/>
              </a:pPr>
              <a:r>
                <a:rPr lang="en-US" sz="2100" spc="8">
                  <a:solidFill>
                    <a:srgbClr val="000000"/>
                  </a:solidFill>
                  <a:latin typeface="Poppins"/>
                  <a:ea typeface="Poppins"/>
                  <a:cs typeface="Poppins"/>
                  <a:sym typeface="Poppins"/>
                </a:rPr>
                <a:t>The internal recruitment strategy has a success rate far exceeding other channels. 71.7% of candidates through the internal </a:t>
              </a:r>
              <a:r>
                <a:rPr lang="en-US" sz="2100" spc="8">
                  <a:solidFill>
                    <a:srgbClr val="000000"/>
                  </a:solidFill>
                  <a:latin typeface="Poppins"/>
                  <a:ea typeface="Poppins"/>
                  <a:cs typeface="Poppins"/>
                  <a:sym typeface="Poppins"/>
                </a:rPr>
                <a:t>channel are hired. This is the only category where the number of accepted candidates significantly outnumbers those rejected.</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In contrast to internal applicants, candidates who come from outside sources or through referrals have a very low chance of being accepted:</a:t>
              </a:r>
            </a:p>
            <a:p>
              <a:pPr algn="l" marL="453390" indent="-226695" lvl="1">
                <a:lnSpc>
                  <a:spcPts val="2520"/>
                </a:lnSpc>
                <a:buFont typeface="Arial"/>
                <a:buChar char="•"/>
              </a:pPr>
              <a:r>
                <a:rPr lang="en-US" sz="2100" spc="8">
                  <a:solidFill>
                    <a:srgbClr val="000000"/>
                  </a:solidFill>
                  <a:latin typeface="Poppins"/>
                  <a:ea typeface="Poppins"/>
                  <a:cs typeface="Poppins"/>
                  <a:sym typeface="Poppins"/>
                </a:rPr>
                <a:t>External: Only 13.6% are accepted.</a:t>
              </a:r>
            </a:p>
            <a:p>
              <a:pPr algn="l" marL="453390" indent="-226695" lvl="1">
                <a:lnSpc>
                  <a:spcPts val="2520"/>
                </a:lnSpc>
                <a:buFont typeface="Arial"/>
                <a:buChar char="•"/>
              </a:pPr>
              <a:r>
                <a:rPr lang="en-US" sz="2100" spc="8">
                  <a:solidFill>
                    <a:srgbClr val="000000"/>
                  </a:solidFill>
                  <a:latin typeface="Poppins"/>
                  <a:ea typeface="Poppins"/>
                  <a:cs typeface="Poppins"/>
                  <a:sym typeface="Poppins"/>
                </a:rPr>
                <a:t>Referral: Only 14.4% are accepted.</a:t>
              </a:r>
            </a:p>
            <a:p>
              <a:pPr algn="l" marL="453390" indent="-226695" lvl="1">
                <a:lnSpc>
                  <a:spcPts val="2520"/>
                </a:lnSpc>
                <a:buFont typeface="Arial"/>
                <a:buChar char="•"/>
              </a:pPr>
              <a:r>
                <a:rPr lang="en-US" sz="2100" spc="8">
                  <a:solidFill>
                    <a:srgbClr val="000000"/>
                  </a:solidFill>
                  <a:latin typeface="Poppins"/>
                  <a:ea typeface="Poppins"/>
                  <a:cs typeface="Poppins"/>
                  <a:sym typeface="Poppins"/>
                </a:rPr>
                <a:t>Both of these applicants have very high rejection rates, exceeding 85%.</a:t>
              </a:r>
            </a:p>
            <a:p>
              <a:pPr algn="l">
                <a:lnSpc>
                  <a:spcPts val="2520"/>
                </a:lnSpc>
              </a:pPr>
            </a:p>
          </p:txBody>
        </p:sp>
      </p:grpSp>
      <p:sp>
        <p:nvSpPr>
          <p:cNvPr name="Freeform 6" id="6"/>
          <p:cNvSpPr/>
          <p:nvPr/>
        </p:nvSpPr>
        <p:spPr>
          <a:xfrm flipH="false" flipV="false" rot="0">
            <a:off x="255209" y="2890880"/>
            <a:ext cx="9406717" cy="5138291"/>
          </a:xfrm>
          <a:custGeom>
            <a:avLst/>
            <a:gdLst/>
            <a:ahLst/>
            <a:cxnLst/>
            <a:rect r="r" b="b" t="t" l="l"/>
            <a:pathLst>
              <a:path h="5138291" w="9406717">
                <a:moveTo>
                  <a:pt x="0" y="0"/>
                </a:moveTo>
                <a:lnTo>
                  <a:pt x="9406718" y="0"/>
                </a:lnTo>
                <a:lnTo>
                  <a:pt x="9406718" y="5138291"/>
                </a:lnTo>
                <a:lnTo>
                  <a:pt x="0" y="5138291"/>
                </a:lnTo>
                <a:lnTo>
                  <a:pt x="0" y="0"/>
                </a:lnTo>
                <a:close/>
              </a:path>
            </a:pathLst>
          </a:custGeom>
          <a:blipFill>
            <a:blip r:embed="rId3"/>
            <a:stretch>
              <a:fillRect l="0" t="-6189" r="0" b="-5254"/>
            </a:stretch>
          </a:blipFill>
        </p:spPr>
      </p:sp>
      <p:sp>
        <p:nvSpPr>
          <p:cNvPr name="TextBox 7" id="7"/>
          <p:cNvSpPr txBox="true"/>
          <p:nvPr/>
        </p:nvSpPr>
        <p:spPr>
          <a:xfrm rot="0">
            <a:off x="702291" y="350823"/>
            <a:ext cx="4784793"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D</a:t>
            </a:r>
            <a:r>
              <a:rPr lang="en-US" sz="6159">
                <a:solidFill>
                  <a:srgbClr val="18102B"/>
                </a:solidFill>
                <a:latin typeface="Raleway"/>
                <a:ea typeface="Raleway"/>
                <a:cs typeface="Raleway"/>
                <a:sym typeface="Raleway"/>
              </a:rPr>
              <a:t>ata Insight</a:t>
            </a:r>
          </a:p>
        </p:txBody>
      </p:sp>
      <p:sp>
        <p:nvSpPr>
          <p:cNvPr name="TextBox 8" id="8"/>
          <p:cNvSpPr txBox="true"/>
          <p:nvPr/>
        </p:nvSpPr>
        <p:spPr>
          <a:xfrm rot="0">
            <a:off x="1272836" y="2270036"/>
            <a:ext cx="7781894" cy="490822"/>
          </a:xfrm>
          <a:prstGeom prst="rect">
            <a:avLst/>
          </a:prstGeom>
        </p:spPr>
        <p:txBody>
          <a:bodyPr anchor="t" rtlCol="false" tIns="0" lIns="0" bIns="0" rIns="0">
            <a:spAutoFit/>
          </a:bodyPr>
          <a:lstStyle/>
          <a:p>
            <a:pPr algn="ctr">
              <a:lnSpc>
                <a:spcPts val="3919"/>
              </a:lnSpc>
              <a:spcBef>
                <a:spcPct val="0"/>
              </a:spcBef>
            </a:pPr>
            <a:r>
              <a:rPr lang="en-US" b="true" sz="2799">
                <a:solidFill>
                  <a:srgbClr val="18102B"/>
                </a:solidFill>
                <a:latin typeface="Raleway Bold"/>
                <a:ea typeface="Raleway Bold"/>
                <a:cs typeface="Raleway Bold"/>
                <a:sym typeface="Raleway Bold"/>
              </a:rPr>
              <a:t>Hiring Rate by RecruitmentStrategy</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11572930" y="3255439"/>
            <a:ext cx="4809972" cy="6836556"/>
            <a:chOff x="0" y="0"/>
            <a:chExt cx="6014936" cy="8549208"/>
          </a:xfrm>
        </p:grpSpPr>
        <p:sp>
          <p:nvSpPr>
            <p:cNvPr name="Freeform 4" id="4" descr="image.png"/>
            <p:cNvSpPr/>
            <p:nvPr/>
          </p:nvSpPr>
          <p:spPr>
            <a:xfrm flipH="false" flipV="false" rot="-10800000">
              <a:off x="0" y="0"/>
              <a:ext cx="6014974" cy="8549233"/>
            </a:xfrm>
            <a:custGeom>
              <a:avLst/>
              <a:gdLst/>
              <a:ahLst/>
              <a:cxnLst/>
              <a:rect r="r" b="b" t="t" l="l"/>
              <a:pathLst>
                <a:path h="8549233" w="6014974">
                  <a:moveTo>
                    <a:pt x="6014974" y="8549233"/>
                  </a:moveTo>
                  <a:lnTo>
                    <a:pt x="0" y="8549233"/>
                  </a:lnTo>
                  <a:lnTo>
                    <a:pt x="0" y="0"/>
                  </a:lnTo>
                  <a:lnTo>
                    <a:pt x="6014974" y="0"/>
                  </a:lnTo>
                  <a:lnTo>
                    <a:pt x="6014974" y="8549233"/>
                  </a:lnTo>
                  <a:close/>
                </a:path>
              </a:pathLst>
            </a:custGeom>
            <a:blipFill>
              <a:blip r:embed="rId3"/>
              <a:stretch>
                <a:fillRect l="-82078" t="0" r="-8815" b="0"/>
              </a:stretch>
            </a:blipFill>
          </p:spPr>
        </p:sp>
      </p:grpSp>
      <p:sp>
        <p:nvSpPr>
          <p:cNvPr name="TextBox 5" id="5"/>
          <p:cNvSpPr txBox="true"/>
          <p:nvPr/>
        </p:nvSpPr>
        <p:spPr>
          <a:xfrm rot="0">
            <a:off x="702291" y="350823"/>
            <a:ext cx="7781894" cy="1062736"/>
          </a:xfrm>
          <a:prstGeom prst="rect">
            <a:avLst/>
          </a:prstGeom>
        </p:spPr>
        <p:txBody>
          <a:bodyPr anchor="t" rtlCol="false" tIns="0" lIns="0" bIns="0" rIns="0">
            <a:spAutoFit/>
          </a:bodyPr>
          <a:lstStyle/>
          <a:p>
            <a:pPr algn="ctr">
              <a:lnSpc>
                <a:spcPts val="8623"/>
              </a:lnSpc>
              <a:spcBef>
                <a:spcPct val="0"/>
              </a:spcBef>
            </a:pPr>
            <a:r>
              <a:rPr lang="en-US" sz="6159">
                <a:solidFill>
                  <a:srgbClr val="000000"/>
                </a:solidFill>
                <a:latin typeface="Raleway"/>
                <a:ea typeface="Raleway"/>
                <a:cs typeface="Raleway"/>
                <a:sym typeface="Raleway"/>
              </a:rPr>
              <a:t>Fe</a:t>
            </a:r>
            <a:r>
              <a:rPr lang="en-US" sz="6159">
                <a:solidFill>
                  <a:srgbClr val="000000"/>
                </a:solidFill>
                <a:latin typeface="Raleway"/>
                <a:ea typeface="Raleway"/>
                <a:cs typeface="Raleway"/>
                <a:sym typeface="Raleway"/>
              </a:rPr>
              <a:t>ature Selection</a:t>
            </a:r>
          </a:p>
        </p:txBody>
      </p:sp>
      <p:sp>
        <p:nvSpPr>
          <p:cNvPr name="TextBox 6" id="6"/>
          <p:cNvSpPr txBox="true"/>
          <p:nvPr/>
        </p:nvSpPr>
        <p:spPr>
          <a:xfrm rot="0">
            <a:off x="1345165" y="2157331"/>
            <a:ext cx="15602278" cy="790088"/>
          </a:xfrm>
          <a:prstGeom prst="rect">
            <a:avLst/>
          </a:prstGeom>
        </p:spPr>
        <p:txBody>
          <a:bodyPr anchor="t" rtlCol="false" tIns="0" lIns="0" bIns="0" rIns="0">
            <a:spAutoFit/>
          </a:bodyPr>
          <a:lstStyle/>
          <a:p>
            <a:pPr algn="just">
              <a:lnSpc>
                <a:spcPts val="3176"/>
              </a:lnSpc>
            </a:pPr>
            <a:r>
              <a:rPr lang="en-US" sz="2269">
                <a:solidFill>
                  <a:srgbClr val="000000"/>
                </a:solidFill>
                <a:latin typeface="Raleway"/>
                <a:ea typeface="Raleway"/>
                <a:cs typeface="Raleway"/>
                <a:sym typeface="Raleway"/>
              </a:rPr>
              <a:t>The features identified as strongly correlated with the target should be prioritized for modeling, as they are expected to yield the best evaluation results.</a:t>
            </a:r>
          </a:p>
        </p:txBody>
      </p:sp>
      <p:grpSp>
        <p:nvGrpSpPr>
          <p:cNvPr name="Group 7" id="7"/>
          <p:cNvGrpSpPr/>
          <p:nvPr/>
        </p:nvGrpSpPr>
        <p:grpSpPr>
          <a:xfrm rot="0">
            <a:off x="1345165" y="3255439"/>
            <a:ext cx="4809972" cy="6836556"/>
            <a:chOff x="0" y="0"/>
            <a:chExt cx="6014936" cy="8549208"/>
          </a:xfrm>
        </p:grpSpPr>
        <p:sp>
          <p:nvSpPr>
            <p:cNvPr name="Freeform 8" id="8" descr="image.png"/>
            <p:cNvSpPr/>
            <p:nvPr/>
          </p:nvSpPr>
          <p:spPr>
            <a:xfrm flipH="false" flipV="false" rot="0">
              <a:off x="0" y="0"/>
              <a:ext cx="6014974" cy="8549233"/>
            </a:xfrm>
            <a:custGeom>
              <a:avLst/>
              <a:gdLst/>
              <a:ahLst/>
              <a:cxnLst/>
              <a:rect r="r" b="b" t="t" l="l"/>
              <a:pathLst>
                <a:path h="8549233" w="6014974">
                  <a:moveTo>
                    <a:pt x="0" y="0"/>
                  </a:moveTo>
                  <a:lnTo>
                    <a:pt x="6014974" y="0"/>
                  </a:lnTo>
                  <a:lnTo>
                    <a:pt x="6014974" y="8549233"/>
                  </a:lnTo>
                  <a:lnTo>
                    <a:pt x="0" y="8549233"/>
                  </a:lnTo>
                  <a:lnTo>
                    <a:pt x="0" y="0"/>
                  </a:lnTo>
                  <a:close/>
                </a:path>
              </a:pathLst>
            </a:custGeom>
            <a:blipFill>
              <a:blip r:embed="rId3"/>
              <a:stretch>
                <a:fillRect l="-8814" t="0" r="-82078" b="0"/>
              </a:stretch>
            </a:blipFill>
          </p:spPr>
        </p:sp>
      </p:grpSp>
      <p:grpSp>
        <p:nvGrpSpPr>
          <p:cNvPr name="Group 9" id="9"/>
          <p:cNvGrpSpPr/>
          <p:nvPr/>
        </p:nvGrpSpPr>
        <p:grpSpPr>
          <a:xfrm rot="0">
            <a:off x="6441230" y="3255439"/>
            <a:ext cx="4809972" cy="6836556"/>
            <a:chOff x="0" y="0"/>
            <a:chExt cx="6014936" cy="8549208"/>
          </a:xfrm>
        </p:grpSpPr>
        <p:sp>
          <p:nvSpPr>
            <p:cNvPr name="Freeform 10" id="10" descr="image.png"/>
            <p:cNvSpPr/>
            <p:nvPr/>
          </p:nvSpPr>
          <p:spPr>
            <a:xfrm flipH="false" flipV="false" rot="0">
              <a:off x="0" y="0"/>
              <a:ext cx="6014974" cy="8549233"/>
            </a:xfrm>
            <a:custGeom>
              <a:avLst/>
              <a:gdLst/>
              <a:ahLst/>
              <a:cxnLst/>
              <a:rect r="r" b="b" t="t" l="l"/>
              <a:pathLst>
                <a:path h="8549233" w="6014974">
                  <a:moveTo>
                    <a:pt x="0" y="0"/>
                  </a:moveTo>
                  <a:lnTo>
                    <a:pt x="6014974" y="0"/>
                  </a:lnTo>
                  <a:lnTo>
                    <a:pt x="6014974" y="8549233"/>
                  </a:lnTo>
                  <a:lnTo>
                    <a:pt x="0" y="8549233"/>
                  </a:lnTo>
                  <a:lnTo>
                    <a:pt x="0" y="0"/>
                  </a:lnTo>
                  <a:close/>
                </a:path>
              </a:pathLst>
            </a:custGeom>
            <a:blipFill>
              <a:blip r:embed="rId3"/>
              <a:stretch>
                <a:fillRect l="-8814" t="0" r="-82078" b="0"/>
              </a:stretch>
            </a:blipFill>
          </p:spPr>
        </p:sp>
      </p:grpSp>
      <p:sp>
        <p:nvSpPr>
          <p:cNvPr name="TextBox 11" id="11"/>
          <p:cNvSpPr txBox="true"/>
          <p:nvPr/>
        </p:nvSpPr>
        <p:spPr>
          <a:xfrm rot="0">
            <a:off x="6757650" y="5245938"/>
            <a:ext cx="4081370" cy="1305374"/>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InterviewScore</a:t>
            </a:r>
          </a:p>
          <a:p>
            <a:pPr algn="ctr">
              <a:lnSpc>
                <a:spcPts val="2026"/>
              </a:lnSpc>
              <a:spcBef>
                <a:spcPct val="0"/>
              </a:spcBef>
            </a:pPr>
            <a:r>
              <a:rPr lang="en-US" sz="1688" spc="6">
                <a:solidFill>
                  <a:srgbClr val="FEFEFE"/>
                </a:solidFill>
                <a:latin typeface="Raleway"/>
                <a:ea typeface="Raleway"/>
                <a:cs typeface="Raleway"/>
                <a:sym typeface="Raleway"/>
              </a:rPr>
              <a:t>Interview Score shows a moderate correlation with hiring outcomes, where candidates with higher scores are more likely to be accepted.</a:t>
            </a:r>
          </a:p>
        </p:txBody>
      </p:sp>
      <p:sp>
        <p:nvSpPr>
          <p:cNvPr name="TextBox 12" id="12"/>
          <p:cNvSpPr txBox="true"/>
          <p:nvPr/>
        </p:nvSpPr>
        <p:spPr>
          <a:xfrm rot="0">
            <a:off x="1493505" y="3721550"/>
            <a:ext cx="4513291" cy="1305374"/>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ExperienceYears</a:t>
            </a:r>
          </a:p>
          <a:p>
            <a:pPr algn="ctr">
              <a:lnSpc>
                <a:spcPts val="2026"/>
              </a:lnSpc>
              <a:spcBef>
                <a:spcPct val="0"/>
              </a:spcBef>
            </a:pPr>
            <a:r>
              <a:rPr lang="en-US" sz="1688" spc="6">
                <a:solidFill>
                  <a:srgbClr val="FEFEFE"/>
                </a:solidFill>
                <a:latin typeface="Raleway"/>
                <a:ea typeface="Raleway"/>
                <a:cs typeface="Raleway"/>
                <a:sym typeface="Raleway"/>
              </a:rPr>
              <a:t>ExperienceYears shows a moderate correlation with hiring outcomes and contains many unique values, making it suitable for binning.</a:t>
            </a:r>
          </a:p>
        </p:txBody>
      </p:sp>
      <p:sp>
        <p:nvSpPr>
          <p:cNvPr name="TextBox 13" id="13"/>
          <p:cNvSpPr txBox="true"/>
          <p:nvPr/>
        </p:nvSpPr>
        <p:spPr>
          <a:xfrm rot="0">
            <a:off x="6805531" y="3721550"/>
            <a:ext cx="4081370" cy="1305374"/>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SkillScore</a:t>
            </a:r>
          </a:p>
          <a:p>
            <a:pPr algn="ctr">
              <a:lnSpc>
                <a:spcPts val="2026"/>
              </a:lnSpc>
              <a:spcBef>
                <a:spcPct val="0"/>
              </a:spcBef>
            </a:pPr>
            <a:r>
              <a:rPr lang="en-US" sz="1688" spc="6">
                <a:solidFill>
                  <a:srgbClr val="FEFEFE"/>
                </a:solidFill>
                <a:latin typeface="Raleway"/>
                <a:ea typeface="Raleway"/>
                <a:cs typeface="Raleway"/>
                <a:sym typeface="Raleway"/>
              </a:rPr>
              <a:t>Skill Score shows a moderate correlation with hiring outcomes, where candidates with higher scores are more likely to be accepted.</a:t>
            </a:r>
          </a:p>
        </p:txBody>
      </p:sp>
      <p:sp>
        <p:nvSpPr>
          <p:cNvPr name="TextBox 14" id="14"/>
          <p:cNvSpPr txBox="true"/>
          <p:nvPr/>
        </p:nvSpPr>
        <p:spPr>
          <a:xfrm rot="0">
            <a:off x="6505003" y="6770387"/>
            <a:ext cx="4586663" cy="1600291"/>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PersonalityScore</a:t>
            </a:r>
          </a:p>
          <a:p>
            <a:pPr algn="ctr">
              <a:lnSpc>
                <a:spcPts val="2026"/>
              </a:lnSpc>
              <a:spcBef>
                <a:spcPct val="0"/>
              </a:spcBef>
            </a:pPr>
            <a:r>
              <a:rPr lang="en-US" sz="1688" spc="6">
                <a:solidFill>
                  <a:srgbClr val="FEFEFE"/>
                </a:solidFill>
                <a:latin typeface="Raleway"/>
                <a:ea typeface="Raleway"/>
                <a:cs typeface="Raleway"/>
                <a:sym typeface="Raleway"/>
              </a:rPr>
              <a:t>Personality Score shows a moderate correlation with hiring outcomes, with higher scores linked to a greater likelihood of acceptance.</a:t>
            </a:r>
          </a:p>
          <a:p>
            <a:pPr algn="ctr">
              <a:lnSpc>
                <a:spcPts val="2364"/>
              </a:lnSpc>
              <a:spcBef>
                <a:spcPct val="0"/>
              </a:spcBef>
            </a:pPr>
          </a:p>
        </p:txBody>
      </p:sp>
      <p:sp>
        <p:nvSpPr>
          <p:cNvPr name="TextBox 15" id="15"/>
          <p:cNvSpPr txBox="true"/>
          <p:nvPr/>
        </p:nvSpPr>
        <p:spPr>
          <a:xfrm rot="0">
            <a:off x="1661641" y="5245938"/>
            <a:ext cx="4081370" cy="1305374"/>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EducationLevel</a:t>
            </a:r>
          </a:p>
          <a:p>
            <a:pPr algn="ctr">
              <a:lnSpc>
                <a:spcPts val="2026"/>
              </a:lnSpc>
              <a:spcBef>
                <a:spcPct val="0"/>
              </a:spcBef>
            </a:pPr>
            <a:r>
              <a:rPr lang="en-US" sz="1688" spc="6">
                <a:solidFill>
                  <a:srgbClr val="FEFEFE"/>
                </a:solidFill>
                <a:latin typeface="Raleway"/>
                <a:ea typeface="Raleway"/>
                <a:cs typeface="Raleway"/>
                <a:sym typeface="Raleway"/>
              </a:rPr>
              <a:t>Candidate education level shows a fairly strong correlation with hiring outcomes, with higher educational levels associated with greater acceptance.</a:t>
            </a:r>
          </a:p>
        </p:txBody>
      </p:sp>
      <p:sp>
        <p:nvSpPr>
          <p:cNvPr name="TextBox 16" id="16"/>
          <p:cNvSpPr txBox="true"/>
          <p:nvPr/>
        </p:nvSpPr>
        <p:spPr>
          <a:xfrm rot="0">
            <a:off x="1463556" y="6781088"/>
            <a:ext cx="4477539" cy="1305529"/>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RecruitmentStrategy</a:t>
            </a:r>
          </a:p>
          <a:p>
            <a:pPr algn="ctr">
              <a:lnSpc>
                <a:spcPts val="2026"/>
              </a:lnSpc>
              <a:spcBef>
                <a:spcPct val="0"/>
              </a:spcBef>
            </a:pPr>
            <a:r>
              <a:rPr lang="en-US" sz="1688" spc="6">
                <a:solidFill>
                  <a:srgbClr val="FEFEFE"/>
                </a:solidFill>
                <a:latin typeface="Raleway"/>
                <a:ea typeface="Raleway"/>
                <a:cs typeface="Raleway"/>
                <a:sym typeface="Raleway"/>
              </a:rPr>
              <a:t>Recruitment strategy shows a strong correlation with hiring outcomes, with aggressive strategies leading to higher acceptance rates.</a:t>
            </a:r>
          </a:p>
        </p:txBody>
      </p:sp>
      <p:sp>
        <p:nvSpPr>
          <p:cNvPr name="TextBox 17" id="17"/>
          <p:cNvSpPr txBox="true"/>
          <p:nvPr/>
        </p:nvSpPr>
        <p:spPr>
          <a:xfrm rot="0">
            <a:off x="11945298" y="5245938"/>
            <a:ext cx="4081370" cy="1055141"/>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5CE1E6"/>
                </a:solidFill>
                <a:latin typeface="Raleway Bold"/>
                <a:ea typeface="Raleway Bold"/>
                <a:cs typeface="Raleway Bold"/>
                <a:sym typeface="Raleway Bold"/>
              </a:rPr>
              <a:t>TotalScore</a:t>
            </a:r>
          </a:p>
          <a:p>
            <a:pPr algn="ctr">
              <a:lnSpc>
                <a:spcPts val="2026"/>
              </a:lnSpc>
              <a:spcBef>
                <a:spcPct val="0"/>
              </a:spcBef>
            </a:pPr>
            <a:r>
              <a:rPr lang="en-US" sz="1688" spc="6">
                <a:solidFill>
                  <a:srgbClr val="FEFEFE"/>
                </a:solidFill>
                <a:latin typeface="Raleway"/>
                <a:ea typeface="Raleway"/>
                <a:cs typeface="Raleway"/>
                <a:sym typeface="Raleway"/>
              </a:rPr>
              <a:t>Th</a:t>
            </a:r>
            <a:r>
              <a:rPr lang="en-US" sz="1688" spc="6">
                <a:solidFill>
                  <a:srgbClr val="FEFEFE"/>
                </a:solidFill>
                <a:latin typeface="Raleway"/>
                <a:ea typeface="Raleway"/>
                <a:cs typeface="Raleway"/>
                <a:sym typeface="Raleway"/>
              </a:rPr>
              <a:t>is feature is often more powerful in predicting hiring decisions than a single score.</a:t>
            </a:r>
          </a:p>
        </p:txBody>
      </p:sp>
      <p:sp>
        <p:nvSpPr>
          <p:cNvPr name="TextBox 18" id="18"/>
          <p:cNvSpPr txBox="true"/>
          <p:nvPr/>
        </p:nvSpPr>
        <p:spPr>
          <a:xfrm rot="0">
            <a:off x="11603626" y="6906282"/>
            <a:ext cx="4513291" cy="1055141"/>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5CE1E6"/>
                </a:solidFill>
                <a:latin typeface="Raleway Bold"/>
                <a:ea typeface="Raleway Bold"/>
                <a:cs typeface="Raleway Bold"/>
                <a:sym typeface="Raleway Bold"/>
              </a:rPr>
              <a:t>ExperienceLevel</a:t>
            </a:r>
          </a:p>
          <a:p>
            <a:pPr algn="ctr">
              <a:lnSpc>
                <a:spcPts val="2026"/>
              </a:lnSpc>
              <a:spcBef>
                <a:spcPct val="0"/>
              </a:spcBef>
            </a:pPr>
            <a:r>
              <a:rPr lang="en-US" sz="1688" spc="6">
                <a:solidFill>
                  <a:srgbClr val="FEFEFE"/>
                </a:solidFill>
                <a:latin typeface="Raleway"/>
                <a:ea typeface="Raleway"/>
                <a:cs typeface="Raleway"/>
                <a:sym typeface="Raleway"/>
              </a:rPr>
              <a:t>Th</a:t>
            </a:r>
            <a:r>
              <a:rPr lang="en-US" sz="1688" spc="6">
                <a:solidFill>
                  <a:srgbClr val="FEFEFE"/>
                </a:solidFill>
                <a:latin typeface="Raleway"/>
                <a:ea typeface="Raleway"/>
                <a:cs typeface="Raleway"/>
                <a:sym typeface="Raleway"/>
              </a:rPr>
              <a:t>ere is a significant relationship where higher levels of experience tend to have a greater chance of acceptance.</a:t>
            </a:r>
          </a:p>
        </p:txBody>
      </p:sp>
      <p:sp>
        <p:nvSpPr>
          <p:cNvPr name="TextBox 19" id="19"/>
          <p:cNvSpPr txBox="true"/>
          <p:nvPr/>
        </p:nvSpPr>
        <p:spPr>
          <a:xfrm rot="0">
            <a:off x="1493505" y="8315217"/>
            <a:ext cx="4477539" cy="1305529"/>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Age</a:t>
            </a:r>
          </a:p>
          <a:p>
            <a:pPr algn="ctr">
              <a:lnSpc>
                <a:spcPts val="2026"/>
              </a:lnSpc>
              <a:spcBef>
                <a:spcPct val="0"/>
              </a:spcBef>
            </a:pPr>
            <a:r>
              <a:rPr lang="en-US" sz="1688" spc="6">
                <a:solidFill>
                  <a:srgbClr val="FEFEFE"/>
                </a:solidFill>
                <a:latin typeface="Raleway"/>
                <a:ea typeface="Raleway"/>
                <a:cs typeface="Raleway"/>
                <a:sym typeface="Raleway"/>
              </a:rPr>
              <a:t>Ag</a:t>
            </a:r>
            <a:r>
              <a:rPr lang="en-US" sz="1688" spc="6">
                <a:solidFill>
                  <a:srgbClr val="FEFEFE"/>
                </a:solidFill>
                <a:latin typeface="Raleway"/>
                <a:ea typeface="Raleway"/>
                <a:cs typeface="Raleway"/>
                <a:sym typeface="Raleway"/>
              </a:rPr>
              <a:t>e had no significant correlation with recruitment outcomes, indicating that the model provides equal opportunities regardless of candidate age.</a:t>
            </a:r>
          </a:p>
        </p:txBody>
      </p:sp>
      <p:sp>
        <p:nvSpPr>
          <p:cNvPr name="TextBox 20" id="20"/>
          <p:cNvSpPr txBox="true"/>
          <p:nvPr/>
        </p:nvSpPr>
        <p:spPr>
          <a:xfrm rot="0">
            <a:off x="6661951" y="8315217"/>
            <a:ext cx="4477539" cy="1555793"/>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PreviousCompanies</a:t>
            </a:r>
          </a:p>
          <a:p>
            <a:pPr algn="ctr">
              <a:lnSpc>
                <a:spcPts val="2026"/>
              </a:lnSpc>
              <a:spcBef>
                <a:spcPct val="0"/>
              </a:spcBef>
            </a:pPr>
            <a:r>
              <a:rPr lang="en-US" sz="1688" spc="6">
                <a:solidFill>
                  <a:srgbClr val="FEFEFE"/>
                </a:solidFill>
                <a:latin typeface="Raleway"/>
                <a:ea typeface="Raleway"/>
                <a:cs typeface="Raleway"/>
                <a:sym typeface="Raleway"/>
              </a:rPr>
              <a:t>Th</a:t>
            </a:r>
            <a:r>
              <a:rPr lang="en-US" sz="1688" spc="6">
                <a:solidFill>
                  <a:srgbClr val="FEFEFE"/>
                </a:solidFill>
                <a:latin typeface="Raleway"/>
                <a:ea typeface="Raleway"/>
                <a:cs typeface="Raleway"/>
                <a:sym typeface="Raleway"/>
              </a:rPr>
              <a:t>is feature shows an insignificant effect. This means that the number of companies a candidate has previously worked for is not a major determinant of hiring decisions in this model.</a:t>
            </a:r>
          </a:p>
        </p:txBody>
      </p:sp>
      <p:sp>
        <p:nvSpPr>
          <p:cNvPr name="TextBox 21" id="21"/>
          <p:cNvSpPr txBox="true"/>
          <p:nvPr/>
        </p:nvSpPr>
        <p:spPr>
          <a:xfrm rot="0">
            <a:off x="11747213" y="3721550"/>
            <a:ext cx="4477539" cy="1055265"/>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DistanceFromCompany</a:t>
            </a:r>
          </a:p>
          <a:p>
            <a:pPr algn="ctr">
              <a:lnSpc>
                <a:spcPts val="2026"/>
              </a:lnSpc>
              <a:spcBef>
                <a:spcPct val="0"/>
              </a:spcBef>
            </a:pPr>
            <a:r>
              <a:rPr lang="en-US" sz="1688" spc="6">
                <a:solidFill>
                  <a:srgbClr val="FEFEFE"/>
                </a:solidFill>
                <a:latin typeface="Raleway"/>
                <a:ea typeface="Raleway"/>
                <a:cs typeface="Raleway"/>
                <a:sym typeface="Raleway"/>
              </a:rPr>
              <a:t>D</a:t>
            </a:r>
            <a:r>
              <a:rPr lang="en-US" sz="1688" spc="6">
                <a:solidFill>
                  <a:srgbClr val="FEFEFE"/>
                </a:solidFill>
                <a:latin typeface="Raleway"/>
                <a:ea typeface="Raleway"/>
                <a:cs typeface="Raleway"/>
                <a:sym typeface="Raleway"/>
              </a:rPr>
              <a:t>istanceFromCompany did not show a statistically significant effect on recruitment decisions.</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TextBox 3" id="3"/>
          <p:cNvSpPr txBox="true"/>
          <p:nvPr/>
        </p:nvSpPr>
        <p:spPr>
          <a:xfrm rot="0">
            <a:off x="854691" y="503223"/>
            <a:ext cx="7742328"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Dat</a:t>
            </a:r>
            <a:r>
              <a:rPr lang="en-US" sz="6159">
                <a:solidFill>
                  <a:srgbClr val="18102B"/>
                </a:solidFill>
                <a:latin typeface="Raleway"/>
                <a:ea typeface="Raleway"/>
                <a:cs typeface="Raleway"/>
                <a:sym typeface="Raleway"/>
              </a:rPr>
              <a:t>a Pre-processing</a:t>
            </a:r>
          </a:p>
        </p:txBody>
      </p:sp>
      <p:grpSp>
        <p:nvGrpSpPr>
          <p:cNvPr name="Group 4" id="4"/>
          <p:cNvGrpSpPr/>
          <p:nvPr/>
        </p:nvGrpSpPr>
        <p:grpSpPr>
          <a:xfrm rot="0">
            <a:off x="2993335" y="1671955"/>
            <a:ext cx="4701863" cy="5681326"/>
            <a:chOff x="0" y="0"/>
            <a:chExt cx="6014936" cy="7267931"/>
          </a:xfrm>
        </p:grpSpPr>
        <p:sp>
          <p:nvSpPr>
            <p:cNvPr name="Freeform 5" id="5" descr="image.png"/>
            <p:cNvSpPr/>
            <p:nvPr/>
          </p:nvSpPr>
          <p:spPr>
            <a:xfrm flipH="false" flipV="false" rot="0">
              <a:off x="0" y="0"/>
              <a:ext cx="6014974" cy="7267956"/>
            </a:xfrm>
            <a:custGeom>
              <a:avLst/>
              <a:gdLst/>
              <a:ahLst/>
              <a:cxnLst/>
              <a:rect r="r" b="b" t="t" l="l"/>
              <a:pathLst>
                <a:path h="7267956" w="6014974">
                  <a:moveTo>
                    <a:pt x="0" y="0"/>
                  </a:moveTo>
                  <a:lnTo>
                    <a:pt x="6014974" y="0"/>
                  </a:lnTo>
                  <a:lnTo>
                    <a:pt x="6014974" y="7267956"/>
                  </a:lnTo>
                  <a:lnTo>
                    <a:pt x="0" y="7267956"/>
                  </a:lnTo>
                  <a:lnTo>
                    <a:pt x="0" y="0"/>
                  </a:lnTo>
                  <a:close/>
                </a:path>
              </a:pathLst>
            </a:custGeom>
            <a:blipFill>
              <a:blip r:embed="rId3"/>
              <a:stretch>
                <a:fillRect l="0" t="0" r="-62283" b="0"/>
              </a:stretch>
            </a:blipFill>
          </p:spPr>
        </p:sp>
      </p:grpSp>
      <p:sp>
        <p:nvSpPr>
          <p:cNvPr name="TextBox 6" id="6"/>
          <p:cNvSpPr txBox="true"/>
          <p:nvPr/>
        </p:nvSpPr>
        <p:spPr>
          <a:xfrm rot="0">
            <a:off x="2993335" y="4575381"/>
            <a:ext cx="4701863" cy="1542054"/>
          </a:xfrm>
          <a:prstGeom prst="rect">
            <a:avLst/>
          </a:prstGeom>
        </p:spPr>
        <p:txBody>
          <a:bodyPr anchor="t" rtlCol="false" tIns="0" lIns="0" bIns="0" rIns="0">
            <a:spAutoFit/>
          </a:bodyPr>
          <a:lstStyle/>
          <a:p>
            <a:pPr algn="ctr">
              <a:lnSpc>
                <a:spcPts val="2277"/>
              </a:lnSpc>
            </a:pPr>
            <a:r>
              <a:rPr lang="en-US" b="true" sz="1898" spc="7" u="sng">
                <a:solidFill>
                  <a:srgbClr val="C1FF72"/>
                </a:solidFill>
                <a:latin typeface="Raleway Bold"/>
                <a:ea typeface="Raleway Bold"/>
                <a:cs typeface="Raleway Bold"/>
                <a:sym typeface="Raleway Bold"/>
              </a:rPr>
              <a:t>StandarScaler</a:t>
            </a:r>
          </a:p>
          <a:p>
            <a:pPr algn="ctr">
              <a:lnSpc>
                <a:spcPts val="2277"/>
              </a:lnSpc>
              <a:spcBef>
                <a:spcPct val="0"/>
              </a:spcBef>
            </a:pPr>
          </a:p>
          <a:p>
            <a:pPr algn="ctr">
              <a:lnSpc>
                <a:spcPts val="1952"/>
              </a:lnSpc>
              <a:spcBef>
                <a:spcPct val="0"/>
              </a:spcBef>
            </a:pPr>
            <a:r>
              <a:rPr lang="en-US" sz="1627" spc="6">
                <a:solidFill>
                  <a:srgbClr val="FFFFFF"/>
                </a:solidFill>
                <a:latin typeface="Raleway"/>
                <a:ea typeface="Raleway"/>
                <a:cs typeface="Raleway"/>
                <a:sym typeface="Raleway"/>
              </a:rPr>
              <a:t>Numerical features will be processed using StandardScaler to ensure they share a similar range, allowing the model to learn more effectively</a:t>
            </a:r>
          </a:p>
        </p:txBody>
      </p:sp>
      <p:grpSp>
        <p:nvGrpSpPr>
          <p:cNvPr name="Group 7" id="7"/>
          <p:cNvGrpSpPr/>
          <p:nvPr/>
        </p:nvGrpSpPr>
        <p:grpSpPr>
          <a:xfrm rot="0">
            <a:off x="8709993" y="1671955"/>
            <a:ext cx="4701863" cy="5681326"/>
            <a:chOff x="0" y="0"/>
            <a:chExt cx="6014936" cy="7267931"/>
          </a:xfrm>
        </p:grpSpPr>
        <p:sp>
          <p:nvSpPr>
            <p:cNvPr name="Freeform 8" id="8" descr="image.png"/>
            <p:cNvSpPr/>
            <p:nvPr/>
          </p:nvSpPr>
          <p:spPr>
            <a:xfrm flipH="false" flipV="false" rot="0">
              <a:off x="0" y="0"/>
              <a:ext cx="6014974" cy="7267956"/>
            </a:xfrm>
            <a:custGeom>
              <a:avLst/>
              <a:gdLst/>
              <a:ahLst/>
              <a:cxnLst/>
              <a:rect r="r" b="b" t="t" l="l"/>
              <a:pathLst>
                <a:path h="7267956" w="6014974">
                  <a:moveTo>
                    <a:pt x="0" y="0"/>
                  </a:moveTo>
                  <a:lnTo>
                    <a:pt x="6014974" y="0"/>
                  </a:lnTo>
                  <a:lnTo>
                    <a:pt x="6014974" y="7267956"/>
                  </a:lnTo>
                  <a:lnTo>
                    <a:pt x="0" y="7267956"/>
                  </a:lnTo>
                  <a:lnTo>
                    <a:pt x="0" y="0"/>
                  </a:lnTo>
                  <a:close/>
                </a:path>
              </a:pathLst>
            </a:custGeom>
            <a:blipFill>
              <a:blip r:embed="rId3"/>
              <a:stretch>
                <a:fillRect l="0" t="0" r="-62283" b="0"/>
              </a:stretch>
            </a:blipFill>
          </p:spPr>
        </p:sp>
      </p:grpSp>
      <p:sp>
        <p:nvSpPr>
          <p:cNvPr name="TextBox 9" id="9"/>
          <p:cNvSpPr txBox="true"/>
          <p:nvPr/>
        </p:nvSpPr>
        <p:spPr>
          <a:xfrm rot="0">
            <a:off x="8828102" y="4575381"/>
            <a:ext cx="4582614" cy="2265269"/>
          </a:xfrm>
          <a:prstGeom prst="rect">
            <a:avLst/>
          </a:prstGeom>
        </p:spPr>
        <p:txBody>
          <a:bodyPr anchor="t" rtlCol="false" tIns="0" lIns="0" bIns="0" rIns="0">
            <a:spAutoFit/>
          </a:bodyPr>
          <a:lstStyle/>
          <a:p>
            <a:pPr algn="ctr">
              <a:lnSpc>
                <a:spcPts val="2277"/>
              </a:lnSpc>
            </a:pPr>
            <a:r>
              <a:rPr lang="en-US" b="true" sz="1898" spc="7" u="sng">
                <a:solidFill>
                  <a:srgbClr val="C1FF72"/>
                </a:solidFill>
                <a:latin typeface="Raleway Bold"/>
                <a:ea typeface="Raleway Bold"/>
                <a:cs typeface="Raleway Bold"/>
                <a:sym typeface="Raleway Bold"/>
              </a:rPr>
              <a:t>SMOTE</a:t>
            </a:r>
          </a:p>
          <a:p>
            <a:pPr algn="ctr">
              <a:lnSpc>
                <a:spcPts val="2277"/>
              </a:lnSpc>
              <a:spcBef>
                <a:spcPct val="0"/>
              </a:spcBef>
            </a:pPr>
          </a:p>
          <a:p>
            <a:pPr algn="ctr">
              <a:lnSpc>
                <a:spcPts val="1952"/>
              </a:lnSpc>
              <a:spcBef>
                <a:spcPct val="0"/>
              </a:spcBef>
            </a:pPr>
            <a:r>
              <a:rPr lang="en-US" sz="1627" spc="6">
                <a:solidFill>
                  <a:srgbClr val="FFFFFF"/>
                </a:solidFill>
                <a:latin typeface="Raleway"/>
                <a:ea typeface="Raleway"/>
                <a:cs typeface="Raleway"/>
                <a:sym typeface="Raleway"/>
              </a:rPr>
              <a:t>This technique handles imbalanced data by creating new, synthetic data for the minority class. SMOTE helps the model learn to better recognize the characteristics of the minority class, thereby improving detection performance.</a:t>
            </a:r>
          </a:p>
          <a:p>
            <a:pPr algn="ctr">
              <a:lnSpc>
                <a:spcPts val="1952"/>
              </a:lnSpc>
              <a:spcBef>
                <a:spcPct val="0"/>
              </a:spcBef>
            </a:pPr>
          </a:p>
        </p:txBody>
      </p:sp>
      <p:sp>
        <p:nvSpPr>
          <p:cNvPr name="TextBox 10" id="10"/>
          <p:cNvSpPr txBox="true"/>
          <p:nvPr/>
        </p:nvSpPr>
        <p:spPr>
          <a:xfrm rot="0">
            <a:off x="8858014" y="2012239"/>
            <a:ext cx="4405820" cy="1542054"/>
          </a:xfrm>
          <a:prstGeom prst="rect">
            <a:avLst/>
          </a:prstGeom>
        </p:spPr>
        <p:txBody>
          <a:bodyPr anchor="t" rtlCol="false" tIns="0" lIns="0" bIns="0" rIns="0">
            <a:spAutoFit/>
          </a:bodyPr>
          <a:lstStyle/>
          <a:p>
            <a:pPr algn="ctr">
              <a:lnSpc>
                <a:spcPts val="2277"/>
              </a:lnSpc>
            </a:pPr>
            <a:r>
              <a:rPr lang="en-US" b="true" sz="1898" spc="7" u="sng">
                <a:solidFill>
                  <a:srgbClr val="C1FF72"/>
                </a:solidFill>
                <a:latin typeface="Raleway Bold"/>
                <a:ea typeface="Raleway Bold"/>
                <a:cs typeface="Raleway Bold"/>
                <a:sym typeface="Raleway Bold"/>
              </a:rPr>
              <a:t>One Hot Encoding</a:t>
            </a:r>
          </a:p>
          <a:p>
            <a:pPr algn="ctr">
              <a:lnSpc>
                <a:spcPts val="2277"/>
              </a:lnSpc>
              <a:spcBef>
                <a:spcPct val="0"/>
              </a:spcBef>
            </a:pPr>
          </a:p>
          <a:p>
            <a:pPr algn="ctr">
              <a:lnSpc>
                <a:spcPts val="1952"/>
              </a:lnSpc>
              <a:spcBef>
                <a:spcPct val="0"/>
              </a:spcBef>
            </a:pPr>
            <a:r>
              <a:rPr lang="en-US" sz="1627" spc="6">
                <a:solidFill>
                  <a:srgbClr val="FFFFFF"/>
                </a:solidFill>
                <a:latin typeface="Raleway"/>
                <a:ea typeface="Raleway"/>
                <a:cs typeface="Raleway"/>
                <a:sym typeface="Raleway"/>
              </a:rPr>
              <a:t>Categorical features with more than two unique values (e.g., Junior/Medior/Senior, 1/2/3/4) will be encoded using One-Hot Encoding.</a:t>
            </a:r>
          </a:p>
        </p:txBody>
      </p:sp>
      <p:sp>
        <p:nvSpPr>
          <p:cNvPr name="TextBox 11" id="11"/>
          <p:cNvSpPr txBox="true"/>
          <p:nvPr/>
        </p:nvSpPr>
        <p:spPr>
          <a:xfrm rot="0">
            <a:off x="3236208" y="2012239"/>
            <a:ext cx="4216118" cy="2024197"/>
          </a:xfrm>
          <a:prstGeom prst="rect">
            <a:avLst/>
          </a:prstGeom>
        </p:spPr>
        <p:txBody>
          <a:bodyPr anchor="t" rtlCol="false" tIns="0" lIns="0" bIns="0" rIns="0">
            <a:spAutoFit/>
          </a:bodyPr>
          <a:lstStyle/>
          <a:p>
            <a:pPr algn="ctr">
              <a:lnSpc>
                <a:spcPts val="2277"/>
              </a:lnSpc>
            </a:pPr>
            <a:r>
              <a:rPr lang="en-US" b="true" sz="1898" spc="7" u="sng">
                <a:solidFill>
                  <a:srgbClr val="C1FF72"/>
                </a:solidFill>
                <a:latin typeface="Raleway Bold"/>
                <a:ea typeface="Raleway Bold"/>
                <a:cs typeface="Raleway Bold"/>
                <a:sym typeface="Raleway Bold"/>
              </a:rPr>
              <a:t>Ordinal Encoding</a:t>
            </a:r>
          </a:p>
          <a:p>
            <a:pPr algn="ctr">
              <a:lnSpc>
                <a:spcPts val="2277"/>
              </a:lnSpc>
              <a:spcBef>
                <a:spcPct val="0"/>
              </a:spcBef>
            </a:pPr>
          </a:p>
          <a:p>
            <a:pPr algn="ctr">
              <a:lnSpc>
                <a:spcPts val="1952"/>
              </a:lnSpc>
              <a:spcBef>
                <a:spcPct val="0"/>
              </a:spcBef>
            </a:pPr>
            <a:r>
              <a:rPr lang="en-US" sz="1627" spc="6">
                <a:solidFill>
                  <a:srgbClr val="FFFFFF"/>
                </a:solidFill>
                <a:latin typeface="Raleway"/>
                <a:ea typeface="Raleway"/>
                <a:cs typeface="Raleway"/>
                <a:sym typeface="Raleway"/>
              </a:rPr>
              <a:t>Used for categorical features that have a logical order or level. An example is EducationLevel (High School, Diploma/Bachelor, Magister, PhD), where each category is converted to a number representing that order (1, 2, 3, 4).</a:t>
            </a:r>
          </a:p>
        </p:txBody>
      </p:sp>
      <p:sp>
        <p:nvSpPr>
          <p:cNvPr name="TextBox 12" id="12"/>
          <p:cNvSpPr txBox="true"/>
          <p:nvPr/>
        </p:nvSpPr>
        <p:spPr>
          <a:xfrm rot="0">
            <a:off x="10039472" y="7439006"/>
            <a:ext cx="3851818" cy="1162050"/>
          </a:xfrm>
          <a:prstGeom prst="rect">
            <a:avLst/>
          </a:prstGeom>
        </p:spPr>
        <p:txBody>
          <a:bodyPr anchor="t" rtlCol="false" tIns="0" lIns="0" bIns="0" rIns="0">
            <a:spAutoFit/>
          </a:bodyPr>
          <a:lstStyle/>
          <a:p>
            <a:pPr algn="ctr">
              <a:lnSpc>
                <a:spcPts val="4560"/>
              </a:lnSpc>
            </a:pPr>
            <a:r>
              <a:rPr lang="en-US" b="true" sz="3800">
                <a:solidFill>
                  <a:srgbClr val="000000"/>
                </a:solidFill>
                <a:latin typeface="Raleway Bold"/>
                <a:ea typeface="Raleway Bold"/>
                <a:cs typeface="Raleway Bold"/>
                <a:sym typeface="Raleway Bold"/>
              </a:rPr>
              <a:t>Feature </a:t>
            </a:r>
          </a:p>
          <a:p>
            <a:pPr algn="ctr" marL="0" indent="0" lvl="0">
              <a:lnSpc>
                <a:spcPts val="4560"/>
              </a:lnSpc>
              <a:spcBef>
                <a:spcPct val="0"/>
              </a:spcBef>
            </a:pPr>
            <a:r>
              <a:rPr lang="en-US" b="true" sz="3800">
                <a:solidFill>
                  <a:srgbClr val="000000"/>
                </a:solidFill>
                <a:latin typeface="Raleway Bold"/>
                <a:ea typeface="Raleway Bold"/>
                <a:cs typeface="Raleway Bold"/>
                <a:sym typeface="Raleway Bold"/>
              </a:rPr>
              <a:t>Scaling</a:t>
            </a:r>
          </a:p>
        </p:txBody>
      </p:sp>
      <p:sp>
        <p:nvSpPr>
          <p:cNvPr name="TextBox 13" id="13"/>
          <p:cNvSpPr txBox="true"/>
          <p:nvPr/>
        </p:nvSpPr>
        <p:spPr>
          <a:xfrm rot="0">
            <a:off x="588171" y="7439006"/>
            <a:ext cx="3762797" cy="1162050"/>
          </a:xfrm>
          <a:prstGeom prst="rect">
            <a:avLst/>
          </a:prstGeom>
        </p:spPr>
        <p:txBody>
          <a:bodyPr anchor="t" rtlCol="false" tIns="0" lIns="0" bIns="0" rIns="0">
            <a:spAutoFit/>
          </a:bodyPr>
          <a:lstStyle/>
          <a:p>
            <a:pPr algn="ctr">
              <a:lnSpc>
                <a:spcPts val="4560"/>
              </a:lnSpc>
            </a:pPr>
            <a:r>
              <a:rPr lang="en-US" sz="3800" b="true">
                <a:solidFill>
                  <a:srgbClr val="000000"/>
                </a:solidFill>
                <a:latin typeface="Raleway Bold"/>
                <a:ea typeface="Raleway Bold"/>
                <a:cs typeface="Raleway Bold"/>
                <a:sym typeface="Raleway Bold"/>
              </a:rPr>
              <a:t>Fe</a:t>
            </a:r>
            <a:r>
              <a:rPr lang="en-US" b="true" sz="3800">
                <a:solidFill>
                  <a:srgbClr val="000000"/>
                </a:solidFill>
                <a:latin typeface="Raleway Bold"/>
                <a:ea typeface="Raleway Bold"/>
                <a:cs typeface="Raleway Bold"/>
                <a:sym typeface="Raleway Bold"/>
              </a:rPr>
              <a:t>ature</a:t>
            </a:r>
          </a:p>
          <a:p>
            <a:pPr algn="ctr" marL="0" indent="0" lvl="0">
              <a:lnSpc>
                <a:spcPts val="4560"/>
              </a:lnSpc>
              <a:spcBef>
                <a:spcPct val="0"/>
              </a:spcBef>
            </a:pPr>
            <a:r>
              <a:rPr lang="en-US" b="true" sz="3800">
                <a:solidFill>
                  <a:srgbClr val="000000"/>
                </a:solidFill>
                <a:latin typeface="Raleway Bold"/>
                <a:ea typeface="Raleway Bold"/>
                <a:cs typeface="Raleway Bold"/>
                <a:sym typeface="Raleway Bold"/>
              </a:rPr>
              <a:t>Encoding</a:t>
            </a:r>
          </a:p>
        </p:txBody>
      </p:sp>
      <p:sp>
        <p:nvSpPr>
          <p:cNvPr name="TextBox 14" id="14"/>
          <p:cNvSpPr txBox="true"/>
          <p:nvPr/>
        </p:nvSpPr>
        <p:spPr>
          <a:xfrm rot="0">
            <a:off x="13754210" y="7439006"/>
            <a:ext cx="2724188" cy="1162050"/>
          </a:xfrm>
          <a:prstGeom prst="rect">
            <a:avLst/>
          </a:prstGeom>
        </p:spPr>
        <p:txBody>
          <a:bodyPr anchor="t" rtlCol="false" tIns="0" lIns="0" bIns="0" rIns="0">
            <a:spAutoFit/>
          </a:bodyPr>
          <a:lstStyle/>
          <a:p>
            <a:pPr algn="ctr" marL="0" indent="0" lvl="0">
              <a:lnSpc>
                <a:spcPts val="4560"/>
              </a:lnSpc>
              <a:spcBef>
                <a:spcPct val="0"/>
              </a:spcBef>
            </a:pPr>
            <a:r>
              <a:rPr lang="en-US" b="true" sz="3800">
                <a:solidFill>
                  <a:srgbClr val="000000"/>
                </a:solidFill>
                <a:latin typeface="Raleway Bold"/>
                <a:ea typeface="Raleway Bold"/>
                <a:cs typeface="Raleway Bold"/>
                <a:sym typeface="Raleway Bold"/>
              </a:rPr>
              <a:t>Model Training</a:t>
            </a:r>
          </a:p>
        </p:txBody>
      </p:sp>
      <p:sp>
        <p:nvSpPr>
          <p:cNvPr name="TextBox 15" id="15"/>
          <p:cNvSpPr txBox="true"/>
          <p:nvPr/>
        </p:nvSpPr>
        <p:spPr>
          <a:xfrm rot="0">
            <a:off x="4097261" y="7439006"/>
            <a:ext cx="2991264" cy="1162050"/>
          </a:xfrm>
          <a:prstGeom prst="rect">
            <a:avLst/>
          </a:prstGeom>
        </p:spPr>
        <p:txBody>
          <a:bodyPr anchor="t" rtlCol="false" tIns="0" lIns="0" bIns="0" rIns="0">
            <a:spAutoFit/>
          </a:bodyPr>
          <a:lstStyle/>
          <a:p>
            <a:pPr algn="ctr" marL="0" indent="0" lvl="0">
              <a:lnSpc>
                <a:spcPts val="4560"/>
              </a:lnSpc>
              <a:spcBef>
                <a:spcPct val="0"/>
              </a:spcBef>
            </a:pPr>
            <a:r>
              <a:rPr lang="en-US" b="true" sz="3800">
                <a:solidFill>
                  <a:srgbClr val="000000"/>
                </a:solidFill>
                <a:latin typeface="Raleway Bold"/>
                <a:ea typeface="Raleway Bold"/>
                <a:cs typeface="Raleway Bold"/>
                <a:sym typeface="Raleway Bold"/>
              </a:rPr>
              <a:t>Split D</a:t>
            </a:r>
            <a:r>
              <a:rPr lang="en-US" b="true" sz="3800">
                <a:solidFill>
                  <a:srgbClr val="000000"/>
                </a:solidFill>
                <a:latin typeface="Raleway Bold"/>
                <a:ea typeface="Raleway Bold"/>
                <a:cs typeface="Raleway Bold"/>
                <a:sym typeface="Raleway Bold"/>
              </a:rPr>
              <a:t>ata (70:30)</a:t>
            </a:r>
          </a:p>
        </p:txBody>
      </p:sp>
      <p:sp>
        <p:nvSpPr>
          <p:cNvPr name="TextBox 16" id="16"/>
          <p:cNvSpPr txBox="true"/>
          <p:nvPr/>
        </p:nvSpPr>
        <p:spPr>
          <a:xfrm rot="0">
            <a:off x="6983855" y="7439006"/>
            <a:ext cx="3446270" cy="1162050"/>
          </a:xfrm>
          <a:prstGeom prst="rect">
            <a:avLst/>
          </a:prstGeom>
        </p:spPr>
        <p:txBody>
          <a:bodyPr anchor="t" rtlCol="false" tIns="0" lIns="0" bIns="0" rIns="0">
            <a:spAutoFit/>
          </a:bodyPr>
          <a:lstStyle/>
          <a:p>
            <a:pPr algn="ctr" marL="0" indent="0" lvl="0">
              <a:lnSpc>
                <a:spcPts val="4560"/>
              </a:lnSpc>
              <a:spcBef>
                <a:spcPct val="0"/>
              </a:spcBef>
            </a:pPr>
            <a:r>
              <a:rPr lang="en-US" b="true" sz="3800">
                <a:solidFill>
                  <a:srgbClr val="000000"/>
                </a:solidFill>
                <a:latin typeface="Raleway Bold"/>
                <a:ea typeface="Raleway Bold"/>
                <a:cs typeface="Raleway Bold"/>
                <a:sym typeface="Raleway Bold"/>
              </a:rPr>
              <a:t>D</a:t>
            </a:r>
            <a:r>
              <a:rPr lang="en-US" b="true" sz="3800">
                <a:solidFill>
                  <a:srgbClr val="000000"/>
                </a:solidFill>
                <a:latin typeface="Raleway Bold"/>
                <a:ea typeface="Raleway Bold"/>
                <a:cs typeface="Raleway Bold"/>
                <a:sym typeface="Raleway Bold"/>
              </a:rPr>
              <a:t>ata Balancing</a:t>
            </a:r>
          </a:p>
        </p:txBody>
      </p:sp>
      <p:grpSp>
        <p:nvGrpSpPr>
          <p:cNvPr name="Group 17" id="17"/>
          <p:cNvGrpSpPr/>
          <p:nvPr/>
        </p:nvGrpSpPr>
        <p:grpSpPr>
          <a:xfrm rot="0">
            <a:off x="755022" y="9406694"/>
            <a:ext cx="3431022" cy="256203"/>
            <a:chOff x="0" y="0"/>
            <a:chExt cx="4574696" cy="341605"/>
          </a:xfrm>
        </p:grpSpPr>
        <p:sp>
          <p:nvSpPr>
            <p:cNvPr name="Freeform 18" id="18"/>
            <p:cNvSpPr/>
            <p:nvPr/>
          </p:nvSpPr>
          <p:spPr>
            <a:xfrm flipH="false" flipV="false" rot="0">
              <a:off x="0" y="0"/>
              <a:ext cx="4574631" cy="341630"/>
            </a:xfrm>
            <a:custGeom>
              <a:avLst/>
              <a:gdLst/>
              <a:ahLst/>
              <a:cxnLst/>
              <a:rect r="r" b="b" t="t" l="l"/>
              <a:pathLst>
                <a:path h="341630" w="4574631">
                  <a:moveTo>
                    <a:pt x="4574631" y="341630"/>
                  </a:moveTo>
                  <a:lnTo>
                    <a:pt x="4150412" y="0"/>
                  </a:lnTo>
                  <a:lnTo>
                    <a:pt x="0" y="0"/>
                  </a:lnTo>
                  <a:lnTo>
                    <a:pt x="424381" y="341630"/>
                  </a:lnTo>
                  <a:close/>
                </a:path>
              </a:pathLst>
            </a:custGeom>
            <a:solidFill>
              <a:srgbClr val="FFFFFF"/>
            </a:solidFill>
          </p:spPr>
        </p:sp>
      </p:grpSp>
      <p:grpSp>
        <p:nvGrpSpPr>
          <p:cNvPr name="Group 19" id="19"/>
          <p:cNvGrpSpPr/>
          <p:nvPr/>
        </p:nvGrpSpPr>
        <p:grpSpPr>
          <a:xfrm rot="0">
            <a:off x="754058" y="9689853"/>
            <a:ext cx="3431022" cy="256203"/>
            <a:chOff x="0" y="0"/>
            <a:chExt cx="4574696" cy="341605"/>
          </a:xfrm>
        </p:grpSpPr>
        <p:sp>
          <p:nvSpPr>
            <p:cNvPr name="Freeform 20" id="20"/>
            <p:cNvSpPr/>
            <p:nvPr/>
          </p:nvSpPr>
          <p:spPr>
            <a:xfrm flipH="false" flipV="false" rot="0">
              <a:off x="0" y="0"/>
              <a:ext cx="4574631" cy="341630"/>
            </a:xfrm>
            <a:custGeom>
              <a:avLst/>
              <a:gdLst/>
              <a:ahLst/>
              <a:cxnLst/>
              <a:rect r="r" b="b" t="t" l="l"/>
              <a:pathLst>
                <a:path h="341630" w="4574631">
                  <a:moveTo>
                    <a:pt x="0" y="341630"/>
                  </a:moveTo>
                  <a:lnTo>
                    <a:pt x="424381" y="0"/>
                  </a:lnTo>
                  <a:lnTo>
                    <a:pt x="4574631" y="0"/>
                  </a:lnTo>
                  <a:lnTo>
                    <a:pt x="4150412" y="341630"/>
                  </a:lnTo>
                  <a:close/>
                </a:path>
              </a:pathLst>
            </a:custGeom>
            <a:solidFill>
              <a:srgbClr val="D9D9D9"/>
            </a:solidFill>
          </p:spPr>
        </p:sp>
      </p:grpSp>
      <p:grpSp>
        <p:nvGrpSpPr>
          <p:cNvPr name="Group 21" id="21"/>
          <p:cNvGrpSpPr/>
          <p:nvPr/>
        </p:nvGrpSpPr>
        <p:grpSpPr>
          <a:xfrm rot="0">
            <a:off x="3921456" y="9406694"/>
            <a:ext cx="3431022" cy="256203"/>
            <a:chOff x="0" y="0"/>
            <a:chExt cx="4574696" cy="341605"/>
          </a:xfrm>
        </p:grpSpPr>
        <p:sp>
          <p:nvSpPr>
            <p:cNvPr name="Freeform 22" id="22"/>
            <p:cNvSpPr/>
            <p:nvPr/>
          </p:nvSpPr>
          <p:spPr>
            <a:xfrm flipH="false" flipV="false" rot="0">
              <a:off x="0" y="0"/>
              <a:ext cx="4574631" cy="341630"/>
            </a:xfrm>
            <a:custGeom>
              <a:avLst/>
              <a:gdLst/>
              <a:ahLst/>
              <a:cxnLst/>
              <a:rect r="r" b="b" t="t" l="l"/>
              <a:pathLst>
                <a:path h="341630" w="4574631">
                  <a:moveTo>
                    <a:pt x="4574631" y="341630"/>
                  </a:moveTo>
                  <a:lnTo>
                    <a:pt x="4150412" y="0"/>
                  </a:lnTo>
                  <a:lnTo>
                    <a:pt x="0" y="0"/>
                  </a:lnTo>
                  <a:lnTo>
                    <a:pt x="424381" y="341630"/>
                  </a:lnTo>
                  <a:close/>
                </a:path>
              </a:pathLst>
            </a:custGeom>
            <a:solidFill>
              <a:srgbClr val="FFFFFF"/>
            </a:solidFill>
          </p:spPr>
        </p:sp>
      </p:grpSp>
      <p:grpSp>
        <p:nvGrpSpPr>
          <p:cNvPr name="Group 23" id="23"/>
          <p:cNvGrpSpPr/>
          <p:nvPr/>
        </p:nvGrpSpPr>
        <p:grpSpPr>
          <a:xfrm rot="0">
            <a:off x="3920492" y="9689853"/>
            <a:ext cx="3431022" cy="256203"/>
            <a:chOff x="0" y="0"/>
            <a:chExt cx="4574696" cy="341605"/>
          </a:xfrm>
        </p:grpSpPr>
        <p:sp>
          <p:nvSpPr>
            <p:cNvPr name="Freeform 24" id="24"/>
            <p:cNvSpPr/>
            <p:nvPr/>
          </p:nvSpPr>
          <p:spPr>
            <a:xfrm flipH="false" flipV="false" rot="0">
              <a:off x="0" y="0"/>
              <a:ext cx="4574631" cy="341630"/>
            </a:xfrm>
            <a:custGeom>
              <a:avLst/>
              <a:gdLst/>
              <a:ahLst/>
              <a:cxnLst/>
              <a:rect r="r" b="b" t="t" l="l"/>
              <a:pathLst>
                <a:path h="341630" w="4574631">
                  <a:moveTo>
                    <a:pt x="0" y="341630"/>
                  </a:moveTo>
                  <a:lnTo>
                    <a:pt x="424381" y="0"/>
                  </a:lnTo>
                  <a:lnTo>
                    <a:pt x="4574631" y="0"/>
                  </a:lnTo>
                  <a:lnTo>
                    <a:pt x="4150412" y="341630"/>
                  </a:lnTo>
                  <a:close/>
                </a:path>
              </a:pathLst>
            </a:custGeom>
            <a:solidFill>
              <a:srgbClr val="D9D9D9"/>
            </a:solidFill>
          </p:spPr>
        </p:sp>
      </p:grpSp>
      <p:grpSp>
        <p:nvGrpSpPr>
          <p:cNvPr name="Group 25" id="25"/>
          <p:cNvGrpSpPr/>
          <p:nvPr/>
        </p:nvGrpSpPr>
        <p:grpSpPr>
          <a:xfrm rot="0">
            <a:off x="7089489" y="9406694"/>
            <a:ext cx="3431022" cy="256203"/>
            <a:chOff x="0" y="0"/>
            <a:chExt cx="4574696" cy="341605"/>
          </a:xfrm>
        </p:grpSpPr>
        <p:sp>
          <p:nvSpPr>
            <p:cNvPr name="Freeform 26" id="26"/>
            <p:cNvSpPr/>
            <p:nvPr/>
          </p:nvSpPr>
          <p:spPr>
            <a:xfrm flipH="false" flipV="false" rot="0">
              <a:off x="0" y="0"/>
              <a:ext cx="4574631" cy="341630"/>
            </a:xfrm>
            <a:custGeom>
              <a:avLst/>
              <a:gdLst/>
              <a:ahLst/>
              <a:cxnLst/>
              <a:rect r="r" b="b" t="t" l="l"/>
              <a:pathLst>
                <a:path h="341630" w="4574631">
                  <a:moveTo>
                    <a:pt x="4574631" y="341630"/>
                  </a:moveTo>
                  <a:lnTo>
                    <a:pt x="4150412" y="0"/>
                  </a:lnTo>
                  <a:lnTo>
                    <a:pt x="0" y="0"/>
                  </a:lnTo>
                  <a:lnTo>
                    <a:pt x="424381" y="341630"/>
                  </a:lnTo>
                  <a:close/>
                </a:path>
              </a:pathLst>
            </a:custGeom>
            <a:solidFill>
              <a:srgbClr val="FFFFFF"/>
            </a:solidFill>
          </p:spPr>
        </p:sp>
      </p:grpSp>
      <p:grpSp>
        <p:nvGrpSpPr>
          <p:cNvPr name="Group 27" id="27"/>
          <p:cNvGrpSpPr/>
          <p:nvPr/>
        </p:nvGrpSpPr>
        <p:grpSpPr>
          <a:xfrm rot="0">
            <a:off x="7088525" y="9689853"/>
            <a:ext cx="3431022" cy="256203"/>
            <a:chOff x="0" y="0"/>
            <a:chExt cx="4574696" cy="341605"/>
          </a:xfrm>
        </p:grpSpPr>
        <p:sp>
          <p:nvSpPr>
            <p:cNvPr name="Freeform 28" id="28"/>
            <p:cNvSpPr/>
            <p:nvPr/>
          </p:nvSpPr>
          <p:spPr>
            <a:xfrm flipH="false" flipV="false" rot="0">
              <a:off x="0" y="0"/>
              <a:ext cx="4574631" cy="341630"/>
            </a:xfrm>
            <a:custGeom>
              <a:avLst/>
              <a:gdLst/>
              <a:ahLst/>
              <a:cxnLst/>
              <a:rect r="r" b="b" t="t" l="l"/>
              <a:pathLst>
                <a:path h="341630" w="4574631">
                  <a:moveTo>
                    <a:pt x="0" y="341630"/>
                  </a:moveTo>
                  <a:lnTo>
                    <a:pt x="424381" y="0"/>
                  </a:lnTo>
                  <a:lnTo>
                    <a:pt x="4574631" y="0"/>
                  </a:lnTo>
                  <a:lnTo>
                    <a:pt x="4150412" y="341630"/>
                  </a:lnTo>
                  <a:close/>
                </a:path>
              </a:pathLst>
            </a:custGeom>
            <a:solidFill>
              <a:srgbClr val="D9D9D9"/>
            </a:solidFill>
          </p:spPr>
        </p:sp>
      </p:grpSp>
      <p:grpSp>
        <p:nvGrpSpPr>
          <p:cNvPr name="Group 29" id="29"/>
          <p:cNvGrpSpPr/>
          <p:nvPr/>
        </p:nvGrpSpPr>
        <p:grpSpPr>
          <a:xfrm rot="0">
            <a:off x="10249870" y="9406694"/>
            <a:ext cx="3431022" cy="256203"/>
            <a:chOff x="0" y="0"/>
            <a:chExt cx="4574696" cy="341605"/>
          </a:xfrm>
        </p:grpSpPr>
        <p:sp>
          <p:nvSpPr>
            <p:cNvPr name="Freeform 30" id="30"/>
            <p:cNvSpPr/>
            <p:nvPr/>
          </p:nvSpPr>
          <p:spPr>
            <a:xfrm flipH="false" flipV="false" rot="0">
              <a:off x="0" y="0"/>
              <a:ext cx="4574631" cy="341630"/>
            </a:xfrm>
            <a:custGeom>
              <a:avLst/>
              <a:gdLst/>
              <a:ahLst/>
              <a:cxnLst/>
              <a:rect r="r" b="b" t="t" l="l"/>
              <a:pathLst>
                <a:path h="341630" w="4574631">
                  <a:moveTo>
                    <a:pt x="4574631" y="341630"/>
                  </a:moveTo>
                  <a:lnTo>
                    <a:pt x="4150412" y="0"/>
                  </a:lnTo>
                  <a:lnTo>
                    <a:pt x="0" y="0"/>
                  </a:lnTo>
                  <a:lnTo>
                    <a:pt x="424381" y="341630"/>
                  </a:lnTo>
                  <a:close/>
                </a:path>
              </a:pathLst>
            </a:custGeom>
            <a:solidFill>
              <a:srgbClr val="4E5567"/>
            </a:solidFill>
          </p:spPr>
        </p:sp>
      </p:grpSp>
      <p:grpSp>
        <p:nvGrpSpPr>
          <p:cNvPr name="Group 31" id="31"/>
          <p:cNvGrpSpPr/>
          <p:nvPr/>
        </p:nvGrpSpPr>
        <p:grpSpPr>
          <a:xfrm rot="0">
            <a:off x="10248906" y="9689853"/>
            <a:ext cx="3431022" cy="256203"/>
            <a:chOff x="0" y="0"/>
            <a:chExt cx="4574696" cy="341605"/>
          </a:xfrm>
        </p:grpSpPr>
        <p:sp>
          <p:nvSpPr>
            <p:cNvPr name="Freeform 32" id="32"/>
            <p:cNvSpPr/>
            <p:nvPr/>
          </p:nvSpPr>
          <p:spPr>
            <a:xfrm flipH="false" flipV="false" rot="0">
              <a:off x="0" y="0"/>
              <a:ext cx="4574631" cy="341630"/>
            </a:xfrm>
            <a:custGeom>
              <a:avLst/>
              <a:gdLst/>
              <a:ahLst/>
              <a:cxnLst/>
              <a:rect r="r" b="b" t="t" l="l"/>
              <a:pathLst>
                <a:path h="341630" w="4574631">
                  <a:moveTo>
                    <a:pt x="0" y="341630"/>
                  </a:moveTo>
                  <a:lnTo>
                    <a:pt x="424381" y="0"/>
                  </a:lnTo>
                  <a:lnTo>
                    <a:pt x="4574631" y="0"/>
                  </a:lnTo>
                  <a:lnTo>
                    <a:pt x="4150412" y="341630"/>
                  </a:lnTo>
                  <a:close/>
                </a:path>
              </a:pathLst>
            </a:custGeom>
            <a:solidFill>
              <a:srgbClr val="4E5567"/>
            </a:solidFill>
          </p:spPr>
        </p:sp>
      </p:grpSp>
      <p:grpSp>
        <p:nvGrpSpPr>
          <p:cNvPr name="Group 33" id="33"/>
          <p:cNvGrpSpPr/>
          <p:nvPr/>
        </p:nvGrpSpPr>
        <p:grpSpPr>
          <a:xfrm rot="0">
            <a:off x="13400793" y="9406694"/>
            <a:ext cx="3431022" cy="256203"/>
            <a:chOff x="0" y="0"/>
            <a:chExt cx="4574696" cy="341605"/>
          </a:xfrm>
        </p:grpSpPr>
        <p:sp>
          <p:nvSpPr>
            <p:cNvPr name="Freeform 34" id="34"/>
            <p:cNvSpPr/>
            <p:nvPr/>
          </p:nvSpPr>
          <p:spPr>
            <a:xfrm flipH="false" flipV="false" rot="0">
              <a:off x="0" y="0"/>
              <a:ext cx="4574631" cy="341630"/>
            </a:xfrm>
            <a:custGeom>
              <a:avLst/>
              <a:gdLst/>
              <a:ahLst/>
              <a:cxnLst/>
              <a:rect r="r" b="b" t="t" l="l"/>
              <a:pathLst>
                <a:path h="341630" w="4574631">
                  <a:moveTo>
                    <a:pt x="4574631" y="341630"/>
                  </a:moveTo>
                  <a:lnTo>
                    <a:pt x="4150412" y="0"/>
                  </a:lnTo>
                  <a:lnTo>
                    <a:pt x="0" y="0"/>
                  </a:lnTo>
                  <a:lnTo>
                    <a:pt x="424381" y="341630"/>
                  </a:lnTo>
                  <a:close/>
                </a:path>
              </a:pathLst>
            </a:custGeom>
            <a:solidFill>
              <a:srgbClr val="4E5567"/>
            </a:solidFill>
          </p:spPr>
        </p:sp>
      </p:grpSp>
      <p:grpSp>
        <p:nvGrpSpPr>
          <p:cNvPr name="Group 35" id="35"/>
          <p:cNvGrpSpPr/>
          <p:nvPr/>
        </p:nvGrpSpPr>
        <p:grpSpPr>
          <a:xfrm rot="0">
            <a:off x="13399829" y="9689853"/>
            <a:ext cx="3431022" cy="256203"/>
            <a:chOff x="0" y="0"/>
            <a:chExt cx="4574696" cy="341605"/>
          </a:xfrm>
        </p:grpSpPr>
        <p:sp>
          <p:nvSpPr>
            <p:cNvPr name="Freeform 36" id="36"/>
            <p:cNvSpPr/>
            <p:nvPr/>
          </p:nvSpPr>
          <p:spPr>
            <a:xfrm flipH="false" flipV="false" rot="0">
              <a:off x="0" y="0"/>
              <a:ext cx="4574631" cy="341630"/>
            </a:xfrm>
            <a:custGeom>
              <a:avLst/>
              <a:gdLst/>
              <a:ahLst/>
              <a:cxnLst/>
              <a:rect r="r" b="b" t="t" l="l"/>
              <a:pathLst>
                <a:path h="341630" w="4574631">
                  <a:moveTo>
                    <a:pt x="0" y="341630"/>
                  </a:moveTo>
                  <a:lnTo>
                    <a:pt x="424381" y="0"/>
                  </a:lnTo>
                  <a:lnTo>
                    <a:pt x="4574631" y="0"/>
                  </a:lnTo>
                  <a:lnTo>
                    <a:pt x="4150412" y="341630"/>
                  </a:lnTo>
                  <a:close/>
                </a:path>
              </a:pathLst>
            </a:custGeom>
            <a:solidFill>
              <a:srgbClr val="4E5567"/>
            </a:solidFill>
          </p:spPr>
        </p:sp>
      </p:grpSp>
      <p:grpSp>
        <p:nvGrpSpPr>
          <p:cNvPr name="Group 37" id="37"/>
          <p:cNvGrpSpPr/>
          <p:nvPr/>
        </p:nvGrpSpPr>
        <p:grpSpPr>
          <a:xfrm rot="0">
            <a:off x="10248906" y="9689853"/>
            <a:ext cx="3431022" cy="256203"/>
            <a:chOff x="0" y="0"/>
            <a:chExt cx="4574696" cy="341605"/>
          </a:xfrm>
        </p:grpSpPr>
        <p:sp>
          <p:nvSpPr>
            <p:cNvPr name="Freeform 38" id="38"/>
            <p:cNvSpPr/>
            <p:nvPr/>
          </p:nvSpPr>
          <p:spPr>
            <a:xfrm flipH="false" flipV="false" rot="0">
              <a:off x="0" y="0"/>
              <a:ext cx="4574631" cy="341630"/>
            </a:xfrm>
            <a:custGeom>
              <a:avLst/>
              <a:gdLst/>
              <a:ahLst/>
              <a:cxnLst/>
              <a:rect r="r" b="b" t="t" l="l"/>
              <a:pathLst>
                <a:path h="341630" w="4574631">
                  <a:moveTo>
                    <a:pt x="0" y="341630"/>
                  </a:moveTo>
                  <a:lnTo>
                    <a:pt x="424381" y="0"/>
                  </a:lnTo>
                  <a:lnTo>
                    <a:pt x="4574631" y="0"/>
                  </a:lnTo>
                  <a:lnTo>
                    <a:pt x="4150412" y="341630"/>
                  </a:lnTo>
                  <a:close/>
                </a:path>
              </a:pathLst>
            </a:custGeom>
            <a:solidFill>
              <a:srgbClr val="D9D9D9"/>
            </a:solidFill>
          </p:spPr>
        </p:sp>
      </p:grpSp>
      <p:grpSp>
        <p:nvGrpSpPr>
          <p:cNvPr name="Group 39" id="39"/>
          <p:cNvGrpSpPr/>
          <p:nvPr/>
        </p:nvGrpSpPr>
        <p:grpSpPr>
          <a:xfrm rot="0">
            <a:off x="10248906" y="9406694"/>
            <a:ext cx="3431022" cy="256203"/>
            <a:chOff x="0" y="0"/>
            <a:chExt cx="4574696" cy="341605"/>
          </a:xfrm>
        </p:grpSpPr>
        <p:sp>
          <p:nvSpPr>
            <p:cNvPr name="Freeform 40" id="40"/>
            <p:cNvSpPr/>
            <p:nvPr/>
          </p:nvSpPr>
          <p:spPr>
            <a:xfrm flipH="false" flipV="false" rot="0">
              <a:off x="0" y="0"/>
              <a:ext cx="4574631" cy="341630"/>
            </a:xfrm>
            <a:custGeom>
              <a:avLst/>
              <a:gdLst/>
              <a:ahLst/>
              <a:cxnLst/>
              <a:rect r="r" b="b" t="t" l="l"/>
              <a:pathLst>
                <a:path h="341630" w="4574631">
                  <a:moveTo>
                    <a:pt x="4574631" y="341630"/>
                  </a:moveTo>
                  <a:lnTo>
                    <a:pt x="4150412" y="0"/>
                  </a:lnTo>
                  <a:lnTo>
                    <a:pt x="0" y="0"/>
                  </a:lnTo>
                  <a:lnTo>
                    <a:pt x="424381" y="341630"/>
                  </a:lnTo>
                  <a:close/>
                </a:path>
              </a:pathLst>
            </a:custGeom>
            <a:solidFill>
              <a:srgbClr val="FFFFFF"/>
            </a:solidFill>
          </p:spPr>
        </p:sp>
      </p:gr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sp>
        <p:nvSpPr>
          <p:cNvPr name="TextBox 3" id="3"/>
          <p:cNvSpPr txBox="true"/>
          <p:nvPr/>
        </p:nvSpPr>
        <p:spPr>
          <a:xfrm rot="0">
            <a:off x="1547027" y="4576762"/>
            <a:ext cx="15193947" cy="1114425"/>
          </a:xfrm>
          <a:prstGeom prst="rect">
            <a:avLst/>
          </a:prstGeom>
        </p:spPr>
        <p:txBody>
          <a:bodyPr anchor="t" rtlCol="false" tIns="0" lIns="0" bIns="0" rIns="0">
            <a:spAutoFit/>
          </a:bodyPr>
          <a:lstStyle/>
          <a:p>
            <a:pPr algn="ctr">
              <a:lnSpc>
                <a:spcPts val="8640"/>
              </a:lnSpc>
            </a:pPr>
            <a:r>
              <a:rPr lang="en-US" b="true" sz="7200">
                <a:solidFill>
                  <a:srgbClr val="000000"/>
                </a:solidFill>
                <a:latin typeface="Raleway Bold"/>
                <a:ea typeface="Raleway Bold"/>
                <a:cs typeface="Raleway Bold"/>
                <a:sym typeface="Raleway Bold"/>
              </a:rPr>
              <a:t>Modeling</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sp>
        <p:nvSpPr>
          <p:cNvPr name="TextBox 3" id="3"/>
          <p:cNvSpPr txBox="true"/>
          <p:nvPr/>
        </p:nvSpPr>
        <p:spPr>
          <a:xfrm rot="0">
            <a:off x="2057058" y="2850744"/>
            <a:ext cx="3087522" cy="517813"/>
          </a:xfrm>
          <a:prstGeom prst="rect">
            <a:avLst/>
          </a:prstGeom>
        </p:spPr>
        <p:txBody>
          <a:bodyPr anchor="t" rtlCol="false" tIns="0" lIns="0" bIns="0" rIns="0">
            <a:spAutoFit/>
          </a:bodyPr>
          <a:lstStyle/>
          <a:p>
            <a:pPr algn="l">
              <a:lnSpc>
                <a:spcPts val="4367"/>
              </a:lnSpc>
            </a:pPr>
            <a:r>
              <a:rPr lang="en-US" b="true" sz="2599">
                <a:solidFill>
                  <a:srgbClr val="1A1A1A"/>
                </a:solidFill>
                <a:latin typeface="Raleway Bold"/>
                <a:ea typeface="Raleway Bold"/>
                <a:cs typeface="Raleway Bold"/>
                <a:sym typeface="Raleway Bold"/>
              </a:rPr>
              <a:t>Logistic Regression</a:t>
            </a:r>
          </a:p>
        </p:txBody>
      </p:sp>
      <p:grpSp>
        <p:nvGrpSpPr>
          <p:cNvPr name="Group 4" id="4"/>
          <p:cNvGrpSpPr/>
          <p:nvPr/>
        </p:nvGrpSpPr>
        <p:grpSpPr>
          <a:xfrm rot="0">
            <a:off x="13338618" y="2915205"/>
            <a:ext cx="3042301" cy="5713772"/>
            <a:chOff x="0" y="0"/>
            <a:chExt cx="801264" cy="1504862"/>
          </a:xfrm>
        </p:grpSpPr>
        <p:sp>
          <p:nvSpPr>
            <p:cNvPr name="Freeform 5" id="5"/>
            <p:cNvSpPr/>
            <p:nvPr/>
          </p:nvSpPr>
          <p:spPr>
            <a:xfrm flipH="false" flipV="false" rot="0">
              <a:off x="0" y="0"/>
              <a:ext cx="801264" cy="1504862"/>
            </a:xfrm>
            <a:custGeom>
              <a:avLst/>
              <a:gdLst/>
              <a:ahLst/>
              <a:cxnLst/>
              <a:rect r="r" b="b" t="t" l="l"/>
              <a:pathLst>
                <a:path h="1504862" w="801264">
                  <a:moveTo>
                    <a:pt x="129783" y="0"/>
                  </a:moveTo>
                  <a:lnTo>
                    <a:pt x="671482" y="0"/>
                  </a:lnTo>
                  <a:cubicBezTo>
                    <a:pt x="743159" y="0"/>
                    <a:pt x="801264" y="58106"/>
                    <a:pt x="801264" y="129783"/>
                  </a:cubicBezTo>
                  <a:lnTo>
                    <a:pt x="801264" y="1375079"/>
                  </a:lnTo>
                  <a:cubicBezTo>
                    <a:pt x="801264" y="1409500"/>
                    <a:pt x="787591" y="1442510"/>
                    <a:pt x="763252" y="1466849"/>
                  </a:cubicBezTo>
                  <a:cubicBezTo>
                    <a:pt x="738913" y="1491188"/>
                    <a:pt x="705902" y="1504862"/>
                    <a:pt x="671482" y="1504862"/>
                  </a:cubicBezTo>
                  <a:lnTo>
                    <a:pt x="129783" y="1504862"/>
                  </a:lnTo>
                  <a:cubicBezTo>
                    <a:pt x="95362" y="1504862"/>
                    <a:pt x="62351" y="1491188"/>
                    <a:pt x="38012" y="1466849"/>
                  </a:cubicBezTo>
                  <a:cubicBezTo>
                    <a:pt x="13673" y="1442510"/>
                    <a:pt x="0" y="1409500"/>
                    <a:pt x="0" y="1375079"/>
                  </a:cubicBezTo>
                  <a:lnTo>
                    <a:pt x="0" y="129783"/>
                  </a:lnTo>
                  <a:cubicBezTo>
                    <a:pt x="0" y="95362"/>
                    <a:pt x="13673" y="62351"/>
                    <a:pt x="38012" y="38012"/>
                  </a:cubicBezTo>
                  <a:cubicBezTo>
                    <a:pt x="62351" y="13673"/>
                    <a:pt x="95362" y="0"/>
                    <a:pt x="129783" y="0"/>
                  </a:cubicBezTo>
                  <a:close/>
                </a:path>
              </a:pathLst>
            </a:custGeom>
            <a:solidFill>
              <a:srgbClr val="A1C7CE"/>
            </a:solidFill>
            <a:ln w="85725" cap="rnd">
              <a:solidFill>
                <a:srgbClr val="505050"/>
              </a:solidFill>
              <a:prstDash val="solid"/>
              <a:round/>
            </a:ln>
          </p:spPr>
        </p:sp>
        <p:sp>
          <p:nvSpPr>
            <p:cNvPr name="TextBox 6" id="6"/>
            <p:cNvSpPr txBox="true"/>
            <p:nvPr/>
          </p:nvSpPr>
          <p:spPr>
            <a:xfrm>
              <a:off x="0" y="-9525"/>
              <a:ext cx="801264" cy="1514387"/>
            </a:xfrm>
            <a:prstGeom prst="rect">
              <a:avLst/>
            </a:prstGeom>
          </p:spPr>
          <p:txBody>
            <a:bodyPr anchor="ctr" rtlCol="false" tIns="50800" lIns="50800" bIns="50800" rIns="50800"/>
            <a:lstStyle/>
            <a:p>
              <a:pPr algn="ctr">
                <a:lnSpc>
                  <a:spcPts val="2491"/>
                </a:lnSpc>
              </a:pPr>
            </a:p>
          </p:txBody>
        </p:sp>
      </p:grpSp>
      <p:sp>
        <p:nvSpPr>
          <p:cNvPr name="TextBox 7" id="7"/>
          <p:cNvSpPr txBox="true"/>
          <p:nvPr/>
        </p:nvSpPr>
        <p:spPr>
          <a:xfrm rot="0">
            <a:off x="13649959" y="3219465"/>
            <a:ext cx="2419619" cy="400116"/>
          </a:xfrm>
          <a:prstGeom prst="rect">
            <a:avLst/>
          </a:prstGeom>
        </p:spPr>
        <p:txBody>
          <a:bodyPr anchor="t" rtlCol="false" tIns="0" lIns="0" bIns="0" rIns="0">
            <a:spAutoFit/>
          </a:bodyPr>
          <a:lstStyle/>
          <a:p>
            <a:pPr algn="ctr" marL="0" indent="0" lvl="0">
              <a:lnSpc>
                <a:spcPts val="3120"/>
              </a:lnSpc>
              <a:spcBef>
                <a:spcPct val="0"/>
              </a:spcBef>
            </a:pPr>
            <a:r>
              <a:rPr lang="en-US" b="true" sz="2600">
                <a:solidFill>
                  <a:srgbClr val="18102B"/>
                </a:solidFill>
                <a:latin typeface="Raleway Bold"/>
                <a:ea typeface="Raleway Bold"/>
                <a:cs typeface="Raleway Bold"/>
                <a:sym typeface="Raleway Bold"/>
              </a:rPr>
              <a:t>Recall</a:t>
            </a:r>
          </a:p>
        </p:txBody>
      </p:sp>
      <p:sp>
        <p:nvSpPr>
          <p:cNvPr name="TextBox 8" id="8"/>
          <p:cNvSpPr txBox="true"/>
          <p:nvPr/>
        </p:nvSpPr>
        <p:spPr>
          <a:xfrm rot="0">
            <a:off x="13649959" y="5050990"/>
            <a:ext cx="2419619" cy="400116"/>
          </a:xfrm>
          <a:prstGeom prst="rect">
            <a:avLst/>
          </a:prstGeom>
        </p:spPr>
        <p:txBody>
          <a:bodyPr anchor="t" rtlCol="false" tIns="0" lIns="0" bIns="0" rIns="0">
            <a:spAutoFit/>
          </a:bodyPr>
          <a:lstStyle/>
          <a:p>
            <a:pPr algn="ctr" marL="0" indent="0" lvl="0">
              <a:lnSpc>
                <a:spcPts val="3120"/>
              </a:lnSpc>
              <a:spcBef>
                <a:spcPct val="0"/>
              </a:spcBef>
            </a:pPr>
            <a:r>
              <a:rPr lang="en-US" b="true" sz="2600">
                <a:solidFill>
                  <a:srgbClr val="18102B"/>
                </a:solidFill>
                <a:latin typeface="Raleway Bold"/>
                <a:ea typeface="Raleway Bold"/>
                <a:cs typeface="Raleway Bold"/>
                <a:sym typeface="Raleway Bold"/>
              </a:rPr>
              <a:t>F1 S</a:t>
            </a:r>
            <a:r>
              <a:rPr lang="en-US" b="true" sz="2600">
                <a:solidFill>
                  <a:srgbClr val="18102B"/>
                </a:solidFill>
                <a:latin typeface="Raleway Bold"/>
                <a:ea typeface="Raleway Bold"/>
                <a:cs typeface="Raleway Bold"/>
                <a:sym typeface="Raleway Bold"/>
              </a:rPr>
              <a:t>core</a:t>
            </a:r>
          </a:p>
        </p:txBody>
      </p:sp>
      <p:sp>
        <p:nvSpPr>
          <p:cNvPr name="TextBox 9" id="9"/>
          <p:cNvSpPr txBox="true"/>
          <p:nvPr/>
        </p:nvSpPr>
        <p:spPr>
          <a:xfrm rot="0">
            <a:off x="13649959" y="6879790"/>
            <a:ext cx="2419619" cy="400116"/>
          </a:xfrm>
          <a:prstGeom prst="rect">
            <a:avLst/>
          </a:prstGeom>
        </p:spPr>
        <p:txBody>
          <a:bodyPr anchor="t" rtlCol="false" tIns="0" lIns="0" bIns="0" rIns="0">
            <a:spAutoFit/>
          </a:bodyPr>
          <a:lstStyle/>
          <a:p>
            <a:pPr algn="ctr" marL="0" indent="0" lvl="0">
              <a:lnSpc>
                <a:spcPts val="3120"/>
              </a:lnSpc>
              <a:spcBef>
                <a:spcPct val="0"/>
              </a:spcBef>
            </a:pPr>
            <a:r>
              <a:rPr lang="en-US" b="true" sz="2600">
                <a:solidFill>
                  <a:srgbClr val="18102B"/>
                </a:solidFill>
                <a:latin typeface="Raleway Bold"/>
                <a:ea typeface="Raleway Bold"/>
                <a:cs typeface="Raleway Bold"/>
                <a:sym typeface="Raleway Bold"/>
              </a:rPr>
              <a:t>ROC AUC</a:t>
            </a:r>
          </a:p>
        </p:txBody>
      </p:sp>
      <p:sp>
        <p:nvSpPr>
          <p:cNvPr name="TextBox 10" id="10"/>
          <p:cNvSpPr txBox="true"/>
          <p:nvPr/>
        </p:nvSpPr>
        <p:spPr>
          <a:xfrm rot="0">
            <a:off x="13649959" y="3603322"/>
            <a:ext cx="2419619" cy="904809"/>
          </a:xfrm>
          <a:prstGeom prst="rect">
            <a:avLst/>
          </a:prstGeom>
        </p:spPr>
        <p:txBody>
          <a:bodyPr anchor="t" rtlCol="false" tIns="0" lIns="0" bIns="0" rIns="0">
            <a:spAutoFit/>
          </a:bodyPr>
          <a:lstStyle/>
          <a:p>
            <a:pPr algn="ctr" marL="0" indent="0" lvl="0">
              <a:lnSpc>
                <a:spcPts val="7080"/>
              </a:lnSpc>
              <a:spcBef>
                <a:spcPct val="0"/>
              </a:spcBef>
            </a:pPr>
            <a:r>
              <a:rPr lang="en-US" sz="5900">
                <a:solidFill>
                  <a:srgbClr val="18102B"/>
                </a:solidFill>
                <a:latin typeface="Raleway"/>
                <a:ea typeface="Raleway"/>
                <a:cs typeface="Raleway"/>
                <a:sym typeface="Raleway"/>
              </a:rPr>
              <a:t>78.6</a:t>
            </a:r>
            <a:r>
              <a:rPr lang="en-US" sz="5900">
                <a:solidFill>
                  <a:srgbClr val="18102B"/>
                </a:solidFill>
                <a:latin typeface="Raleway"/>
                <a:ea typeface="Raleway"/>
                <a:cs typeface="Raleway"/>
                <a:sym typeface="Raleway"/>
              </a:rPr>
              <a:t>%</a:t>
            </a:r>
          </a:p>
        </p:txBody>
      </p:sp>
      <p:sp>
        <p:nvSpPr>
          <p:cNvPr name="TextBox 11" id="11"/>
          <p:cNvSpPr txBox="true"/>
          <p:nvPr/>
        </p:nvSpPr>
        <p:spPr>
          <a:xfrm rot="0">
            <a:off x="13649959" y="5432122"/>
            <a:ext cx="2419619" cy="904809"/>
          </a:xfrm>
          <a:prstGeom prst="rect">
            <a:avLst/>
          </a:prstGeom>
        </p:spPr>
        <p:txBody>
          <a:bodyPr anchor="t" rtlCol="false" tIns="0" lIns="0" bIns="0" rIns="0">
            <a:spAutoFit/>
          </a:bodyPr>
          <a:lstStyle/>
          <a:p>
            <a:pPr algn="ctr" marL="0" indent="0" lvl="0">
              <a:lnSpc>
                <a:spcPts val="7080"/>
              </a:lnSpc>
              <a:spcBef>
                <a:spcPct val="0"/>
              </a:spcBef>
            </a:pPr>
            <a:r>
              <a:rPr lang="en-US" sz="5900">
                <a:solidFill>
                  <a:srgbClr val="18102B"/>
                </a:solidFill>
                <a:latin typeface="Raleway"/>
                <a:ea typeface="Raleway"/>
                <a:cs typeface="Raleway"/>
                <a:sym typeface="Raleway"/>
              </a:rPr>
              <a:t>80.9%</a:t>
            </a:r>
          </a:p>
        </p:txBody>
      </p:sp>
      <p:sp>
        <p:nvSpPr>
          <p:cNvPr name="TextBox 12" id="12"/>
          <p:cNvSpPr txBox="true"/>
          <p:nvPr/>
        </p:nvSpPr>
        <p:spPr>
          <a:xfrm rot="0">
            <a:off x="13649959" y="7260922"/>
            <a:ext cx="2419619" cy="904809"/>
          </a:xfrm>
          <a:prstGeom prst="rect">
            <a:avLst/>
          </a:prstGeom>
        </p:spPr>
        <p:txBody>
          <a:bodyPr anchor="t" rtlCol="false" tIns="0" lIns="0" bIns="0" rIns="0">
            <a:spAutoFit/>
          </a:bodyPr>
          <a:lstStyle/>
          <a:p>
            <a:pPr algn="ctr" marL="0" indent="0" lvl="0">
              <a:lnSpc>
                <a:spcPts val="7080"/>
              </a:lnSpc>
              <a:spcBef>
                <a:spcPct val="0"/>
              </a:spcBef>
            </a:pPr>
            <a:r>
              <a:rPr lang="en-US" sz="5900">
                <a:solidFill>
                  <a:srgbClr val="18102B"/>
                </a:solidFill>
                <a:latin typeface="Raleway"/>
                <a:ea typeface="Raleway"/>
                <a:cs typeface="Raleway"/>
                <a:sym typeface="Raleway"/>
              </a:rPr>
              <a:t>88.3%</a:t>
            </a:r>
          </a:p>
        </p:txBody>
      </p:sp>
      <p:sp>
        <p:nvSpPr>
          <p:cNvPr name="TextBox 13" id="13"/>
          <p:cNvSpPr txBox="true"/>
          <p:nvPr/>
        </p:nvSpPr>
        <p:spPr>
          <a:xfrm rot="0">
            <a:off x="1907081" y="3552534"/>
            <a:ext cx="9520263" cy="4420063"/>
          </a:xfrm>
          <a:prstGeom prst="rect">
            <a:avLst/>
          </a:prstGeom>
        </p:spPr>
        <p:txBody>
          <a:bodyPr anchor="t" rtlCol="false" tIns="0" lIns="0" bIns="0" rIns="0">
            <a:spAutoFit/>
          </a:bodyPr>
          <a:lstStyle/>
          <a:p>
            <a:pPr algn="l" marL="453387" indent="-226693" lvl="1">
              <a:lnSpc>
                <a:spcPts val="2519"/>
              </a:lnSpc>
              <a:buFont typeface="Arial"/>
              <a:buChar char="•"/>
            </a:pPr>
            <a:r>
              <a:rPr lang="en-US" sz="2099">
                <a:solidFill>
                  <a:srgbClr val="000000"/>
                </a:solidFill>
                <a:latin typeface="Raleway"/>
                <a:ea typeface="Raleway"/>
                <a:cs typeface="Raleway"/>
                <a:sym typeface="Raleway"/>
              </a:rPr>
              <a:t>Simple and Fast: This algorithm is very easy to train and allows you to quickly evaluate initial performance without the need for complex tuning.</a:t>
            </a:r>
          </a:p>
          <a:p>
            <a:pPr algn="l">
              <a:lnSpc>
                <a:spcPts val="2519"/>
              </a:lnSpc>
            </a:pPr>
          </a:p>
          <a:p>
            <a:pPr algn="l" marL="453387" indent="-226693" lvl="1">
              <a:lnSpc>
                <a:spcPts val="2519"/>
              </a:lnSpc>
              <a:buFont typeface="Arial"/>
              <a:buChar char="•"/>
            </a:pPr>
            <a:r>
              <a:rPr lang="en-US" sz="2099">
                <a:solidFill>
                  <a:srgbClr val="000000"/>
                </a:solidFill>
                <a:latin typeface="Raleway"/>
                <a:ea typeface="Raleway"/>
                <a:cs typeface="Raleway"/>
                <a:sym typeface="Raleway"/>
              </a:rPr>
              <a:t>Ideal for Simple Linear Trends: Works best when the relationship between features (such as test scores or experience) and selection outcomes is linear. For example, the higher the interview score, the greater the probability of a candidate being hired.</a:t>
            </a:r>
          </a:p>
          <a:p>
            <a:pPr algn="l">
              <a:lnSpc>
                <a:spcPts val="2519"/>
              </a:lnSpc>
            </a:pPr>
          </a:p>
          <a:p>
            <a:pPr algn="l" marL="453387" indent="-226693" lvl="1">
              <a:lnSpc>
                <a:spcPts val="2519"/>
              </a:lnSpc>
              <a:buFont typeface="Arial"/>
              <a:buChar char="•"/>
            </a:pPr>
            <a:r>
              <a:rPr lang="en-US" sz="2099">
                <a:solidFill>
                  <a:srgbClr val="000000"/>
                </a:solidFill>
                <a:latin typeface="Raleway"/>
                <a:ea typeface="Raleway"/>
                <a:cs typeface="Raleway"/>
                <a:sym typeface="Raleway"/>
              </a:rPr>
              <a:t>Stable and Consistent: Its predictions are not easily affected by small changes in the data, making it a fair benchmark for complex models like XGBoost.</a:t>
            </a:r>
          </a:p>
          <a:p>
            <a:pPr algn="l">
              <a:lnSpc>
                <a:spcPts val="2519"/>
              </a:lnSpc>
            </a:pPr>
          </a:p>
          <a:p>
            <a:pPr algn="l" marL="453387" indent="-226693" lvl="1">
              <a:lnSpc>
                <a:spcPts val="2519"/>
              </a:lnSpc>
              <a:buFont typeface="Arial"/>
              <a:buChar char="•"/>
            </a:pPr>
            <a:r>
              <a:rPr lang="en-US" sz="2099">
                <a:solidFill>
                  <a:srgbClr val="000000"/>
                </a:solidFill>
                <a:latin typeface="Raleway"/>
                <a:ea typeface="Raleway"/>
                <a:cs typeface="Raleway"/>
                <a:sym typeface="Raleway"/>
              </a:rPr>
              <a:t>Flexible with Imbalanced Data: Easily configurable to handle imbalanced datasets, a very common condition in real-world recruitment scenarios.</a:t>
            </a:r>
          </a:p>
        </p:txBody>
      </p:sp>
      <p:sp>
        <p:nvSpPr>
          <p:cNvPr name="TextBox 14" id="14"/>
          <p:cNvSpPr txBox="true"/>
          <p:nvPr/>
        </p:nvSpPr>
        <p:spPr>
          <a:xfrm rot="0">
            <a:off x="854691" y="503223"/>
            <a:ext cx="6737768" cy="1062670"/>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Ba</a:t>
            </a:r>
            <a:r>
              <a:rPr lang="en-US" sz="6159">
                <a:solidFill>
                  <a:srgbClr val="18102B"/>
                </a:solidFill>
                <a:latin typeface="Raleway"/>
                <a:ea typeface="Raleway"/>
                <a:cs typeface="Raleway"/>
                <a:sym typeface="Raleway"/>
              </a:rPr>
              <a:t>seline Model</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TextBox 3" id="3"/>
          <p:cNvSpPr txBox="true"/>
          <p:nvPr/>
        </p:nvSpPr>
        <p:spPr>
          <a:xfrm rot="0">
            <a:off x="854691" y="430690"/>
            <a:ext cx="8523750" cy="1062670"/>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Model Experiment</a:t>
            </a:r>
          </a:p>
        </p:txBody>
      </p:sp>
      <p:graphicFrame>
        <p:nvGraphicFramePr>
          <p:cNvPr name="Table 4" id="4"/>
          <p:cNvGraphicFramePr>
            <a:graphicFrameLocks noGrp="true"/>
          </p:cNvGraphicFramePr>
          <p:nvPr/>
        </p:nvGraphicFramePr>
        <p:xfrm>
          <a:off x="854691" y="1705263"/>
          <a:ext cx="16404609" cy="5686425"/>
        </p:xfrm>
        <a:graphic>
          <a:graphicData uri="http://schemas.openxmlformats.org/drawingml/2006/table">
            <a:tbl>
              <a:tblPr/>
              <a:tblGrid>
                <a:gridCol w="2677327"/>
                <a:gridCol w="2677327"/>
                <a:gridCol w="2677327"/>
                <a:gridCol w="2677327"/>
                <a:gridCol w="2847650"/>
                <a:gridCol w="2847650"/>
              </a:tblGrid>
              <a:tr h="516948">
                <a:tc>
                  <a:txBody>
                    <a:bodyPr anchor="t" rtlCol="false"/>
                    <a:lstStyle/>
                    <a:p>
                      <a:pPr algn="ctr">
                        <a:lnSpc>
                          <a:spcPts val="2308"/>
                        </a:lnSpc>
                        <a:defRPr/>
                      </a:pPr>
                      <a:r>
                        <a:rPr lang="en-US" sz="1648">
                          <a:solidFill>
                            <a:srgbClr val="000000"/>
                          </a:solidFill>
                          <a:latin typeface="Raleway"/>
                          <a:ea typeface="Raleway"/>
                          <a:cs typeface="Raleway"/>
                          <a:sym typeface="Raleway"/>
                        </a:rPr>
                        <a:t>Model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Ac</a:t>
                      </a:r>
                      <a:r>
                        <a:rPr lang="en-US" sz="1648">
                          <a:solidFill>
                            <a:srgbClr val="000000"/>
                          </a:solidFill>
                          <a:latin typeface="Raleway"/>
                          <a:ea typeface="Raleway"/>
                          <a:cs typeface="Raleway"/>
                          <a:sym typeface="Raleway"/>
                        </a:rPr>
                        <a:t>curacy</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Precision</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Recall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F1-Score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ROC-AUC</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6948">
                <a:tc>
                  <a:txBody>
                    <a:bodyPr anchor="t" rtlCol="false"/>
                    <a:lstStyle/>
                    <a:p>
                      <a:pPr algn="ctr">
                        <a:lnSpc>
                          <a:spcPts val="2308"/>
                        </a:lnSpc>
                        <a:defRPr/>
                      </a:pPr>
                      <a:r>
                        <a:rPr lang="en-US" sz="1648">
                          <a:solidFill>
                            <a:srgbClr val="000000"/>
                          </a:solidFill>
                          <a:latin typeface="Raleway"/>
                          <a:ea typeface="Raleway"/>
                          <a:cs typeface="Raleway"/>
                          <a:sym typeface="Raleway"/>
                        </a:rPr>
                        <a:t>Random Forest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0.891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0.853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0.786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0.818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0.896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6948">
                <a:tc>
                  <a:txBody>
                    <a:bodyPr anchor="t" rtlCol="false"/>
                    <a:lstStyle/>
                    <a:p>
                      <a:pPr algn="ctr">
                        <a:lnSpc>
                          <a:spcPts val="2308"/>
                        </a:lnSpc>
                        <a:defRPr/>
                      </a:pPr>
                      <a:r>
                        <a:rPr lang="en-US" sz="1648">
                          <a:solidFill>
                            <a:srgbClr val="000000"/>
                          </a:solidFill>
                          <a:latin typeface="Raleway"/>
                          <a:ea typeface="Raleway"/>
                          <a:cs typeface="Raleway"/>
                          <a:sym typeface="Raleway"/>
                        </a:rPr>
                        <a:t>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10.889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14.729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21.429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18.216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10.438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6948">
                <a:tc>
                  <a:txBody>
                    <a:bodyPr anchor="t" rtlCol="false"/>
                    <a:lstStyle/>
                    <a:p>
                      <a:pPr algn="ctr">
                        <a:lnSpc>
                          <a:spcPts val="2308"/>
                        </a:lnSpc>
                        <a:defRPr/>
                      </a:pPr>
                      <a:r>
                        <a:rPr lang="en-US" sz="1648">
                          <a:solidFill>
                            <a:srgbClr val="000000"/>
                          </a:solidFill>
                          <a:latin typeface="Raleway"/>
                          <a:ea typeface="Raleway"/>
                          <a:cs typeface="Raleway"/>
                          <a:sym typeface="Raleway"/>
                        </a:rPr>
                        <a:t>Logistic Regression</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0.884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0.833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0.786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0.809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0.883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6948">
                <a:tc>
                  <a:txBody>
                    <a:bodyPr anchor="t" rtlCol="false"/>
                    <a:lstStyle/>
                    <a:p>
                      <a:pPr algn="ctr">
                        <a:lnSpc>
                          <a:spcPts val="2308"/>
                        </a:lnSpc>
                        <a:defRPr/>
                      </a:pPr>
                      <a:r>
                        <a:rPr lang="en-US" sz="1648">
                          <a:solidFill>
                            <a:srgbClr val="000000"/>
                          </a:solidFill>
                          <a:latin typeface="Raleway"/>
                          <a:ea typeface="Raleway"/>
                          <a:cs typeface="Raleway"/>
                          <a:sym typeface="Raleway"/>
                        </a:rPr>
                        <a:t>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2.496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8.240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11.608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9.989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8.221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6948">
                <a:tc>
                  <a:txBody>
                    <a:bodyPr anchor="t" rtlCol="false"/>
                    <a:lstStyle/>
                    <a:p>
                      <a:pPr algn="ctr">
                        <a:lnSpc>
                          <a:spcPts val="2308"/>
                        </a:lnSpc>
                        <a:defRPr/>
                      </a:pPr>
                      <a:r>
                        <a:rPr lang="en-US" sz="1648">
                          <a:solidFill>
                            <a:srgbClr val="000000"/>
                          </a:solidFill>
                          <a:latin typeface="Raleway"/>
                          <a:ea typeface="Raleway"/>
                          <a:cs typeface="Raleway"/>
                          <a:sym typeface="Raleway"/>
                        </a:rPr>
                        <a:t>XGBoost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0.876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0.839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0.743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0.788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0.887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r>
              <a:tr h="516948">
                <a:tc>
                  <a:txBody>
                    <a:bodyPr anchor="t" rtlCol="false"/>
                    <a:lstStyle/>
                    <a:p>
                      <a:pPr algn="ctr">
                        <a:lnSpc>
                          <a:spcPts val="2308"/>
                        </a:lnSpc>
                        <a:defRPr/>
                      </a:pPr>
                      <a:r>
                        <a:rPr lang="en-US" sz="1648">
                          <a:solidFill>
                            <a:srgbClr val="000000"/>
                          </a:solidFill>
                          <a:latin typeface="Raleway"/>
                          <a:ea typeface="Raleway"/>
                          <a:cs typeface="Raleway"/>
                          <a:sym typeface="Raleway"/>
                        </a:rPr>
                        <a:t>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12.444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16.129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25.714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21.212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11.343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r>
              <a:tr h="516948">
                <a:tc>
                  <a:txBody>
                    <a:bodyPr anchor="t" rtlCol="false"/>
                    <a:lstStyle/>
                    <a:p>
                      <a:pPr algn="ctr">
                        <a:lnSpc>
                          <a:spcPts val="2308"/>
                        </a:lnSpc>
                        <a:defRPr/>
                      </a:pPr>
                      <a:r>
                        <a:rPr lang="en-US" sz="1648">
                          <a:solidFill>
                            <a:srgbClr val="000000"/>
                          </a:solidFill>
                          <a:latin typeface="Raleway"/>
                          <a:ea typeface="Raleway"/>
                          <a:cs typeface="Raleway"/>
                          <a:sym typeface="Raleway"/>
                        </a:rPr>
                        <a:t>Decision Tree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0.836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0.736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0.736</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0.736</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0.808</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r>
              <a:tr h="516948">
                <a:tc>
                  <a:txBody>
                    <a:bodyPr anchor="t" rtlCol="false"/>
                    <a:lstStyle/>
                    <a:p>
                      <a:pPr algn="ctr">
                        <a:lnSpc>
                          <a:spcPts val="2308"/>
                        </a:lnSpc>
                        <a:defRPr/>
                      </a:pPr>
                      <a:r>
                        <a:rPr lang="en-US" sz="1648">
                          <a:solidFill>
                            <a:srgbClr val="000000"/>
                          </a:solidFill>
                          <a:latin typeface="Raleway"/>
                          <a:ea typeface="Raleway"/>
                          <a:cs typeface="Raleway"/>
                          <a:sym typeface="Raleway"/>
                        </a:rPr>
                        <a:t>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16.444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26.429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26.429</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26.429</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19.182</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r>
              <a:tr h="516948">
                <a:tc>
                  <a:txBody>
                    <a:bodyPr anchor="t" rtlCol="false"/>
                    <a:lstStyle/>
                    <a:p>
                      <a:pPr algn="ctr">
                        <a:lnSpc>
                          <a:spcPts val="2308"/>
                        </a:lnSpc>
                        <a:defRPr/>
                      </a:pPr>
                      <a:r>
                        <a:rPr lang="en-US" sz="1648">
                          <a:solidFill>
                            <a:srgbClr val="000000"/>
                          </a:solidFill>
                          <a:latin typeface="Raleway"/>
                          <a:ea typeface="Raleway"/>
                          <a:cs typeface="Raleway"/>
                          <a:sym typeface="Raleway"/>
                        </a:rPr>
                        <a:t>K-Neighbors</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0.602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0.400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0.557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0.466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0.624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6948">
                <a:tc>
                  <a:txBody>
                    <a:bodyPr anchor="t" rtlCol="false"/>
                    <a:lstStyle/>
                    <a:p>
                      <a:pPr algn="ctr">
                        <a:lnSpc>
                          <a:spcPts val="2308"/>
                        </a:lnSpc>
                        <a:defRPr/>
                      </a:pPr>
                      <a:r>
                        <a:rPr lang="en-US" sz="1648">
                          <a:solidFill>
                            <a:srgbClr val="000000"/>
                          </a:solidFill>
                          <a:latin typeface="Raleway"/>
                          <a:ea typeface="Raleway"/>
                          <a:cs typeface="Raleway"/>
                          <a:sym typeface="Raleway"/>
                        </a:rPr>
                        <a:t>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22.281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37.262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36.402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37.471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29.496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bl>
          </a:graphicData>
        </a:graphic>
      </p:graphicFrame>
      <p:grpSp>
        <p:nvGrpSpPr>
          <p:cNvPr name="Group 5" id="5"/>
          <p:cNvGrpSpPr/>
          <p:nvPr/>
        </p:nvGrpSpPr>
        <p:grpSpPr>
          <a:xfrm rot="0">
            <a:off x="854691" y="7429788"/>
            <a:ext cx="16404609" cy="2650117"/>
            <a:chOff x="0" y="0"/>
            <a:chExt cx="4472710" cy="722553"/>
          </a:xfrm>
        </p:grpSpPr>
        <p:sp>
          <p:nvSpPr>
            <p:cNvPr name="Freeform 6" id="6"/>
            <p:cNvSpPr/>
            <p:nvPr/>
          </p:nvSpPr>
          <p:spPr>
            <a:xfrm flipH="false" flipV="false" rot="0">
              <a:off x="0" y="0"/>
              <a:ext cx="4472710" cy="722553"/>
            </a:xfrm>
            <a:custGeom>
              <a:avLst/>
              <a:gdLst/>
              <a:ahLst/>
              <a:cxnLst/>
              <a:rect r="r" b="b" t="t" l="l"/>
              <a:pathLst>
                <a:path h="722553" w="4472710">
                  <a:moveTo>
                    <a:pt x="23597" y="0"/>
                  </a:moveTo>
                  <a:lnTo>
                    <a:pt x="4449113" y="0"/>
                  </a:lnTo>
                  <a:cubicBezTo>
                    <a:pt x="4455371" y="0"/>
                    <a:pt x="4461373" y="2486"/>
                    <a:pt x="4465799" y="6911"/>
                  </a:cubicBezTo>
                  <a:cubicBezTo>
                    <a:pt x="4470224" y="11337"/>
                    <a:pt x="4472710" y="17339"/>
                    <a:pt x="4472710" y="23597"/>
                  </a:cubicBezTo>
                  <a:lnTo>
                    <a:pt x="4472710" y="698957"/>
                  </a:lnTo>
                  <a:cubicBezTo>
                    <a:pt x="4472710" y="711989"/>
                    <a:pt x="4462145" y="722553"/>
                    <a:pt x="4449113" y="722553"/>
                  </a:cubicBezTo>
                  <a:lnTo>
                    <a:pt x="23597" y="722553"/>
                  </a:lnTo>
                  <a:cubicBezTo>
                    <a:pt x="10565" y="722553"/>
                    <a:pt x="0" y="711989"/>
                    <a:pt x="0" y="698957"/>
                  </a:cubicBezTo>
                  <a:lnTo>
                    <a:pt x="0" y="23597"/>
                  </a:lnTo>
                  <a:cubicBezTo>
                    <a:pt x="0" y="10565"/>
                    <a:pt x="10565" y="0"/>
                    <a:pt x="23597" y="0"/>
                  </a:cubicBezTo>
                  <a:close/>
                </a:path>
              </a:pathLst>
            </a:custGeom>
            <a:solidFill>
              <a:srgbClr val="A1C7CE"/>
            </a:solidFill>
          </p:spPr>
        </p:sp>
        <p:sp>
          <p:nvSpPr>
            <p:cNvPr name="TextBox 7" id="7"/>
            <p:cNvSpPr txBox="true"/>
            <p:nvPr/>
          </p:nvSpPr>
          <p:spPr>
            <a:xfrm>
              <a:off x="0" y="-19050"/>
              <a:ext cx="4472710" cy="741603"/>
            </a:xfrm>
            <a:prstGeom prst="rect">
              <a:avLst/>
            </a:prstGeom>
          </p:spPr>
          <p:txBody>
            <a:bodyPr anchor="ctr" rtlCol="false" tIns="49361" lIns="49361" bIns="49361" rIns="49361"/>
            <a:lstStyle/>
            <a:p>
              <a:pPr algn="l">
                <a:lnSpc>
                  <a:spcPts val="2520"/>
                </a:lnSpc>
              </a:pPr>
              <a:r>
                <a:rPr lang="en-US" sz="2100" spc="8">
                  <a:solidFill>
                    <a:srgbClr val="000000"/>
                  </a:solidFill>
                  <a:latin typeface="Raleway"/>
                  <a:ea typeface="Raleway"/>
                  <a:cs typeface="Raleway"/>
                  <a:sym typeface="Raleway"/>
                </a:rPr>
                <a:t>Here are the best-performing models compared to the baseline model:</a:t>
              </a:r>
            </a:p>
            <a:p>
              <a:pPr algn="l">
                <a:lnSpc>
                  <a:spcPts val="2520"/>
                </a:lnSpc>
              </a:pPr>
            </a:p>
            <a:p>
              <a:pPr algn="l" marL="453390" indent="-226695" lvl="1">
                <a:lnSpc>
                  <a:spcPts val="2520"/>
                </a:lnSpc>
                <a:buFont typeface="Arial"/>
                <a:buChar char="•"/>
              </a:pPr>
              <a:r>
                <a:rPr lang="en-US" sz="2100" spc="8">
                  <a:solidFill>
                    <a:srgbClr val="000000"/>
                  </a:solidFill>
                  <a:latin typeface="Raleway"/>
                  <a:ea typeface="Raleway"/>
                  <a:cs typeface="Raleway"/>
                  <a:sym typeface="Raleway"/>
                </a:rPr>
                <a:t>Random Forest</a:t>
              </a:r>
            </a:p>
            <a:p>
              <a:pPr algn="l" marL="453390" indent="-226695" lvl="1">
                <a:lnSpc>
                  <a:spcPts val="2520"/>
                </a:lnSpc>
                <a:buFont typeface="Arial"/>
                <a:buChar char="•"/>
              </a:pPr>
              <a:r>
                <a:rPr lang="en-US" sz="2100" spc="8">
                  <a:solidFill>
                    <a:srgbClr val="000000"/>
                  </a:solidFill>
                  <a:latin typeface="Raleway"/>
                  <a:ea typeface="Raleway"/>
                  <a:cs typeface="Raleway"/>
                  <a:sym typeface="Raleway"/>
                </a:rPr>
                <a:t>XGBoost</a:t>
              </a:r>
            </a:p>
            <a:p>
              <a:pPr algn="l" marL="453390" indent="-226695" lvl="1">
                <a:lnSpc>
                  <a:spcPts val="2520"/>
                </a:lnSpc>
                <a:buFont typeface="Arial"/>
                <a:buChar char="•"/>
              </a:pPr>
              <a:r>
                <a:rPr lang="en-US" sz="2100" spc="8">
                  <a:solidFill>
                    <a:srgbClr val="000000"/>
                  </a:solidFill>
                  <a:latin typeface="Raleway"/>
                  <a:ea typeface="Raleway"/>
                  <a:cs typeface="Raleway"/>
                  <a:sym typeface="Raleway"/>
                </a:rPr>
                <a:t>Decision Tree</a:t>
              </a:r>
            </a:p>
            <a:p>
              <a:pPr algn="l" marL="453390" indent="-226695" lvl="1">
                <a:lnSpc>
                  <a:spcPts val="2520"/>
                </a:lnSpc>
                <a:buFont typeface="Arial"/>
                <a:buChar char="•"/>
              </a:pPr>
              <a:r>
                <a:rPr lang="en-US" sz="2100" spc="8">
                  <a:solidFill>
                    <a:srgbClr val="000000"/>
                  </a:solidFill>
                  <a:latin typeface="Raleway"/>
                  <a:ea typeface="Raleway"/>
                  <a:cs typeface="Raleway"/>
                  <a:sym typeface="Raleway"/>
                </a:rPr>
                <a:t>K-Neighbors</a:t>
              </a:r>
            </a:p>
            <a:p>
              <a:pPr algn="l">
                <a:lnSpc>
                  <a:spcPts val="2520"/>
                </a:lnSpc>
              </a:pPr>
            </a:p>
          </p:txBody>
        </p:sp>
      </p:gr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aphicFrame>
        <p:nvGraphicFramePr>
          <p:cNvPr name="Table 3" id="3"/>
          <p:cNvGraphicFramePr>
            <a:graphicFrameLocks noGrp="true"/>
          </p:cNvGraphicFramePr>
          <p:nvPr/>
        </p:nvGraphicFramePr>
        <p:xfrm>
          <a:off x="854691" y="2985423"/>
          <a:ext cx="16404609" cy="3114675"/>
        </p:xfrm>
        <a:graphic>
          <a:graphicData uri="http://schemas.openxmlformats.org/drawingml/2006/table">
            <a:tbl>
              <a:tblPr/>
              <a:tblGrid>
                <a:gridCol w="2677327"/>
                <a:gridCol w="2677327"/>
                <a:gridCol w="2677327"/>
                <a:gridCol w="2677327"/>
                <a:gridCol w="2847650"/>
                <a:gridCol w="2847650"/>
              </a:tblGrid>
              <a:tr h="519112">
                <a:tc>
                  <a:txBody>
                    <a:bodyPr anchor="t" rtlCol="false"/>
                    <a:lstStyle/>
                    <a:p>
                      <a:pPr algn="ctr">
                        <a:lnSpc>
                          <a:spcPts val="2308"/>
                        </a:lnSpc>
                        <a:defRPr/>
                      </a:pPr>
                      <a:r>
                        <a:rPr lang="en-US" sz="1648">
                          <a:solidFill>
                            <a:srgbClr val="000000"/>
                          </a:solidFill>
                          <a:latin typeface="Raleway"/>
                          <a:ea typeface="Raleway"/>
                          <a:cs typeface="Raleway"/>
                          <a:sym typeface="Raleway"/>
                        </a:rPr>
                        <a:t>Model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Accu</a:t>
                      </a:r>
                      <a:r>
                        <a:rPr lang="en-US" sz="1648">
                          <a:solidFill>
                            <a:srgbClr val="000000"/>
                          </a:solidFill>
                          <a:latin typeface="Raleway"/>
                          <a:ea typeface="Raleway"/>
                          <a:cs typeface="Raleway"/>
                          <a:sym typeface="Raleway"/>
                        </a:rPr>
                        <a:t>racy</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Pr</a:t>
                      </a:r>
                      <a:r>
                        <a:rPr lang="en-US" sz="1648">
                          <a:solidFill>
                            <a:srgbClr val="000000"/>
                          </a:solidFill>
                          <a:latin typeface="Raleway"/>
                          <a:ea typeface="Raleway"/>
                          <a:cs typeface="Raleway"/>
                          <a:sym typeface="Raleway"/>
                        </a:rPr>
                        <a:t>ecision</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R</a:t>
                      </a:r>
                      <a:r>
                        <a:rPr lang="en-US" sz="1648">
                          <a:solidFill>
                            <a:srgbClr val="000000"/>
                          </a:solidFill>
                          <a:latin typeface="Raleway"/>
                          <a:ea typeface="Raleway"/>
                          <a:cs typeface="Raleway"/>
                          <a:sym typeface="Raleway"/>
                        </a:rPr>
                        <a:t>ecall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F1-Score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ROC-AUC</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XGBoost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0.902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0.858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0.821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0.839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0.897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Random Forest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0.873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0.786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0.814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0.882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Decision Tree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D9D9D9"/>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0.864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D9D9D9"/>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0.780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D9D9D9"/>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0.786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solidFill>
                      <a:srgbClr val="D9D9D9"/>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0.783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solidFill>
                      <a:srgbClr val="D9D9D9"/>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0.883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solidFill>
                      <a:srgbClr val="D9D9D9"/>
                    </a:solidFill>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Logistic Regression</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0.862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0.805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0.736</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0.769</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0.873</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K-Neighbors</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0.613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0.411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0.564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0.476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0.639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bl>
          </a:graphicData>
        </a:graphic>
      </p:graphicFrame>
      <p:grpSp>
        <p:nvGrpSpPr>
          <p:cNvPr name="Group 4" id="4"/>
          <p:cNvGrpSpPr/>
          <p:nvPr/>
        </p:nvGrpSpPr>
        <p:grpSpPr>
          <a:xfrm rot="0">
            <a:off x="854691" y="7119955"/>
            <a:ext cx="16404609" cy="3167045"/>
            <a:chOff x="0" y="0"/>
            <a:chExt cx="4472710" cy="863494"/>
          </a:xfrm>
        </p:grpSpPr>
        <p:sp>
          <p:nvSpPr>
            <p:cNvPr name="Freeform 5" id="5"/>
            <p:cNvSpPr/>
            <p:nvPr/>
          </p:nvSpPr>
          <p:spPr>
            <a:xfrm flipH="false" flipV="false" rot="0">
              <a:off x="0" y="0"/>
              <a:ext cx="4472710" cy="863494"/>
            </a:xfrm>
            <a:custGeom>
              <a:avLst/>
              <a:gdLst/>
              <a:ahLst/>
              <a:cxnLst/>
              <a:rect r="r" b="b" t="t" l="l"/>
              <a:pathLst>
                <a:path h="863494" w="4472710">
                  <a:moveTo>
                    <a:pt x="23597" y="0"/>
                  </a:moveTo>
                  <a:lnTo>
                    <a:pt x="4449113" y="0"/>
                  </a:lnTo>
                  <a:cubicBezTo>
                    <a:pt x="4455371" y="0"/>
                    <a:pt x="4461373" y="2486"/>
                    <a:pt x="4465799" y="6911"/>
                  </a:cubicBezTo>
                  <a:cubicBezTo>
                    <a:pt x="4470224" y="11337"/>
                    <a:pt x="4472710" y="17339"/>
                    <a:pt x="4472710" y="23597"/>
                  </a:cubicBezTo>
                  <a:lnTo>
                    <a:pt x="4472710" y="839897"/>
                  </a:lnTo>
                  <a:cubicBezTo>
                    <a:pt x="4472710" y="852929"/>
                    <a:pt x="4462145" y="863494"/>
                    <a:pt x="4449113" y="863494"/>
                  </a:cubicBezTo>
                  <a:lnTo>
                    <a:pt x="23597" y="863494"/>
                  </a:lnTo>
                  <a:cubicBezTo>
                    <a:pt x="10565" y="863494"/>
                    <a:pt x="0" y="852929"/>
                    <a:pt x="0" y="839897"/>
                  </a:cubicBezTo>
                  <a:lnTo>
                    <a:pt x="0" y="23597"/>
                  </a:lnTo>
                  <a:cubicBezTo>
                    <a:pt x="0" y="10565"/>
                    <a:pt x="10565" y="0"/>
                    <a:pt x="23597" y="0"/>
                  </a:cubicBezTo>
                  <a:close/>
                </a:path>
              </a:pathLst>
            </a:custGeom>
            <a:solidFill>
              <a:srgbClr val="A1C7CE"/>
            </a:solidFill>
          </p:spPr>
        </p:sp>
        <p:sp>
          <p:nvSpPr>
            <p:cNvPr name="TextBox 6" id="6"/>
            <p:cNvSpPr txBox="true"/>
            <p:nvPr/>
          </p:nvSpPr>
          <p:spPr>
            <a:xfrm>
              <a:off x="0" y="-19050"/>
              <a:ext cx="4472710" cy="882544"/>
            </a:xfrm>
            <a:prstGeom prst="rect">
              <a:avLst/>
            </a:prstGeom>
          </p:spPr>
          <p:txBody>
            <a:bodyPr anchor="ctr" rtlCol="false" tIns="49361" lIns="49361" bIns="49361" rIns="49361"/>
            <a:lstStyle/>
            <a:p>
              <a:pPr algn="l" marL="453390" indent="-226695" lvl="1">
                <a:lnSpc>
                  <a:spcPts val="2520"/>
                </a:lnSpc>
                <a:buFont typeface="Arial"/>
                <a:buChar char="•"/>
              </a:pPr>
              <a:r>
                <a:rPr lang="en-US" sz="2100" spc="8">
                  <a:solidFill>
                    <a:srgbClr val="000000"/>
                  </a:solidFill>
                  <a:latin typeface="Raleway"/>
                  <a:ea typeface="Raleway"/>
                  <a:cs typeface="Raleway"/>
                  <a:sym typeface="Raleway"/>
                </a:rPr>
                <a:t>Hayperparameter tuning was performed us</a:t>
              </a:r>
              <a:r>
                <a:rPr lang="en-US" sz="2100" spc="8">
                  <a:solidFill>
                    <a:srgbClr val="000000"/>
                  </a:solidFill>
                  <a:latin typeface="Raleway"/>
                  <a:ea typeface="Raleway"/>
                  <a:cs typeface="Raleway"/>
                  <a:sym typeface="Raleway"/>
                </a:rPr>
                <a:t>ing the RandomsearchCV method with cross-validation 5. </a:t>
              </a:r>
            </a:p>
            <a:p>
              <a:pPr algn="l">
                <a:lnSpc>
                  <a:spcPts val="2520"/>
                </a:lnSpc>
              </a:pPr>
            </a:p>
            <a:p>
              <a:pPr algn="l" marL="453390" indent="-226695" lvl="1">
                <a:lnSpc>
                  <a:spcPts val="2520"/>
                </a:lnSpc>
                <a:buFont typeface="Arial"/>
                <a:buChar char="•"/>
              </a:pPr>
              <a:r>
                <a:rPr lang="en-US" sz="2100" spc="8">
                  <a:solidFill>
                    <a:srgbClr val="000000"/>
                  </a:solidFill>
                  <a:latin typeface="Raleway"/>
                  <a:ea typeface="Raleway"/>
                  <a:cs typeface="Raleway"/>
                  <a:sym typeface="Raleway"/>
                </a:rPr>
                <a:t>For complex algorithms like XGBoost or Random Forestcan be time-consuming.</a:t>
              </a:r>
            </a:p>
            <a:p>
              <a:pPr algn="l">
                <a:lnSpc>
                  <a:spcPts val="2520"/>
                </a:lnSpc>
              </a:pPr>
            </a:p>
            <a:p>
              <a:pPr algn="l" marL="453390" indent="-226695" lvl="1">
                <a:lnSpc>
                  <a:spcPts val="2520"/>
                </a:lnSpc>
                <a:buFont typeface="Arial"/>
                <a:buChar char="•"/>
              </a:pPr>
              <a:r>
                <a:rPr lang="en-US" sz="2100" spc="8">
                  <a:solidFill>
                    <a:srgbClr val="000000"/>
                  </a:solidFill>
                  <a:latin typeface="Raleway"/>
                  <a:ea typeface="Raleway"/>
                  <a:cs typeface="Raleway"/>
                  <a:sym typeface="Raleway"/>
                </a:rPr>
                <a:t>And Bayesian methods produce suboptimal results.</a:t>
              </a:r>
            </a:p>
            <a:p>
              <a:pPr algn="l">
                <a:lnSpc>
                  <a:spcPts val="2520"/>
                </a:lnSpc>
              </a:pPr>
            </a:p>
            <a:p>
              <a:pPr algn="l" marL="453390" indent="-226695" lvl="1">
                <a:lnSpc>
                  <a:spcPts val="2520"/>
                </a:lnSpc>
                <a:buFont typeface="Arial"/>
                <a:buChar char="•"/>
              </a:pPr>
              <a:r>
                <a:rPr lang="en-US" sz="2100" spc="8">
                  <a:solidFill>
                    <a:srgbClr val="000000"/>
                  </a:solidFill>
                  <a:latin typeface="Raleway"/>
                  <a:ea typeface="Raleway"/>
                  <a:cs typeface="Raleway"/>
                  <a:sym typeface="Raleway"/>
                </a:rPr>
                <a:t>Furthermore, RandomizedSearchCV is much easier to implement and debug if errors occur.</a:t>
              </a:r>
            </a:p>
          </p:txBody>
        </p:sp>
      </p:grpSp>
      <p:sp>
        <p:nvSpPr>
          <p:cNvPr name="TextBox 7" id="7"/>
          <p:cNvSpPr txBox="true"/>
          <p:nvPr/>
        </p:nvSpPr>
        <p:spPr>
          <a:xfrm rot="0">
            <a:off x="854691" y="503223"/>
            <a:ext cx="9483845" cy="1062670"/>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Hyperparameter Tunning</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aphicFrame>
        <p:nvGraphicFramePr>
          <p:cNvPr name="Table 3" id="3"/>
          <p:cNvGraphicFramePr>
            <a:graphicFrameLocks noGrp="true"/>
          </p:cNvGraphicFramePr>
          <p:nvPr/>
        </p:nvGraphicFramePr>
        <p:xfrm>
          <a:off x="1028700" y="2953870"/>
          <a:ext cx="16404609" cy="1571625"/>
        </p:xfrm>
        <a:graphic>
          <a:graphicData uri="http://schemas.openxmlformats.org/drawingml/2006/table">
            <a:tbl>
              <a:tblPr/>
              <a:tblGrid>
                <a:gridCol w="2677327"/>
                <a:gridCol w="2677327"/>
                <a:gridCol w="2677327"/>
                <a:gridCol w="2677327"/>
                <a:gridCol w="2847650"/>
                <a:gridCol w="2847650"/>
              </a:tblGrid>
              <a:tr h="523875">
                <a:tc>
                  <a:txBody>
                    <a:bodyPr anchor="t" rtlCol="false"/>
                    <a:lstStyle/>
                    <a:p>
                      <a:pPr algn="ctr">
                        <a:lnSpc>
                          <a:spcPts val="2308"/>
                        </a:lnSpc>
                        <a:defRPr/>
                      </a:pPr>
                      <a:r>
                        <a:rPr lang="en-US" sz="1648">
                          <a:solidFill>
                            <a:srgbClr val="000000"/>
                          </a:solidFill>
                          <a:latin typeface="Raleway"/>
                          <a:ea typeface="Raleway"/>
                          <a:cs typeface="Raleway"/>
                          <a:sym typeface="Raleway"/>
                        </a:rPr>
                        <a:t>Model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Ac</a:t>
                      </a:r>
                      <a:r>
                        <a:rPr lang="en-US" sz="1648">
                          <a:solidFill>
                            <a:srgbClr val="000000"/>
                          </a:solidFill>
                          <a:latin typeface="Raleway"/>
                          <a:ea typeface="Raleway"/>
                          <a:cs typeface="Raleway"/>
                          <a:sym typeface="Raleway"/>
                        </a:rPr>
                        <a:t>curacy 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Precision 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Recall 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ROC-AUC 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F1-Score  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23875">
                <a:tc>
                  <a:txBody>
                    <a:bodyPr anchor="t" rtlCol="false"/>
                    <a:lstStyle/>
                    <a:p>
                      <a:pPr algn="ctr">
                        <a:lnSpc>
                          <a:spcPts val="2308"/>
                        </a:lnSpc>
                        <a:defRPr/>
                      </a:pPr>
                      <a:r>
                        <a:rPr lang="en-US" sz="1648">
                          <a:solidFill>
                            <a:srgbClr val="000000"/>
                          </a:solidFill>
                          <a:latin typeface="Raleway"/>
                          <a:ea typeface="Raleway"/>
                          <a:cs typeface="Raleway"/>
                          <a:sym typeface="Raleway"/>
                        </a:rPr>
                        <a:t>XGBoost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7.288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12.356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14.676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9.720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13.551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23875">
                <a:tc>
                  <a:txBody>
                    <a:bodyPr anchor="t" rtlCol="false"/>
                    <a:lstStyle/>
                    <a:p>
                      <a:pPr algn="ctr">
                        <a:lnSpc>
                          <a:spcPts val="2308"/>
                        </a:lnSpc>
                        <a:defRPr/>
                      </a:pPr>
                      <a:r>
                        <a:rPr lang="en-US" sz="1648">
                          <a:solidFill>
                            <a:srgbClr val="000000"/>
                          </a:solidFill>
                          <a:latin typeface="Raleway"/>
                          <a:ea typeface="Raleway"/>
                          <a:cs typeface="Raleway"/>
                          <a:sym typeface="Raleway"/>
                        </a:rPr>
                        <a:t>Random Forest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5.959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14.611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11.932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8.829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13.296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bl>
          </a:graphicData>
        </a:graphic>
      </p:graphicFrame>
      <p:sp>
        <p:nvSpPr>
          <p:cNvPr name="TextBox 4" id="4"/>
          <p:cNvSpPr txBox="true"/>
          <p:nvPr/>
        </p:nvSpPr>
        <p:spPr>
          <a:xfrm rot="0">
            <a:off x="854691" y="503223"/>
            <a:ext cx="12293174" cy="1062670"/>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Hyperparameter Tunning Gap (%)</a:t>
            </a:r>
          </a:p>
        </p:txBody>
      </p:sp>
      <p:grpSp>
        <p:nvGrpSpPr>
          <p:cNvPr name="Group 5" id="5"/>
          <p:cNvGrpSpPr/>
          <p:nvPr/>
        </p:nvGrpSpPr>
        <p:grpSpPr>
          <a:xfrm rot="0">
            <a:off x="883256" y="5475583"/>
            <a:ext cx="16695497" cy="4605062"/>
            <a:chOff x="0" y="0"/>
            <a:chExt cx="4552020" cy="1255568"/>
          </a:xfrm>
        </p:grpSpPr>
        <p:sp>
          <p:nvSpPr>
            <p:cNvPr name="Freeform 6" id="6"/>
            <p:cNvSpPr/>
            <p:nvPr/>
          </p:nvSpPr>
          <p:spPr>
            <a:xfrm flipH="false" flipV="false" rot="0">
              <a:off x="0" y="0"/>
              <a:ext cx="4552021" cy="1255568"/>
            </a:xfrm>
            <a:custGeom>
              <a:avLst/>
              <a:gdLst/>
              <a:ahLst/>
              <a:cxnLst/>
              <a:rect r="r" b="b" t="t" l="l"/>
              <a:pathLst>
                <a:path h="1255568" w="4552021">
                  <a:moveTo>
                    <a:pt x="23186" y="0"/>
                  </a:moveTo>
                  <a:lnTo>
                    <a:pt x="4528835" y="0"/>
                  </a:lnTo>
                  <a:cubicBezTo>
                    <a:pt x="4534984" y="0"/>
                    <a:pt x="4540881" y="2443"/>
                    <a:pt x="4545230" y="6791"/>
                  </a:cubicBezTo>
                  <a:cubicBezTo>
                    <a:pt x="4549578" y="11139"/>
                    <a:pt x="4552021" y="17036"/>
                    <a:pt x="4552021" y="23186"/>
                  </a:cubicBezTo>
                  <a:lnTo>
                    <a:pt x="4552021" y="1232383"/>
                  </a:lnTo>
                  <a:cubicBezTo>
                    <a:pt x="4552021" y="1238532"/>
                    <a:pt x="4549578" y="1244429"/>
                    <a:pt x="4545230" y="1248777"/>
                  </a:cubicBezTo>
                  <a:cubicBezTo>
                    <a:pt x="4540881" y="1253125"/>
                    <a:pt x="4534984" y="1255568"/>
                    <a:pt x="4528835" y="1255568"/>
                  </a:cubicBezTo>
                  <a:lnTo>
                    <a:pt x="23186" y="1255568"/>
                  </a:lnTo>
                  <a:cubicBezTo>
                    <a:pt x="17036" y="1255568"/>
                    <a:pt x="11139" y="1253125"/>
                    <a:pt x="6791" y="1248777"/>
                  </a:cubicBezTo>
                  <a:cubicBezTo>
                    <a:pt x="2443" y="1244429"/>
                    <a:pt x="0" y="1238532"/>
                    <a:pt x="0" y="1232383"/>
                  </a:cubicBezTo>
                  <a:lnTo>
                    <a:pt x="0" y="23186"/>
                  </a:lnTo>
                  <a:cubicBezTo>
                    <a:pt x="0" y="17036"/>
                    <a:pt x="2443" y="11139"/>
                    <a:pt x="6791" y="6791"/>
                  </a:cubicBezTo>
                  <a:cubicBezTo>
                    <a:pt x="11139" y="2443"/>
                    <a:pt x="17036" y="0"/>
                    <a:pt x="23186" y="0"/>
                  </a:cubicBezTo>
                  <a:close/>
                </a:path>
              </a:pathLst>
            </a:custGeom>
            <a:solidFill>
              <a:srgbClr val="A1C7CE"/>
            </a:solidFill>
          </p:spPr>
        </p:sp>
        <p:sp>
          <p:nvSpPr>
            <p:cNvPr name="TextBox 7" id="7"/>
            <p:cNvSpPr txBox="true"/>
            <p:nvPr/>
          </p:nvSpPr>
          <p:spPr>
            <a:xfrm>
              <a:off x="0" y="-19050"/>
              <a:ext cx="4552020" cy="1274618"/>
            </a:xfrm>
            <a:prstGeom prst="rect">
              <a:avLst/>
            </a:prstGeom>
          </p:spPr>
          <p:txBody>
            <a:bodyPr anchor="ctr" rtlCol="false" tIns="49361" lIns="49361" bIns="49361" rIns="49361"/>
            <a:lstStyle/>
            <a:p>
              <a:pPr algn="l" marL="453390" indent="-226695" lvl="1">
                <a:lnSpc>
                  <a:spcPts val="2520"/>
                </a:lnSpc>
                <a:buFont typeface="Arial"/>
                <a:buChar char="•"/>
              </a:pPr>
              <a:r>
                <a:rPr lang="en-US" sz="2100" spc="8">
                  <a:solidFill>
                    <a:srgbClr val="000000"/>
                  </a:solidFill>
                  <a:latin typeface="Raleway"/>
                  <a:ea typeface="Raleway"/>
                  <a:cs typeface="Raleway"/>
                  <a:sym typeface="Raleway"/>
                </a:rPr>
                <a:t>Random Forest has the smallest Accuracy Gap (5.95%). However, XGBoost remains highly competitive with a stable gap across the board, including a solid ROC-AUC Gap of (9.72%), whi</a:t>
              </a:r>
              <a:r>
                <a:rPr lang="en-US" sz="2100" spc="8">
                  <a:solidFill>
                    <a:srgbClr val="000000"/>
                  </a:solidFill>
                  <a:latin typeface="Raleway"/>
                  <a:ea typeface="Raleway"/>
                  <a:cs typeface="Raleway"/>
                  <a:sym typeface="Raleway"/>
                </a:rPr>
                <a:t>ch ensures the model's performance on real-world hiring data will be predictable and measurable.</a:t>
              </a:r>
            </a:p>
            <a:p>
              <a:pPr algn="l">
                <a:lnSpc>
                  <a:spcPts val="2520"/>
                </a:lnSpc>
              </a:pPr>
            </a:p>
            <a:p>
              <a:pPr algn="l" marL="453390" indent="-226695" lvl="1">
                <a:lnSpc>
                  <a:spcPts val="2520"/>
                </a:lnSpc>
                <a:buFont typeface="Arial"/>
                <a:buChar char="•"/>
              </a:pPr>
              <a:r>
                <a:rPr lang="en-US" sz="2100" spc="8">
                  <a:solidFill>
                    <a:srgbClr val="000000"/>
                  </a:solidFill>
                  <a:latin typeface="Raleway"/>
                  <a:ea typeface="Raleway"/>
                  <a:cs typeface="Raleway"/>
                  <a:sym typeface="Raleway"/>
                </a:rPr>
                <a:t>Most gap metrics for both models are now within an acceptable and safer range (10% - 14%). This consistency shows that the model has successfully learned general patterns from the dataset of 1,500 candidates.</a:t>
              </a:r>
            </a:p>
            <a:p>
              <a:pPr algn="l">
                <a:lnSpc>
                  <a:spcPts val="2520"/>
                </a:lnSpc>
              </a:pPr>
            </a:p>
            <a:p>
              <a:pPr algn="l" marL="453390" indent="-226695" lvl="1">
                <a:lnSpc>
                  <a:spcPts val="2520"/>
                </a:lnSpc>
                <a:buFont typeface="Arial"/>
                <a:buChar char="•"/>
              </a:pPr>
              <a:r>
                <a:rPr lang="en-US" sz="2100" spc="8">
                  <a:solidFill>
                    <a:srgbClr val="000000"/>
                  </a:solidFill>
                  <a:latin typeface="Raleway"/>
                  <a:ea typeface="Raleway"/>
                  <a:cs typeface="Raleway"/>
                  <a:sym typeface="Raleway"/>
                </a:rPr>
                <a:t>Overall, XGBoost is the preferred choice because it maintains the best balance between high predictive power and a stable gap, particularly in ROC-AUC, making it the most reliable model for the Hiresights recruitment system.</a:t>
              </a:r>
            </a:p>
          </p:txBody>
        </p:sp>
      </p:gr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TextBox 3" id="3"/>
          <p:cNvSpPr txBox="true"/>
          <p:nvPr/>
        </p:nvSpPr>
        <p:spPr>
          <a:xfrm rot="0">
            <a:off x="854691" y="503223"/>
            <a:ext cx="4838227" cy="1062670"/>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Best Model</a:t>
            </a:r>
          </a:p>
        </p:txBody>
      </p:sp>
      <p:graphicFrame>
        <p:nvGraphicFramePr>
          <p:cNvPr name="Table 4" id="4"/>
          <p:cNvGraphicFramePr>
            <a:graphicFrameLocks noGrp="true"/>
          </p:cNvGraphicFramePr>
          <p:nvPr/>
        </p:nvGraphicFramePr>
        <p:xfrm>
          <a:off x="854691" y="2008674"/>
          <a:ext cx="16404609" cy="2085975"/>
        </p:xfrm>
        <a:graphic>
          <a:graphicData uri="http://schemas.openxmlformats.org/drawingml/2006/table">
            <a:tbl>
              <a:tblPr/>
              <a:tblGrid>
                <a:gridCol w="2301680"/>
                <a:gridCol w="2301680"/>
                <a:gridCol w="2301680"/>
                <a:gridCol w="2301680"/>
                <a:gridCol w="2301680"/>
                <a:gridCol w="2448105"/>
                <a:gridCol w="2448105"/>
              </a:tblGrid>
              <a:tr h="521494">
                <a:tc>
                  <a:txBody>
                    <a:bodyPr anchor="t" rtlCol="false"/>
                    <a:lstStyle/>
                    <a:p>
                      <a:pPr algn="ctr">
                        <a:lnSpc>
                          <a:spcPts val="2308"/>
                        </a:lnSpc>
                        <a:defRPr/>
                      </a:pPr>
                      <a:r>
                        <a:rPr lang="en-US" sz="1648">
                          <a:solidFill>
                            <a:srgbClr val="000000"/>
                          </a:solidFill>
                          <a:latin typeface="Raleway"/>
                          <a:ea typeface="Raleway"/>
                          <a:cs typeface="Raleway"/>
                          <a:sym typeface="Raleway"/>
                        </a:rPr>
                        <a:t>Model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Ac</a:t>
                      </a:r>
                      <a:r>
                        <a:rPr lang="en-US" sz="1648">
                          <a:solidFill>
                            <a:srgbClr val="000000"/>
                          </a:solidFill>
                          <a:latin typeface="Raleway"/>
                          <a:ea typeface="Raleway"/>
                          <a:cs typeface="Raleway"/>
                          <a:sym typeface="Raleway"/>
                        </a:rPr>
                        <a:t>curacy</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Precision</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Recall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F1-Score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Dataset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ROC-AUC</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21494">
                <a:tc rowSpan="3">
                  <a:txBody>
                    <a:bodyPr anchor="t" rtlCol="false"/>
                    <a:lstStyle/>
                    <a:p>
                      <a:pPr algn="ctr">
                        <a:lnSpc>
                          <a:spcPts val="2308"/>
                        </a:lnSpc>
                        <a:defRPr/>
                      </a:pPr>
                      <a:r>
                        <a:rPr lang="en-US" sz="1648">
                          <a:solidFill>
                            <a:srgbClr val="000000"/>
                          </a:solidFill>
                          <a:latin typeface="Raleway"/>
                          <a:ea typeface="Raleway"/>
                          <a:cs typeface="Raleway"/>
                          <a:sym typeface="Raleway"/>
                        </a:rPr>
                        <a:t>XGBoost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0.975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0.982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0.968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0.975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Train</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0.995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21494">
                <a:tc vMerge="true">
                  <a:txBody>
                    <a:bodyPr anchor="t" rtlCol="false"/>
                    <a:lstStyle/>
                    <a:p>
                      <a:pPr algn="ctr">
                        <a:lnSpc>
                          <a:spcPts val="2308"/>
                        </a:lnSpc>
                        <a:defRPr/>
                      </a:pPr>
                      <a:r>
                        <a:rPr lang="en-US" sz="1648">
                          <a:solidFill>
                            <a:srgbClr val="000000"/>
                          </a:solidFill>
                          <a:latin typeface="Raleway"/>
                          <a:ea typeface="Raleway"/>
                          <a:cs typeface="Raleway"/>
                          <a:sym typeface="Raleway"/>
                        </a:rPr>
                        <a:t>XGBoost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0.902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0.858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0.821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0.839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Test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0.897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r>
              <a:tr h="521494">
                <a:tc vMerge="true">
                  <a:txBody>
                    <a:bodyPr anchor="t" rtlCol="false"/>
                    <a:lstStyle/>
                    <a:p>
                      <a:pPr algn="ctr">
                        <a:lnSpc>
                          <a:spcPts val="2308"/>
                        </a:lnSpc>
                        <a:defRPr/>
                      </a:pPr>
                      <a:r>
                        <a:rPr lang="en-US" sz="1648">
                          <a:solidFill>
                            <a:srgbClr val="000000"/>
                          </a:solidFill>
                          <a:latin typeface="Raleway"/>
                          <a:ea typeface="Raleway"/>
                          <a:cs typeface="Raleway"/>
                          <a:sym typeface="Raleway"/>
                        </a:rPr>
                        <a:t>XGBoost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7.288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12.356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14.676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13.551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Gap (%)</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9.720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r>
            </a:tbl>
          </a:graphicData>
        </a:graphic>
      </p:graphicFrame>
      <p:grpSp>
        <p:nvGrpSpPr>
          <p:cNvPr name="Group 5" id="5"/>
          <p:cNvGrpSpPr/>
          <p:nvPr/>
        </p:nvGrpSpPr>
        <p:grpSpPr>
          <a:xfrm rot="0">
            <a:off x="854691" y="4192033"/>
            <a:ext cx="10556318" cy="2502308"/>
            <a:chOff x="0" y="0"/>
            <a:chExt cx="2878176" cy="682253"/>
          </a:xfrm>
        </p:grpSpPr>
        <p:sp>
          <p:nvSpPr>
            <p:cNvPr name="Freeform 6" id="6"/>
            <p:cNvSpPr/>
            <p:nvPr/>
          </p:nvSpPr>
          <p:spPr>
            <a:xfrm flipH="false" flipV="false" rot="0">
              <a:off x="0" y="0"/>
              <a:ext cx="2878176" cy="682253"/>
            </a:xfrm>
            <a:custGeom>
              <a:avLst/>
              <a:gdLst/>
              <a:ahLst/>
              <a:cxnLst/>
              <a:rect r="r" b="b" t="t" l="l"/>
              <a:pathLst>
                <a:path h="682253" w="2878176">
                  <a:moveTo>
                    <a:pt x="36670" y="0"/>
                  </a:moveTo>
                  <a:lnTo>
                    <a:pt x="2841506" y="0"/>
                  </a:lnTo>
                  <a:cubicBezTo>
                    <a:pt x="2851232" y="0"/>
                    <a:pt x="2860559" y="3863"/>
                    <a:pt x="2867436" y="10740"/>
                  </a:cubicBezTo>
                  <a:cubicBezTo>
                    <a:pt x="2874313" y="17617"/>
                    <a:pt x="2878176" y="26944"/>
                    <a:pt x="2878176" y="36670"/>
                  </a:cubicBezTo>
                  <a:lnTo>
                    <a:pt x="2878176" y="645584"/>
                  </a:lnTo>
                  <a:cubicBezTo>
                    <a:pt x="2878176" y="665836"/>
                    <a:pt x="2861758" y="682253"/>
                    <a:pt x="2841506" y="682253"/>
                  </a:cubicBezTo>
                  <a:lnTo>
                    <a:pt x="36670" y="682253"/>
                  </a:lnTo>
                  <a:cubicBezTo>
                    <a:pt x="26944" y="682253"/>
                    <a:pt x="17617" y="678390"/>
                    <a:pt x="10740" y="671513"/>
                  </a:cubicBezTo>
                  <a:cubicBezTo>
                    <a:pt x="3863" y="664636"/>
                    <a:pt x="0" y="655309"/>
                    <a:pt x="0" y="645584"/>
                  </a:cubicBezTo>
                  <a:lnTo>
                    <a:pt x="0" y="36670"/>
                  </a:lnTo>
                  <a:cubicBezTo>
                    <a:pt x="0" y="26944"/>
                    <a:pt x="3863" y="17617"/>
                    <a:pt x="10740" y="10740"/>
                  </a:cubicBezTo>
                  <a:cubicBezTo>
                    <a:pt x="17617" y="3863"/>
                    <a:pt x="26944" y="0"/>
                    <a:pt x="36670" y="0"/>
                  </a:cubicBezTo>
                  <a:close/>
                </a:path>
              </a:pathLst>
            </a:custGeom>
            <a:solidFill>
              <a:srgbClr val="A1C7CE"/>
            </a:solidFill>
          </p:spPr>
        </p:sp>
        <p:sp>
          <p:nvSpPr>
            <p:cNvPr name="TextBox 7" id="7"/>
            <p:cNvSpPr txBox="true"/>
            <p:nvPr/>
          </p:nvSpPr>
          <p:spPr>
            <a:xfrm>
              <a:off x="0" y="-19050"/>
              <a:ext cx="2878176" cy="701303"/>
            </a:xfrm>
            <a:prstGeom prst="rect">
              <a:avLst/>
            </a:prstGeom>
          </p:spPr>
          <p:txBody>
            <a:bodyPr anchor="ctr" rtlCol="false" tIns="49361" lIns="49361" bIns="49361" rIns="49361"/>
            <a:lstStyle/>
            <a:p>
              <a:pPr algn="l">
                <a:lnSpc>
                  <a:spcPts val="2520"/>
                </a:lnSpc>
              </a:pPr>
            </a:p>
          </p:txBody>
        </p:sp>
      </p:grpSp>
      <p:sp>
        <p:nvSpPr>
          <p:cNvPr name="TextBox 8" id="8"/>
          <p:cNvSpPr txBox="true"/>
          <p:nvPr/>
        </p:nvSpPr>
        <p:spPr>
          <a:xfrm rot="0">
            <a:off x="8007426" y="1408026"/>
            <a:ext cx="2099138" cy="600108"/>
          </a:xfrm>
          <a:prstGeom prst="rect">
            <a:avLst/>
          </a:prstGeom>
        </p:spPr>
        <p:txBody>
          <a:bodyPr anchor="t" rtlCol="false" tIns="0" lIns="0" bIns="0" rIns="0">
            <a:spAutoFit/>
          </a:bodyPr>
          <a:lstStyle/>
          <a:p>
            <a:pPr algn="ctr">
              <a:lnSpc>
                <a:spcPts val="4799"/>
              </a:lnSpc>
              <a:spcBef>
                <a:spcPct val="0"/>
              </a:spcBef>
            </a:pPr>
            <a:r>
              <a:rPr lang="en-US" b="true" sz="3999" spc="15" u="sng">
                <a:solidFill>
                  <a:srgbClr val="18102B"/>
                </a:solidFill>
                <a:latin typeface="Raleway Bold"/>
                <a:ea typeface="Raleway Bold"/>
                <a:cs typeface="Raleway Bold"/>
                <a:sym typeface="Raleway Bold"/>
              </a:rPr>
              <a:t>XGBoost</a:t>
            </a:r>
          </a:p>
        </p:txBody>
      </p:sp>
      <p:graphicFrame>
        <p:nvGraphicFramePr>
          <p:cNvPr name="Table 9" id="9"/>
          <p:cNvGraphicFramePr>
            <a:graphicFrameLocks noGrp="true"/>
          </p:cNvGraphicFramePr>
          <p:nvPr/>
        </p:nvGraphicFramePr>
        <p:xfrm>
          <a:off x="12346486" y="4657201"/>
          <a:ext cx="4912814" cy="3114675"/>
        </p:xfrm>
        <a:graphic>
          <a:graphicData uri="http://schemas.openxmlformats.org/drawingml/2006/table">
            <a:tbl>
              <a:tblPr/>
              <a:tblGrid>
                <a:gridCol w="2601701"/>
                <a:gridCol w="2311113"/>
              </a:tblGrid>
              <a:tr h="519112">
                <a:tc>
                  <a:txBody>
                    <a:bodyPr anchor="t" rtlCol="false"/>
                    <a:lstStyle/>
                    <a:p>
                      <a:pPr algn="ctr">
                        <a:lnSpc>
                          <a:spcPts val="2308"/>
                        </a:lnSpc>
                        <a:defRPr/>
                      </a:pPr>
                      <a:r>
                        <a:rPr lang="en-US" sz="1648">
                          <a:solidFill>
                            <a:srgbClr val="000000"/>
                          </a:solidFill>
                          <a:latin typeface="Raleway"/>
                          <a:ea typeface="Raleway"/>
                          <a:cs typeface="Raleway"/>
                          <a:sym typeface="Raleway"/>
                        </a:rPr>
                        <a:t>Val</a:t>
                      </a:r>
                      <a:r>
                        <a:rPr lang="en-US" sz="1648">
                          <a:solidFill>
                            <a:srgbClr val="000000"/>
                          </a:solidFill>
                          <a:latin typeface="Raleway"/>
                          <a:ea typeface="Raleway"/>
                          <a:cs typeface="Raleway"/>
                          <a:sym typeface="Raleway"/>
                        </a:rPr>
                        <a:t>ue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Best Hyperparameter</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50.0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reg_lambda</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300.0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n_estimators</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6.0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max_depth</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0.1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learning_rate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0.2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ctr">
                        <a:lnSpc>
                          <a:spcPts val="2308"/>
                        </a:lnSpc>
                        <a:defRPr/>
                      </a:pPr>
                      <a:r>
                        <a:rPr lang="en-US" sz="1648">
                          <a:solidFill>
                            <a:srgbClr val="000000"/>
                          </a:solidFill>
                          <a:latin typeface="Raleway"/>
                          <a:ea typeface="Raleway"/>
                          <a:cs typeface="Raleway"/>
                          <a:sym typeface="Raleway"/>
                        </a:rPr>
                        <a:t>gamma</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bl>
          </a:graphicData>
        </a:graphic>
      </p:graphicFrame>
      <p:sp>
        <p:nvSpPr>
          <p:cNvPr name="TextBox 10" id="10"/>
          <p:cNvSpPr txBox="true"/>
          <p:nvPr/>
        </p:nvSpPr>
        <p:spPr>
          <a:xfrm rot="0">
            <a:off x="12789745" y="4125358"/>
            <a:ext cx="4026297" cy="531843"/>
          </a:xfrm>
          <a:prstGeom prst="rect">
            <a:avLst/>
          </a:prstGeom>
        </p:spPr>
        <p:txBody>
          <a:bodyPr anchor="t" rtlCol="false" tIns="0" lIns="0" bIns="0" rIns="0">
            <a:spAutoFit/>
          </a:bodyPr>
          <a:lstStyle/>
          <a:p>
            <a:pPr algn="ctr">
              <a:lnSpc>
                <a:spcPts val="4284"/>
              </a:lnSpc>
              <a:spcBef>
                <a:spcPct val="0"/>
              </a:spcBef>
            </a:pPr>
            <a:r>
              <a:rPr lang="en-US" b="true" sz="3060" u="sng">
                <a:solidFill>
                  <a:srgbClr val="18102B"/>
                </a:solidFill>
                <a:latin typeface="Raleway Bold"/>
                <a:ea typeface="Raleway Bold"/>
                <a:cs typeface="Raleway Bold"/>
                <a:sym typeface="Raleway Bold"/>
              </a:rPr>
              <a:t>Best Hyperparameter</a:t>
            </a:r>
          </a:p>
        </p:txBody>
      </p:sp>
      <p:sp>
        <p:nvSpPr>
          <p:cNvPr name="TextBox 11" id="11"/>
          <p:cNvSpPr txBox="true"/>
          <p:nvPr/>
        </p:nvSpPr>
        <p:spPr>
          <a:xfrm rot="0">
            <a:off x="1138849" y="4475649"/>
            <a:ext cx="9988002" cy="2219557"/>
          </a:xfrm>
          <a:prstGeom prst="rect">
            <a:avLst/>
          </a:prstGeom>
        </p:spPr>
        <p:txBody>
          <a:bodyPr anchor="t" rtlCol="false" tIns="0" lIns="0" bIns="0" rIns="0">
            <a:spAutoFit/>
          </a:bodyPr>
          <a:lstStyle/>
          <a:p>
            <a:pPr algn="l" marL="453387" indent="-226693" lvl="1">
              <a:lnSpc>
                <a:spcPts val="2519"/>
              </a:lnSpc>
              <a:buFont typeface="Arial"/>
              <a:buChar char="•"/>
            </a:pPr>
            <a:r>
              <a:rPr lang="en-US" sz="2099">
                <a:solidFill>
                  <a:srgbClr val="000000"/>
                </a:solidFill>
                <a:latin typeface="Raleway"/>
                <a:ea typeface="Raleway"/>
                <a:cs typeface="Raleway"/>
                <a:sym typeface="Raleway"/>
              </a:rPr>
              <a:t>XGBoos</a:t>
            </a:r>
            <a:r>
              <a:rPr lang="en-US" sz="2099">
                <a:solidFill>
                  <a:srgbClr val="000000"/>
                </a:solidFill>
                <a:latin typeface="Raleway"/>
                <a:ea typeface="Raleway"/>
                <a:cs typeface="Raleway"/>
                <a:sym typeface="Raleway"/>
              </a:rPr>
              <a:t>t demonstrated good model stability with an Accuracy Gap of (7.28%). This indicates that the model has adequate generalization capabilities for new data in the future.</a:t>
            </a:r>
          </a:p>
          <a:p>
            <a:pPr algn="l">
              <a:lnSpc>
                <a:spcPts val="2519"/>
              </a:lnSpc>
            </a:pPr>
          </a:p>
          <a:p>
            <a:pPr algn="l" marL="453387" indent="-226693" lvl="1">
              <a:lnSpc>
                <a:spcPts val="2519"/>
              </a:lnSpc>
              <a:buFont typeface="Arial"/>
              <a:buChar char="•"/>
            </a:pPr>
            <a:r>
              <a:rPr lang="en-US" sz="2099">
                <a:solidFill>
                  <a:srgbClr val="000000"/>
                </a:solidFill>
                <a:latin typeface="Raleway"/>
                <a:ea typeface="Raleway"/>
                <a:cs typeface="Raleway"/>
                <a:sym typeface="Raleway"/>
              </a:rPr>
              <a:t>XGBoost achieved scores of Recall (82.1%), F1-score (83.9%), and ROC-AUC (89.7%) on the competitive test set, demonstrating its ability to accurately identify potential candidates.</a:t>
            </a:r>
          </a:p>
        </p:txBody>
      </p:sp>
      <p:grpSp>
        <p:nvGrpSpPr>
          <p:cNvPr name="Group 12" id="12"/>
          <p:cNvGrpSpPr/>
          <p:nvPr/>
        </p:nvGrpSpPr>
        <p:grpSpPr>
          <a:xfrm rot="0">
            <a:off x="2229328" y="6827691"/>
            <a:ext cx="8050348" cy="3281484"/>
            <a:chOff x="0" y="0"/>
            <a:chExt cx="10733797" cy="4375312"/>
          </a:xfrm>
        </p:grpSpPr>
        <p:grpSp>
          <p:nvGrpSpPr>
            <p:cNvPr name="Group 13" id="13"/>
            <p:cNvGrpSpPr/>
            <p:nvPr/>
          </p:nvGrpSpPr>
          <p:grpSpPr>
            <a:xfrm rot="0">
              <a:off x="0" y="0"/>
              <a:ext cx="5216906" cy="4375312"/>
              <a:chOff x="0" y="0"/>
              <a:chExt cx="1047040" cy="878131"/>
            </a:xfrm>
          </p:grpSpPr>
          <p:sp>
            <p:nvSpPr>
              <p:cNvPr name="Freeform 14" id="14"/>
              <p:cNvSpPr/>
              <p:nvPr/>
            </p:nvSpPr>
            <p:spPr>
              <a:xfrm flipH="false" flipV="false" rot="0">
                <a:off x="0" y="0"/>
                <a:ext cx="1047040" cy="878131"/>
              </a:xfrm>
              <a:custGeom>
                <a:avLst/>
                <a:gdLst/>
                <a:ahLst/>
                <a:cxnLst/>
                <a:rect r="r" b="b" t="t" l="l"/>
                <a:pathLst>
                  <a:path h="878131" w="1047040">
                    <a:moveTo>
                      <a:pt x="99903" y="0"/>
                    </a:moveTo>
                    <a:lnTo>
                      <a:pt x="947137" y="0"/>
                    </a:lnTo>
                    <a:cubicBezTo>
                      <a:pt x="1002312" y="0"/>
                      <a:pt x="1047040" y="44728"/>
                      <a:pt x="1047040" y="99903"/>
                    </a:cubicBezTo>
                    <a:lnTo>
                      <a:pt x="1047040" y="778228"/>
                    </a:lnTo>
                    <a:cubicBezTo>
                      <a:pt x="1047040" y="833403"/>
                      <a:pt x="1002312" y="878131"/>
                      <a:pt x="947137" y="878131"/>
                    </a:cubicBezTo>
                    <a:lnTo>
                      <a:pt x="99903" y="878131"/>
                    </a:lnTo>
                    <a:cubicBezTo>
                      <a:pt x="44728" y="878131"/>
                      <a:pt x="0" y="833403"/>
                      <a:pt x="0" y="778228"/>
                    </a:cubicBezTo>
                    <a:lnTo>
                      <a:pt x="0" y="99903"/>
                    </a:lnTo>
                    <a:cubicBezTo>
                      <a:pt x="0" y="44728"/>
                      <a:pt x="44728" y="0"/>
                      <a:pt x="99903" y="0"/>
                    </a:cubicBezTo>
                    <a:close/>
                  </a:path>
                </a:pathLst>
              </a:custGeom>
              <a:solidFill>
                <a:srgbClr val="7E8C92"/>
              </a:solidFill>
            </p:spPr>
          </p:sp>
          <p:sp>
            <p:nvSpPr>
              <p:cNvPr name="TextBox 15" id="15"/>
              <p:cNvSpPr txBox="true"/>
              <p:nvPr/>
            </p:nvSpPr>
            <p:spPr>
              <a:xfrm>
                <a:off x="0" y="-19050"/>
                <a:ext cx="1047040" cy="897181"/>
              </a:xfrm>
              <a:prstGeom prst="rect">
                <a:avLst/>
              </a:prstGeom>
            </p:spPr>
            <p:txBody>
              <a:bodyPr anchor="ctr" rtlCol="false" tIns="50800" lIns="50800" bIns="50800" rIns="50800"/>
              <a:lstStyle/>
              <a:p>
                <a:pPr algn="ctr">
                  <a:lnSpc>
                    <a:spcPts val="1919"/>
                  </a:lnSpc>
                </a:pPr>
              </a:p>
            </p:txBody>
          </p:sp>
        </p:grpSp>
        <p:grpSp>
          <p:nvGrpSpPr>
            <p:cNvPr name="Group 16" id="16"/>
            <p:cNvGrpSpPr/>
            <p:nvPr/>
          </p:nvGrpSpPr>
          <p:grpSpPr>
            <a:xfrm rot="0">
              <a:off x="5516891" y="0"/>
              <a:ext cx="5216906" cy="4375312"/>
              <a:chOff x="0" y="0"/>
              <a:chExt cx="1047040" cy="878131"/>
            </a:xfrm>
          </p:grpSpPr>
          <p:sp>
            <p:nvSpPr>
              <p:cNvPr name="Freeform 17" id="17"/>
              <p:cNvSpPr/>
              <p:nvPr/>
            </p:nvSpPr>
            <p:spPr>
              <a:xfrm flipH="false" flipV="false" rot="0">
                <a:off x="0" y="0"/>
                <a:ext cx="1047040" cy="878131"/>
              </a:xfrm>
              <a:custGeom>
                <a:avLst/>
                <a:gdLst/>
                <a:ahLst/>
                <a:cxnLst/>
                <a:rect r="r" b="b" t="t" l="l"/>
                <a:pathLst>
                  <a:path h="878131" w="1047040">
                    <a:moveTo>
                      <a:pt x="99903" y="0"/>
                    </a:moveTo>
                    <a:lnTo>
                      <a:pt x="947137" y="0"/>
                    </a:lnTo>
                    <a:cubicBezTo>
                      <a:pt x="1002312" y="0"/>
                      <a:pt x="1047040" y="44728"/>
                      <a:pt x="1047040" y="99903"/>
                    </a:cubicBezTo>
                    <a:lnTo>
                      <a:pt x="1047040" y="778228"/>
                    </a:lnTo>
                    <a:cubicBezTo>
                      <a:pt x="1047040" y="833403"/>
                      <a:pt x="1002312" y="878131"/>
                      <a:pt x="947137" y="878131"/>
                    </a:cubicBezTo>
                    <a:lnTo>
                      <a:pt x="99903" y="878131"/>
                    </a:lnTo>
                    <a:cubicBezTo>
                      <a:pt x="44728" y="878131"/>
                      <a:pt x="0" y="833403"/>
                      <a:pt x="0" y="778228"/>
                    </a:cubicBezTo>
                    <a:lnTo>
                      <a:pt x="0" y="99903"/>
                    </a:lnTo>
                    <a:cubicBezTo>
                      <a:pt x="0" y="44728"/>
                      <a:pt x="44728" y="0"/>
                      <a:pt x="99903" y="0"/>
                    </a:cubicBezTo>
                    <a:close/>
                  </a:path>
                </a:pathLst>
              </a:custGeom>
              <a:solidFill>
                <a:srgbClr val="A1C7CE"/>
              </a:solidFill>
            </p:spPr>
          </p:sp>
          <p:sp>
            <p:nvSpPr>
              <p:cNvPr name="TextBox 18" id="18"/>
              <p:cNvSpPr txBox="true"/>
              <p:nvPr/>
            </p:nvSpPr>
            <p:spPr>
              <a:xfrm>
                <a:off x="0" y="-19050"/>
                <a:ext cx="1047040" cy="897181"/>
              </a:xfrm>
              <a:prstGeom prst="rect">
                <a:avLst/>
              </a:prstGeom>
            </p:spPr>
            <p:txBody>
              <a:bodyPr anchor="ctr" rtlCol="false" tIns="50800" lIns="50800" bIns="50800" rIns="50800"/>
              <a:lstStyle/>
              <a:p>
                <a:pPr algn="ctr">
                  <a:lnSpc>
                    <a:spcPts val="1919"/>
                  </a:lnSpc>
                </a:pPr>
              </a:p>
            </p:txBody>
          </p:sp>
        </p:grpSp>
        <p:sp>
          <p:nvSpPr>
            <p:cNvPr name="TextBox 19" id="19"/>
            <p:cNvSpPr txBox="true"/>
            <p:nvPr/>
          </p:nvSpPr>
          <p:spPr>
            <a:xfrm rot="0">
              <a:off x="544248" y="270551"/>
              <a:ext cx="4128410" cy="979992"/>
            </a:xfrm>
            <a:prstGeom prst="rect">
              <a:avLst/>
            </a:prstGeom>
          </p:spPr>
          <p:txBody>
            <a:bodyPr anchor="t" rtlCol="false" tIns="0" lIns="0" bIns="0" rIns="0">
              <a:spAutoFit/>
            </a:bodyPr>
            <a:lstStyle/>
            <a:p>
              <a:pPr algn="ctr">
                <a:lnSpc>
                  <a:spcPts val="1956"/>
                </a:lnSpc>
              </a:pPr>
              <a:r>
                <a:rPr lang="en-US" b="true" sz="1630" spc="6">
                  <a:solidFill>
                    <a:srgbClr val="000000"/>
                  </a:solidFill>
                  <a:latin typeface="Poppins Bold"/>
                  <a:ea typeface="Poppins Bold"/>
                  <a:cs typeface="Poppins Bold"/>
                  <a:sym typeface="Poppins Bold"/>
                </a:rPr>
                <a:t>Before</a:t>
              </a:r>
              <a:r>
                <a:rPr lang="en-US" b="true" sz="1630" spc="6">
                  <a:solidFill>
                    <a:srgbClr val="000000"/>
                  </a:solidFill>
                  <a:latin typeface="Poppins Bold"/>
                  <a:ea typeface="Poppins Bold"/>
                  <a:cs typeface="Poppins Bold"/>
                  <a:sym typeface="Poppins Bold"/>
                </a:rPr>
                <a:t> </a:t>
              </a:r>
            </a:p>
            <a:p>
              <a:pPr algn="ctr">
                <a:lnSpc>
                  <a:spcPts val="1956"/>
                </a:lnSpc>
              </a:pPr>
              <a:r>
                <a:rPr lang="en-US" b="true" sz="1630" spc="6">
                  <a:solidFill>
                    <a:srgbClr val="000000"/>
                  </a:solidFill>
                  <a:latin typeface="Poppins Bold"/>
                  <a:ea typeface="Poppins Bold"/>
                  <a:cs typeface="Poppins Bold"/>
                  <a:sym typeface="Poppins Bold"/>
                </a:rPr>
                <a:t>Hyperpara</a:t>
              </a:r>
              <a:r>
                <a:rPr lang="en-US" b="true" sz="1630" spc="6">
                  <a:solidFill>
                    <a:srgbClr val="000000"/>
                  </a:solidFill>
                  <a:latin typeface="Poppins Bold"/>
                  <a:ea typeface="Poppins Bold"/>
                  <a:cs typeface="Poppins Bold"/>
                  <a:sym typeface="Poppins Bold"/>
                </a:rPr>
                <a:t>meter Tunning </a:t>
              </a:r>
            </a:p>
            <a:p>
              <a:pPr algn="ctr">
                <a:lnSpc>
                  <a:spcPts val="1956"/>
                </a:lnSpc>
                <a:spcBef>
                  <a:spcPct val="0"/>
                </a:spcBef>
              </a:pPr>
            </a:p>
          </p:txBody>
        </p:sp>
        <p:sp>
          <p:nvSpPr>
            <p:cNvPr name="TextBox 20" id="20"/>
            <p:cNvSpPr txBox="true"/>
            <p:nvPr/>
          </p:nvSpPr>
          <p:spPr>
            <a:xfrm rot="0">
              <a:off x="5578575" y="270551"/>
              <a:ext cx="4584145" cy="979992"/>
            </a:xfrm>
            <a:prstGeom prst="rect">
              <a:avLst/>
            </a:prstGeom>
          </p:spPr>
          <p:txBody>
            <a:bodyPr anchor="t" rtlCol="false" tIns="0" lIns="0" bIns="0" rIns="0">
              <a:spAutoFit/>
            </a:bodyPr>
            <a:lstStyle/>
            <a:p>
              <a:pPr algn="ctr">
                <a:lnSpc>
                  <a:spcPts val="1956"/>
                </a:lnSpc>
              </a:pPr>
              <a:r>
                <a:rPr lang="en-US" b="true" sz="1630" spc="6">
                  <a:solidFill>
                    <a:srgbClr val="000000"/>
                  </a:solidFill>
                  <a:latin typeface="Poppins Bold"/>
                  <a:ea typeface="Poppins Bold"/>
                  <a:cs typeface="Poppins Bold"/>
                  <a:sym typeface="Poppins Bold"/>
                </a:rPr>
                <a:t>After</a:t>
              </a:r>
            </a:p>
            <a:p>
              <a:pPr algn="ctr">
                <a:lnSpc>
                  <a:spcPts val="1956"/>
                </a:lnSpc>
              </a:pPr>
              <a:r>
                <a:rPr lang="en-US" b="true" sz="1630" spc="6">
                  <a:solidFill>
                    <a:srgbClr val="000000"/>
                  </a:solidFill>
                  <a:latin typeface="Poppins Bold"/>
                  <a:ea typeface="Poppins Bold"/>
                  <a:cs typeface="Poppins Bold"/>
                  <a:sym typeface="Poppins Bold"/>
                </a:rPr>
                <a:t>Hyperp</a:t>
              </a:r>
              <a:r>
                <a:rPr lang="en-US" b="true" sz="1630" spc="6">
                  <a:solidFill>
                    <a:srgbClr val="000000"/>
                  </a:solidFill>
                  <a:latin typeface="Poppins Bold"/>
                  <a:ea typeface="Poppins Bold"/>
                  <a:cs typeface="Poppins Bold"/>
                  <a:sym typeface="Poppins Bold"/>
                </a:rPr>
                <a:t>arameter Tunning </a:t>
              </a:r>
            </a:p>
            <a:p>
              <a:pPr algn="ctr">
                <a:lnSpc>
                  <a:spcPts val="1956"/>
                </a:lnSpc>
                <a:spcBef>
                  <a:spcPct val="0"/>
                </a:spcBef>
              </a:pPr>
            </a:p>
          </p:txBody>
        </p:sp>
        <p:sp>
          <p:nvSpPr>
            <p:cNvPr name="TextBox 21" id="21"/>
            <p:cNvSpPr txBox="true"/>
            <p:nvPr/>
          </p:nvSpPr>
          <p:spPr>
            <a:xfrm rot="0">
              <a:off x="517489" y="1501371"/>
              <a:ext cx="3930866" cy="2608994"/>
            </a:xfrm>
            <a:prstGeom prst="rect">
              <a:avLst/>
            </a:prstGeom>
          </p:spPr>
          <p:txBody>
            <a:bodyPr anchor="t" rtlCol="false" tIns="0" lIns="0" bIns="0" rIns="0">
              <a:spAutoFit/>
            </a:bodyPr>
            <a:lstStyle/>
            <a:p>
              <a:pPr algn="ctr">
                <a:lnSpc>
                  <a:spcPts val="2282"/>
                </a:lnSpc>
              </a:pPr>
              <a:r>
                <a:rPr lang="en-US" sz="1630" spc="6">
                  <a:solidFill>
                    <a:srgbClr val="000000"/>
                  </a:solidFill>
                  <a:latin typeface="Poppins"/>
                  <a:ea typeface="Poppins"/>
                  <a:cs typeface="Poppins"/>
                  <a:sym typeface="Poppins"/>
                </a:rPr>
                <a:t>Recall</a:t>
              </a:r>
            </a:p>
            <a:p>
              <a:pPr algn="ctr">
                <a:lnSpc>
                  <a:spcPts val="2282"/>
                </a:lnSpc>
              </a:pPr>
              <a:r>
                <a:rPr lang="en-US" sz="1630" spc="6">
                  <a:solidFill>
                    <a:srgbClr val="000000"/>
                  </a:solidFill>
                  <a:latin typeface="Poppins"/>
                  <a:ea typeface="Poppins"/>
                  <a:cs typeface="Poppins"/>
                  <a:sym typeface="Poppins"/>
                </a:rPr>
                <a:t>74.3%</a:t>
              </a:r>
            </a:p>
            <a:p>
              <a:pPr algn="ctr">
                <a:lnSpc>
                  <a:spcPts val="2282"/>
                </a:lnSpc>
              </a:pPr>
              <a:r>
                <a:rPr lang="en-US" sz="1630" spc="6">
                  <a:solidFill>
                    <a:srgbClr val="000000"/>
                  </a:solidFill>
                  <a:latin typeface="Poppins"/>
                  <a:ea typeface="Poppins"/>
                  <a:cs typeface="Poppins"/>
                  <a:sym typeface="Poppins"/>
                </a:rPr>
                <a:t>F1 Score</a:t>
              </a:r>
            </a:p>
            <a:p>
              <a:pPr algn="ctr">
                <a:lnSpc>
                  <a:spcPts val="2282"/>
                </a:lnSpc>
              </a:pPr>
              <a:r>
                <a:rPr lang="en-US" sz="1630" spc="6">
                  <a:solidFill>
                    <a:srgbClr val="000000"/>
                  </a:solidFill>
                  <a:latin typeface="Poppins"/>
                  <a:ea typeface="Poppins"/>
                  <a:cs typeface="Poppins"/>
                  <a:sym typeface="Poppins"/>
                </a:rPr>
                <a:t>78.8%</a:t>
              </a:r>
            </a:p>
            <a:p>
              <a:pPr algn="ctr">
                <a:lnSpc>
                  <a:spcPts val="2282"/>
                </a:lnSpc>
              </a:pPr>
              <a:r>
                <a:rPr lang="en-US" sz="1630" spc="6">
                  <a:solidFill>
                    <a:srgbClr val="000000"/>
                  </a:solidFill>
                  <a:latin typeface="Poppins"/>
                  <a:ea typeface="Poppins"/>
                  <a:cs typeface="Poppins"/>
                  <a:sym typeface="Poppins"/>
                </a:rPr>
                <a:t>ROC AUC</a:t>
              </a:r>
            </a:p>
            <a:p>
              <a:pPr algn="ctr">
                <a:lnSpc>
                  <a:spcPts val="2282"/>
                </a:lnSpc>
              </a:pPr>
              <a:r>
                <a:rPr lang="en-US" sz="1630" spc="6">
                  <a:solidFill>
                    <a:srgbClr val="000000"/>
                  </a:solidFill>
                  <a:latin typeface="Poppins"/>
                  <a:ea typeface="Poppins"/>
                  <a:cs typeface="Poppins"/>
                  <a:sym typeface="Poppins"/>
                </a:rPr>
                <a:t>88.7</a:t>
              </a:r>
              <a:r>
                <a:rPr lang="en-US" sz="1630" spc="6">
                  <a:solidFill>
                    <a:srgbClr val="000000"/>
                  </a:solidFill>
                  <a:latin typeface="Poppins"/>
                  <a:ea typeface="Poppins"/>
                  <a:cs typeface="Poppins"/>
                  <a:sym typeface="Poppins"/>
                </a:rPr>
                <a:t>%</a:t>
              </a:r>
            </a:p>
            <a:p>
              <a:pPr algn="ctr">
                <a:lnSpc>
                  <a:spcPts val="2282"/>
                </a:lnSpc>
              </a:pPr>
            </a:p>
          </p:txBody>
        </p:sp>
        <p:sp>
          <p:nvSpPr>
            <p:cNvPr name="TextBox 22" id="22"/>
            <p:cNvSpPr txBox="true"/>
            <p:nvPr/>
          </p:nvSpPr>
          <p:spPr>
            <a:xfrm rot="0">
              <a:off x="6149652" y="1501371"/>
              <a:ext cx="3441992" cy="2268892"/>
            </a:xfrm>
            <a:prstGeom prst="rect">
              <a:avLst/>
            </a:prstGeom>
          </p:spPr>
          <p:txBody>
            <a:bodyPr anchor="t" rtlCol="false" tIns="0" lIns="0" bIns="0" rIns="0">
              <a:spAutoFit/>
            </a:bodyPr>
            <a:lstStyle/>
            <a:p>
              <a:pPr algn="ctr">
                <a:lnSpc>
                  <a:spcPts val="2282"/>
                </a:lnSpc>
              </a:pPr>
              <a:r>
                <a:rPr lang="en-US" sz="1630" spc="6">
                  <a:solidFill>
                    <a:srgbClr val="000000"/>
                  </a:solidFill>
                  <a:latin typeface="Poppins"/>
                  <a:ea typeface="Poppins"/>
                  <a:cs typeface="Poppins"/>
                  <a:sym typeface="Poppins"/>
                </a:rPr>
                <a:t>R</a:t>
              </a:r>
              <a:r>
                <a:rPr lang="en-US" sz="1630" spc="6">
                  <a:solidFill>
                    <a:srgbClr val="000000"/>
                  </a:solidFill>
                  <a:latin typeface="Poppins"/>
                  <a:ea typeface="Poppins"/>
                  <a:cs typeface="Poppins"/>
                  <a:sym typeface="Poppins"/>
                </a:rPr>
                <a:t>ecall</a:t>
              </a:r>
            </a:p>
            <a:p>
              <a:pPr algn="ctr">
                <a:lnSpc>
                  <a:spcPts val="2282"/>
                </a:lnSpc>
              </a:pPr>
              <a:r>
                <a:rPr lang="en-US" sz="1630" spc="6">
                  <a:solidFill>
                    <a:srgbClr val="000000"/>
                  </a:solidFill>
                  <a:latin typeface="Poppins"/>
                  <a:ea typeface="Poppins"/>
                  <a:cs typeface="Poppins"/>
                  <a:sym typeface="Poppins"/>
                </a:rPr>
                <a:t>82.1%</a:t>
              </a:r>
            </a:p>
            <a:p>
              <a:pPr algn="ctr">
                <a:lnSpc>
                  <a:spcPts val="2282"/>
                </a:lnSpc>
              </a:pPr>
              <a:r>
                <a:rPr lang="en-US" sz="1630" spc="6">
                  <a:solidFill>
                    <a:srgbClr val="000000"/>
                  </a:solidFill>
                  <a:latin typeface="Poppins"/>
                  <a:ea typeface="Poppins"/>
                  <a:cs typeface="Poppins"/>
                  <a:sym typeface="Poppins"/>
                </a:rPr>
                <a:t>F1 Score</a:t>
              </a:r>
            </a:p>
            <a:p>
              <a:pPr algn="ctr">
                <a:lnSpc>
                  <a:spcPts val="2282"/>
                </a:lnSpc>
              </a:pPr>
              <a:r>
                <a:rPr lang="en-US" sz="1630" spc="6">
                  <a:solidFill>
                    <a:srgbClr val="000000"/>
                  </a:solidFill>
                  <a:latin typeface="Poppins"/>
                  <a:ea typeface="Poppins"/>
                  <a:cs typeface="Poppins"/>
                  <a:sym typeface="Poppins"/>
                </a:rPr>
                <a:t>83.9%</a:t>
              </a:r>
            </a:p>
            <a:p>
              <a:pPr algn="ctr">
                <a:lnSpc>
                  <a:spcPts val="2282"/>
                </a:lnSpc>
              </a:pPr>
              <a:r>
                <a:rPr lang="en-US" sz="1630" spc="6">
                  <a:solidFill>
                    <a:srgbClr val="000000"/>
                  </a:solidFill>
                  <a:latin typeface="Poppins"/>
                  <a:ea typeface="Poppins"/>
                  <a:cs typeface="Poppins"/>
                  <a:sym typeface="Poppins"/>
                </a:rPr>
                <a:t>ROC AUC</a:t>
              </a:r>
            </a:p>
            <a:p>
              <a:pPr algn="ctr">
                <a:lnSpc>
                  <a:spcPts val="2282"/>
                </a:lnSpc>
              </a:pPr>
              <a:r>
                <a:rPr lang="en-US" sz="1630" spc="6">
                  <a:solidFill>
                    <a:srgbClr val="000000"/>
                  </a:solidFill>
                  <a:latin typeface="Poppins"/>
                  <a:ea typeface="Poppins"/>
                  <a:cs typeface="Poppins"/>
                  <a:sym typeface="Poppins"/>
                </a:rPr>
                <a:t>89.7%</a:t>
              </a:r>
            </a:p>
          </p:txBody>
        </p:sp>
      </p:gr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9847522" y="2292353"/>
            <a:ext cx="8010838" cy="6335345"/>
            <a:chOff x="0" y="0"/>
            <a:chExt cx="2184152" cy="1727329"/>
          </a:xfrm>
        </p:grpSpPr>
        <p:sp>
          <p:nvSpPr>
            <p:cNvPr name="Freeform 4" id="4"/>
            <p:cNvSpPr/>
            <p:nvPr/>
          </p:nvSpPr>
          <p:spPr>
            <a:xfrm flipH="false" flipV="false" rot="0">
              <a:off x="0" y="0"/>
              <a:ext cx="2184152" cy="1727329"/>
            </a:xfrm>
            <a:custGeom>
              <a:avLst/>
              <a:gdLst/>
              <a:ahLst/>
              <a:cxnLst/>
              <a:rect r="r" b="b" t="t" l="l"/>
              <a:pathLst>
                <a:path h="1727329" w="2184152">
                  <a:moveTo>
                    <a:pt x="48322" y="0"/>
                  </a:moveTo>
                  <a:lnTo>
                    <a:pt x="2135830" y="0"/>
                  </a:lnTo>
                  <a:cubicBezTo>
                    <a:pt x="2148646" y="0"/>
                    <a:pt x="2160937" y="5091"/>
                    <a:pt x="2169999" y="14153"/>
                  </a:cubicBezTo>
                  <a:cubicBezTo>
                    <a:pt x="2179061" y="23215"/>
                    <a:pt x="2184152" y="35506"/>
                    <a:pt x="2184152" y="48322"/>
                  </a:cubicBezTo>
                  <a:lnTo>
                    <a:pt x="2184152" y="1679008"/>
                  </a:lnTo>
                  <a:cubicBezTo>
                    <a:pt x="2184152" y="1691824"/>
                    <a:pt x="2179061" y="1704114"/>
                    <a:pt x="2169999" y="1713176"/>
                  </a:cubicBezTo>
                  <a:cubicBezTo>
                    <a:pt x="2160937" y="1722238"/>
                    <a:pt x="2148646" y="1727329"/>
                    <a:pt x="2135830" y="1727329"/>
                  </a:cubicBezTo>
                  <a:lnTo>
                    <a:pt x="48322" y="1727329"/>
                  </a:lnTo>
                  <a:cubicBezTo>
                    <a:pt x="35506" y="1727329"/>
                    <a:pt x="23215" y="1722238"/>
                    <a:pt x="14153" y="1713176"/>
                  </a:cubicBezTo>
                  <a:cubicBezTo>
                    <a:pt x="5091" y="1704114"/>
                    <a:pt x="0" y="1691824"/>
                    <a:pt x="0" y="1679008"/>
                  </a:cubicBezTo>
                  <a:lnTo>
                    <a:pt x="0" y="48322"/>
                  </a:lnTo>
                  <a:cubicBezTo>
                    <a:pt x="0" y="35506"/>
                    <a:pt x="5091" y="23215"/>
                    <a:pt x="14153" y="14153"/>
                  </a:cubicBezTo>
                  <a:cubicBezTo>
                    <a:pt x="23215" y="5091"/>
                    <a:pt x="35506" y="0"/>
                    <a:pt x="48322" y="0"/>
                  </a:cubicBezTo>
                  <a:close/>
                </a:path>
              </a:pathLst>
            </a:custGeom>
            <a:solidFill>
              <a:srgbClr val="A1C7CE"/>
            </a:solidFill>
          </p:spPr>
        </p:sp>
        <p:sp>
          <p:nvSpPr>
            <p:cNvPr name="TextBox 5" id="5"/>
            <p:cNvSpPr txBox="true"/>
            <p:nvPr/>
          </p:nvSpPr>
          <p:spPr>
            <a:xfrm>
              <a:off x="0" y="-19050"/>
              <a:ext cx="2184152" cy="1746379"/>
            </a:xfrm>
            <a:prstGeom prst="rect">
              <a:avLst/>
            </a:prstGeom>
          </p:spPr>
          <p:txBody>
            <a:bodyPr anchor="ctr" rtlCol="false" tIns="49361" lIns="49361" bIns="49361" rIns="49361"/>
            <a:lstStyle/>
            <a:p>
              <a:pPr algn="l" marL="453390" indent="-226695" lvl="1">
                <a:lnSpc>
                  <a:spcPts val="2520"/>
                </a:lnSpc>
                <a:buFont typeface="Arial"/>
                <a:buChar char="•"/>
              </a:pPr>
              <a:r>
                <a:rPr lang="en-US" sz="2100" spc="8">
                  <a:solidFill>
                    <a:srgbClr val="000000"/>
                  </a:solidFill>
                  <a:latin typeface="Raleway"/>
                  <a:ea typeface="Raleway"/>
                  <a:cs typeface="Raleway"/>
                  <a:sym typeface="Raleway"/>
                </a:rPr>
                <a:t>The model correctly identified the majority of the data. Of the 450data points, the model only incorrectly predicted 44 .</a:t>
              </a:r>
            </a:p>
            <a:p>
              <a:pPr algn="l">
                <a:lnSpc>
                  <a:spcPts val="2520"/>
                </a:lnSpc>
              </a:pPr>
            </a:p>
            <a:p>
              <a:pPr algn="l">
                <a:lnSpc>
                  <a:spcPts val="2520"/>
                </a:lnSpc>
              </a:pPr>
            </a:p>
            <a:p>
              <a:pPr algn="l" marL="453390" indent="-226695" lvl="1">
                <a:lnSpc>
                  <a:spcPts val="2520"/>
                </a:lnSpc>
                <a:buFont typeface="Arial"/>
                <a:buChar char="•"/>
              </a:pPr>
              <a:r>
                <a:rPr lang="en-US" sz="2100" spc="8">
                  <a:solidFill>
                    <a:srgbClr val="000000"/>
                  </a:solidFill>
                  <a:latin typeface="Raleway"/>
                  <a:ea typeface="Raleway"/>
                  <a:cs typeface="Raleway"/>
                  <a:sym typeface="Raleway"/>
                </a:rPr>
                <a:t>The model successfully identified 115 of the 140 candidates who were actually Hired. There were 25 potential candidates missed (predicted as Not Hired), indicating room for improvement to capture more talent.</a:t>
              </a:r>
            </a:p>
            <a:p>
              <a:pPr algn="l">
                <a:lnSpc>
                  <a:spcPts val="2520"/>
                </a:lnSpc>
              </a:pPr>
            </a:p>
            <a:p>
              <a:pPr algn="l">
                <a:lnSpc>
                  <a:spcPts val="2520"/>
                </a:lnSpc>
              </a:pPr>
            </a:p>
            <a:p>
              <a:pPr algn="l" marL="453390" indent="-226695" lvl="1">
                <a:lnSpc>
                  <a:spcPts val="2520"/>
                </a:lnSpc>
                <a:buFont typeface="Arial"/>
                <a:buChar char="•"/>
              </a:pPr>
              <a:r>
                <a:rPr lang="en-US" sz="2100" spc="8">
                  <a:solidFill>
                    <a:srgbClr val="000000"/>
                  </a:solidFill>
                  <a:latin typeface="Raleway"/>
                  <a:ea typeface="Raleway"/>
                  <a:cs typeface="Raleway"/>
                  <a:sym typeface="Raleway"/>
                </a:rPr>
                <a:t>Based on the Confusion Matrix, the XGBoost model demonstrated solid performance in the recruitment process with a high level of accuracy and minimal misclassifications.</a:t>
              </a:r>
            </a:p>
          </p:txBody>
        </p:sp>
      </p:grpSp>
      <p:sp>
        <p:nvSpPr>
          <p:cNvPr name="Freeform 6" id="6"/>
          <p:cNvSpPr/>
          <p:nvPr/>
        </p:nvSpPr>
        <p:spPr>
          <a:xfrm flipH="false" flipV="false" rot="0">
            <a:off x="702291" y="2368588"/>
            <a:ext cx="7884072" cy="6259110"/>
          </a:xfrm>
          <a:custGeom>
            <a:avLst/>
            <a:gdLst/>
            <a:ahLst/>
            <a:cxnLst/>
            <a:rect r="r" b="b" t="t" l="l"/>
            <a:pathLst>
              <a:path h="6259110" w="7884072">
                <a:moveTo>
                  <a:pt x="0" y="0"/>
                </a:moveTo>
                <a:lnTo>
                  <a:pt x="7884072" y="0"/>
                </a:lnTo>
                <a:lnTo>
                  <a:pt x="7884072" y="6259110"/>
                </a:lnTo>
                <a:lnTo>
                  <a:pt x="0" y="6259110"/>
                </a:lnTo>
                <a:lnTo>
                  <a:pt x="0" y="0"/>
                </a:lnTo>
                <a:close/>
              </a:path>
            </a:pathLst>
          </a:custGeom>
          <a:blipFill>
            <a:blip r:embed="rId3"/>
            <a:stretch>
              <a:fillRect l="0" t="0" r="0" b="0"/>
            </a:stretch>
          </a:blipFill>
        </p:spPr>
      </p:sp>
      <p:sp>
        <p:nvSpPr>
          <p:cNvPr name="TextBox 7" id="7"/>
          <p:cNvSpPr txBox="true"/>
          <p:nvPr/>
        </p:nvSpPr>
        <p:spPr>
          <a:xfrm rot="0">
            <a:off x="702291" y="350823"/>
            <a:ext cx="6346307" cy="1062670"/>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Confusion Matrix</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TextBox 3" id="3"/>
          <p:cNvSpPr txBox="true"/>
          <p:nvPr/>
        </p:nvSpPr>
        <p:spPr>
          <a:xfrm rot="0">
            <a:off x="702291" y="350823"/>
            <a:ext cx="6346307" cy="1062670"/>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Pipeline Model</a:t>
            </a:r>
          </a:p>
        </p:txBody>
      </p:sp>
      <p:sp>
        <p:nvSpPr>
          <p:cNvPr name="AutoShape 4" id="4"/>
          <p:cNvSpPr/>
          <p:nvPr/>
        </p:nvSpPr>
        <p:spPr>
          <a:xfrm flipV="true">
            <a:off x="3846738" y="3518350"/>
            <a:ext cx="924132" cy="0"/>
          </a:xfrm>
          <a:prstGeom prst="line">
            <a:avLst/>
          </a:prstGeom>
          <a:ln cap="flat" w="38100">
            <a:solidFill>
              <a:srgbClr val="000000"/>
            </a:solidFill>
            <a:prstDash val="solid"/>
            <a:headEnd type="none" len="sm" w="sm"/>
            <a:tailEnd type="triangle" len="med" w="lg"/>
          </a:ln>
        </p:spPr>
      </p:sp>
      <p:grpSp>
        <p:nvGrpSpPr>
          <p:cNvPr name="Group 5" id="5"/>
          <p:cNvGrpSpPr/>
          <p:nvPr/>
        </p:nvGrpSpPr>
        <p:grpSpPr>
          <a:xfrm rot="0">
            <a:off x="4770870" y="2714502"/>
            <a:ext cx="3262702" cy="1607695"/>
            <a:chOff x="0" y="0"/>
            <a:chExt cx="808944" cy="398606"/>
          </a:xfrm>
        </p:grpSpPr>
        <p:sp>
          <p:nvSpPr>
            <p:cNvPr name="Freeform 6" id="6"/>
            <p:cNvSpPr/>
            <p:nvPr/>
          </p:nvSpPr>
          <p:spPr>
            <a:xfrm flipH="false" flipV="false" rot="0">
              <a:off x="0" y="0"/>
              <a:ext cx="808944" cy="398606"/>
            </a:xfrm>
            <a:custGeom>
              <a:avLst/>
              <a:gdLst/>
              <a:ahLst/>
              <a:cxnLst/>
              <a:rect r="r" b="b" t="t" l="l"/>
              <a:pathLst>
                <a:path h="398606" w="808944">
                  <a:moveTo>
                    <a:pt x="35593" y="0"/>
                  </a:moveTo>
                  <a:lnTo>
                    <a:pt x="773351" y="0"/>
                  </a:lnTo>
                  <a:cubicBezTo>
                    <a:pt x="782791" y="0"/>
                    <a:pt x="791844" y="3750"/>
                    <a:pt x="798519" y="10425"/>
                  </a:cubicBezTo>
                  <a:cubicBezTo>
                    <a:pt x="805194" y="17100"/>
                    <a:pt x="808944" y="26153"/>
                    <a:pt x="808944" y="35593"/>
                  </a:cubicBezTo>
                  <a:lnTo>
                    <a:pt x="808944" y="363014"/>
                  </a:lnTo>
                  <a:cubicBezTo>
                    <a:pt x="808944" y="382671"/>
                    <a:pt x="793008" y="398606"/>
                    <a:pt x="773351" y="398606"/>
                  </a:cubicBezTo>
                  <a:lnTo>
                    <a:pt x="35593" y="398606"/>
                  </a:lnTo>
                  <a:cubicBezTo>
                    <a:pt x="26153" y="398606"/>
                    <a:pt x="17100" y="394857"/>
                    <a:pt x="10425" y="388182"/>
                  </a:cubicBezTo>
                  <a:cubicBezTo>
                    <a:pt x="3750" y="381507"/>
                    <a:pt x="0" y="372453"/>
                    <a:pt x="0" y="363014"/>
                  </a:cubicBezTo>
                  <a:lnTo>
                    <a:pt x="0" y="35593"/>
                  </a:lnTo>
                  <a:cubicBezTo>
                    <a:pt x="0" y="26153"/>
                    <a:pt x="3750" y="17100"/>
                    <a:pt x="10425" y="10425"/>
                  </a:cubicBezTo>
                  <a:cubicBezTo>
                    <a:pt x="17100" y="3750"/>
                    <a:pt x="26153" y="0"/>
                    <a:pt x="35593" y="0"/>
                  </a:cubicBezTo>
                  <a:close/>
                </a:path>
              </a:pathLst>
            </a:custGeom>
            <a:ln w="28575" cap="sq">
              <a:solidFill>
                <a:srgbClr val="000000"/>
              </a:solidFill>
              <a:prstDash val="solid"/>
              <a:miter/>
            </a:ln>
          </p:spPr>
        </p:sp>
        <p:sp>
          <p:nvSpPr>
            <p:cNvPr name="TextBox 7" id="7"/>
            <p:cNvSpPr txBox="true"/>
            <p:nvPr/>
          </p:nvSpPr>
          <p:spPr>
            <a:xfrm>
              <a:off x="0" y="-47625"/>
              <a:ext cx="808944" cy="446231"/>
            </a:xfrm>
            <a:prstGeom prst="rect">
              <a:avLst/>
            </a:prstGeom>
          </p:spPr>
          <p:txBody>
            <a:bodyPr anchor="ctr" rtlCol="false" tIns="254000" lIns="254000" bIns="254000" rIns="254000"/>
            <a:lstStyle/>
            <a:p>
              <a:pPr algn="ctr">
                <a:lnSpc>
                  <a:spcPts val="2799"/>
                </a:lnSpc>
              </a:pPr>
              <a:r>
                <a:rPr lang="en-US" b="true" sz="1999">
                  <a:solidFill>
                    <a:srgbClr val="000000"/>
                  </a:solidFill>
                  <a:latin typeface="Raleway Bold"/>
                  <a:ea typeface="Raleway Bold"/>
                  <a:cs typeface="Raleway Bold"/>
                  <a:sym typeface="Raleway Bold"/>
                </a:rPr>
                <a:t>Data Cleaning</a:t>
              </a:r>
            </a:p>
            <a:p>
              <a:pPr algn="ctr">
                <a:lnSpc>
                  <a:spcPts val="2799"/>
                </a:lnSpc>
              </a:pPr>
              <a:r>
                <a:rPr lang="en-US" sz="1999">
                  <a:solidFill>
                    <a:srgbClr val="000000"/>
                  </a:solidFill>
                  <a:latin typeface="Raleway"/>
                  <a:ea typeface="Raleway"/>
                  <a:cs typeface="Raleway"/>
                  <a:sym typeface="Raleway"/>
                </a:rPr>
                <a:t>Missing Value, Duplicate Data, Outlier</a:t>
              </a:r>
            </a:p>
          </p:txBody>
        </p:sp>
      </p:grpSp>
      <p:grpSp>
        <p:nvGrpSpPr>
          <p:cNvPr name="Group 8" id="8"/>
          <p:cNvGrpSpPr/>
          <p:nvPr/>
        </p:nvGrpSpPr>
        <p:grpSpPr>
          <a:xfrm rot="0">
            <a:off x="978264" y="3075908"/>
            <a:ext cx="3278257" cy="884883"/>
            <a:chOff x="0" y="0"/>
            <a:chExt cx="812800" cy="219395"/>
          </a:xfrm>
        </p:grpSpPr>
        <p:sp>
          <p:nvSpPr>
            <p:cNvPr name="Freeform 9" id="9"/>
            <p:cNvSpPr/>
            <p:nvPr/>
          </p:nvSpPr>
          <p:spPr>
            <a:xfrm flipH="false" flipV="false" rot="0">
              <a:off x="0" y="0"/>
              <a:ext cx="812800" cy="219395"/>
            </a:xfrm>
            <a:custGeom>
              <a:avLst/>
              <a:gdLst/>
              <a:ahLst/>
              <a:cxnLst/>
              <a:rect r="r" b="b" t="t" l="l"/>
              <a:pathLst>
                <a:path h="219395" w="812800">
                  <a:moveTo>
                    <a:pt x="203200" y="0"/>
                  </a:moveTo>
                  <a:lnTo>
                    <a:pt x="812800" y="0"/>
                  </a:lnTo>
                  <a:lnTo>
                    <a:pt x="609600" y="219395"/>
                  </a:lnTo>
                  <a:lnTo>
                    <a:pt x="0" y="219395"/>
                  </a:lnTo>
                  <a:lnTo>
                    <a:pt x="203200" y="0"/>
                  </a:lnTo>
                  <a:close/>
                </a:path>
              </a:pathLst>
            </a:custGeom>
            <a:ln w="28575" cap="sq">
              <a:solidFill>
                <a:srgbClr val="000000"/>
              </a:solidFill>
              <a:prstDash val="solid"/>
              <a:miter/>
            </a:ln>
          </p:spPr>
        </p:sp>
        <p:sp>
          <p:nvSpPr>
            <p:cNvPr name="TextBox 10" id="10"/>
            <p:cNvSpPr txBox="true"/>
            <p:nvPr/>
          </p:nvSpPr>
          <p:spPr>
            <a:xfrm>
              <a:off x="101600" y="-57150"/>
              <a:ext cx="609600" cy="276545"/>
            </a:xfrm>
            <a:prstGeom prst="rect">
              <a:avLst/>
            </a:prstGeom>
          </p:spPr>
          <p:txBody>
            <a:bodyPr anchor="ctr" rtlCol="false" tIns="50800" lIns="50800" bIns="50800" rIns="50800"/>
            <a:lstStyle/>
            <a:p>
              <a:pPr algn="ctr">
                <a:lnSpc>
                  <a:spcPts val="3359"/>
                </a:lnSpc>
              </a:pPr>
              <a:r>
                <a:rPr lang="en-US" sz="2399">
                  <a:solidFill>
                    <a:srgbClr val="000000"/>
                  </a:solidFill>
                  <a:latin typeface="Raleway"/>
                  <a:ea typeface="Raleway"/>
                  <a:cs typeface="Raleway"/>
                  <a:sym typeface="Raleway"/>
                </a:rPr>
                <a:t>Data Input</a:t>
              </a:r>
            </a:p>
          </p:txBody>
        </p:sp>
      </p:grpSp>
      <p:grpSp>
        <p:nvGrpSpPr>
          <p:cNvPr name="Group 11" id="11"/>
          <p:cNvGrpSpPr/>
          <p:nvPr/>
        </p:nvGrpSpPr>
        <p:grpSpPr>
          <a:xfrm rot="0">
            <a:off x="4830182" y="5030462"/>
            <a:ext cx="3144079" cy="1607695"/>
            <a:chOff x="0" y="0"/>
            <a:chExt cx="779533" cy="398606"/>
          </a:xfrm>
        </p:grpSpPr>
        <p:sp>
          <p:nvSpPr>
            <p:cNvPr name="Freeform 12" id="12"/>
            <p:cNvSpPr/>
            <p:nvPr/>
          </p:nvSpPr>
          <p:spPr>
            <a:xfrm flipH="false" flipV="false" rot="0">
              <a:off x="0" y="0"/>
              <a:ext cx="779533" cy="398606"/>
            </a:xfrm>
            <a:custGeom>
              <a:avLst/>
              <a:gdLst/>
              <a:ahLst/>
              <a:cxnLst/>
              <a:rect r="r" b="b" t="t" l="l"/>
              <a:pathLst>
                <a:path h="398606" w="779533">
                  <a:moveTo>
                    <a:pt x="36936" y="0"/>
                  </a:moveTo>
                  <a:lnTo>
                    <a:pt x="742597" y="0"/>
                  </a:lnTo>
                  <a:cubicBezTo>
                    <a:pt x="752393" y="0"/>
                    <a:pt x="761788" y="3891"/>
                    <a:pt x="768714" y="10818"/>
                  </a:cubicBezTo>
                  <a:cubicBezTo>
                    <a:pt x="775641" y="17745"/>
                    <a:pt x="779533" y="27140"/>
                    <a:pt x="779533" y="36936"/>
                  </a:cubicBezTo>
                  <a:lnTo>
                    <a:pt x="779533" y="361671"/>
                  </a:lnTo>
                  <a:cubicBezTo>
                    <a:pt x="779533" y="371467"/>
                    <a:pt x="775641" y="380861"/>
                    <a:pt x="768714" y="387788"/>
                  </a:cubicBezTo>
                  <a:cubicBezTo>
                    <a:pt x="761788" y="394715"/>
                    <a:pt x="752393" y="398606"/>
                    <a:pt x="742597" y="398606"/>
                  </a:cubicBezTo>
                  <a:lnTo>
                    <a:pt x="36936" y="398606"/>
                  </a:lnTo>
                  <a:cubicBezTo>
                    <a:pt x="27140" y="398606"/>
                    <a:pt x="17745" y="394715"/>
                    <a:pt x="10818" y="387788"/>
                  </a:cubicBezTo>
                  <a:cubicBezTo>
                    <a:pt x="3891" y="380861"/>
                    <a:pt x="0" y="371467"/>
                    <a:pt x="0" y="361671"/>
                  </a:cubicBezTo>
                  <a:lnTo>
                    <a:pt x="0" y="36936"/>
                  </a:lnTo>
                  <a:cubicBezTo>
                    <a:pt x="0" y="27140"/>
                    <a:pt x="3891" y="17745"/>
                    <a:pt x="10818" y="10818"/>
                  </a:cubicBezTo>
                  <a:cubicBezTo>
                    <a:pt x="17745" y="3891"/>
                    <a:pt x="27140" y="0"/>
                    <a:pt x="36936" y="0"/>
                  </a:cubicBezTo>
                  <a:close/>
                </a:path>
              </a:pathLst>
            </a:custGeom>
            <a:ln w="28575" cap="sq">
              <a:solidFill>
                <a:srgbClr val="000000"/>
              </a:solidFill>
              <a:prstDash val="solid"/>
              <a:miter/>
            </a:ln>
          </p:spPr>
        </p:sp>
        <p:sp>
          <p:nvSpPr>
            <p:cNvPr name="TextBox 13" id="13"/>
            <p:cNvSpPr txBox="true"/>
            <p:nvPr/>
          </p:nvSpPr>
          <p:spPr>
            <a:xfrm>
              <a:off x="0" y="-47625"/>
              <a:ext cx="779533" cy="446231"/>
            </a:xfrm>
            <a:prstGeom prst="rect">
              <a:avLst/>
            </a:prstGeom>
          </p:spPr>
          <p:txBody>
            <a:bodyPr anchor="ctr" rtlCol="false" tIns="254000" lIns="254000" bIns="254000" rIns="254000"/>
            <a:lstStyle/>
            <a:p>
              <a:pPr algn="ctr">
                <a:lnSpc>
                  <a:spcPts val="2799"/>
                </a:lnSpc>
              </a:pPr>
              <a:r>
                <a:rPr lang="en-US" b="true" sz="1999">
                  <a:solidFill>
                    <a:srgbClr val="000000"/>
                  </a:solidFill>
                  <a:latin typeface="Raleway Bold"/>
                  <a:ea typeface="Raleway Bold"/>
                  <a:cs typeface="Raleway Bold"/>
                  <a:sym typeface="Raleway Bold"/>
                </a:rPr>
                <a:t>Data Prepocessing</a:t>
              </a:r>
            </a:p>
            <a:p>
              <a:pPr algn="ctr">
                <a:lnSpc>
                  <a:spcPts val="2799"/>
                </a:lnSpc>
              </a:pPr>
              <a:r>
                <a:rPr lang="en-US" sz="1999">
                  <a:solidFill>
                    <a:srgbClr val="000000"/>
                  </a:solidFill>
                  <a:latin typeface="Raleway"/>
                  <a:ea typeface="Raleway"/>
                  <a:cs typeface="Raleway"/>
                  <a:sym typeface="Raleway"/>
                </a:rPr>
                <a:t>Feature Selection,</a:t>
              </a:r>
            </a:p>
            <a:p>
              <a:pPr algn="ctr">
                <a:lnSpc>
                  <a:spcPts val="2799"/>
                </a:lnSpc>
              </a:pPr>
              <a:r>
                <a:rPr lang="en-US" sz="1999">
                  <a:solidFill>
                    <a:srgbClr val="000000"/>
                  </a:solidFill>
                  <a:latin typeface="Raleway"/>
                  <a:ea typeface="Raleway"/>
                  <a:cs typeface="Raleway"/>
                  <a:sym typeface="Raleway"/>
                </a:rPr>
                <a:t>Encoding, Scaling</a:t>
              </a:r>
            </a:p>
          </p:txBody>
        </p:sp>
      </p:grpSp>
      <p:grpSp>
        <p:nvGrpSpPr>
          <p:cNvPr name="Group 14" id="14"/>
          <p:cNvGrpSpPr/>
          <p:nvPr/>
        </p:nvGrpSpPr>
        <p:grpSpPr>
          <a:xfrm rot="0">
            <a:off x="4830182" y="7346422"/>
            <a:ext cx="3144079" cy="1007378"/>
            <a:chOff x="0" y="0"/>
            <a:chExt cx="779533" cy="249766"/>
          </a:xfrm>
        </p:grpSpPr>
        <p:sp>
          <p:nvSpPr>
            <p:cNvPr name="Freeform 15" id="15"/>
            <p:cNvSpPr/>
            <p:nvPr/>
          </p:nvSpPr>
          <p:spPr>
            <a:xfrm flipH="false" flipV="false" rot="0">
              <a:off x="0" y="0"/>
              <a:ext cx="779533" cy="249766"/>
            </a:xfrm>
            <a:custGeom>
              <a:avLst/>
              <a:gdLst/>
              <a:ahLst/>
              <a:cxnLst/>
              <a:rect r="r" b="b" t="t" l="l"/>
              <a:pathLst>
                <a:path h="249766" w="779533">
                  <a:moveTo>
                    <a:pt x="36936" y="0"/>
                  </a:moveTo>
                  <a:lnTo>
                    <a:pt x="742597" y="0"/>
                  </a:lnTo>
                  <a:cubicBezTo>
                    <a:pt x="752393" y="0"/>
                    <a:pt x="761788" y="3891"/>
                    <a:pt x="768714" y="10818"/>
                  </a:cubicBezTo>
                  <a:cubicBezTo>
                    <a:pt x="775641" y="17745"/>
                    <a:pt x="779533" y="27140"/>
                    <a:pt x="779533" y="36936"/>
                  </a:cubicBezTo>
                  <a:lnTo>
                    <a:pt x="779533" y="212830"/>
                  </a:lnTo>
                  <a:cubicBezTo>
                    <a:pt x="779533" y="222626"/>
                    <a:pt x="775641" y="232021"/>
                    <a:pt x="768714" y="238948"/>
                  </a:cubicBezTo>
                  <a:cubicBezTo>
                    <a:pt x="761788" y="245874"/>
                    <a:pt x="752393" y="249766"/>
                    <a:pt x="742597" y="249766"/>
                  </a:cubicBezTo>
                  <a:lnTo>
                    <a:pt x="36936" y="249766"/>
                  </a:lnTo>
                  <a:cubicBezTo>
                    <a:pt x="27140" y="249766"/>
                    <a:pt x="17745" y="245874"/>
                    <a:pt x="10818" y="238948"/>
                  </a:cubicBezTo>
                  <a:cubicBezTo>
                    <a:pt x="3891" y="232021"/>
                    <a:pt x="0" y="222626"/>
                    <a:pt x="0" y="212830"/>
                  </a:cubicBezTo>
                  <a:lnTo>
                    <a:pt x="0" y="36936"/>
                  </a:lnTo>
                  <a:cubicBezTo>
                    <a:pt x="0" y="27140"/>
                    <a:pt x="3891" y="17745"/>
                    <a:pt x="10818" y="10818"/>
                  </a:cubicBezTo>
                  <a:cubicBezTo>
                    <a:pt x="17745" y="3891"/>
                    <a:pt x="27140" y="0"/>
                    <a:pt x="36936" y="0"/>
                  </a:cubicBezTo>
                  <a:close/>
                </a:path>
              </a:pathLst>
            </a:custGeom>
            <a:ln w="28575" cap="sq">
              <a:solidFill>
                <a:srgbClr val="000000"/>
              </a:solidFill>
              <a:prstDash val="solid"/>
              <a:miter/>
            </a:ln>
          </p:spPr>
        </p:sp>
        <p:sp>
          <p:nvSpPr>
            <p:cNvPr name="TextBox 16" id="16"/>
            <p:cNvSpPr txBox="true"/>
            <p:nvPr/>
          </p:nvSpPr>
          <p:spPr>
            <a:xfrm>
              <a:off x="0" y="-47625"/>
              <a:ext cx="779533" cy="297391"/>
            </a:xfrm>
            <a:prstGeom prst="rect">
              <a:avLst/>
            </a:prstGeom>
          </p:spPr>
          <p:txBody>
            <a:bodyPr anchor="ctr" rtlCol="false" tIns="254000" lIns="254000" bIns="254000" rIns="254000"/>
            <a:lstStyle/>
            <a:p>
              <a:pPr algn="ctr">
                <a:lnSpc>
                  <a:spcPts val="2799"/>
                </a:lnSpc>
              </a:pPr>
              <a:r>
                <a:rPr lang="en-US" b="true" sz="1999">
                  <a:solidFill>
                    <a:srgbClr val="000000"/>
                  </a:solidFill>
                  <a:latin typeface="Raleway Bold"/>
                  <a:ea typeface="Raleway Bold"/>
                  <a:cs typeface="Raleway Bold"/>
                  <a:sym typeface="Raleway Bold"/>
                </a:rPr>
                <a:t>Model Training</a:t>
              </a:r>
            </a:p>
          </p:txBody>
        </p:sp>
      </p:grpSp>
      <p:grpSp>
        <p:nvGrpSpPr>
          <p:cNvPr name="Group 17" id="17"/>
          <p:cNvGrpSpPr/>
          <p:nvPr/>
        </p:nvGrpSpPr>
        <p:grpSpPr>
          <a:xfrm rot="0">
            <a:off x="7974261" y="3218191"/>
            <a:ext cx="613045" cy="4650970"/>
            <a:chOff x="0" y="0"/>
            <a:chExt cx="817393" cy="6201293"/>
          </a:xfrm>
        </p:grpSpPr>
        <p:sp>
          <p:nvSpPr>
            <p:cNvPr name="AutoShape 18" id="18"/>
            <p:cNvSpPr/>
            <p:nvPr/>
          </p:nvSpPr>
          <p:spPr>
            <a:xfrm flipV="true">
              <a:off x="0" y="6175893"/>
              <a:ext cx="791993" cy="0"/>
            </a:xfrm>
            <a:prstGeom prst="line">
              <a:avLst/>
            </a:prstGeom>
            <a:ln cap="flat" w="50800">
              <a:solidFill>
                <a:srgbClr val="000000"/>
              </a:solidFill>
              <a:prstDash val="solid"/>
              <a:headEnd type="none" len="sm" w="sm"/>
              <a:tailEnd type="none" len="sm" w="sm"/>
            </a:ln>
          </p:spPr>
        </p:sp>
        <p:sp>
          <p:nvSpPr>
            <p:cNvPr name="AutoShape 19" id="19"/>
            <p:cNvSpPr/>
            <p:nvPr/>
          </p:nvSpPr>
          <p:spPr>
            <a:xfrm>
              <a:off x="791993" y="0"/>
              <a:ext cx="0" cy="6175893"/>
            </a:xfrm>
            <a:prstGeom prst="line">
              <a:avLst/>
            </a:prstGeom>
            <a:ln cap="flat" w="50800">
              <a:solidFill>
                <a:srgbClr val="000000"/>
              </a:solidFill>
              <a:prstDash val="solid"/>
              <a:headEnd type="none" len="sm" w="sm"/>
              <a:tailEnd type="none" len="sm" w="sm"/>
            </a:ln>
          </p:spPr>
        </p:sp>
      </p:grpSp>
      <p:sp>
        <p:nvSpPr>
          <p:cNvPr name="AutoShape 20" id="20"/>
          <p:cNvSpPr/>
          <p:nvPr/>
        </p:nvSpPr>
        <p:spPr>
          <a:xfrm flipV="true">
            <a:off x="8551443" y="3218191"/>
            <a:ext cx="1339472" cy="0"/>
          </a:xfrm>
          <a:prstGeom prst="line">
            <a:avLst/>
          </a:prstGeom>
          <a:ln cap="flat" w="38100">
            <a:solidFill>
              <a:srgbClr val="000000"/>
            </a:solidFill>
            <a:prstDash val="solid"/>
            <a:headEnd type="none" len="sm" w="sm"/>
            <a:tailEnd type="triangle" len="med" w="lg"/>
          </a:ln>
        </p:spPr>
      </p:sp>
      <p:grpSp>
        <p:nvGrpSpPr>
          <p:cNvPr name="Group 21" id="21"/>
          <p:cNvGrpSpPr/>
          <p:nvPr/>
        </p:nvGrpSpPr>
        <p:grpSpPr>
          <a:xfrm rot="0">
            <a:off x="9890915" y="4526774"/>
            <a:ext cx="3144079" cy="1007378"/>
            <a:chOff x="0" y="0"/>
            <a:chExt cx="779533" cy="249766"/>
          </a:xfrm>
        </p:grpSpPr>
        <p:sp>
          <p:nvSpPr>
            <p:cNvPr name="Freeform 22" id="22"/>
            <p:cNvSpPr/>
            <p:nvPr/>
          </p:nvSpPr>
          <p:spPr>
            <a:xfrm flipH="false" flipV="false" rot="0">
              <a:off x="0" y="0"/>
              <a:ext cx="779533" cy="249766"/>
            </a:xfrm>
            <a:custGeom>
              <a:avLst/>
              <a:gdLst/>
              <a:ahLst/>
              <a:cxnLst/>
              <a:rect r="r" b="b" t="t" l="l"/>
              <a:pathLst>
                <a:path h="249766" w="779533">
                  <a:moveTo>
                    <a:pt x="36936" y="0"/>
                  </a:moveTo>
                  <a:lnTo>
                    <a:pt x="742597" y="0"/>
                  </a:lnTo>
                  <a:cubicBezTo>
                    <a:pt x="752393" y="0"/>
                    <a:pt x="761788" y="3891"/>
                    <a:pt x="768714" y="10818"/>
                  </a:cubicBezTo>
                  <a:cubicBezTo>
                    <a:pt x="775641" y="17745"/>
                    <a:pt x="779533" y="27140"/>
                    <a:pt x="779533" y="36936"/>
                  </a:cubicBezTo>
                  <a:lnTo>
                    <a:pt x="779533" y="212830"/>
                  </a:lnTo>
                  <a:cubicBezTo>
                    <a:pt x="779533" y="222626"/>
                    <a:pt x="775641" y="232021"/>
                    <a:pt x="768714" y="238948"/>
                  </a:cubicBezTo>
                  <a:cubicBezTo>
                    <a:pt x="761788" y="245874"/>
                    <a:pt x="752393" y="249766"/>
                    <a:pt x="742597" y="249766"/>
                  </a:cubicBezTo>
                  <a:lnTo>
                    <a:pt x="36936" y="249766"/>
                  </a:lnTo>
                  <a:cubicBezTo>
                    <a:pt x="27140" y="249766"/>
                    <a:pt x="17745" y="245874"/>
                    <a:pt x="10818" y="238948"/>
                  </a:cubicBezTo>
                  <a:cubicBezTo>
                    <a:pt x="3891" y="232021"/>
                    <a:pt x="0" y="222626"/>
                    <a:pt x="0" y="212830"/>
                  </a:cubicBezTo>
                  <a:lnTo>
                    <a:pt x="0" y="36936"/>
                  </a:lnTo>
                  <a:cubicBezTo>
                    <a:pt x="0" y="27140"/>
                    <a:pt x="3891" y="17745"/>
                    <a:pt x="10818" y="10818"/>
                  </a:cubicBezTo>
                  <a:cubicBezTo>
                    <a:pt x="17745" y="3891"/>
                    <a:pt x="27140" y="0"/>
                    <a:pt x="36936" y="0"/>
                  </a:cubicBezTo>
                  <a:close/>
                </a:path>
              </a:pathLst>
            </a:custGeom>
            <a:ln w="28575" cap="sq">
              <a:solidFill>
                <a:srgbClr val="000000"/>
              </a:solidFill>
              <a:prstDash val="solid"/>
              <a:miter/>
            </a:ln>
          </p:spPr>
        </p:sp>
        <p:sp>
          <p:nvSpPr>
            <p:cNvPr name="TextBox 23" id="23"/>
            <p:cNvSpPr txBox="true"/>
            <p:nvPr/>
          </p:nvSpPr>
          <p:spPr>
            <a:xfrm>
              <a:off x="0" y="-47625"/>
              <a:ext cx="779533" cy="297391"/>
            </a:xfrm>
            <a:prstGeom prst="rect">
              <a:avLst/>
            </a:prstGeom>
          </p:spPr>
          <p:txBody>
            <a:bodyPr anchor="ctr" rtlCol="false" tIns="254000" lIns="254000" bIns="254000" rIns="254000"/>
            <a:lstStyle/>
            <a:p>
              <a:pPr algn="ctr">
                <a:lnSpc>
                  <a:spcPts val="2799"/>
                </a:lnSpc>
              </a:pPr>
              <a:r>
                <a:rPr lang="en-US" b="true" sz="1999">
                  <a:solidFill>
                    <a:srgbClr val="000000"/>
                  </a:solidFill>
                  <a:latin typeface="Raleway Bold"/>
                  <a:ea typeface="Raleway Bold"/>
                  <a:cs typeface="Raleway Bold"/>
                  <a:sym typeface="Raleway Bold"/>
                </a:rPr>
                <a:t>Model Deployment</a:t>
              </a:r>
            </a:p>
          </p:txBody>
        </p:sp>
      </p:grpSp>
      <p:sp>
        <p:nvSpPr>
          <p:cNvPr name="AutoShape 24" id="24"/>
          <p:cNvSpPr/>
          <p:nvPr/>
        </p:nvSpPr>
        <p:spPr>
          <a:xfrm>
            <a:off x="11462955" y="3721880"/>
            <a:ext cx="0" cy="804893"/>
          </a:xfrm>
          <a:prstGeom prst="line">
            <a:avLst/>
          </a:prstGeom>
          <a:ln cap="flat" w="38100">
            <a:solidFill>
              <a:srgbClr val="000000"/>
            </a:solidFill>
            <a:prstDash val="solid"/>
            <a:headEnd type="none" len="sm" w="sm"/>
            <a:tailEnd type="triangle" len="med" w="lg"/>
          </a:ln>
        </p:spPr>
      </p:sp>
      <p:grpSp>
        <p:nvGrpSpPr>
          <p:cNvPr name="Group 25" id="25"/>
          <p:cNvGrpSpPr/>
          <p:nvPr/>
        </p:nvGrpSpPr>
        <p:grpSpPr>
          <a:xfrm rot="0">
            <a:off x="14115221" y="6781486"/>
            <a:ext cx="3144079" cy="1007378"/>
            <a:chOff x="0" y="0"/>
            <a:chExt cx="779533" cy="249766"/>
          </a:xfrm>
        </p:grpSpPr>
        <p:sp>
          <p:nvSpPr>
            <p:cNvPr name="Freeform 26" id="26"/>
            <p:cNvSpPr/>
            <p:nvPr/>
          </p:nvSpPr>
          <p:spPr>
            <a:xfrm flipH="false" flipV="false" rot="0">
              <a:off x="0" y="0"/>
              <a:ext cx="779533" cy="249766"/>
            </a:xfrm>
            <a:custGeom>
              <a:avLst/>
              <a:gdLst/>
              <a:ahLst/>
              <a:cxnLst/>
              <a:rect r="r" b="b" t="t" l="l"/>
              <a:pathLst>
                <a:path h="249766" w="779533">
                  <a:moveTo>
                    <a:pt x="36936" y="0"/>
                  </a:moveTo>
                  <a:lnTo>
                    <a:pt x="742597" y="0"/>
                  </a:lnTo>
                  <a:cubicBezTo>
                    <a:pt x="752393" y="0"/>
                    <a:pt x="761788" y="3891"/>
                    <a:pt x="768714" y="10818"/>
                  </a:cubicBezTo>
                  <a:cubicBezTo>
                    <a:pt x="775641" y="17745"/>
                    <a:pt x="779533" y="27140"/>
                    <a:pt x="779533" y="36936"/>
                  </a:cubicBezTo>
                  <a:lnTo>
                    <a:pt x="779533" y="212830"/>
                  </a:lnTo>
                  <a:cubicBezTo>
                    <a:pt x="779533" y="222626"/>
                    <a:pt x="775641" y="232021"/>
                    <a:pt x="768714" y="238948"/>
                  </a:cubicBezTo>
                  <a:cubicBezTo>
                    <a:pt x="761788" y="245874"/>
                    <a:pt x="752393" y="249766"/>
                    <a:pt x="742597" y="249766"/>
                  </a:cubicBezTo>
                  <a:lnTo>
                    <a:pt x="36936" y="249766"/>
                  </a:lnTo>
                  <a:cubicBezTo>
                    <a:pt x="27140" y="249766"/>
                    <a:pt x="17745" y="245874"/>
                    <a:pt x="10818" y="238948"/>
                  </a:cubicBezTo>
                  <a:cubicBezTo>
                    <a:pt x="3891" y="232021"/>
                    <a:pt x="0" y="222626"/>
                    <a:pt x="0" y="212830"/>
                  </a:cubicBezTo>
                  <a:lnTo>
                    <a:pt x="0" y="36936"/>
                  </a:lnTo>
                  <a:cubicBezTo>
                    <a:pt x="0" y="27140"/>
                    <a:pt x="3891" y="17745"/>
                    <a:pt x="10818" y="10818"/>
                  </a:cubicBezTo>
                  <a:cubicBezTo>
                    <a:pt x="17745" y="3891"/>
                    <a:pt x="27140" y="0"/>
                    <a:pt x="36936" y="0"/>
                  </a:cubicBezTo>
                  <a:close/>
                </a:path>
              </a:pathLst>
            </a:custGeom>
            <a:ln w="28575" cap="sq">
              <a:solidFill>
                <a:srgbClr val="000000"/>
              </a:solidFill>
              <a:prstDash val="solid"/>
              <a:miter/>
            </a:ln>
          </p:spPr>
        </p:sp>
        <p:sp>
          <p:nvSpPr>
            <p:cNvPr name="TextBox 27" id="27"/>
            <p:cNvSpPr txBox="true"/>
            <p:nvPr/>
          </p:nvSpPr>
          <p:spPr>
            <a:xfrm>
              <a:off x="0" y="-47625"/>
              <a:ext cx="779533" cy="297391"/>
            </a:xfrm>
            <a:prstGeom prst="rect">
              <a:avLst/>
            </a:prstGeom>
          </p:spPr>
          <p:txBody>
            <a:bodyPr anchor="ctr" rtlCol="false" tIns="254000" lIns="254000" bIns="254000" rIns="254000"/>
            <a:lstStyle/>
            <a:p>
              <a:pPr algn="ctr">
                <a:lnSpc>
                  <a:spcPts val="2799"/>
                </a:lnSpc>
              </a:pPr>
              <a:r>
                <a:rPr lang="en-US" b="true" sz="1999">
                  <a:solidFill>
                    <a:srgbClr val="000000"/>
                  </a:solidFill>
                  <a:latin typeface="Raleway Bold"/>
                  <a:ea typeface="Raleway Bold"/>
                  <a:cs typeface="Raleway Bold"/>
                  <a:sym typeface="Raleway Bold"/>
                </a:rPr>
                <a:t>Monitoring</a:t>
              </a:r>
            </a:p>
          </p:txBody>
        </p:sp>
      </p:grpSp>
      <p:sp>
        <p:nvSpPr>
          <p:cNvPr name="AutoShape 28" id="28"/>
          <p:cNvSpPr/>
          <p:nvPr/>
        </p:nvSpPr>
        <p:spPr>
          <a:xfrm flipV="true">
            <a:off x="13054367" y="7285175"/>
            <a:ext cx="1060853" cy="0"/>
          </a:xfrm>
          <a:prstGeom prst="line">
            <a:avLst/>
          </a:prstGeom>
          <a:ln cap="flat" w="38100">
            <a:solidFill>
              <a:srgbClr val="000000"/>
            </a:solidFill>
            <a:prstDash val="solid"/>
            <a:headEnd type="none" len="sm" w="sm"/>
            <a:tailEnd type="triangle" len="med" w="lg"/>
          </a:ln>
        </p:spPr>
      </p:sp>
      <p:grpSp>
        <p:nvGrpSpPr>
          <p:cNvPr name="Group 29" id="29"/>
          <p:cNvGrpSpPr/>
          <p:nvPr/>
        </p:nvGrpSpPr>
        <p:grpSpPr>
          <a:xfrm rot="0">
            <a:off x="9461761" y="6842733"/>
            <a:ext cx="4002388" cy="884883"/>
            <a:chOff x="0" y="0"/>
            <a:chExt cx="992339" cy="219395"/>
          </a:xfrm>
        </p:grpSpPr>
        <p:sp>
          <p:nvSpPr>
            <p:cNvPr name="Freeform 30" id="30"/>
            <p:cNvSpPr/>
            <p:nvPr/>
          </p:nvSpPr>
          <p:spPr>
            <a:xfrm flipH="false" flipV="false" rot="0">
              <a:off x="0" y="0"/>
              <a:ext cx="992339" cy="219395"/>
            </a:xfrm>
            <a:custGeom>
              <a:avLst/>
              <a:gdLst/>
              <a:ahLst/>
              <a:cxnLst/>
              <a:rect r="r" b="b" t="t" l="l"/>
              <a:pathLst>
                <a:path h="219395" w="992339">
                  <a:moveTo>
                    <a:pt x="203200" y="0"/>
                  </a:moveTo>
                  <a:lnTo>
                    <a:pt x="992339" y="0"/>
                  </a:lnTo>
                  <a:lnTo>
                    <a:pt x="789139" y="219395"/>
                  </a:lnTo>
                  <a:lnTo>
                    <a:pt x="0" y="219395"/>
                  </a:lnTo>
                  <a:lnTo>
                    <a:pt x="203200" y="0"/>
                  </a:lnTo>
                  <a:close/>
                </a:path>
              </a:pathLst>
            </a:custGeom>
            <a:ln w="28575" cap="sq">
              <a:solidFill>
                <a:srgbClr val="000000"/>
              </a:solidFill>
              <a:prstDash val="solid"/>
              <a:miter/>
            </a:ln>
          </p:spPr>
        </p:sp>
        <p:sp>
          <p:nvSpPr>
            <p:cNvPr name="TextBox 31" id="31"/>
            <p:cNvSpPr txBox="true"/>
            <p:nvPr/>
          </p:nvSpPr>
          <p:spPr>
            <a:xfrm>
              <a:off x="101600" y="-57150"/>
              <a:ext cx="789139" cy="276545"/>
            </a:xfrm>
            <a:prstGeom prst="rect">
              <a:avLst/>
            </a:prstGeom>
          </p:spPr>
          <p:txBody>
            <a:bodyPr anchor="ctr" rtlCol="false" tIns="50800" lIns="50800" bIns="50800" rIns="50800"/>
            <a:lstStyle/>
            <a:p>
              <a:pPr algn="ctr">
                <a:lnSpc>
                  <a:spcPts val="3359"/>
                </a:lnSpc>
              </a:pPr>
              <a:r>
                <a:rPr lang="en-US" sz="2399">
                  <a:solidFill>
                    <a:srgbClr val="000000"/>
                  </a:solidFill>
                  <a:latin typeface="Raleway"/>
                  <a:ea typeface="Raleway"/>
                  <a:cs typeface="Raleway"/>
                  <a:sym typeface="Raleway"/>
                </a:rPr>
                <a:t>Prediction Output</a:t>
              </a:r>
            </a:p>
          </p:txBody>
        </p:sp>
      </p:grpSp>
      <p:sp>
        <p:nvSpPr>
          <p:cNvPr name="AutoShape 32" id="32"/>
          <p:cNvSpPr/>
          <p:nvPr/>
        </p:nvSpPr>
        <p:spPr>
          <a:xfrm>
            <a:off x="11462955" y="5534151"/>
            <a:ext cx="0" cy="1308582"/>
          </a:xfrm>
          <a:prstGeom prst="line">
            <a:avLst/>
          </a:prstGeom>
          <a:ln cap="flat" w="38100">
            <a:solidFill>
              <a:srgbClr val="000000"/>
            </a:solidFill>
            <a:prstDash val="solid"/>
            <a:headEnd type="none" len="sm" w="sm"/>
            <a:tailEnd type="triangle" len="med" w="lg"/>
          </a:ln>
        </p:spPr>
      </p:sp>
      <p:grpSp>
        <p:nvGrpSpPr>
          <p:cNvPr name="Group 33" id="33"/>
          <p:cNvGrpSpPr/>
          <p:nvPr/>
        </p:nvGrpSpPr>
        <p:grpSpPr>
          <a:xfrm rot="0">
            <a:off x="9890915" y="2714502"/>
            <a:ext cx="3144079" cy="1007378"/>
            <a:chOff x="0" y="0"/>
            <a:chExt cx="779533" cy="249766"/>
          </a:xfrm>
        </p:grpSpPr>
        <p:sp>
          <p:nvSpPr>
            <p:cNvPr name="Freeform 34" id="34"/>
            <p:cNvSpPr/>
            <p:nvPr/>
          </p:nvSpPr>
          <p:spPr>
            <a:xfrm flipH="false" flipV="false" rot="0">
              <a:off x="0" y="0"/>
              <a:ext cx="779533" cy="249766"/>
            </a:xfrm>
            <a:custGeom>
              <a:avLst/>
              <a:gdLst/>
              <a:ahLst/>
              <a:cxnLst/>
              <a:rect r="r" b="b" t="t" l="l"/>
              <a:pathLst>
                <a:path h="249766" w="779533">
                  <a:moveTo>
                    <a:pt x="36936" y="0"/>
                  </a:moveTo>
                  <a:lnTo>
                    <a:pt x="742597" y="0"/>
                  </a:lnTo>
                  <a:cubicBezTo>
                    <a:pt x="752393" y="0"/>
                    <a:pt x="761788" y="3891"/>
                    <a:pt x="768714" y="10818"/>
                  </a:cubicBezTo>
                  <a:cubicBezTo>
                    <a:pt x="775641" y="17745"/>
                    <a:pt x="779533" y="27140"/>
                    <a:pt x="779533" y="36936"/>
                  </a:cubicBezTo>
                  <a:lnTo>
                    <a:pt x="779533" y="212830"/>
                  </a:lnTo>
                  <a:cubicBezTo>
                    <a:pt x="779533" y="222626"/>
                    <a:pt x="775641" y="232021"/>
                    <a:pt x="768714" y="238948"/>
                  </a:cubicBezTo>
                  <a:cubicBezTo>
                    <a:pt x="761788" y="245874"/>
                    <a:pt x="752393" y="249766"/>
                    <a:pt x="742597" y="249766"/>
                  </a:cubicBezTo>
                  <a:lnTo>
                    <a:pt x="36936" y="249766"/>
                  </a:lnTo>
                  <a:cubicBezTo>
                    <a:pt x="27140" y="249766"/>
                    <a:pt x="17745" y="245874"/>
                    <a:pt x="10818" y="238948"/>
                  </a:cubicBezTo>
                  <a:cubicBezTo>
                    <a:pt x="3891" y="232021"/>
                    <a:pt x="0" y="222626"/>
                    <a:pt x="0" y="212830"/>
                  </a:cubicBezTo>
                  <a:lnTo>
                    <a:pt x="0" y="36936"/>
                  </a:lnTo>
                  <a:cubicBezTo>
                    <a:pt x="0" y="27140"/>
                    <a:pt x="3891" y="17745"/>
                    <a:pt x="10818" y="10818"/>
                  </a:cubicBezTo>
                  <a:cubicBezTo>
                    <a:pt x="17745" y="3891"/>
                    <a:pt x="27140" y="0"/>
                    <a:pt x="36936" y="0"/>
                  </a:cubicBezTo>
                  <a:close/>
                </a:path>
              </a:pathLst>
            </a:custGeom>
            <a:ln w="28575" cap="sq">
              <a:solidFill>
                <a:srgbClr val="000000"/>
              </a:solidFill>
              <a:prstDash val="solid"/>
              <a:miter/>
            </a:ln>
          </p:spPr>
        </p:sp>
        <p:sp>
          <p:nvSpPr>
            <p:cNvPr name="TextBox 35" id="35"/>
            <p:cNvSpPr txBox="true"/>
            <p:nvPr/>
          </p:nvSpPr>
          <p:spPr>
            <a:xfrm>
              <a:off x="0" y="-47625"/>
              <a:ext cx="779533" cy="297391"/>
            </a:xfrm>
            <a:prstGeom prst="rect">
              <a:avLst/>
            </a:prstGeom>
          </p:spPr>
          <p:txBody>
            <a:bodyPr anchor="ctr" rtlCol="false" tIns="254000" lIns="254000" bIns="254000" rIns="254000"/>
            <a:lstStyle/>
            <a:p>
              <a:pPr algn="ctr">
                <a:lnSpc>
                  <a:spcPts val="2799"/>
                </a:lnSpc>
              </a:pPr>
              <a:r>
                <a:rPr lang="en-US" b="true" sz="1999">
                  <a:solidFill>
                    <a:srgbClr val="000000"/>
                  </a:solidFill>
                  <a:latin typeface="Raleway Bold"/>
                  <a:ea typeface="Raleway Bold"/>
                  <a:cs typeface="Raleway Bold"/>
                  <a:sym typeface="Raleway Bold"/>
                </a:rPr>
                <a:t>Model Evaluation</a:t>
              </a:r>
            </a:p>
          </p:txBody>
        </p:sp>
      </p:gr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TextBox 3" id="3"/>
          <p:cNvSpPr txBox="true"/>
          <p:nvPr/>
        </p:nvSpPr>
        <p:spPr>
          <a:xfrm rot="0">
            <a:off x="702291" y="350823"/>
            <a:ext cx="6346307" cy="1062670"/>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Version Control</a:t>
            </a:r>
          </a:p>
        </p:txBody>
      </p:sp>
      <p:sp>
        <p:nvSpPr>
          <p:cNvPr name="Freeform 4" id="4">
            <a:hlinkClick r:id="rId4" tooltip="https://github.com/fadlinur/Final-Project.git"/>
          </p:cNvPr>
          <p:cNvSpPr/>
          <p:nvPr/>
        </p:nvSpPr>
        <p:spPr>
          <a:xfrm flipH="false" flipV="false" rot="0">
            <a:off x="7799681" y="3525449"/>
            <a:ext cx="2688638" cy="2584453"/>
          </a:xfrm>
          <a:custGeom>
            <a:avLst/>
            <a:gdLst/>
            <a:ahLst/>
            <a:cxnLst/>
            <a:rect r="r" b="b" t="t" l="l"/>
            <a:pathLst>
              <a:path h="2584453" w="2688638">
                <a:moveTo>
                  <a:pt x="0" y="0"/>
                </a:moveTo>
                <a:lnTo>
                  <a:pt x="2688638" y="0"/>
                </a:lnTo>
                <a:lnTo>
                  <a:pt x="2688638" y="2584453"/>
                </a:lnTo>
                <a:lnTo>
                  <a:pt x="0" y="2584453"/>
                </a:lnTo>
                <a:lnTo>
                  <a:pt x="0" y="0"/>
                </a:lnTo>
                <a:close/>
              </a:path>
            </a:pathLst>
          </a:custGeom>
          <a:blipFill>
            <a:blip r:embed="rId3"/>
            <a:stretch>
              <a:fillRect l="0" t="0" r="0" b="0"/>
            </a:stretch>
          </a:blipFill>
        </p:spPr>
      </p:sp>
      <p:sp>
        <p:nvSpPr>
          <p:cNvPr name="TextBox 5" id="5"/>
          <p:cNvSpPr txBox="true"/>
          <p:nvPr/>
        </p:nvSpPr>
        <p:spPr>
          <a:xfrm rot="0">
            <a:off x="8292353" y="6230555"/>
            <a:ext cx="1703294" cy="583355"/>
          </a:xfrm>
          <a:prstGeom prst="rect">
            <a:avLst/>
          </a:prstGeom>
        </p:spPr>
        <p:txBody>
          <a:bodyPr anchor="t" rtlCol="false" tIns="0" lIns="0" bIns="0" rIns="0">
            <a:spAutoFit/>
          </a:bodyPr>
          <a:lstStyle/>
          <a:p>
            <a:pPr algn="l" marL="0" indent="0" lvl="0">
              <a:lnSpc>
                <a:spcPts val="4593"/>
              </a:lnSpc>
              <a:spcBef>
                <a:spcPct val="0"/>
              </a:spcBef>
            </a:pPr>
            <a:r>
              <a:rPr lang="en-US" sz="3828">
                <a:solidFill>
                  <a:srgbClr val="01FDF5"/>
                </a:solidFill>
                <a:latin typeface="Barlow"/>
                <a:ea typeface="Barlow"/>
                <a:cs typeface="Barlow"/>
                <a:sym typeface="Barlow"/>
              </a:rPr>
              <a:t>GITHUB</a:t>
            </a:r>
          </a:p>
        </p:txBody>
      </p:sp>
      <p:sp>
        <p:nvSpPr>
          <p:cNvPr name="TextBox 6" id="6"/>
          <p:cNvSpPr txBox="true"/>
          <p:nvPr/>
        </p:nvSpPr>
        <p:spPr>
          <a:xfrm rot="0">
            <a:off x="7615364" y="6813909"/>
            <a:ext cx="3057273" cy="428625"/>
          </a:xfrm>
          <a:prstGeom prst="rect">
            <a:avLst/>
          </a:prstGeom>
        </p:spPr>
        <p:txBody>
          <a:bodyPr anchor="t" rtlCol="false" tIns="0" lIns="0" bIns="0" rIns="0">
            <a:spAutoFit/>
          </a:bodyPr>
          <a:lstStyle/>
          <a:p>
            <a:pPr algn="ctr" marL="0" indent="0" lvl="0">
              <a:lnSpc>
                <a:spcPts val="3393"/>
              </a:lnSpc>
              <a:spcBef>
                <a:spcPct val="0"/>
              </a:spcBef>
            </a:pPr>
            <a:r>
              <a:rPr lang="en-US" b="true" sz="2828" u="sng">
                <a:solidFill>
                  <a:srgbClr val="E77E00"/>
                </a:solidFill>
                <a:latin typeface="Barlow Bold"/>
                <a:ea typeface="Barlow Bold"/>
                <a:cs typeface="Barlow Bold"/>
                <a:sym typeface="Barlow Bold"/>
                <a:hlinkClick r:id="rId5" tooltip="https://github.com/fadlinur/Final-Project.git"/>
              </a:rPr>
              <a:t>[click here]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DAHHAUYIHsg</dc:identifier>
  <dcterms:modified xsi:type="dcterms:W3CDTF">2011-08-01T06:04:30Z</dcterms:modified>
  <cp:revision>1</cp:revision>
  <dc:title>Smote PPT Presentasi – Kelompok 2 – HIRESIGHTS</dc:title>
</cp:coreProperties>
</file>