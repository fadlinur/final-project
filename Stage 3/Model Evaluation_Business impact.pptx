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3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8288000" cy="10287000"/>
  <p:notesSz cx="6858000" cy="9144000"/>
  <p:embeddedFontLst>
    <p:embeddedFont>
      <p:font typeface="Raleway Bold" charset="1" panose="00000000000000000000"/>
      <p:regular r:id="rId16"/>
    </p:embeddedFont>
    <p:embeddedFont>
      <p:font typeface="Raleway" charset="1" panose="00000000000000000000"/>
      <p:regular r:id="rId18"/>
    </p:embeddedFont>
    <p:embeddedFont>
      <p:font typeface="Canva Sans Bold" charset="1" panose="020B0803030501040103"/>
      <p:regular r:id="rId19"/>
    </p:embeddedFont>
    <p:embeddedFont>
      <p:font typeface="Canva Sans" charset="1" panose="020B0503030501040103"/>
      <p:regular r:id="rId20"/>
    </p:embeddedFont>
    <p:embeddedFont>
      <p:font typeface="Poppins Bold" charset="1" panose="00000800000000000000"/>
      <p:regular r:id="rId21"/>
    </p:embeddedFont>
    <p:embeddedFont>
      <p:font typeface="Poppins" charset="1" panose="00000500000000000000"/>
      <p:regular r:id="rId22"/>
    </p:embeddedFont>
    <p:embeddedFont>
      <p:font typeface="Barlow Bold" charset="1" panose="0000080000000000000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notesMasters/notesMaster1.xml" Type="http://schemas.openxmlformats.org/officeDocument/2006/relationships/notesMaster"/><Relationship Id="rId14" Target="theme/theme2.xml" Type="http://schemas.openxmlformats.org/officeDocument/2006/relationships/theme"/><Relationship Id="rId15" Target="notesSlides/notesSlide1.xml" Type="http://schemas.openxmlformats.org/officeDocument/2006/relationships/notesSlide"/><Relationship Id="rId16" Target="fonts/font16.fntdata" Type="http://schemas.openxmlformats.org/officeDocument/2006/relationships/font"/><Relationship Id="rId17" Target="notesSlides/notesSlide2.xml" Type="http://schemas.openxmlformats.org/officeDocument/2006/relationships/notes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Relationship Id="rId4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https://mekari.com/blog/cara-menghitung-biaya-rekrutmen-karyawan/#:~:text=Agensi%20rekrutmen%20karyawan%20Rp%2055.000.000%2C00;%20Biaya%20on%2Dboarding%20dan%20training%20sebesar%20Rp%205.500.000%2C00." TargetMode="External" Type="http://schemas.openxmlformats.org/officeDocument/2006/relationships/hyperlink"/><Relationship Id="rId4" Target="https://mekari.com/blog/cara-menghitung-biaya-rekrutmen-karyawan/#:~:text=Agensi%20rekrutmen%20karyawan%20Rp%2055.000.000%2C00;%20Biaya%20on%2Dboarding%20dan%20training%20sebesar%20Rp%205.500.000%2C00." TargetMode="External" Type="http://schemas.openxmlformats.org/officeDocument/2006/relationships/hyperlink"/><Relationship Id="rId5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455601" y="3624900"/>
            <a:ext cx="15376798" cy="4150353"/>
            <a:chOff x="0" y="0"/>
            <a:chExt cx="20502397" cy="553380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502400" cy="5533805"/>
            </a:xfrm>
            <a:custGeom>
              <a:avLst/>
              <a:gdLst/>
              <a:ahLst/>
              <a:cxnLst/>
              <a:rect r="r" b="b" t="t" l="l"/>
              <a:pathLst>
                <a:path h="5533805" w="20502400">
                  <a:moveTo>
                    <a:pt x="0" y="0"/>
                  </a:moveTo>
                  <a:lnTo>
                    <a:pt x="20502400" y="0"/>
                  </a:lnTo>
                  <a:lnTo>
                    <a:pt x="20502400" y="5533805"/>
                  </a:lnTo>
                  <a:lnTo>
                    <a:pt x="0" y="55338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5601" r="0" b="-8780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-19050"/>
              <a:ext cx="20502397" cy="555285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8640"/>
                </a:lnSpc>
              </a:pPr>
              <a:r>
                <a:rPr lang="en-US" sz="7200" b="true">
                  <a:solidFill>
                    <a:srgbClr val="000000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Data-Driven Recruitment System</a:t>
              </a:r>
            </a:p>
            <a:p>
              <a:pPr algn="ctr">
                <a:lnSpc>
                  <a:spcPts val="5759"/>
                </a:lnSpc>
              </a:pPr>
            </a:p>
            <a:p>
              <a:pPr algn="ctr">
                <a:lnSpc>
                  <a:spcPts val="3359"/>
                </a:lnSpc>
              </a:pPr>
              <a:r>
                <a:rPr lang="en-US" b="true" sz="2799">
                  <a:solidFill>
                    <a:srgbClr val="18102B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Optimizing</a:t>
              </a:r>
              <a:r>
                <a:rPr lang="en-US" b="true" sz="2799">
                  <a:solidFill>
                    <a:srgbClr val="18102B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 Biased Talent Acquisition Through Data-Driven HR Analytics</a:t>
              </a:r>
            </a:p>
          </p:txBody>
        </p:sp>
      </p:grpSp>
      <p:sp>
        <p:nvSpPr>
          <p:cNvPr name="AutoShape 6" id="6"/>
          <p:cNvSpPr/>
          <p:nvPr/>
        </p:nvSpPr>
        <p:spPr>
          <a:xfrm>
            <a:off x="3037800" y="6390999"/>
            <a:ext cx="12212400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547027" y="4576762"/>
            <a:ext cx="15193947" cy="2209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0"/>
              </a:lnSpc>
            </a:pPr>
            <a:r>
              <a:rPr lang="en-US" sz="7200" b="true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Model Evaluation &amp;</a:t>
            </a:r>
          </a:p>
          <a:p>
            <a:pPr algn="ctr">
              <a:lnSpc>
                <a:spcPts val="8640"/>
              </a:lnSpc>
            </a:pPr>
            <a:r>
              <a:rPr lang="en-US" b="true" sz="7200">
                <a:solidFill>
                  <a:srgbClr val="000000"/>
                </a:solidFill>
                <a:latin typeface="Raleway Bold"/>
                <a:ea typeface="Raleway Bold"/>
                <a:cs typeface="Raleway Bold"/>
                <a:sym typeface="Raleway Bold"/>
              </a:rPr>
              <a:t>Business impact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520" t="0" r="-5578" b="-909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02291" y="350823"/>
            <a:ext cx="7668670" cy="1062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23"/>
              </a:lnSpc>
              <a:spcBef>
                <a:spcPct val="0"/>
              </a:spcBef>
            </a:pPr>
            <a:r>
              <a:rPr lang="en-US" sz="6159">
                <a:solidFill>
                  <a:srgbClr val="18102B"/>
                </a:solidFill>
                <a:latin typeface="Raleway"/>
                <a:ea typeface="Raleway"/>
                <a:cs typeface="Raleway"/>
                <a:sym typeface="Raleway"/>
              </a:rPr>
              <a:t>Model Comparison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168628" y="2418031"/>
            <a:ext cx="7473288" cy="2374991"/>
            <a:chOff x="0" y="0"/>
            <a:chExt cx="9964384" cy="3166655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964384" cy="3166655"/>
              <a:chOff x="0" y="0"/>
              <a:chExt cx="1968273" cy="625512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1968273" cy="625512"/>
              </a:xfrm>
              <a:custGeom>
                <a:avLst/>
                <a:gdLst/>
                <a:ahLst/>
                <a:cxnLst/>
                <a:rect r="r" b="b" t="t" l="l"/>
                <a:pathLst>
                  <a:path h="625512" w="1968273">
                    <a:moveTo>
                      <a:pt x="52833" y="0"/>
                    </a:moveTo>
                    <a:lnTo>
                      <a:pt x="1915440" y="0"/>
                    </a:lnTo>
                    <a:cubicBezTo>
                      <a:pt x="1929453" y="0"/>
                      <a:pt x="1942891" y="5566"/>
                      <a:pt x="1952799" y="15474"/>
                    </a:cubicBezTo>
                    <a:cubicBezTo>
                      <a:pt x="1962707" y="25383"/>
                      <a:pt x="1968273" y="38821"/>
                      <a:pt x="1968273" y="52833"/>
                    </a:cubicBezTo>
                    <a:lnTo>
                      <a:pt x="1968273" y="572679"/>
                    </a:lnTo>
                    <a:cubicBezTo>
                      <a:pt x="1968273" y="601858"/>
                      <a:pt x="1944619" y="625512"/>
                      <a:pt x="1915440" y="625512"/>
                    </a:cubicBezTo>
                    <a:lnTo>
                      <a:pt x="52833" y="625512"/>
                    </a:lnTo>
                    <a:cubicBezTo>
                      <a:pt x="23654" y="625512"/>
                      <a:pt x="0" y="601858"/>
                      <a:pt x="0" y="572679"/>
                    </a:cubicBezTo>
                    <a:lnTo>
                      <a:pt x="0" y="52833"/>
                    </a:lnTo>
                    <a:cubicBezTo>
                      <a:pt x="0" y="23654"/>
                      <a:pt x="23654" y="0"/>
                      <a:pt x="52833" y="0"/>
                    </a:cubicBezTo>
                    <a:close/>
                  </a:path>
                </a:pathLst>
              </a:custGeom>
              <a:solidFill>
                <a:srgbClr val="A1C7CE"/>
              </a:solidFill>
              <a:ln w="85725" cap="rnd">
                <a:solidFill>
                  <a:srgbClr val="505050"/>
                </a:solidFill>
                <a:prstDash val="solid"/>
                <a:round/>
              </a:ln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-9525"/>
                <a:ext cx="1968273" cy="63503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491"/>
                  </a:lnSpc>
                </a:pPr>
              </a:p>
            </p:txBody>
          </p:sp>
        </p:grpSp>
        <p:sp>
          <p:nvSpPr>
            <p:cNvPr name="TextBox 8" id="8"/>
            <p:cNvSpPr txBox="true"/>
            <p:nvPr/>
          </p:nvSpPr>
          <p:spPr>
            <a:xfrm rot="0">
              <a:off x="1317159" y="1124166"/>
              <a:ext cx="3226158" cy="5303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120"/>
                </a:lnSpc>
                <a:spcBef>
                  <a:spcPct val="0"/>
                </a:spcBef>
              </a:pPr>
              <a:r>
                <a:rPr lang="en-US" b="true" sz="2600">
                  <a:solidFill>
                    <a:srgbClr val="18102B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F1 S</a:t>
              </a:r>
              <a:r>
                <a:rPr lang="en-US" b="true" sz="2600">
                  <a:solidFill>
                    <a:srgbClr val="18102B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core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5421067" y="1124254"/>
              <a:ext cx="3226158" cy="5303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120"/>
                </a:lnSpc>
                <a:spcBef>
                  <a:spcPct val="0"/>
                </a:spcBef>
              </a:pPr>
              <a:r>
                <a:rPr lang="en-US" b="true" sz="2600">
                  <a:solidFill>
                    <a:srgbClr val="18102B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ROC AUC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142955" y="1637357"/>
              <a:ext cx="3226158" cy="12032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7080"/>
                </a:lnSpc>
                <a:spcBef>
                  <a:spcPct val="0"/>
                </a:spcBef>
              </a:pP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1317159" y="1645042"/>
              <a:ext cx="3226158" cy="12032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7080"/>
                </a:lnSpc>
                <a:spcBef>
                  <a:spcPct val="0"/>
                </a:spcBef>
              </a:pPr>
              <a:r>
                <a:rPr lang="en-US" sz="5900">
                  <a:solidFill>
                    <a:srgbClr val="18102B"/>
                  </a:solidFill>
                  <a:latin typeface="Raleway"/>
                  <a:ea typeface="Raleway"/>
                  <a:cs typeface="Raleway"/>
                  <a:sym typeface="Raleway"/>
                </a:rPr>
                <a:t>77.5%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5414717" y="1645130"/>
              <a:ext cx="3238858" cy="12032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7080"/>
                </a:lnSpc>
                <a:spcBef>
                  <a:spcPct val="0"/>
                </a:spcBef>
              </a:pPr>
              <a:r>
                <a:rPr lang="en-US" sz="5900">
                  <a:solidFill>
                    <a:srgbClr val="18102B"/>
                  </a:solidFill>
                  <a:latin typeface="Raleway"/>
                  <a:ea typeface="Raleway"/>
                  <a:cs typeface="Raleway"/>
                  <a:sym typeface="Raleway"/>
                </a:rPr>
                <a:t>88.9%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2930238" y="218547"/>
              <a:ext cx="4103908" cy="5303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120"/>
                </a:lnSpc>
                <a:spcBef>
                  <a:spcPct val="0"/>
                </a:spcBef>
              </a:pPr>
              <a:r>
                <a:rPr lang="en-US" b="true" sz="2600">
                  <a:solidFill>
                    <a:srgbClr val="18102B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Logistic Regression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9144000" y="2418031"/>
            <a:ext cx="8506047" cy="5542664"/>
            <a:chOff x="0" y="0"/>
            <a:chExt cx="2319170" cy="151120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319170" cy="1511205"/>
            </a:xfrm>
            <a:custGeom>
              <a:avLst/>
              <a:gdLst/>
              <a:ahLst/>
              <a:cxnLst/>
              <a:rect r="r" b="b" t="t" l="l"/>
              <a:pathLst>
                <a:path h="1511205" w="2319170">
                  <a:moveTo>
                    <a:pt x="45508" y="0"/>
                  </a:moveTo>
                  <a:lnTo>
                    <a:pt x="2273662" y="0"/>
                  </a:lnTo>
                  <a:cubicBezTo>
                    <a:pt x="2285731" y="0"/>
                    <a:pt x="2297307" y="4795"/>
                    <a:pt x="2305841" y="13329"/>
                  </a:cubicBezTo>
                  <a:cubicBezTo>
                    <a:pt x="2314376" y="21864"/>
                    <a:pt x="2319170" y="33439"/>
                    <a:pt x="2319170" y="45508"/>
                  </a:cubicBezTo>
                  <a:lnTo>
                    <a:pt x="2319170" y="1465697"/>
                  </a:lnTo>
                  <a:cubicBezTo>
                    <a:pt x="2319170" y="1490830"/>
                    <a:pt x="2298796" y="1511205"/>
                    <a:pt x="2273662" y="1511205"/>
                  </a:cubicBezTo>
                  <a:lnTo>
                    <a:pt x="45508" y="1511205"/>
                  </a:lnTo>
                  <a:cubicBezTo>
                    <a:pt x="20375" y="1511205"/>
                    <a:pt x="0" y="1490830"/>
                    <a:pt x="0" y="1465697"/>
                  </a:cubicBezTo>
                  <a:lnTo>
                    <a:pt x="0" y="45508"/>
                  </a:lnTo>
                  <a:cubicBezTo>
                    <a:pt x="0" y="20375"/>
                    <a:pt x="20375" y="0"/>
                    <a:pt x="45508" y="0"/>
                  </a:cubicBezTo>
                  <a:close/>
                </a:path>
              </a:pathLst>
            </a:custGeom>
            <a:solidFill>
              <a:srgbClr val="A1C7CE"/>
            </a:solidFill>
            <a:ln w="57150" cap="rnd">
              <a:solidFill>
                <a:srgbClr val="505050"/>
              </a:soli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2319170" cy="1530255"/>
            </a:xfrm>
            <a:prstGeom prst="rect">
              <a:avLst/>
            </a:prstGeom>
          </p:spPr>
          <p:txBody>
            <a:bodyPr anchor="ctr" rtlCol="false" tIns="49361" lIns="49361" bIns="49361" rIns="49361"/>
            <a:lstStyle/>
            <a:p>
              <a:pPr algn="l" marL="453390" indent="-226695" lvl="1">
                <a:lnSpc>
                  <a:spcPts val="2520"/>
                </a:lnSpc>
                <a:buFont typeface="Arial"/>
                <a:buChar char="•"/>
              </a:pPr>
              <a:r>
                <a:rPr lang="en-US" sz="2100" spc="8">
                  <a:solidFill>
                    <a:srgbClr val="000000"/>
                  </a:solidFill>
                  <a:latin typeface="Raleway"/>
                  <a:ea typeface="Raleway"/>
                  <a:cs typeface="Raleway"/>
                  <a:sym typeface="Raleway"/>
                </a:rPr>
                <a:t>XGBoost outperformed Logistic Regression across all metrics.</a:t>
              </a:r>
            </a:p>
            <a:p>
              <a:pPr algn="l">
                <a:lnSpc>
                  <a:spcPts val="2520"/>
                </a:lnSpc>
              </a:pPr>
            </a:p>
            <a:p>
              <a:pPr algn="l" marL="453390" indent="-226695" lvl="1">
                <a:lnSpc>
                  <a:spcPts val="2520"/>
                </a:lnSpc>
                <a:buFont typeface="Arial"/>
                <a:buChar char="•"/>
              </a:pPr>
              <a:r>
                <a:rPr lang="en-US" sz="2100" spc="8">
                  <a:solidFill>
                    <a:srgbClr val="000000"/>
                  </a:solidFill>
                  <a:latin typeface="Raleway"/>
                  <a:ea typeface="Raleway"/>
                  <a:cs typeface="Raleway"/>
                  <a:sym typeface="Raleway"/>
                </a:rPr>
                <a:t>F1 Score  (77.5% → 84.7%). This quite sharp increase proves that the model is now more balanced and consistent in maintaining the quality of predictions between Precision and Recall.</a:t>
              </a:r>
            </a:p>
            <a:p>
              <a:pPr algn="l">
                <a:lnSpc>
                  <a:spcPts val="2520"/>
                </a:lnSpc>
              </a:pPr>
            </a:p>
            <a:p>
              <a:pPr algn="l" marL="453390" indent="-226695" lvl="1">
                <a:lnSpc>
                  <a:spcPts val="2520"/>
                </a:lnSpc>
                <a:buFont typeface="Arial"/>
                <a:buChar char="•"/>
              </a:pPr>
              <a:r>
                <a:rPr lang="en-US" sz="2100" spc="8">
                  <a:solidFill>
                    <a:srgbClr val="000000"/>
                  </a:solidFill>
                  <a:latin typeface="Raleway"/>
                  <a:ea typeface="Raleway"/>
                  <a:cs typeface="Raleway"/>
                  <a:sym typeface="Raleway"/>
                </a:rPr>
                <a:t>While both models had high ROC-AUC scores, XGBoost was slightly better (88.9% → 91.3%).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168628" y="5585703"/>
            <a:ext cx="7473288" cy="2374991"/>
            <a:chOff x="0" y="0"/>
            <a:chExt cx="9964384" cy="3166655"/>
          </a:xfrm>
        </p:grpSpPr>
        <p:grpSp>
          <p:nvGrpSpPr>
            <p:cNvPr name="Group 18" id="18"/>
            <p:cNvGrpSpPr/>
            <p:nvPr/>
          </p:nvGrpSpPr>
          <p:grpSpPr>
            <a:xfrm rot="0">
              <a:off x="0" y="0"/>
              <a:ext cx="9964384" cy="3166655"/>
              <a:chOff x="0" y="0"/>
              <a:chExt cx="1968273" cy="625512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968273" cy="625512"/>
              </a:xfrm>
              <a:custGeom>
                <a:avLst/>
                <a:gdLst/>
                <a:ahLst/>
                <a:cxnLst/>
                <a:rect r="r" b="b" t="t" l="l"/>
                <a:pathLst>
                  <a:path h="625512" w="1968273">
                    <a:moveTo>
                      <a:pt x="52833" y="0"/>
                    </a:moveTo>
                    <a:lnTo>
                      <a:pt x="1915440" y="0"/>
                    </a:lnTo>
                    <a:cubicBezTo>
                      <a:pt x="1929453" y="0"/>
                      <a:pt x="1942891" y="5566"/>
                      <a:pt x="1952799" y="15474"/>
                    </a:cubicBezTo>
                    <a:cubicBezTo>
                      <a:pt x="1962707" y="25383"/>
                      <a:pt x="1968273" y="38821"/>
                      <a:pt x="1968273" y="52833"/>
                    </a:cubicBezTo>
                    <a:lnTo>
                      <a:pt x="1968273" y="572679"/>
                    </a:lnTo>
                    <a:cubicBezTo>
                      <a:pt x="1968273" y="601858"/>
                      <a:pt x="1944619" y="625512"/>
                      <a:pt x="1915440" y="625512"/>
                    </a:cubicBezTo>
                    <a:lnTo>
                      <a:pt x="52833" y="625512"/>
                    </a:lnTo>
                    <a:cubicBezTo>
                      <a:pt x="23654" y="625512"/>
                      <a:pt x="0" y="601858"/>
                      <a:pt x="0" y="572679"/>
                    </a:cubicBezTo>
                    <a:lnTo>
                      <a:pt x="0" y="52833"/>
                    </a:lnTo>
                    <a:cubicBezTo>
                      <a:pt x="0" y="23654"/>
                      <a:pt x="23654" y="0"/>
                      <a:pt x="52833" y="0"/>
                    </a:cubicBezTo>
                    <a:close/>
                  </a:path>
                </a:pathLst>
              </a:custGeom>
              <a:solidFill>
                <a:srgbClr val="A1C7CE"/>
              </a:solidFill>
              <a:ln w="85725" cap="rnd">
                <a:solidFill>
                  <a:srgbClr val="505050"/>
                </a:solidFill>
                <a:prstDash val="solid"/>
                <a:round/>
              </a:ln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9525"/>
                <a:ext cx="1968273" cy="63503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491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1317159" y="1053014"/>
              <a:ext cx="3226158" cy="5303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120"/>
                </a:lnSpc>
                <a:spcBef>
                  <a:spcPct val="0"/>
                </a:spcBef>
              </a:pPr>
              <a:r>
                <a:rPr lang="en-US" b="true" sz="2600">
                  <a:solidFill>
                    <a:srgbClr val="18102B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F1 S</a:t>
              </a:r>
              <a:r>
                <a:rPr lang="en-US" b="true" sz="2600">
                  <a:solidFill>
                    <a:srgbClr val="18102B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core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5421067" y="1124078"/>
              <a:ext cx="3226158" cy="5303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120"/>
                </a:lnSpc>
                <a:spcBef>
                  <a:spcPct val="0"/>
                </a:spcBef>
              </a:pPr>
              <a:r>
                <a:rPr lang="en-US" b="true" sz="2600">
                  <a:solidFill>
                    <a:srgbClr val="18102B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ROC AUC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1317159" y="1644954"/>
              <a:ext cx="3226158" cy="12032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7080"/>
                </a:lnSpc>
                <a:spcBef>
                  <a:spcPct val="0"/>
                </a:spcBef>
              </a:pPr>
              <a:r>
                <a:rPr lang="en-US" sz="5900">
                  <a:solidFill>
                    <a:srgbClr val="18102B"/>
                  </a:solidFill>
                  <a:latin typeface="Raleway"/>
                  <a:ea typeface="Raleway"/>
                  <a:cs typeface="Raleway"/>
                  <a:sym typeface="Raleway"/>
                </a:rPr>
                <a:t>84.7%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5414717" y="1573891"/>
              <a:ext cx="3238858" cy="12032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7080"/>
                </a:lnSpc>
                <a:spcBef>
                  <a:spcPct val="0"/>
                </a:spcBef>
              </a:pPr>
              <a:r>
                <a:rPr lang="en-US" sz="5900">
                  <a:solidFill>
                    <a:srgbClr val="18102B"/>
                  </a:solidFill>
                  <a:latin typeface="Raleway"/>
                  <a:ea typeface="Raleway"/>
                  <a:cs typeface="Raleway"/>
                  <a:sym typeface="Raleway"/>
                </a:rPr>
                <a:t>91.3%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2930238" y="218547"/>
              <a:ext cx="4103908" cy="530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120"/>
                </a:lnSpc>
                <a:spcBef>
                  <a:spcPct val="0"/>
                </a:spcBef>
              </a:pPr>
              <a:r>
                <a:rPr lang="en-US" b="true" sz="2600">
                  <a:solidFill>
                    <a:srgbClr val="18102B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XGB</a:t>
              </a:r>
              <a:r>
                <a:rPr lang="en-US" b="true" sz="2600">
                  <a:solidFill>
                    <a:srgbClr val="18102B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oost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520" t="0" r="-5578" b="-9099"/>
            </a:stretch>
          </a:blipFill>
        </p:spPr>
      </p:sp>
      <p:graphicFrame>
        <p:nvGraphicFramePr>
          <p:cNvPr name="Table 3" id="3"/>
          <p:cNvGraphicFramePr>
            <a:graphicFrameLocks noGrp="true"/>
          </p:cNvGraphicFramePr>
          <p:nvPr/>
        </p:nvGraphicFramePr>
        <p:xfrm>
          <a:off x="1028700" y="1520853"/>
          <a:ext cx="8556024" cy="5686425"/>
        </p:xfrm>
        <a:graphic>
          <a:graphicData uri="http://schemas.openxmlformats.org/drawingml/2006/table">
            <a:tbl>
              <a:tblPr/>
              <a:tblGrid>
                <a:gridCol w="2547105"/>
                <a:gridCol w="2247273"/>
                <a:gridCol w="852402"/>
                <a:gridCol w="1256524"/>
                <a:gridCol w="1652719"/>
              </a:tblGrid>
              <a:tr h="51694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Feature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Subset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count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positives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positive_rate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</a:tr>
              <a:tr h="51694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b="true" sz="1648">
                          <a:solidFill>
                            <a:srgbClr val="000000"/>
                          </a:solidFill>
                          <a:latin typeface="Raleway Bold"/>
                          <a:ea typeface="Raleway Bold"/>
                          <a:cs typeface="Raleway Bold"/>
                          <a:sym typeface="Raleway Bold"/>
                        </a:rPr>
                        <a:t>RecruitmentStrategy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External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237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27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0.114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694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b="true" sz="1648">
                          <a:solidFill>
                            <a:srgbClr val="000000"/>
                          </a:solidFill>
                          <a:latin typeface="Raleway Bold"/>
                          <a:ea typeface="Raleway Bold"/>
                          <a:cs typeface="Raleway Bold"/>
                          <a:sym typeface="Raleway Bold"/>
                        </a:rPr>
                        <a:t>RecruitmentStrategy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Internal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133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92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0.692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694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Raleway Bold"/>
                          <a:ea typeface="Raleway Bold"/>
                          <a:cs typeface="Raleway Bold"/>
                          <a:sym typeface="Raleway Bold"/>
                        </a:rPr>
                        <a:t>RecruitmentStrategy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Referral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80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0.125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694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Raleway Bold"/>
                          <a:ea typeface="Raleway Bold"/>
                          <a:cs typeface="Raleway Bold"/>
                          <a:sym typeface="Raleway Bold"/>
                        </a:rPr>
                        <a:t>EducationLevel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Diploma/Bachelor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225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46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0.204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694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Raleway Bold"/>
                          <a:ea typeface="Raleway Bold"/>
                          <a:cs typeface="Raleway Bold"/>
                          <a:sym typeface="Raleway Bold"/>
                        </a:rPr>
                        <a:t>EducationLevel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High School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98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25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0.255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694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Raleway Bold"/>
                          <a:ea typeface="Raleway Bold"/>
                          <a:cs typeface="Raleway Bold"/>
                          <a:sym typeface="Raleway Bold"/>
                        </a:rPr>
                        <a:t>EducationLevel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Magister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92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38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0.413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694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Raleway Bold"/>
                          <a:ea typeface="Raleway Bold"/>
                          <a:cs typeface="Raleway Bold"/>
                          <a:sym typeface="Raleway Bold"/>
                        </a:rPr>
                        <a:t>EducationLevel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PhD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35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0.571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694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Raleway Bold"/>
                          <a:ea typeface="Raleway Bold"/>
                          <a:cs typeface="Raleway Bold"/>
                          <a:sym typeface="Raleway Bold"/>
                        </a:rPr>
                        <a:t>ExperienceLevel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Junior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48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0.167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694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Raleway Bold"/>
                          <a:ea typeface="Raleway Bold"/>
                          <a:cs typeface="Raleway Bold"/>
                          <a:sym typeface="Raleway Bold"/>
                        </a:rPr>
                        <a:t>ExperienceLevel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Medior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118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0.254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694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Raleway Bold"/>
                          <a:ea typeface="Raleway Bold"/>
                          <a:cs typeface="Raleway Bold"/>
                          <a:sym typeface="Raleway Bold"/>
                        </a:rPr>
                        <a:t>ExperienceLevel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Senior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284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91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0.32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grpSp>
        <p:nvGrpSpPr>
          <p:cNvPr name="Group 4" id="4"/>
          <p:cNvGrpSpPr/>
          <p:nvPr/>
        </p:nvGrpSpPr>
        <p:grpSpPr>
          <a:xfrm rot="0">
            <a:off x="1028700" y="7312053"/>
            <a:ext cx="8738606" cy="2772258"/>
            <a:chOff x="0" y="0"/>
            <a:chExt cx="2382577" cy="75585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382577" cy="755855"/>
            </a:xfrm>
            <a:custGeom>
              <a:avLst/>
              <a:gdLst/>
              <a:ahLst/>
              <a:cxnLst/>
              <a:rect r="r" b="b" t="t" l="l"/>
              <a:pathLst>
                <a:path h="755855" w="2382577">
                  <a:moveTo>
                    <a:pt x="44297" y="0"/>
                  </a:moveTo>
                  <a:lnTo>
                    <a:pt x="2338280" y="0"/>
                  </a:lnTo>
                  <a:cubicBezTo>
                    <a:pt x="2350029" y="0"/>
                    <a:pt x="2361296" y="4667"/>
                    <a:pt x="2369603" y="12974"/>
                  </a:cubicBezTo>
                  <a:cubicBezTo>
                    <a:pt x="2377910" y="21282"/>
                    <a:pt x="2382577" y="32549"/>
                    <a:pt x="2382577" y="44297"/>
                  </a:cubicBezTo>
                  <a:lnTo>
                    <a:pt x="2382577" y="711558"/>
                  </a:lnTo>
                  <a:cubicBezTo>
                    <a:pt x="2382577" y="723306"/>
                    <a:pt x="2377910" y="734573"/>
                    <a:pt x="2369603" y="742881"/>
                  </a:cubicBezTo>
                  <a:cubicBezTo>
                    <a:pt x="2361296" y="751188"/>
                    <a:pt x="2350029" y="755855"/>
                    <a:pt x="2338280" y="755855"/>
                  </a:cubicBezTo>
                  <a:lnTo>
                    <a:pt x="44297" y="755855"/>
                  </a:lnTo>
                  <a:cubicBezTo>
                    <a:pt x="32549" y="755855"/>
                    <a:pt x="21282" y="751188"/>
                    <a:pt x="12974" y="742881"/>
                  </a:cubicBezTo>
                  <a:cubicBezTo>
                    <a:pt x="4667" y="734573"/>
                    <a:pt x="0" y="723306"/>
                    <a:pt x="0" y="711558"/>
                  </a:cubicBezTo>
                  <a:lnTo>
                    <a:pt x="0" y="44297"/>
                  </a:lnTo>
                  <a:cubicBezTo>
                    <a:pt x="0" y="32549"/>
                    <a:pt x="4667" y="21282"/>
                    <a:pt x="12974" y="12974"/>
                  </a:cubicBezTo>
                  <a:cubicBezTo>
                    <a:pt x="21282" y="4667"/>
                    <a:pt x="32549" y="0"/>
                    <a:pt x="44297" y="0"/>
                  </a:cubicBezTo>
                  <a:close/>
                </a:path>
              </a:pathLst>
            </a:custGeom>
            <a:solidFill>
              <a:srgbClr val="A1C7CE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9525"/>
              <a:ext cx="2382577" cy="765380"/>
            </a:xfrm>
            <a:prstGeom prst="rect">
              <a:avLst/>
            </a:prstGeom>
          </p:spPr>
          <p:txBody>
            <a:bodyPr anchor="ctr" rtlCol="false" tIns="49361" lIns="49361" bIns="49361" rIns="49361"/>
            <a:lstStyle/>
            <a:p>
              <a:pPr algn="l" marL="323853" indent="-161927" lvl="1">
                <a:lnSpc>
                  <a:spcPts val="1800"/>
                </a:lnSpc>
                <a:buFont typeface="Arial"/>
                <a:buChar char="•"/>
              </a:pPr>
              <a:r>
                <a:rPr lang="en-US" b="true" sz="1500" spc="6">
                  <a:solidFill>
                    <a:srgbClr val="000000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Recruitment Strategy: </a:t>
              </a:r>
              <a:r>
                <a:rPr lang="en-US" sz="1500" spc="6">
                  <a:solidFill>
                    <a:srgbClr val="000000"/>
                  </a:solidFill>
                  <a:latin typeface="Raleway"/>
                  <a:ea typeface="Raleway"/>
                  <a:cs typeface="Raleway"/>
                  <a:sym typeface="Raleway"/>
                </a:rPr>
                <a:t>The model recommends Internal Strategy significantly higher (0.69) than External or Referral Strategy (0.11), indicating a strong preference for internal sources.</a:t>
              </a:r>
            </a:p>
            <a:p>
              <a:pPr algn="ctr">
                <a:lnSpc>
                  <a:spcPts val="1800"/>
                </a:lnSpc>
              </a:pPr>
            </a:p>
            <a:p>
              <a:pPr algn="l" marL="323853" indent="-161927" lvl="1">
                <a:lnSpc>
                  <a:spcPts val="1800"/>
                </a:lnSpc>
                <a:buFont typeface="Arial"/>
                <a:buChar char="•"/>
              </a:pPr>
              <a:r>
                <a:rPr lang="en-US" b="true" sz="1500" spc="6">
                  <a:solidFill>
                    <a:srgbClr val="000000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Educational Level: </a:t>
              </a:r>
              <a:r>
                <a:rPr lang="en-US" sz="1500" spc="6">
                  <a:solidFill>
                    <a:srgbClr val="000000"/>
                  </a:solidFill>
                  <a:latin typeface="Raleway"/>
                  <a:ea typeface="Raleway"/>
                  <a:cs typeface="Raleway"/>
                  <a:sym typeface="Raleway"/>
                </a:rPr>
                <a:t>The model tends to recommend candidates with higher education, particularly Master's (0.41) and PhD (0.57) graduates, compared to candidates with a high school or bachelor's degree (0.20 - 0.35)</a:t>
              </a:r>
            </a:p>
            <a:p>
              <a:pPr algn="ctr">
                <a:lnSpc>
                  <a:spcPts val="1800"/>
                </a:lnSpc>
              </a:pPr>
            </a:p>
            <a:p>
              <a:pPr algn="l" marL="323853" indent="-161927" lvl="1">
                <a:lnSpc>
                  <a:spcPts val="1800"/>
                </a:lnSpc>
                <a:buFont typeface="Arial"/>
                <a:buChar char="•"/>
              </a:pPr>
              <a:r>
                <a:rPr lang="en-US" b="true" sz="1500" spc="6">
                  <a:solidFill>
                    <a:srgbClr val="000000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Experience Level: </a:t>
              </a:r>
              <a:r>
                <a:rPr lang="en-US" sz="1500" spc="6">
                  <a:solidFill>
                    <a:srgbClr val="000000"/>
                  </a:solidFill>
                  <a:latin typeface="Raleway"/>
                  <a:ea typeface="Raleway"/>
                  <a:cs typeface="Raleway"/>
                  <a:sym typeface="Raleway"/>
                </a:rPr>
                <a:t>The model prioritizes senior candidates, but the difference in positive rates across experience levels (Junior, Intermediate, Senior) does not show the extreme gaps found in education or recruitment strategy categories.</a:t>
              </a:r>
            </a:p>
          </p:txBody>
        </p:sp>
      </p:grpSp>
      <p:graphicFrame>
        <p:nvGraphicFramePr>
          <p:cNvPr name="Table 7" id="7"/>
          <p:cNvGraphicFramePr>
            <a:graphicFrameLocks noGrp="true"/>
          </p:cNvGraphicFramePr>
          <p:nvPr/>
        </p:nvGraphicFramePr>
        <p:xfrm>
          <a:off x="9767306" y="1520853"/>
          <a:ext cx="8189081" cy="5154934"/>
        </p:xfrm>
        <a:graphic>
          <a:graphicData uri="http://schemas.openxmlformats.org/drawingml/2006/table">
            <a:tbl>
              <a:tblPr/>
              <a:tblGrid>
                <a:gridCol w="2437868"/>
                <a:gridCol w="2150894"/>
                <a:gridCol w="815845"/>
                <a:gridCol w="1202635"/>
                <a:gridCol w="1581839"/>
              </a:tblGrid>
              <a:tr h="51506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Feature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Subset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count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positives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positive_rate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</a:tr>
              <a:tr h="519367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b="true" sz="1648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InterviewScore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Low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154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0.266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506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b="true" sz="1648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InterviewScore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Medium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153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28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0.183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506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InterviewScore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High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143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60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0.42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506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SkillScore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Low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140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25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0.179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506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SkillScore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Medium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151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43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0.285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506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SkillScore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High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159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61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0.384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506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PersonalityScore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Low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161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0.242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506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PersonalityScore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Medium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139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0.216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1506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PersonalityScore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High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150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60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0.4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grpSp>
        <p:nvGrpSpPr>
          <p:cNvPr name="Group 8" id="8"/>
          <p:cNvGrpSpPr/>
          <p:nvPr/>
        </p:nvGrpSpPr>
        <p:grpSpPr>
          <a:xfrm rot="0">
            <a:off x="9910570" y="7207278"/>
            <a:ext cx="8045818" cy="2051022"/>
            <a:chOff x="0" y="0"/>
            <a:chExt cx="2193689" cy="55921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3689" cy="559210"/>
            </a:xfrm>
            <a:custGeom>
              <a:avLst/>
              <a:gdLst/>
              <a:ahLst/>
              <a:cxnLst/>
              <a:rect r="r" b="b" t="t" l="l"/>
              <a:pathLst>
                <a:path h="559210" w="2193689">
                  <a:moveTo>
                    <a:pt x="48111" y="0"/>
                  </a:moveTo>
                  <a:lnTo>
                    <a:pt x="2145578" y="0"/>
                  </a:lnTo>
                  <a:cubicBezTo>
                    <a:pt x="2172149" y="0"/>
                    <a:pt x="2193689" y="21540"/>
                    <a:pt x="2193689" y="48111"/>
                  </a:cubicBezTo>
                  <a:lnTo>
                    <a:pt x="2193689" y="511099"/>
                  </a:lnTo>
                  <a:cubicBezTo>
                    <a:pt x="2193689" y="523859"/>
                    <a:pt x="2188620" y="536096"/>
                    <a:pt x="2179597" y="545119"/>
                  </a:cubicBezTo>
                  <a:cubicBezTo>
                    <a:pt x="2170575" y="554142"/>
                    <a:pt x="2158337" y="559210"/>
                    <a:pt x="2145578" y="559210"/>
                  </a:cubicBezTo>
                  <a:lnTo>
                    <a:pt x="48111" y="559210"/>
                  </a:lnTo>
                  <a:cubicBezTo>
                    <a:pt x="35352" y="559210"/>
                    <a:pt x="23114" y="554142"/>
                    <a:pt x="14092" y="545119"/>
                  </a:cubicBezTo>
                  <a:cubicBezTo>
                    <a:pt x="5069" y="536096"/>
                    <a:pt x="0" y="523859"/>
                    <a:pt x="0" y="511099"/>
                  </a:cubicBezTo>
                  <a:lnTo>
                    <a:pt x="0" y="48111"/>
                  </a:lnTo>
                  <a:cubicBezTo>
                    <a:pt x="0" y="35352"/>
                    <a:pt x="5069" y="23114"/>
                    <a:pt x="14092" y="14092"/>
                  </a:cubicBezTo>
                  <a:cubicBezTo>
                    <a:pt x="23114" y="5069"/>
                    <a:pt x="35352" y="0"/>
                    <a:pt x="48111" y="0"/>
                  </a:cubicBezTo>
                  <a:close/>
                </a:path>
              </a:pathLst>
            </a:custGeom>
            <a:solidFill>
              <a:srgbClr val="A1C7CE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193689" cy="568735"/>
            </a:xfrm>
            <a:prstGeom prst="rect">
              <a:avLst/>
            </a:prstGeom>
          </p:spPr>
          <p:txBody>
            <a:bodyPr anchor="t" rtlCol="false" tIns="49361" lIns="49361" bIns="49361" rIns="49361"/>
            <a:lstStyle/>
            <a:p>
              <a:pPr algn="l">
                <a:lnSpc>
                  <a:spcPts val="1800"/>
                </a:lnSpc>
              </a:pPr>
            </a:p>
            <a:p>
              <a:pPr algn="l" marL="323853" indent="-161927" lvl="1">
                <a:lnSpc>
                  <a:spcPts val="1800"/>
                </a:lnSpc>
                <a:buFont typeface="Arial"/>
                <a:buChar char="•"/>
              </a:pPr>
              <a:r>
                <a:rPr lang="en-US" sz="1500" spc="6">
                  <a:solidFill>
                    <a:srgbClr val="000000"/>
                  </a:solidFill>
                  <a:latin typeface="Raleway"/>
                  <a:ea typeface="Raleway"/>
                  <a:cs typeface="Raleway"/>
                  <a:sym typeface="Raleway"/>
                </a:rPr>
                <a:t>The model shows a pattern where higher scores increase a candidate's chances of being recommended for recruitment, particularly in the High score category.</a:t>
              </a:r>
            </a:p>
            <a:p>
              <a:pPr algn="l">
                <a:lnSpc>
                  <a:spcPts val="1800"/>
                </a:lnSpc>
              </a:pPr>
            </a:p>
            <a:p>
              <a:pPr algn="l" marL="323853" indent="-161927" lvl="1">
                <a:lnSpc>
                  <a:spcPts val="1800"/>
                </a:lnSpc>
                <a:buFont typeface="Arial"/>
                <a:buChar char="•"/>
              </a:pPr>
              <a:r>
                <a:rPr lang="en-US" sz="1500" spc="6">
                  <a:solidFill>
                    <a:srgbClr val="000000"/>
                  </a:solidFill>
                  <a:latin typeface="Raleway"/>
                  <a:ea typeface="Raleway"/>
                  <a:cs typeface="Raleway"/>
                  <a:sym typeface="Raleway"/>
                </a:rPr>
                <a:t>The most significant gap is seen in the Interview Score, followed by the Personality Score. Meanwhile, Skill Score shows a more stable pattern across the Medium and High score ranges.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702291" y="350823"/>
            <a:ext cx="9877297" cy="1062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23"/>
              </a:lnSpc>
              <a:spcBef>
                <a:spcPct val="0"/>
              </a:spcBef>
            </a:pPr>
            <a:r>
              <a:rPr lang="en-US" sz="6159">
                <a:solidFill>
                  <a:srgbClr val="18102B"/>
                </a:solidFill>
                <a:latin typeface="Raleway"/>
                <a:ea typeface="Raleway"/>
                <a:cs typeface="Raleway"/>
                <a:sym typeface="Raleway"/>
              </a:rPr>
              <a:t>Fairness and Bias Analysis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520" t="0" r="-5578" b="-9099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056552" y="1507010"/>
            <a:ext cx="10499537" cy="4273868"/>
            <a:chOff x="0" y="0"/>
            <a:chExt cx="2862694" cy="116526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862694" cy="1165268"/>
            </a:xfrm>
            <a:custGeom>
              <a:avLst/>
              <a:gdLst/>
              <a:ahLst/>
              <a:cxnLst/>
              <a:rect r="r" b="b" t="t" l="l"/>
              <a:pathLst>
                <a:path h="1165268" w="2862694">
                  <a:moveTo>
                    <a:pt x="36868" y="0"/>
                  </a:moveTo>
                  <a:lnTo>
                    <a:pt x="2825827" y="0"/>
                  </a:lnTo>
                  <a:cubicBezTo>
                    <a:pt x="2835604" y="0"/>
                    <a:pt x="2844982" y="3884"/>
                    <a:pt x="2851896" y="10798"/>
                  </a:cubicBezTo>
                  <a:cubicBezTo>
                    <a:pt x="2858810" y="17712"/>
                    <a:pt x="2862694" y="27090"/>
                    <a:pt x="2862694" y="36868"/>
                  </a:cubicBezTo>
                  <a:lnTo>
                    <a:pt x="2862694" y="1128401"/>
                  </a:lnTo>
                  <a:cubicBezTo>
                    <a:pt x="2862694" y="1138178"/>
                    <a:pt x="2858810" y="1147556"/>
                    <a:pt x="2851896" y="1154470"/>
                  </a:cubicBezTo>
                  <a:cubicBezTo>
                    <a:pt x="2844982" y="1161384"/>
                    <a:pt x="2835604" y="1165268"/>
                    <a:pt x="2825827" y="1165268"/>
                  </a:cubicBezTo>
                  <a:lnTo>
                    <a:pt x="36868" y="1165268"/>
                  </a:lnTo>
                  <a:cubicBezTo>
                    <a:pt x="16506" y="1165268"/>
                    <a:pt x="0" y="1148762"/>
                    <a:pt x="0" y="1128401"/>
                  </a:cubicBezTo>
                  <a:lnTo>
                    <a:pt x="0" y="36868"/>
                  </a:lnTo>
                  <a:cubicBezTo>
                    <a:pt x="0" y="27090"/>
                    <a:pt x="3884" y="17712"/>
                    <a:pt x="10798" y="10798"/>
                  </a:cubicBezTo>
                  <a:cubicBezTo>
                    <a:pt x="17712" y="3884"/>
                    <a:pt x="27090" y="0"/>
                    <a:pt x="36868" y="0"/>
                  </a:cubicBezTo>
                  <a:close/>
                </a:path>
              </a:pathLst>
            </a:custGeom>
            <a:solidFill>
              <a:srgbClr val="CBD5E1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19050"/>
              <a:ext cx="2862694" cy="1184318"/>
            </a:xfrm>
            <a:prstGeom prst="rect">
              <a:avLst/>
            </a:prstGeom>
          </p:spPr>
          <p:txBody>
            <a:bodyPr anchor="ctr" rtlCol="false" tIns="49361" lIns="49361" bIns="49361" rIns="49361"/>
            <a:lstStyle/>
            <a:p>
              <a:pPr algn="l" marL="345443" indent="-172721" lvl="1">
                <a:lnSpc>
                  <a:spcPts val="1920"/>
                </a:lnSpc>
                <a:buFont typeface="Arial"/>
                <a:buChar char="•"/>
              </a:pPr>
              <a:r>
                <a:rPr lang="en-US" b="true" sz="1600" spc="6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RecruitmentStrategy_External is the most influential factor</a:t>
              </a:r>
              <a:r>
                <a:rPr lang="en-US" sz="1600" spc="6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, with high feature scores (red) having a very strong negative impact on recruitment decisions.</a:t>
              </a:r>
            </a:p>
            <a:p>
              <a:pPr algn="l">
                <a:lnSpc>
                  <a:spcPts val="1920"/>
                </a:lnSpc>
              </a:pPr>
            </a:p>
            <a:p>
              <a:pPr algn="l" marL="345443" indent="-172721" lvl="1">
                <a:lnSpc>
                  <a:spcPts val="1920"/>
                </a:lnSpc>
                <a:buFont typeface="Arial"/>
                <a:buChar char="•"/>
              </a:pPr>
              <a:r>
                <a:rPr lang="en-US" b="true" sz="1600" spc="6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EducationLevel  had a significant positive impact</a:t>
              </a:r>
              <a:r>
                <a:rPr lang="en-US" sz="1600" spc="6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; the higher a candidate's education level and total score, the greater their likelihood of being recommended.</a:t>
              </a:r>
            </a:p>
            <a:p>
              <a:pPr algn="l">
                <a:lnSpc>
                  <a:spcPts val="1920"/>
                </a:lnSpc>
              </a:pPr>
            </a:p>
            <a:p>
              <a:pPr algn="l" marL="345443" indent="-172721" lvl="1">
                <a:lnSpc>
                  <a:spcPts val="1920"/>
                </a:lnSpc>
                <a:buFont typeface="Arial"/>
                <a:buChar char="•"/>
              </a:pPr>
              <a:r>
                <a:rPr lang="en-US" b="true" sz="1600" spc="6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PersonalityScore, InterviewScore, and SkillScore consistently showed a positive impact on the model</a:t>
              </a:r>
              <a:r>
                <a:rPr lang="en-US" sz="1600" spc="6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. Candidates with high evaluation scores on these aspects were more likely to be hired.</a:t>
              </a:r>
            </a:p>
            <a:p>
              <a:pPr algn="l">
                <a:lnSpc>
                  <a:spcPts val="1920"/>
                </a:lnSpc>
              </a:pPr>
            </a:p>
            <a:p>
              <a:pPr algn="l" marL="345443" indent="-172721" lvl="1">
                <a:lnSpc>
                  <a:spcPts val="1920"/>
                </a:lnSpc>
                <a:buFont typeface="Arial"/>
                <a:buChar char="•"/>
              </a:pPr>
              <a:r>
                <a:rPr lang="en-US" b="true" sz="1600" spc="6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The remaining factors, such as DistanceFromCompany, Age, and ExperienceLevel_Senior, had minimal or almost neutral impacts</a:t>
              </a:r>
              <a:r>
                <a:rPr lang="en-US" sz="1600" spc="6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 on the prediction model output.</a:t>
              </a:r>
            </a:p>
            <a:p>
              <a:pPr algn="l">
                <a:lnSpc>
                  <a:spcPts val="1920"/>
                </a:lnSpc>
              </a:pPr>
            </a:p>
            <a:p>
              <a:pPr algn="l" marL="345443" indent="-172721" lvl="1">
                <a:lnSpc>
                  <a:spcPts val="1920"/>
                </a:lnSpc>
                <a:buFont typeface="Arial"/>
                <a:buChar char="•"/>
              </a:pPr>
              <a:r>
                <a:rPr lang="en-US" b="true" sz="1600" spc="6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Conclusion:</a:t>
              </a:r>
              <a:r>
                <a:rPr lang="en-US" sz="1600" spc="6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 The model was heavily influenced by the recruitment channel (External) and the candidate's academic quality/evaluation score, while demographic factors and specific experience (Senior) were not significant determinants in this model.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7056552" y="6061512"/>
            <a:ext cx="3806214" cy="3666896"/>
            <a:chOff x="0" y="0"/>
            <a:chExt cx="1037763" cy="99977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37763" cy="999778"/>
            </a:xfrm>
            <a:custGeom>
              <a:avLst/>
              <a:gdLst/>
              <a:ahLst/>
              <a:cxnLst/>
              <a:rect r="r" b="b" t="t" l="l"/>
              <a:pathLst>
                <a:path h="999778" w="1037763">
                  <a:moveTo>
                    <a:pt x="101701" y="0"/>
                  </a:moveTo>
                  <a:lnTo>
                    <a:pt x="936062" y="0"/>
                  </a:lnTo>
                  <a:cubicBezTo>
                    <a:pt x="992230" y="0"/>
                    <a:pt x="1037763" y="45533"/>
                    <a:pt x="1037763" y="101701"/>
                  </a:cubicBezTo>
                  <a:lnTo>
                    <a:pt x="1037763" y="898077"/>
                  </a:lnTo>
                  <a:cubicBezTo>
                    <a:pt x="1037763" y="954245"/>
                    <a:pt x="992230" y="999778"/>
                    <a:pt x="936062" y="999778"/>
                  </a:cubicBezTo>
                  <a:lnTo>
                    <a:pt x="101701" y="999778"/>
                  </a:lnTo>
                  <a:cubicBezTo>
                    <a:pt x="45533" y="999778"/>
                    <a:pt x="0" y="954245"/>
                    <a:pt x="0" y="898077"/>
                  </a:cubicBezTo>
                  <a:lnTo>
                    <a:pt x="0" y="101701"/>
                  </a:lnTo>
                  <a:cubicBezTo>
                    <a:pt x="0" y="45533"/>
                    <a:pt x="45533" y="0"/>
                    <a:pt x="101701" y="0"/>
                  </a:cubicBezTo>
                  <a:close/>
                </a:path>
              </a:pathLst>
            </a:custGeom>
            <a:solidFill>
              <a:srgbClr val="F8FAFC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142875"/>
              <a:ext cx="1037763" cy="1142653"/>
            </a:xfrm>
            <a:prstGeom prst="rect">
              <a:avLst/>
            </a:prstGeom>
          </p:spPr>
          <p:txBody>
            <a:bodyPr anchor="t" rtlCol="false" tIns="317500" lIns="317500" bIns="317500" rIns="317500"/>
            <a:lstStyle/>
            <a:p>
              <a:pPr algn="l">
                <a:lnSpc>
                  <a:spcPts val="3216"/>
                </a:lnSpc>
              </a:pPr>
              <a:r>
                <a:rPr lang="en-US" sz="1600" spc="6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The graph shows that </a:t>
              </a:r>
              <a:r>
                <a:rPr lang="en-US" sz="1600" spc="6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RecruitmentStrategy_Referral, RecruitmentStrategy_External, and ExperienceLevel_Medior are the most influential features </a:t>
              </a:r>
              <a:r>
                <a:rPr lang="en-US" sz="1600" spc="6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in this recruitment prediction model.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5766191" y="3298811"/>
            <a:ext cx="1112095" cy="690266"/>
            <a:chOff x="0" y="0"/>
            <a:chExt cx="736600" cy="457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36600" cy="457200"/>
            </a:xfrm>
            <a:custGeom>
              <a:avLst/>
              <a:gdLst/>
              <a:ahLst/>
              <a:cxnLst/>
              <a:rect r="r" b="b" t="t" l="l"/>
              <a:pathLst>
                <a:path h="457200" w="736600">
                  <a:moveTo>
                    <a:pt x="736600" y="228606"/>
                  </a:moveTo>
                  <a:lnTo>
                    <a:pt x="476634" y="457200"/>
                  </a:lnTo>
                  <a:lnTo>
                    <a:pt x="492392" y="332453"/>
                  </a:lnTo>
                  <a:lnTo>
                    <a:pt x="244208" y="332453"/>
                  </a:lnTo>
                  <a:lnTo>
                    <a:pt x="259966" y="457200"/>
                  </a:lnTo>
                  <a:lnTo>
                    <a:pt x="0" y="228606"/>
                  </a:lnTo>
                  <a:lnTo>
                    <a:pt x="259966" y="0"/>
                  </a:lnTo>
                  <a:lnTo>
                    <a:pt x="244196" y="124785"/>
                  </a:lnTo>
                  <a:lnTo>
                    <a:pt x="492404" y="124785"/>
                  </a:lnTo>
                  <a:lnTo>
                    <a:pt x="476634" y="0"/>
                  </a:lnTo>
                  <a:lnTo>
                    <a:pt x="736600" y="228606"/>
                  </a:lnTo>
                  <a:close/>
                </a:path>
              </a:pathLst>
            </a:custGeom>
            <a:solidFill>
              <a:srgbClr val="365B6D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114300" y="117475"/>
              <a:ext cx="508000" cy="2127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766191" y="7534370"/>
            <a:ext cx="1112095" cy="690266"/>
            <a:chOff x="0" y="0"/>
            <a:chExt cx="736600" cy="457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36600" cy="457200"/>
            </a:xfrm>
            <a:custGeom>
              <a:avLst/>
              <a:gdLst/>
              <a:ahLst/>
              <a:cxnLst/>
              <a:rect r="r" b="b" t="t" l="l"/>
              <a:pathLst>
                <a:path h="457200" w="736600">
                  <a:moveTo>
                    <a:pt x="736600" y="228606"/>
                  </a:moveTo>
                  <a:lnTo>
                    <a:pt x="476634" y="457200"/>
                  </a:lnTo>
                  <a:lnTo>
                    <a:pt x="492392" y="332453"/>
                  </a:lnTo>
                  <a:lnTo>
                    <a:pt x="244208" y="332453"/>
                  </a:lnTo>
                  <a:lnTo>
                    <a:pt x="259966" y="457200"/>
                  </a:lnTo>
                  <a:lnTo>
                    <a:pt x="0" y="228606"/>
                  </a:lnTo>
                  <a:lnTo>
                    <a:pt x="259966" y="0"/>
                  </a:lnTo>
                  <a:lnTo>
                    <a:pt x="244196" y="124785"/>
                  </a:lnTo>
                  <a:lnTo>
                    <a:pt x="492404" y="124785"/>
                  </a:lnTo>
                  <a:lnTo>
                    <a:pt x="476634" y="0"/>
                  </a:lnTo>
                  <a:lnTo>
                    <a:pt x="736600" y="228606"/>
                  </a:lnTo>
                  <a:close/>
                </a:path>
              </a:pathLst>
            </a:custGeom>
            <a:solidFill>
              <a:srgbClr val="365B6D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114300" y="117475"/>
              <a:ext cx="508000" cy="2127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0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952026" y="1634037"/>
            <a:ext cx="4712572" cy="4206931"/>
          </a:xfrm>
          <a:custGeom>
            <a:avLst/>
            <a:gdLst/>
            <a:ahLst/>
            <a:cxnLst/>
            <a:rect r="r" b="b" t="t" l="l"/>
            <a:pathLst>
              <a:path h="4206931" w="4712572">
                <a:moveTo>
                  <a:pt x="0" y="0"/>
                </a:moveTo>
                <a:lnTo>
                  <a:pt x="4712573" y="0"/>
                </a:lnTo>
                <a:lnTo>
                  <a:pt x="4712573" y="4206931"/>
                </a:lnTo>
                <a:lnTo>
                  <a:pt x="0" y="420693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028700" y="6100282"/>
            <a:ext cx="4556516" cy="3628126"/>
          </a:xfrm>
          <a:custGeom>
            <a:avLst/>
            <a:gdLst/>
            <a:ahLst/>
            <a:cxnLst/>
            <a:rect r="r" b="b" t="t" l="l"/>
            <a:pathLst>
              <a:path h="3628126" w="4556516">
                <a:moveTo>
                  <a:pt x="0" y="0"/>
                </a:moveTo>
                <a:lnTo>
                  <a:pt x="4556516" y="0"/>
                </a:lnTo>
                <a:lnTo>
                  <a:pt x="4556516" y="3628126"/>
                </a:lnTo>
                <a:lnTo>
                  <a:pt x="0" y="36281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702291" y="350823"/>
            <a:ext cx="7668670" cy="1062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23"/>
              </a:lnSpc>
              <a:spcBef>
                <a:spcPct val="0"/>
              </a:spcBef>
            </a:pPr>
            <a:r>
              <a:rPr lang="en-US" sz="6159">
                <a:solidFill>
                  <a:srgbClr val="18102B"/>
                </a:solidFill>
                <a:latin typeface="Raleway"/>
                <a:ea typeface="Raleway"/>
                <a:cs typeface="Raleway"/>
                <a:sym typeface="Raleway"/>
              </a:rPr>
              <a:t>Feature Importance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520" t="0" r="-5578" b="-909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02291" y="350823"/>
            <a:ext cx="6219698" cy="1062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23"/>
              </a:lnSpc>
              <a:spcBef>
                <a:spcPct val="0"/>
              </a:spcBef>
            </a:pPr>
            <a:r>
              <a:rPr lang="en-US" sz="6159">
                <a:solidFill>
                  <a:srgbClr val="18102B"/>
                </a:solidFill>
                <a:latin typeface="Raleway"/>
                <a:ea typeface="Raleway"/>
                <a:cs typeface="Raleway"/>
                <a:sym typeface="Raleway"/>
              </a:rPr>
              <a:t> Business Impact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709450" y="2259511"/>
            <a:ext cx="8010838" cy="3264852"/>
            <a:chOff x="0" y="0"/>
            <a:chExt cx="2184152" cy="89016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84152" cy="890161"/>
            </a:xfrm>
            <a:custGeom>
              <a:avLst/>
              <a:gdLst/>
              <a:ahLst/>
              <a:cxnLst/>
              <a:rect r="r" b="b" t="t" l="l"/>
              <a:pathLst>
                <a:path h="890161" w="2184152">
                  <a:moveTo>
                    <a:pt x="48322" y="0"/>
                  </a:moveTo>
                  <a:lnTo>
                    <a:pt x="2135830" y="0"/>
                  </a:lnTo>
                  <a:cubicBezTo>
                    <a:pt x="2148646" y="0"/>
                    <a:pt x="2160937" y="5091"/>
                    <a:pt x="2169999" y="14153"/>
                  </a:cubicBezTo>
                  <a:cubicBezTo>
                    <a:pt x="2179061" y="23215"/>
                    <a:pt x="2184152" y="35506"/>
                    <a:pt x="2184152" y="48322"/>
                  </a:cubicBezTo>
                  <a:lnTo>
                    <a:pt x="2184152" y="841839"/>
                  </a:lnTo>
                  <a:cubicBezTo>
                    <a:pt x="2184152" y="854655"/>
                    <a:pt x="2179061" y="866946"/>
                    <a:pt x="2169999" y="876008"/>
                  </a:cubicBezTo>
                  <a:cubicBezTo>
                    <a:pt x="2160937" y="885070"/>
                    <a:pt x="2148646" y="890161"/>
                    <a:pt x="2135830" y="890161"/>
                  </a:cubicBezTo>
                  <a:lnTo>
                    <a:pt x="48322" y="890161"/>
                  </a:lnTo>
                  <a:cubicBezTo>
                    <a:pt x="35506" y="890161"/>
                    <a:pt x="23215" y="885070"/>
                    <a:pt x="14153" y="876008"/>
                  </a:cubicBezTo>
                  <a:cubicBezTo>
                    <a:pt x="5091" y="866946"/>
                    <a:pt x="0" y="854655"/>
                    <a:pt x="0" y="841839"/>
                  </a:cubicBezTo>
                  <a:lnTo>
                    <a:pt x="0" y="48322"/>
                  </a:lnTo>
                  <a:cubicBezTo>
                    <a:pt x="0" y="35506"/>
                    <a:pt x="5091" y="23215"/>
                    <a:pt x="14153" y="14153"/>
                  </a:cubicBezTo>
                  <a:cubicBezTo>
                    <a:pt x="23215" y="5091"/>
                    <a:pt x="35506" y="0"/>
                    <a:pt x="48322" y="0"/>
                  </a:cubicBezTo>
                  <a:close/>
                </a:path>
              </a:pathLst>
            </a:custGeom>
            <a:solidFill>
              <a:srgbClr val="A1C7CE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85725"/>
              <a:ext cx="2184152" cy="975886"/>
            </a:xfrm>
            <a:prstGeom prst="rect">
              <a:avLst/>
            </a:prstGeom>
          </p:spPr>
          <p:txBody>
            <a:bodyPr anchor="t" rtlCol="false" tIns="368300" lIns="368300" bIns="368300" rIns="368300"/>
            <a:lstStyle/>
            <a:p>
              <a:pPr algn="l">
                <a:lnSpc>
                  <a:spcPts val="3599"/>
                </a:lnSpc>
              </a:pPr>
              <a:r>
                <a:rPr lang="en-US" sz="2399" spc="-57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Based on confusion matrix, we have potential hire candidates as: </a:t>
              </a:r>
            </a:p>
            <a:p>
              <a:pPr algn="l">
                <a:lnSpc>
                  <a:spcPts val="1500"/>
                </a:lnSpc>
              </a:pPr>
            </a:p>
            <a:p>
              <a:pPr algn="ctr">
                <a:lnSpc>
                  <a:spcPts val="3599"/>
                </a:lnSpc>
              </a:pPr>
              <a:r>
                <a:rPr lang="en-US" b="true" sz="2399" spc="9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TP (108) + FP (18) = 126 out of 450 candidates</a:t>
              </a:r>
            </a:p>
            <a:p>
              <a:pPr algn="just">
                <a:lnSpc>
                  <a:spcPts val="1500"/>
                </a:lnSpc>
              </a:pPr>
            </a:p>
            <a:p>
              <a:pPr algn="l">
                <a:lnSpc>
                  <a:spcPts val="3150"/>
                </a:lnSpc>
              </a:pPr>
            </a:p>
            <a:p>
              <a:pPr algn="l">
                <a:lnSpc>
                  <a:spcPts val="3599"/>
                </a:lnSpc>
              </a:pPr>
              <a:r>
                <a:rPr lang="en-US" sz="2399" spc="-59" u="sng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  <a:hlinkClick r:id="rId3" tooltip="https://mekari.com/blog/cara-menghitung-biaya-rekrutmen-karyawan/#:~:text=Agensi%20rekrutmen%20karyawan%20Rp%2055.000.000%2C00;%20Biaya%20on%2Dboarding%20dan%20training%20sebesar%20Rp%205.500.000%2C00."/>
                </a:rPr>
                <a:t>C</a:t>
              </a:r>
              <a:r>
                <a:rPr lang="en-US" sz="2399" spc="-59" u="sng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  <a:hlinkClick r:id="rId4" tooltip="https://mekari.com/blog/cara-menghitung-biaya-rekrutmen-karyawan/#:~:text=Agensi%20rekrutmen%20karyawan%20Rp%2055.000.000%2C00;%20Biaya%20on%2Dboarding%20dan%20training%20sebesar%20Rp%205.500.000%2C00."/>
                </a:rPr>
                <a:t>ost per Hire:</a:t>
              </a:r>
              <a:r>
                <a:rPr lang="en-US" sz="2399" spc="-59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11.000.000</a:t>
              </a:r>
            </a:p>
          </p:txBody>
        </p:sp>
      </p:grpSp>
      <p:pic>
        <p:nvPicPr>
          <p:cNvPr name="Picture 7" id="7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8857897" y="1618610"/>
            <a:ext cx="7474502" cy="6666563"/>
          </a:xfrm>
          <a:prstGeom prst="rect">
            <a:avLst/>
          </a:prstGeom>
        </p:spPr>
      </p:pic>
      <p:graphicFrame>
        <p:nvGraphicFramePr>
          <p:cNvPr name="Table 8" id="8"/>
          <p:cNvGraphicFramePr>
            <a:graphicFrameLocks noGrp="true"/>
          </p:cNvGraphicFramePr>
          <p:nvPr/>
        </p:nvGraphicFramePr>
        <p:xfrm>
          <a:off x="620328" y="6090672"/>
          <a:ext cx="8189081" cy="1569478"/>
        </p:xfrm>
        <a:graphic>
          <a:graphicData uri="http://schemas.openxmlformats.org/drawingml/2006/table">
            <a:tbl>
              <a:tblPr/>
              <a:tblGrid>
                <a:gridCol w="1439877"/>
                <a:gridCol w="2187661"/>
                <a:gridCol w="2221112"/>
                <a:gridCol w="2340431"/>
              </a:tblGrid>
              <a:tr h="52170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With Model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Total Hire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Cost per Hire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Total Cost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</a:tr>
              <a:tr h="52606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Yes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126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11.000.000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1.386.000.000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2170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 b="true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No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450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11.000.000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308"/>
                        </a:lnSpc>
                        <a:defRPr/>
                      </a:pP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4.950.000.</a:t>
                      </a:r>
                      <a:r>
                        <a:rPr lang="en-US" sz="1648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000</a:t>
                      </a:r>
                      <a:endParaRPr lang="en-US" sz="1100"/>
                    </a:p>
                  </a:txBody>
                  <a:tcPr marL="76200" marR="76200" marT="76200" marB="76200" anchor="ctr">
                    <a:lnL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365B6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grpSp>
        <p:nvGrpSpPr>
          <p:cNvPr name="Group 9" id="9"/>
          <p:cNvGrpSpPr/>
          <p:nvPr/>
        </p:nvGrpSpPr>
        <p:grpSpPr>
          <a:xfrm rot="0">
            <a:off x="9491757" y="7887404"/>
            <a:ext cx="6217767" cy="1640754"/>
            <a:chOff x="0" y="0"/>
            <a:chExt cx="1695272" cy="44735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695272" cy="447351"/>
            </a:xfrm>
            <a:custGeom>
              <a:avLst/>
              <a:gdLst/>
              <a:ahLst/>
              <a:cxnLst/>
              <a:rect r="r" b="b" t="t" l="l"/>
              <a:pathLst>
                <a:path h="447351" w="1695272">
                  <a:moveTo>
                    <a:pt x="62256" y="0"/>
                  </a:moveTo>
                  <a:lnTo>
                    <a:pt x="1633015" y="0"/>
                  </a:lnTo>
                  <a:cubicBezTo>
                    <a:pt x="1649526" y="0"/>
                    <a:pt x="1665362" y="6559"/>
                    <a:pt x="1677037" y="18234"/>
                  </a:cubicBezTo>
                  <a:cubicBezTo>
                    <a:pt x="1688712" y="29910"/>
                    <a:pt x="1695272" y="45745"/>
                    <a:pt x="1695272" y="62256"/>
                  </a:cubicBezTo>
                  <a:lnTo>
                    <a:pt x="1695272" y="385094"/>
                  </a:lnTo>
                  <a:cubicBezTo>
                    <a:pt x="1695272" y="401606"/>
                    <a:pt x="1688712" y="417441"/>
                    <a:pt x="1677037" y="429116"/>
                  </a:cubicBezTo>
                  <a:cubicBezTo>
                    <a:pt x="1665362" y="440792"/>
                    <a:pt x="1649526" y="447351"/>
                    <a:pt x="1633015" y="447351"/>
                  </a:cubicBezTo>
                  <a:lnTo>
                    <a:pt x="62256" y="447351"/>
                  </a:lnTo>
                  <a:cubicBezTo>
                    <a:pt x="45745" y="447351"/>
                    <a:pt x="29910" y="440792"/>
                    <a:pt x="18234" y="429116"/>
                  </a:cubicBezTo>
                  <a:cubicBezTo>
                    <a:pt x="6559" y="417441"/>
                    <a:pt x="0" y="401606"/>
                    <a:pt x="0" y="385094"/>
                  </a:cubicBezTo>
                  <a:lnTo>
                    <a:pt x="0" y="62256"/>
                  </a:lnTo>
                  <a:cubicBezTo>
                    <a:pt x="0" y="45745"/>
                    <a:pt x="6559" y="29910"/>
                    <a:pt x="18234" y="18234"/>
                  </a:cubicBezTo>
                  <a:cubicBezTo>
                    <a:pt x="29910" y="6559"/>
                    <a:pt x="45745" y="0"/>
                    <a:pt x="62256" y="0"/>
                  </a:cubicBezTo>
                  <a:close/>
                </a:path>
              </a:pathLst>
            </a:custGeom>
            <a:solidFill>
              <a:srgbClr val="E9EDE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85725"/>
              <a:ext cx="1695272" cy="533076"/>
            </a:xfrm>
            <a:prstGeom prst="rect">
              <a:avLst/>
            </a:prstGeom>
          </p:spPr>
          <p:txBody>
            <a:bodyPr anchor="t" rtlCol="false" tIns="368300" lIns="368300" bIns="368300" rIns="368300"/>
            <a:lstStyle/>
            <a:p>
              <a:pPr algn="l">
                <a:lnSpc>
                  <a:spcPts val="359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0209836" y="8105191"/>
            <a:ext cx="4781610" cy="10380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074"/>
              </a:lnSpc>
            </a:pPr>
            <a:r>
              <a:rPr lang="en-US" b="true" sz="3395" spc="13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Cost Saving: </a:t>
            </a:r>
            <a:r>
              <a:rPr lang="en-US" b="true" sz="3395" spc="13">
                <a:solidFill>
                  <a:srgbClr val="00BF63"/>
                </a:solidFill>
                <a:latin typeface="Barlow Bold"/>
                <a:ea typeface="Barlow Bold"/>
                <a:cs typeface="Barlow Bold"/>
                <a:sym typeface="Barlow Bold"/>
              </a:rPr>
              <a:t>Rp 3,564 M</a:t>
            </a:r>
          </a:p>
          <a:p>
            <a:pPr algn="r">
              <a:lnSpc>
                <a:spcPts val="4074"/>
              </a:lnSpc>
              <a:spcBef>
                <a:spcPct val="0"/>
              </a:spcBef>
            </a:pPr>
            <a:r>
              <a:rPr lang="en-US" b="true" sz="3395" spc="13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Cost Efficiency:</a:t>
            </a:r>
            <a:r>
              <a:rPr lang="en-US" b="true" sz="3395" spc="13">
                <a:solidFill>
                  <a:srgbClr val="00CC91"/>
                </a:solidFill>
                <a:latin typeface="Barlow Bold"/>
                <a:ea typeface="Barlow Bold"/>
                <a:cs typeface="Barlow Bold"/>
                <a:sym typeface="Barlow Bold"/>
              </a:rPr>
              <a:t> </a:t>
            </a:r>
            <a:r>
              <a:rPr lang="en-US" b="true" sz="3395" spc="13">
                <a:solidFill>
                  <a:srgbClr val="00BF63"/>
                </a:solidFill>
                <a:latin typeface="Barlow Bold"/>
                <a:ea typeface="Barlow Bold"/>
                <a:cs typeface="Barlow Bold"/>
                <a:sym typeface="Barlow Bold"/>
              </a:rPr>
              <a:t>72 %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520" t="0" r="-5578" b="-9099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09450" y="2259511"/>
            <a:ext cx="6687365" cy="2931642"/>
            <a:chOff x="0" y="0"/>
            <a:chExt cx="1823307" cy="79931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23307" cy="799311"/>
            </a:xfrm>
            <a:custGeom>
              <a:avLst/>
              <a:gdLst/>
              <a:ahLst/>
              <a:cxnLst/>
              <a:rect r="r" b="b" t="t" l="l"/>
              <a:pathLst>
                <a:path h="799311" w="1823307">
                  <a:moveTo>
                    <a:pt x="57885" y="0"/>
                  </a:moveTo>
                  <a:lnTo>
                    <a:pt x="1765423" y="0"/>
                  </a:lnTo>
                  <a:cubicBezTo>
                    <a:pt x="1797391" y="0"/>
                    <a:pt x="1823307" y="25916"/>
                    <a:pt x="1823307" y="57885"/>
                  </a:cubicBezTo>
                  <a:lnTo>
                    <a:pt x="1823307" y="741426"/>
                  </a:lnTo>
                  <a:cubicBezTo>
                    <a:pt x="1823307" y="756778"/>
                    <a:pt x="1817209" y="771502"/>
                    <a:pt x="1806353" y="782357"/>
                  </a:cubicBezTo>
                  <a:cubicBezTo>
                    <a:pt x="1795498" y="793212"/>
                    <a:pt x="1780775" y="799311"/>
                    <a:pt x="1765423" y="799311"/>
                  </a:cubicBezTo>
                  <a:lnTo>
                    <a:pt x="57885" y="799311"/>
                  </a:lnTo>
                  <a:cubicBezTo>
                    <a:pt x="42533" y="799311"/>
                    <a:pt x="27810" y="793212"/>
                    <a:pt x="16954" y="782357"/>
                  </a:cubicBezTo>
                  <a:cubicBezTo>
                    <a:pt x="6099" y="771502"/>
                    <a:pt x="0" y="756778"/>
                    <a:pt x="0" y="741426"/>
                  </a:cubicBezTo>
                  <a:lnTo>
                    <a:pt x="0" y="57885"/>
                  </a:lnTo>
                  <a:cubicBezTo>
                    <a:pt x="0" y="42533"/>
                    <a:pt x="6099" y="27810"/>
                    <a:pt x="16954" y="16954"/>
                  </a:cubicBezTo>
                  <a:cubicBezTo>
                    <a:pt x="27810" y="6099"/>
                    <a:pt x="42533" y="0"/>
                    <a:pt x="57885" y="0"/>
                  </a:cubicBezTo>
                  <a:close/>
                </a:path>
              </a:pathLst>
            </a:custGeom>
            <a:solidFill>
              <a:srgbClr val="A1C7CE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85725"/>
              <a:ext cx="1823307" cy="885036"/>
            </a:xfrm>
            <a:prstGeom prst="rect">
              <a:avLst/>
            </a:prstGeom>
          </p:spPr>
          <p:txBody>
            <a:bodyPr anchor="t" rtlCol="false" tIns="368300" lIns="368300" bIns="368300" rIns="368300"/>
            <a:lstStyle/>
            <a:p>
              <a:pPr algn="l">
                <a:lnSpc>
                  <a:spcPts val="3599"/>
                </a:lnSpc>
              </a:pPr>
              <a:r>
                <a:rPr lang="en-US" sz="2399" spc="-59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Data imbalance &amp; bias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: The dataset is limited and shows some bias. This is mitigated using the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SMOTE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algorithm,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which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balances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data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distrib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ut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i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o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n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 and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i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mprov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es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 m</a:t>
              </a:r>
              <a:r>
                <a:rPr lang="en-US" sz="2399" spc="-59" u="none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o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del</a:t>
              </a:r>
              <a:r>
                <a:rPr lang="en-US" sz="2399" spc="-59" u="none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re</a:t>
              </a:r>
              <a:r>
                <a:rPr lang="en-US" sz="2399" spc="-59" u="none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p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r</a:t>
              </a:r>
              <a:r>
                <a:rPr lang="en-US" sz="2399" spc="-59" u="none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e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sentat</a:t>
              </a:r>
              <a:r>
                <a:rPr lang="en-US" sz="2399" spc="-59" u="none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i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ven</a:t>
              </a:r>
              <a:r>
                <a:rPr lang="en-US" sz="2399" spc="-59" u="none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e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ss.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9344025" y="2179292"/>
            <a:ext cx="8597064" cy="3011862"/>
            <a:chOff x="0" y="0"/>
            <a:chExt cx="2343986" cy="82118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43986" cy="821183"/>
            </a:xfrm>
            <a:custGeom>
              <a:avLst/>
              <a:gdLst/>
              <a:ahLst/>
              <a:cxnLst/>
              <a:rect r="r" b="b" t="t" l="l"/>
              <a:pathLst>
                <a:path h="821183" w="2343986">
                  <a:moveTo>
                    <a:pt x="45027" y="0"/>
                  </a:moveTo>
                  <a:lnTo>
                    <a:pt x="2298960" y="0"/>
                  </a:lnTo>
                  <a:cubicBezTo>
                    <a:pt x="2323827" y="0"/>
                    <a:pt x="2343986" y="20159"/>
                    <a:pt x="2343986" y="45027"/>
                  </a:cubicBezTo>
                  <a:lnTo>
                    <a:pt x="2343986" y="776156"/>
                  </a:lnTo>
                  <a:cubicBezTo>
                    <a:pt x="2343986" y="788098"/>
                    <a:pt x="2339242" y="799551"/>
                    <a:pt x="2330798" y="807995"/>
                  </a:cubicBezTo>
                  <a:cubicBezTo>
                    <a:pt x="2322354" y="816439"/>
                    <a:pt x="2310901" y="821183"/>
                    <a:pt x="2298960" y="821183"/>
                  </a:cubicBezTo>
                  <a:lnTo>
                    <a:pt x="45027" y="821183"/>
                  </a:lnTo>
                  <a:cubicBezTo>
                    <a:pt x="33085" y="821183"/>
                    <a:pt x="21632" y="816439"/>
                    <a:pt x="13188" y="807995"/>
                  </a:cubicBezTo>
                  <a:cubicBezTo>
                    <a:pt x="4744" y="799551"/>
                    <a:pt x="0" y="788098"/>
                    <a:pt x="0" y="776156"/>
                  </a:cubicBezTo>
                  <a:lnTo>
                    <a:pt x="0" y="45027"/>
                  </a:lnTo>
                  <a:cubicBezTo>
                    <a:pt x="0" y="33085"/>
                    <a:pt x="4744" y="21632"/>
                    <a:pt x="13188" y="13188"/>
                  </a:cubicBezTo>
                  <a:cubicBezTo>
                    <a:pt x="21632" y="4744"/>
                    <a:pt x="33085" y="0"/>
                    <a:pt x="45027" y="0"/>
                  </a:cubicBezTo>
                  <a:close/>
                </a:path>
              </a:pathLst>
            </a:custGeom>
            <a:solidFill>
              <a:srgbClr val="A1C7CE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85725"/>
              <a:ext cx="2343986" cy="906908"/>
            </a:xfrm>
            <a:prstGeom prst="rect">
              <a:avLst/>
            </a:prstGeom>
          </p:spPr>
          <p:txBody>
            <a:bodyPr anchor="t" rtlCol="false" tIns="355600" lIns="355600" bIns="355600" rIns="355600"/>
            <a:lstStyle/>
            <a:p>
              <a:pPr algn="l">
                <a:lnSpc>
                  <a:spcPts val="3000"/>
                </a:lnSpc>
              </a:pPr>
              <a:r>
                <a:rPr lang="en-US" sz="2000" spc="-48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Conduct a survey per quarter alongside HR Team</a:t>
              </a:r>
              <a:r>
                <a:rPr lang="en-US" sz="2000" spc="-48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 to bolster data with more information, features to improve model accuracy and maintain model integrity</a:t>
              </a:r>
            </a:p>
            <a:p>
              <a:pPr algn="l">
                <a:lnSpc>
                  <a:spcPts val="2850"/>
                </a:lnSpc>
              </a:pPr>
            </a:p>
            <a:p>
              <a:pPr algn="l">
                <a:lnSpc>
                  <a:spcPts val="3150"/>
                </a:lnSpc>
              </a:pPr>
              <a:r>
                <a:rPr lang="en-US" sz="2100" spc="-50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Retrain algorithm with new data</a:t>
              </a:r>
              <a:r>
                <a:rPr lang="en-US" sz="2100" spc="-5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 and develop better model that is less biased and more fair.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702291" y="5879252"/>
            <a:ext cx="6694524" cy="3379048"/>
            <a:chOff x="0" y="0"/>
            <a:chExt cx="1825259" cy="92129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825259" cy="921296"/>
            </a:xfrm>
            <a:custGeom>
              <a:avLst/>
              <a:gdLst/>
              <a:ahLst/>
              <a:cxnLst/>
              <a:rect r="r" b="b" t="t" l="l"/>
              <a:pathLst>
                <a:path h="921296" w="1825259">
                  <a:moveTo>
                    <a:pt x="57823" y="0"/>
                  </a:moveTo>
                  <a:lnTo>
                    <a:pt x="1767436" y="0"/>
                  </a:lnTo>
                  <a:cubicBezTo>
                    <a:pt x="1782772" y="0"/>
                    <a:pt x="1797479" y="6092"/>
                    <a:pt x="1808323" y="16936"/>
                  </a:cubicBezTo>
                  <a:cubicBezTo>
                    <a:pt x="1819167" y="27780"/>
                    <a:pt x="1825259" y="42487"/>
                    <a:pt x="1825259" y="57823"/>
                  </a:cubicBezTo>
                  <a:lnTo>
                    <a:pt x="1825259" y="863473"/>
                  </a:lnTo>
                  <a:cubicBezTo>
                    <a:pt x="1825259" y="878809"/>
                    <a:pt x="1819167" y="893516"/>
                    <a:pt x="1808323" y="904360"/>
                  </a:cubicBezTo>
                  <a:cubicBezTo>
                    <a:pt x="1797479" y="915204"/>
                    <a:pt x="1782772" y="921296"/>
                    <a:pt x="1767436" y="921296"/>
                  </a:cubicBezTo>
                  <a:lnTo>
                    <a:pt x="57823" y="921296"/>
                  </a:lnTo>
                  <a:cubicBezTo>
                    <a:pt x="42487" y="921296"/>
                    <a:pt x="27780" y="915204"/>
                    <a:pt x="16936" y="904360"/>
                  </a:cubicBezTo>
                  <a:cubicBezTo>
                    <a:pt x="6092" y="893516"/>
                    <a:pt x="0" y="878809"/>
                    <a:pt x="0" y="863473"/>
                  </a:cubicBezTo>
                  <a:lnTo>
                    <a:pt x="0" y="57823"/>
                  </a:lnTo>
                  <a:cubicBezTo>
                    <a:pt x="0" y="42487"/>
                    <a:pt x="6092" y="27780"/>
                    <a:pt x="16936" y="16936"/>
                  </a:cubicBezTo>
                  <a:cubicBezTo>
                    <a:pt x="27780" y="6092"/>
                    <a:pt x="42487" y="0"/>
                    <a:pt x="57823" y="0"/>
                  </a:cubicBezTo>
                  <a:close/>
                </a:path>
              </a:pathLst>
            </a:custGeom>
            <a:solidFill>
              <a:srgbClr val="A1C7C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85725"/>
              <a:ext cx="1825259" cy="1007021"/>
            </a:xfrm>
            <a:prstGeom prst="rect">
              <a:avLst/>
            </a:prstGeom>
          </p:spPr>
          <p:txBody>
            <a:bodyPr anchor="t" rtlCol="false" tIns="368300" lIns="368300" bIns="368300" rIns="368300"/>
            <a:lstStyle/>
            <a:p>
              <a:pPr algn="l">
                <a:lnSpc>
                  <a:spcPts val="3599"/>
                </a:lnSpc>
              </a:pPr>
              <a:r>
                <a:rPr lang="en-US" sz="2399" spc="-59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Optimization of HR Workflow</a:t>
              </a:r>
              <a:r>
                <a:rPr lang="en-US" sz="2399" spc="-5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: HR team without the model will continue and screen manually candidates that might be a dud, this will cost the company money while having no benefits.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7600950" y="2953807"/>
            <a:ext cx="1543050" cy="1543050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365B6D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155575"/>
              <a:ext cx="711200" cy="454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2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702291" y="350823"/>
            <a:ext cx="10782343" cy="1062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23"/>
              </a:lnSpc>
              <a:spcBef>
                <a:spcPct val="0"/>
              </a:spcBef>
            </a:pPr>
            <a:r>
              <a:rPr lang="en-US" sz="6159">
                <a:solidFill>
                  <a:srgbClr val="18102B"/>
                </a:solidFill>
                <a:latin typeface="Raleway"/>
                <a:ea typeface="Raleway"/>
                <a:cs typeface="Raleway"/>
                <a:sym typeface="Raleway"/>
              </a:rPr>
              <a:t>Recommendation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7600950" y="6556827"/>
            <a:ext cx="1543050" cy="1543050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365B6D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155575"/>
              <a:ext cx="711200" cy="454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2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344025" y="5879252"/>
            <a:ext cx="8423750" cy="3379048"/>
            <a:chOff x="0" y="0"/>
            <a:chExt cx="2296732" cy="92129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96732" cy="921296"/>
            </a:xfrm>
            <a:custGeom>
              <a:avLst/>
              <a:gdLst/>
              <a:ahLst/>
              <a:cxnLst/>
              <a:rect r="r" b="b" t="t" l="l"/>
              <a:pathLst>
                <a:path h="921296" w="2296732">
                  <a:moveTo>
                    <a:pt x="45953" y="0"/>
                  </a:moveTo>
                  <a:lnTo>
                    <a:pt x="2250779" y="0"/>
                  </a:lnTo>
                  <a:cubicBezTo>
                    <a:pt x="2262967" y="0"/>
                    <a:pt x="2274655" y="4841"/>
                    <a:pt x="2283273" y="13459"/>
                  </a:cubicBezTo>
                  <a:cubicBezTo>
                    <a:pt x="2291891" y="22077"/>
                    <a:pt x="2296732" y="33765"/>
                    <a:pt x="2296732" y="45953"/>
                  </a:cubicBezTo>
                  <a:lnTo>
                    <a:pt x="2296732" y="875343"/>
                  </a:lnTo>
                  <a:cubicBezTo>
                    <a:pt x="2296732" y="887531"/>
                    <a:pt x="2291891" y="899219"/>
                    <a:pt x="2283273" y="907837"/>
                  </a:cubicBezTo>
                  <a:cubicBezTo>
                    <a:pt x="2274655" y="916455"/>
                    <a:pt x="2262967" y="921296"/>
                    <a:pt x="2250779" y="921296"/>
                  </a:cubicBezTo>
                  <a:lnTo>
                    <a:pt x="45953" y="921296"/>
                  </a:lnTo>
                  <a:cubicBezTo>
                    <a:pt x="20574" y="921296"/>
                    <a:pt x="0" y="900722"/>
                    <a:pt x="0" y="875343"/>
                  </a:cubicBezTo>
                  <a:lnTo>
                    <a:pt x="0" y="45953"/>
                  </a:lnTo>
                  <a:cubicBezTo>
                    <a:pt x="0" y="33765"/>
                    <a:pt x="4841" y="22077"/>
                    <a:pt x="13459" y="13459"/>
                  </a:cubicBezTo>
                  <a:cubicBezTo>
                    <a:pt x="22077" y="4841"/>
                    <a:pt x="33765" y="0"/>
                    <a:pt x="45953" y="0"/>
                  </a:cubicBezTo>
                  <a:close/>
                </a:path>
              </a:pathLst>
            </a:custGeom>
            <a:solidFill>
              <a:srgbClr val="A1C7CE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76200"/>
              <a:ext cx="2296732" cy="997496"/>
            </a:xfrm>
            <a:prstGeom prst="rect">
              <a:avLst/>
            </a:prstGeom>
          </p:spPr>
          <p:txBody>
            <a:bodyPr anchor="t" rtlCol="false" tIns="355600" lIns="355600" bIns="355600" rIns="355600"/>
            <a:lstStyle/>
            <a:p>
              <a:pPr algn="l">
                <a:lnSpc>
                  <a:spcPts val="3150"/>
                </a:lnSpc>
              </a:pPr>
              <a:r>
                <a:rPr lang="en-US" sz="2100" spc="-50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Dashboard utilization</a:t>
              </a:r>
              <a:r>
                <a:rPr lang="en-US" sz="2100" spc="-5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:</a:t>
              </a:r>
              <a:r>
                <a:rPr lang="en-US" sz="2100" spc="-50" b="true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</a:t>
              </a:r>
              <a:r>
                <a:rPr lang="en-US" sz="2100" spc="-50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using the dashboard, HR team can pre-screen the potential candidates without consuming a significant amount of hiring budget to screen off uncertain hires and save the hiring team effort and time.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DAHHAUYIHsg</dc:identifier>
  <dcterms:modified xsi:type="dcterms:W3CDTF">2011-08-01T06:04:30Z</dcterms:modified>
  <cp:revision>1</cp:revision>
  <dc:title>Smote PPT Presentasi – Kelompok 2 – HIRESIGHTS</dc:title>
</cp:coreProperties>
</file>