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Raleway Bold" charset="1" panose="00000000000000000000"/>
      <p:regular r:id="rId15"/>
    </p:embeddedFont>
    <p:embeddedFont>
      <p:font typeface="Raleway" charset="1" panose="00000000000000000000"/>
      <p:regular r:id="rId17"/>
    </p:embeddedFon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  <p:embeddedFont>
      <p:font typeface="Poppins Bold" charset="1" panose="00000800000000000000"/>
      <p:regular r:id="rId20"/>
    </p:embeddedFont>
    <p:embeddedFont>
      <p:font typeface="Poppins" charset="1" panose="00000500000000000000"/>
      <p:regular r:id="rId21"/>
    </p:embeddedFont>
    <p:embeddedFont>
      <p:font typeface="Barlow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https://mekari.com/blog/cara-menghitung-biaya-rekrutmen-karyawan/#:~:text=Agensi%20rekrutmen%20karyawan%20Rp%2055.000.000%2C00;%20Biaya%20on%2Dboarding%20dan%20training%20sebesar%20Rp%205.500.000%2C00." TargetMode="External" Type="http://schemas.openxmlformats.org/officeDocument/2006/relationships/hyperlink"/><Relationship Id="rId4" Target="https://mekari.com/blog/cara-menghitung-biaya-rekrutmen-karyawan/#:~:text=Agensi%20rekrutmen%20karyawan%20Rp%2055.000.000%2C00;%20Biaya%20on%2Dboarding%20dan%20training%20sebesar%20Rp%205.500.000%2C00." TargetMode="External" Type="http://schemas.openxmlformats.org/officeDocument/2006/relationships/hyperlink"/><Relationship Id="rId5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5601" y="3624900"/>
            <a:ext cx="15376798" cy="4150353"/>
            <a:chOff x="0" y="0"/>
            <a:chExt cx="20502397" cy="55338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502400" cy="5533805"/>
            </a:xfrm>
            <a:custGeom>
              <a:avLst/>
              <a:gdLst/>
              <a:ahLst/>
              <a:cxnLst/>
              <a:rect r="r" b="b" t="t" l="l"/>
              <a:pathLst>
                <a:path h="5533805" w="20502400">
                  <a:moveTo>
                    <a:pt x="0" y="0"/>
                  </a:moveTo>
                  <a:lnTo>
                    <a:pt x="20502400" y="0"/>
                  </a:lnTo>
                  <a:lnTo>
                    <a:pt x="20502400" y="5533805"/>
                  </a:lnTo>
                  <a:lnTo>
                    <a:pt x="0" y="5533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601" r="0" b="-878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0502397" cy="55528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Data-Driven Recruitment System</a:t>
              </a:r>
            </a:p>
            <a:p>
              <a:pPr algn="ctr">
                <a:lnSpc>
                  <a:spcPts val="5759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18102B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Optimizing</a:t>
              </a:r>
              <a:r>
                <a:rPr lang="en-US" b="true" sz="2799">
                  <a:solidFill>
                    <a:srgbClr val="18102B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 Biased Talent Acquisition Through Data-Driven HR Analytics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3037800" y="6390999"/>
            <a:ext cx="122124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47027" y="4576762"/>
            <a:ext cx="15193947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Model Evaluation &amp;</a:t>
            </a:r>
          </a:p>
          <a:p>
            <a:pPr algn="ctr">
              <a:lnSpc>
                <a:spcPts val="8640"/>
              </a:lnSpc>
            </a:pPr>
            <a:r>
              <a:rPr lang="en-US" b="true" sz="72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Business impact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0" t="0" r="-5578" b="-909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2291" y="350823"/>
            <a:ext cx="7668670" cy="106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3"/>
              </a:lnSpc>
              <a:spcBef>
                <a:spcPct val="0"/>
              </a:spcBef>
            </a:pPr>
            <a:r>
              <a:rPr lang="en-US" sz="6159">
                <a:solidFill>
                  <a:srgbClr val="18102B"/>
                </a:solidFill>
                <a:latin typeface="Raleway"/>
                <a:ea typeface="Raleway"/>
                <a:cs typeface="Raleway"/>
                <a:sym typeface="Raleway"/>
              </a:rPr>
              <a:t>Model Comparison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68628" y="2418031"/>
            <a:ext cx="7473288" cy="2374991"/>
            <a:chOff x="0" y="0"/>
            <a:chExt cx="9964384" cy="316665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964384" cy="3166655"/>
              <a:chOff x="0" y="0"/>
              <a:chExt cx="1968273" cy="62551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68273" cy="625512"/>
              </a:xfrm>
              <a:custGeom>
                <a:avLst/>
                <a:gdLst/>
                <a:ahLst/>
                <a:cxnLst/>
                <a:rect r="r" b="b" t="t" l="l"/>
                <a:pathLst>
                  <a:path h="625512" w="1968273">
                    <a:moveTo>
                      <a:pt x="52833" y="0"/>
                    </a:moveTo>
                    <a:lnTo>
                      <a:pt x="1915440" y="0"/>
                    </a:lnTo>
                    <a:cubicBezTo>
                      <a:pt x="1929453" y="0"/>
                      <a:pt x="1942891" y="5566"/>
                      <a:pt x="1952799" y="15474"/>
                    </a:cubicBezTo>
                    <a:cubicBezTo>
                      <a:pt x="1962707" y="25383"/>
                      <a:pt x="1968273" y="38821"/>
                      <a:pt x="1968273" y="52833"/>
                    </a:cubicBezTo>
                    <a:lnTo>
                      <a:pt x="1968273" y="572679"/>
                    </a:lnTo>
                    <a:cubicBezTo>
                      <a:pt x="1968273" y="601858"/>
                      <a:pt x="1944619" y="625512"/>
                      <a:pt x="1915440" y="625512"/>
                    </a:cubicBezTo>
                    <a:lnTo>
                      <a:pt x="52833" y="625512"/>
                    </a:lnTo>
                    <a:cubicBezTo>
                      <a:pt x="23654" y="625512"/>
                      <a:pt x="0" y="601858"/>
                      <a:pt x="0" y="572679"/>
                    </a:cubicBezTo>
                    <a:lnTo>
                      <a:pt x="0" y="52833"/>
                    </a:lnTo>
                    <a:cubicBezTo>
                      <a:pt x="0" y="23654"/>
                      <a:pt x="23654" y="0"/>
                      <a:pt x="52833" y="0"/>
                    </a:cubicBezTo>
                    <a:close/>
                  </a:path>
                </a:pathLst>
              </a:custGeom>
              <a:solidFill>
                <a:srgbClr val="A1C7CE"/>
              </a:solidFill>
              <a:ln w="85725" cap="rnd">
                <a:solidFill>
                  <a:srgbClr val="505050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9525"/>
                <a:ext cx="1968273" cy="6350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91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09468" y="1116657"/>
              <a:ext cx="3226158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18102B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Recall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369113" y="1116569"/>
              <a:ext cx="3226158" cy="5303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18102B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F1 S</a:t>
              </a:r>
              <a:r>
                <a:rPr lang="en-US" b="true" sz="2600">
                  <a:solidFill>
                    <a:srgbClr val="18102B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core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6595271" y="1116569"/>
              <a:ext cx="3226158" cy="5303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18102B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ROC AUC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42955" y="1637269"/>
              <a:ext cx="3226158" cy="1203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80"/>
                </a:lnSpc>
                <a:spcBef>
                  <a:spcPct val="0"/>
                </a:spcBef>
              </a:pPr>
              <a:r>
                <a:rPr lang="en-US" sz="5900">
                  <a:solidFill>
                    <a:srgbClr val="18102B"/>
                  </a:solidFill>
                  <a:latin typeface="Raleway"/>
                  <a:ea typeface="Raleway"/>
                  <a:cs typeface="Raleway"/>
                  <a:sym typeface="Raleway"/>
                </a:rPr>
                <a:t>78.6</a:t>
              </a:r>
              <a:r>
                <a:rPr lang="en-US" sz="5900">
                  <a:solidFill>
                    <a:srgbClr val="18102B"/>
                  </a:solidFill>
                  <a:latin typeface="Raleway"/>
                  <a:ea typeface="Raleway"/>
                  <a:cs typeface="Raleway"/>
                  <a:sym typeface="Raleway"/>
                </a:rPr>
                <a:t>%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369113" y="1644866"/>
              <a:ext cx="3226158" cy="1203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80"/>
                </a:lnSpc>
                <a:spcBef>
                  <a:spcPct val="0"/>
                </a:spcBef>
              </a:pPr>
              <a:r>
                <a:rPr lang="en-US" sz="5900">
                  <a:solidFill>
                    <a:srgbClr val="18102B"/>
                  </a:solidFill>
                  <a:latin typeface="Raleway"/>
                  <a:ea typeface="Raleway"/>
                  <a:cs typeface="Raleway"/>
                  <a:sym typeface="Raleway"/>
                </a:rPr>
                <a:t>78.3%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640748" y="1644866"/>
              <a:ext cx="3238858" cy="1203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80"/>
                </a:lnSpc>
                <a:spcBef>
                  <a:spcPct val="0"/>
                </a:spcBef>
              </a:pPr>
              <a:r>
                <a:rPr lang="en-US" sz="5900">
                  <a:solidFill>
                    <a:srgbClr val="18102B"/>
                  </a:solidFill>
                  <a:latin typeface="Raleway"/>
                  <a:ea typeface="Raleway"/>
                  <a:cs typeface="Raleway"/>
                  <a:sym typeface="Raleway"/>
                </a:rPr>
                <a:t>88.3%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930238" y="218547"/>
              <a:ext cx="4103908" cy="5303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18102B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Logistic Regression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0" y="2418031"/>
            <a:ext cx="8506047" cy="5542664"/>
            <a:chOff x="0" y="0"/>
            <a:chExt cx="2319170" cy="15112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19170" cy="1511205"/>
            </a:xfrm>
            <a:custGeom>
              <a:avLst/>
              <a:gdLst/>
              <a:ahLst/>
              <a:cxnLst/>
              <a:rect r="r" b="b" t="t" l="l"/>
              <a:pathLst>
                <a:path h="1511205" w="2319170">
                  <a:moveTo>
                    <a:pt x="45508" y="0"/>
                  </a:moveTo>
                  <a:lnTo>
                    <a:pt x="2273662" y="0"/>
                  </a:lnTo>
                  <a:cubicBezTo>
                    <a:pt x="2285731" y="0"/>
                    <a:pt x="2297307" y="4795"/>
                    <a:pt x="2305841" y="13329"/>
                  </a:cubicBezTo>
                  <a:cubicBezTo>
                    <a:pt x="2314376" y="21864"/>
                    <a:pt x="2319170" y="33439"/>
                    <a:pt x="2319170" y="45508"/>
                  </a:cubicBezTo>
                  <a:lnTo>
                    <a:pt x="2319170" y="1465697"/>
                  </a:lnTo>
                  <a:cubicBezTo>
                    <a:pt x="2319170" y="1490830"/>
                    <a:pt x="2298796" y="1511205"/>
                    <a:pt x="2273662" y="1511205"/>
                  </a:cubicBezTo>
                  <a:lnTo>
                    <a:pt x="45508" y="1511205"/>
                  </a:lnTo>
                  <a:cubicBezTo>
                    <a:pt x="20375" y="1511205"/>
                    <a:pt x="0" y="1490830"/>
                    <a:pt x="0" y="1465697"/>
                  </a:cubicBezTo>
                  <a:lnTo>
                    <a:pt x="0" y="45508"/>
                  </a:lnTo>
                  <a:cubicBezTo>
                    <a:pt x="0" y="20375"/>
                    <a:pt x="20375" y="0"/>
                    <a:pt x="45508" y="0"/>
                  </a:cubicBezTo>
                  <a:close/>
                </a:path>
              </a:pathLst>
            </a:custGeom>
            <a:solidFill>
              <a:srgbClr val="A1C7CE"/>
            </a:solidFill>
            <a:ln w="57150" cap="rnd">
              <a:solidFill>
                <a:srgbClr val="50505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319170" cy="1530255"/>
            </a:xfrm>
            <a:prstGeom prst="rect">
              <a:avLst/>
            </a:prstGeom>
          </p:spPr>
          <p:txBody>
            <a:bodyPr anchor="ctr" rtlCol="false" tIns="49361" lIns="49361" bIns="49361" rIns="49361"/>
            <a:lstStyle/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8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XGBoost outperformed Logistic Regression across all metrics.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8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R</a:t>
              </a:r>
              <a:r>
                <a:rPr lang="en-US" sz="2100" spc="8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ecall increased significantly (78.6% → 82.1%), indicating the model is more accurate in selecting truly valid candidates.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8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F1 Score  (78.3% → 83.9%). This quite sharp increase proves that the model is now more balanced and consistent in maintaining the quality of predictions between Precision and Recall.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8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While both models had high ROC-AUC scores, XGBoost was slightly better (88.2% → 89.7%).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8628" y="5585703"/>
            <a:ext cx="7473288" cy="2374991"/>
            <a:chOff x="0" y="0"/>
            <a:chExt cx="9964384" cy="316665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9964384" cy="3166655"/>
              <a:chOff x="0" y="0"/>
              <a:chExt cx="1968273" cy="62551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68273" cy="625512"/>
              </a:xfrm>
              <a:custGeom>
                <a:avLst/>
                <a:gdLst/>
                <a:ahLst/>
                <a:cxnLst/>
                <a:rect r="r" b="b" t="t" l="l"/>
                <a:pathLst>
                  <a:path h="625512" w="1968273">
                    <a:moveTo>
                      <a:pt x="52833" y="0"/>
                    </a:moveTo>
                    <a:lnTo>
                      <a:pt x="1915440" y="0"/>
                    </a:lnTo>
                    <a:cubicBezTo>
                      <a:pt x="1929453" y="0"/>
                      <a:pt x="1942891" y="5566"/>
                      <a:pt x="1952799" y="15474"/>
                    </a:cubicBezTo>
                    <a:cubicBezTo>
                      <a:pt x="1962707" y="25383"/>
                      <a:pt x="1968273" y="38821"/>
                      <a:pt x="1968273" y="52833"/>
                    </a:cubicBezTo>
                    <a:lnTo>
                      <a:pt x="1968273" y="572679"/>
                    </a:lnTo>
                    <a:cubicBezTo>
                      <a:pt x="1968273" y="601858"/>
                      <a:pt x="1944619" y="625512"/>
                      <a:pt x="1915440" y="625512"/>
                    </a:cubicBezTo>
                    <a:lnTo>
                      <a:pt x="52833" y="625512"/>
                    </a:lnTo>
                    <a:cubicBezTo>
                      <a:pt x="23654" y="625512"/>
                      <a:pt x="0" y="601858"/>
                      <a:pt x="0" y="572679"/>
                    </a:cubicBezTo>
                    <a:lnTo>
                      <a:pt x="0" y="52833"/>
                    </a:lnTo>
                    <a:cubicBezTo>
                      <a:pt x="0" y="23654"/>
                      <a:pt x="23654" y="0"/>
                      <a:pt x="52833" y="0"/>
                    </a:cubicBezTo>
                    <a:close/>
                  </a:path>
                </a:pathLst>
              </a:custGeom>
              <a:solidFill>
                <a:srgbClr val="A1C7CE"/>
              </a:solidFill>
              <a:ln w="85725" cap="rnd">
                <a:solidFill>
                  <a:srgbClr val="505050"/>
                </a:soli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9525"/>
                <a:ext cx="1968273" cy="6350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91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09468" y="1116657"/>
              <a:ext cx="3226158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18102B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Recall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369113" y="1116569"/>
              <a:ext cx="3226158" cy="5303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18102B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F1 S</a:t>
              </a:r>
              <a:r>
                <a:rPr lang="en-US" b="true" sz="2600">
                  <a:solidFill>
                    <a:srgbClr val="18102B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core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595271" y="1116569"/>
              <a:ext cx="3226158" cy="5303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18102B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ROC AUC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42955" y="1637269"/>
              <a:ext cx="3226158" cy="1203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80"/>
                </a:lnSpc>
                <a:spcBef>
                  <a:spcPct val="0"/>
                </a:spcBef>
              </a:pPr>
              <a:r>
                <a:rPr lang="en-US" sz="5900">
                  <a:solidFill>
                    <a:srgbClr val="18102B"/>
                  </a:solidFill>
                  <a:latin typeface="Raleway"/>
                  <a:ea typeface="Raleway"/>
                  <a:cs typeface="Raleway"/>
                  <a:sym typeface="Raleway"/>
                </a:rPr>
                <a:t>82.1</a:t>
              </a:r>
              <a:r>
                <a:rPr lang="en-US" sz="5900">
                  <a:solidFill>
                    <a:srgbClr val="18102B"/>
                  </a:solidFill>
                  <a:latin typeface="Raleway"/>
                  <a:ea typeface="Raleway"/>
                  <a:cs typeface="Raleway"/>
                  <a:sym typeface="Raleway"/>
                </a:rPr>
                <a:t>%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369113" y="1644866"/>
              <a:ext cx="3226158" cy="1203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80"/>
                </a:lnSpc>
                <a:spcBef>
                  <a:spcPct val="0"/>
                </a:spcBef>
              </a:pPr>
              <a:r>
                <a:rPr lang="en-US" sz="5900">
                  <a:solidFill>
                    <a:srgbClr val="18102B"/>
                  </a:solidFill>
                  <a:latin typeface="Raleway"/>
                  <a:ea typeface="Raleway"/>
                  <a:cs typeface="Raleway"/>
                  <a:sym typeface="Raleway"/>
                </a:rPr>
                <a:t>83.9%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6640748" y="1644866"/>
              <a:ext cx="3238858" cy="1203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80"/>
                </a:lnSpc>
                <a:spcBef>
                  <a:spcPct val="0"/>
                </a:spcBef>
              </a:pPr>
              <a:r>
                <a:rPr lang="en-US" sz="5900">
                  <a:solidFill>
                    <a:srgbClr val="18102B"/>
                  </a:solidFill>
                  <a:latin typeface="Raleway"/>
                  <a:ea typeface="Raleway"/>
                  <a:cs typeface="Raleway"/>
                  <a:sym typeface="Raleway"/>
                </a:rPr>
                <a:t>89.7%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930238" y="218547"/>
              <a:ext cx="4103908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18102B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XGB</a:t>
              </a:r>
              <a:r>
                <a:rPr lang="en-US" b="true" sz="2600">
                  <a:solidFill>
                    <a:srgbClr val="18102B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oost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0" t="0" r="-5578" b="-9099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1520853"/>
          <a:ext cx="8556024" cy="5686425"/>
        </p:xfrm>
        <a:graphic>
          <a:graphicData uri="http://schemas.openxmlformats.org/drawingml/2006/table">
            <a:tbl>
              <a:tblPr/>
              <a:tblGrid>
                <a:gridCol w="2547105"/>
                <a:gridCol w="2247273"/>
                <a:gridCol w="852402"/>
                <a:gridCol w="1256524"/>
                <a:gridCol w="1652719"/>
              </a:tblGrid>
              <a:tr h="516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Feature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Subset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count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positives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positive_rate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</a:tr>
              <a:tr h="516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b="true" sz="1648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RecruitmentStrategy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External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233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0.129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6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b="true" sz="1648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RecruitmentStrategy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Internal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141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0.716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6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RecruitmentStrategy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Referral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0.118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6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EducationLevel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Diploma/Bachelor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230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0.235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6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EducationLevel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High School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0.301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6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EducationLevel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Magister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0.44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6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EducationLevel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PhD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6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ExperienceLevel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Junior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0.235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6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ExperienceLevel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Medior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116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0.259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6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ExperienceLevel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Senior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283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0.346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1028700" y="7312053"/>
            <a:ext cx="8738606" cy="2772258"/>
            <a:chOff x="0" y="0"/>
            <a:chExt cx="2382577" cy="7558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2577" cy="755855"/>
            </a:xfrm>
            <a:custGeom>
              <a:avLst/>
              <a:gdLst/>
              <a:ahLst/>
              <a:cxnLst/>
              <a:rect r="r" b="b" t="t" l="l"/>
              <a:pathLst>
                <a:path h="755855" w="2382577">
                  <a:moveTo>
                    <a:pt x="44297" y="0"/>
                  </a:moveTo>
                  <a:lnTo>
                    <a:pt x="2338280" y="0"/>
                  </a:lnTo>
                  <a:cubicBezTo>
                    <a:pt x="2350029" y="0"/>
                    <a:pt x="2361296" y="4667"/>
                    <a:pt x="2369603" y="12974"/>
                  </a:cubicBezTo>
                  <a:cubicBezTo>
                    <a:pt x="2377910" y="21282"/>
                    <a:pt x="2382577" y="32549"/>
                    <a:pt x="2382577" y="44297"/>
                  </a:cubicBezTo>
                  <a:lnTo>
                    <a:pt x="2382577" y="711558"/>
                  </a:lnTo>
                  <a:cubicBezTo>
                    <a:pt x="2382577" y="723306"/>
                    <a:pt x="2377910" y="734573"/>
                    <a:pt x="2369603" y="742881"/>
                  </a:cubicBezTo>
                  <a:cubicBezTo>
                    <a:pt x="2361296" y="751188"/>
                    <a:pt x="2350029" y="755855"/>
                    <a:pt x="2338280" y="755855"/>
                  </a:cubicBezTo>
                  <a:lnTo>
                    <a:pt x="44297" y="755855"/>
                  </a:lnTo>
                  <a:cubicBezTo>
                    <a:pt x="32549" y="755855"/>
                    <a:pt x="21282" y="751188"/>
                    <a:pt x="12974" y="742881"/>
                  </a:cubicBezTo>
                  <a:cubicBezTo>
                    <a:pt x="4667" y="734573"/>
                    <a:pt x="0" y="723306"/>
                    <a:pt x="0" y="711558"/>
                  </a:cubicBezTo>
                  <a:lnTo>
                    <a:pt x="0" y="44297"/>
                  </a:lnTo>
                  <a:cubicBezTo>
                    <a:pt x="0" y="32549"/>
                    <a:pt x="4667" y="21282"/>
                    <a:pt x="12974" y="12974"/>
                  </a:cubicBezTo>
                  <a:cubicBezTo>
                    <a:pt x="21282" y="4667"/>
                    <a:pt x="32549" y="0"/>
                    <a:pt x="44297" y="0"/>
                  </a:cubicBezTo>
                  <a:close/>
                </a:path>
              </a:pathLst>
            </a:custGeom>
            <a:solidFill>
              <a:srgbClr val="A1C7C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382577" cy="765380"/>
            </a:xfrm>
            <a:prstGeom prst="rect">
              <a:avLst/>
            </a:prstGeom>
          </p:spPr>
          <p:txBody>
            <a:bodyPr anchor="ctr" rtlCol="false" tIns="49361" lIns="49361" bIns="49361" rIns="49361"/>
            <a:lstStyle/>
            <a:p>
              <a:pPr algn="l" marL="323853" indent="-161927" lvl="1">
                <a:lnSpc>
                  <a:spcPts val="1800"/>
                </a:lnSpc>
                <a:buFont typeface="Arial"/>
                <a:buChar char="•"/>
              </a:pPr>
              <a:r>
                <a:rPr lang="en-US" b="true" sz="1500" spc="6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Recruitment Strategy: </a:t>
              </a:r>
              <a:r>
                <a:rPr lang="en-US" sz="1500" spc="6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The model recommends Internal Strategy significantly higher (0.71) than External or Referral Strategy (0.12), indicating a strong preference for internal sources.</a:t>
              </a:r>
            </a:p>
            <a:p>
              <a:pPr algn="ctr">
                <a:lnSpc>
                  <a:spcPts val="1800"/>
                </a:lnSpc>
              </a:pPr>
            </a:p>
            <a:p>
              <a:pPr algn="l" marL="323853" indent="-161927" lvl="1">
                <a:lnSpc>
                  <a:spcPts val="1800"/>
                </a:lnSpc>
                <a:buFont typeface="Arial"/>
                <a:buChar char="•"/>
              </a:pPr>
              <a:r>
                <a:rPr lang="en-US" b="true" sz="1500" spc="6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Educational Level: </a:t>
              </a:r>
              <a:r>
                <a:rPr lang="en-US" sz="1500" spc="6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The model tends to recommend candidates with higher education, particularly Master's (0.44) and PhD (0.50) graduates, compared to candidates with a high school or bachelor's degree (0.23 - 0.30)</a:t>
              </a:r>
            </a:p>
            <a:p>
              <a:pPr algn="ctr">
                <a:lnSpc>
                  <a:spcPts val="1800"/>
                </a:lnSpc>
              </a:pPr>
            </a:p>
            <a:p>
              <a:pPr algn="l" marL="323853" indent="-161927" lvl="1">
                <a:lnSpc>
                  <a:spcPts val="1800"/>
                </a:lnSpc>
                <a:buFont typeface="Arial"/>
                <a:buChar char="•"/>
              </a:pPr>
              <a:r>
                <a:rPr lang="en-US" b="true" sz="1500" spc="6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Experience Level: </a:t>
              </a:r>
              <a:r>
                <a:rPr lang="en-US" sz="1500" spc="6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The model prioritizes senior candidates, but the difference in positive rates across experience levels (Junior, Intermediate, Senior) does not show the extreme gaps found in education or recruitment strategy categories.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767306" y="1520853"/>
          <a:ext cx="8189081" cy="5154934"/>
        </p:xfrm>
        <a:graphic>
          <a:graphicData uri="http://schemas.openxmlformats.org/drawingml/2006/table">
            <a:tbl>
              <a:tblPr/>
              <a:tblGrid>
                <a:gridCol w="2437868"/>
                <a:gridCol w="2150894"/>
                <a:gridCol w="815845"/>
                <a:gridCol w="1202635"/>
                <a:gridCol w="1581839"/>
              </a:tblGrid>
              <a:tr h="5150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Feature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Subset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count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positives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positive_rate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</a:tr>
              <a:tr h="5193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b="true" sz="1648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InterviewScore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Low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0.291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50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b="true" sz="1648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InterviewScore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0.193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50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InterviewScore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0.44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50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SkillScore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Low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0.164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50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SkillScore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0.371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50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SkillScore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0.391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50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PersonalityScore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Low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165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0.248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50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PersonalityScore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0.262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50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PersonalityScore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0.431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9910570" y="7207278"/>
            <a:ext cx="8045818" cy="2051022"/>
            <a:chOff x="0" y="0"/>
            <a:chExt cx="2193689" cy="5592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3689" cy="559210"/>
            </a:xfrm>
            <a:custGeom>
              <a:avLst/>
              <a:gdLst/>
              <a:ahLst/>
              <a:cxnLst/>
              <a:rect r="r" b="b" t="t" l="l"/>
              <a:pathLst>
                <a:path h="559210" w="2193689">
                  <a:moveTo>
                    <a:pt x="48111" y="0"/>
                  </a:moveTo>
                  <a:lnTo>
                    <a:pt x="2145578" y="0"/>
                  </a:lnTo>
                  <a:cubicBezTo>
                    <a:pt x="2172149" y="0"/>
                    <a:pt x="2193689" y="21540"/>
                    <a:pt x="2193689" y="48111"/>
                  </a:cubicBezTo>
                  <a:lnTo>
                    <a:pt x="2193689" y="511099"/>
                  </a:lnTo>
                  <a:cubicBezTo>
                    <a:pt x="2193689" y="523859"/>
                    <a:pt x="2188620" y="536096"/>
                    <a:pt x="2179597" y="545119"/>
                  </a:cubicBezTo>
                  <a:cubicBezTo>
                    <a:pt x="2170575" y="554142"/>
                    <a:pt x="2158337" y="559210"/>
                    <a:pt x="2145578" y="559210"/>
                  </a:cubicBezTo>
                  <a:lnTo>
                    <a:pt x="48111" y="559210"/>
                  </a:lnTo>
                  <a:cubicBezTo>
                    <a:pt x="35352" y="559210"/>
                    <a:pt x="23114" y="554142"/>
                    <a:pt x="14092" y="545119"/>
                  </a:cubicBezTo>
                  <a:cubicBezTo>
                    <a:pt x="5069" y="536096"/>
                    <a:pt x="0" y="523859"/>
                    <a:pt x="0" y="511099"/>
                  </a:cubicBezTo>
                  <a:lnTo>
                    <a:pt x="0" y="48111"/>
                  </a:lnTo>
                  <a:cubicBezTo>
                    <a:pt x="0" y="35352"/>
                    <a:pt x="5069" y="23114"/>
                    <a:pt x="14092" y="14092"/>
                  </a:cubicBezTo>
                  <a:cubicBezTo>
                    <a:pt x="23114" y="5069"/>
                    <a:pt x="35352" y="0"/>
                    <a:pt x="48111" y="0"/>
                  </a:cubicBezTo>
                  <a:close/>
                </a:path>
              </a:pathLst>
            </a:custGeom>
            <a:solidFill>
              <a:srgbClr val="A1C7C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3689" cy="568735"/>
            </a:xfrm>
            <a:prstGeom prst="rect">
              <a:avLst/>
            </a:prstGeom>
          </p:spPr>
          <p:txBody>
            <a:bodyPr anchor="t" rtlCol="false" tIns="49361" lIns="49361" bIns="49361" rIns="49361"/>
            <a:lstStyle/>
            <a:p>
              <a:pPr algn="l">
                <a:lnSpc>
                  <a:spcPts val="1800"/>
                </a:lnSpc>
              </a:pPr>
            </a:p>
            <a:p>
              <a:pPr algn="l" marL="323853" indent="-161927" lvl="1">
                <a:lnSpc>
                  <a:spcPts val="1800"/>
                </a:lnSpc>
                <a:buFont typeface="Arial"/>
                <a:buChar char="•"/>
              </a:pPr>
              <a:r>
                <a:rPr lang="en-US" sz="1500" spc="6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The model shows a pattern where higher scores increase a candidate's chances of being recommended for recruitment, particularly in the High score category.</a:t>
              </a:r>
            </a:p>
            <a:p>
              <a:pPr algn="l">
                <a:lnSpc>
                  <a:spcPts val="1800"/>
                </a:lnSpc>
              </a:pPr>
            </a:p>
            <a:p>
              <a:pPr algn="l" marL="323853" indent="-161927" lvl="1">
                <a:lnSpc>
                  <a:spcPts val="1800"/>
                </a:lnSpc>
                <a:buFont typeface="Arial"/>
                <a:buChar char="•"/>
              </a:pPr>
              <a:r>
                <a:rPr lang="en-US" sz="1500" spc="6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The most significant gap is seen in the Interview Score, followed by the Personality Score. Meanwhile, Skill Score shows a more stable pattern across the Medium and High score ranges.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02291" y="350823"/>
            <a:ext cx="9877297" cy="106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3"/>
              </a:lnSpc>
              <a:spcBef>
                <a:spcPct val="0"/>
              </a:spcBef>
            </a:pPr>
            <a:r>
              <a:rPr lang="en-US" sz="6159">
                <a:solidFill>
                  <a:srgbClr val="18102B"/>
                </a:solidFill>
                <a:latin typeface="Raleway"/>
                <a:ea typeface="Raleway"/>
                <a:cs typeface="Raleway"/>
                <a:sym typeface="Raleway"/>
              </a:rPr>
              <a:t>Fairness and Bias Analysis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0" t="0" r="-5578" b="-909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56552" y="1507010"/>
            <a:ext cx="10499537" cy="4273868"/>
            <a:chOff x="0" y="0"/>
            <a:chExt cx="2862694" cy="11652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62694" cy="1165268"/>
            </a:xfrm>
            <a:custGeom>
              <a:avLst/>
              <a:gdLst/>
              <a:ahLst/>
              <a:cxnLst/>
              <a:rect r="r" b="b" t="t" l="l"/>
              <a:pathLst>
                <a:path h="1165268" w="2862694">
                  <a:moveTo>
                    <a:pt x="36868" y="0"/>
                  </a:moveTo>
                  <a:lnTo>
                    <a:pt x="2825827" y="0"/>
                  </a:lnTo>
                  <a:cubicBezTo>
                    <a:pt x="2835604" y="0"/>
                    <a:pt x="2844982" y="3884"/>
                    <a:pt x="2851896" y="10798"/>
                  </a:cubicBezTo>
                  <a:cubicBezTo>
                    <a:pt x="2858810" y="17712"/>
                    <a:pt x="2862694" y="27090"/>
                    <a:pt x="2862694" y="36868"/>
                  </a:cubicBezTo>
                  <a:lnTo>
                    <a:pt x="2862694" y="1128401"/>
                  </a:lnTo>
                  <a:cubicBezTo>
                    <a:pt x="2862694" y="1138178"/>
                    <a:pt x="2858810" y="1147556"/>
                    <a:pt x="2851896" y="1154470"/>
                  </a:cubicBezTo>
                  <a:cubicBezTo>
                    <a:pt x="2844982" y="1161384"/>
                    <a:pt x="2835604" y="1165268"/>
                    <a:pt x="2825827" y="1165268"/>
                  </a:cubicBezTo>
                  <a:lnTo>
                    <a:pt x="36868" y="1165268"/>
                  </a:lnTo>
                  <a:cubicBezTo>
                    <a:pt x="16506" y="1165268"/>
                    <a:pt x="0" y="1148762"/>
                    <a:pt x="0" y="1128401"/>
                  </a:cubicBezTo>
                  <a:lnTo>
                    <a:pt x="0" y="36868"/>
                  </a:lnTo>
                  <a:cubicBezTo>
                    <a:pt x="0" y="27090"/>
                    <a:pt x="3884" y="17712"/>
                    <a:pt x="10798" y="10798"/>
                  </a:cubicBezTo>
                  <a:cubicBezTo>
                    <a:pt x="17712" y="3884"/>
                    <a:pt x="27090" y="0"/>
                    <a:pt x="36868" y="0"/>
                  </a:cubicBezTo>
                  <a:close/>
                </a:path>
              </a:pathLst>
            </a:custGeom>
            <a:solidFill>
              <a:srgbClr val="CBD5E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862694" cy="1184318"/>
            </a:xfrm>
            <a:prstGeom prst="rect">
              <a:avLst/>
            </a:prstGeom>
          </p:spPr>
          <p:txBody>
            <a:bodyPr anchor="ctr" rtlCol="false" tIns="49361" lIns="49361" bIns="49361" rIns="49361"/>
            <a:lstStyle/>
            <a:p>
              <a:pPr algn="l" marL="345443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 spc="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RecruitmentStrategy_External is the most influential factor</a:t>
              </a:r>
              <a:r>
                <a:rPr lang="en-US" sz="1600" spc="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, with high feature scores (red) having a very strong negative impact on recruitment decisions.</a:t>
              </a:r>
            </a:p>
            <a:p>
              <a:pPr algn="l">
                <a:lnSpc>
                  <a:spcPts val="1920"/>
                </a:lnSpc>
              </a:pPr>
            </a:p>
            <a:p>
              <a:pPr algn="l" marL="345443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 spc="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EducationLevel and TotalScore had a significant positive impact</a:t>
              </a:r>
              <a:r>
                <a:rPr lang="en-US" sz="1600" spc="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; the higher a candidate's education level and total score, the greater their likelihood of being recommended.</a:t>
              </a:r>
            </a:p>
            <a:p>
              <a:pPr algn="l">
                <a:lnSpc>
                  <a:spcPts val="1920"/>
                </a:lnSpc>
              </a:pPr>
            </a:p>
            <a:p>
              <a:pPr algn="l" marL="345443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 spc="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PersonalityScore, InterviewScore, and SkillScore consistently showed a positive impact on the model</a:t>
              </a:r>
              <a:r>
                <a:rPr lang="en-US" sz="1600" spc="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. Candidates with high evaluation scores on these aspects were more likely to be hired.</a:t>
              </a:r>
            </a:p>
            <a:p>
              <a:pPr algn="l">
                <a:lnSpc>
                  <a:spcPts val="1920"/>
                </a:lnSpc>
              </a:pPr>
            </a:p>
            <a:p>
              <a:pPr algn="l" marL="345443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 spc="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remaining factors, such as DistanceFromCompany, Age, and ExperienceLevel_Senior, had minimal or almost neutral impacts</a:t>
              </a:r>
              <a:r>
                <a:rPr lang="en-US" sz="1600" spc="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on the prediction model output.</a:t>
              </a:r>
            </a:p>
            <a:p>
              <a:pPr algn="l">
                <a:lnSpc>
                  <a:spcPts val="1920"/>
                </a:lnSpc>
              </a:pPr>
            </a:p>
            <a:p>
              <a:pPr algn="l" marL="345443" indent="-172721" lvl="1">
                <a:lnSpc>
                  <a:spcPts val="1920"/>
                </a:lnSpc>
                <a:buFont typeface="Arial"/>
                <a:buChar char="•"/>
              </a:pPr>
              <a:r>
                <a:rPr lang="en-US" b="true" sz="1600" spc="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Conclusion:</a:t>
              </a:r>
              <a:r>
                <a:rPr lang="en-US" sz="1600" spc="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The model was heavily influenced by the recruitment channel (External) and the candidate's academic quality/evaluation score, while demographic factors and specific experience (Senior) were not significant determinants in this model.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507010"/>
            <a:ext cx="4559225" cy="4273868"/>
          </a:xfrm>
          <a:custGeom>
            <a:avLst/>
            <a:gdLst/>
            <a:ahLst/>
            <a:cxnLst/>
            <a:rect r="r" b="b" t="t" l="l"/>
            <a:pathLst>
              <a:path h="4273868" w="4559225">
                <a:moveTo>
                  <a:pt x="0" y="0"/>
                </a:moveTo>
                <a:lnTo>
                  <a:pt x="4559225" y="0"/>
                </a:lnTo>
                <a:lnTo>
                  <a:pt x="4559225" y="4273868"/>
                </a:lnTo>
                <a:lnTo>
                  <a:pt x="0" y="4273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6061512"/>
            <a:ext cx="4559225" cy="3635982"/>
          </a:xfrm>
          <a:custGeom>
            <a:avLst/>
            <a:gdLst/>
            <a:ahLst/>
            <a:cxnLst/>
            <a:rect r="r" b="b" t="t" l="l"/>
            <a:pathLst>
              <a:path h="3635982" w="4559225">
                <a:moveTo>
                  <a:pt x="0" y="0"/>
                </a:moveTo>
                <a:lnTo>
                  <a:pt x="4559225" y="0"/>
                </a:lnTo>
                <a:lnTo>
                  <a:pt x="4559225" y="3635982"/>
                </a:lnTo>
                <a:lnTo>
                  <a:pt x="0" y="3635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056552" y="6061512"/>
            <a:ext cx="3806214" cy="3666896"/>
            <a:chOff x="0" y="0"/>
            <a:chExt cx="1037763" cy="9997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7763" cy="999778"/>
            </a:xfrm>
            <a:custGeom>
              <a:avLst/>
              <a:gdLst/>
              <a:ahLst/>
              <a:cxnLst/>
              <a:rect r="r" b="b" t="t" l="l"/>
              <a:pathLst>
                <a:path h="999778" w="1037763">
                  <a:moveTo>
                    <a:pt x="101701" y="0"/>
                  </a:moveTo>
                  <a:lnTo>
                    <a:pt x="936062" y="0"/>
                  </a:lnTo>
                  <a:cubicBezTo>
                    <a:pt x="992230" y="0"/>
                    <a:pt x="1037763" y="45533"/>
                    <a:pt x="1037763" y="101701"/>
                  </a:cubicBezTo>
                  <a:lnTo>
                    <a:pt x="1037763" y="898077"/>
                  </a:lnTo>
                  <a:cubicBezTo>
                    <a:pt x="1037763" y="954245"/>
                    <a:pt x="992230" y="999778"/>
                    <a:pt x="936062" y="999778"/>
                  </a:cubicBezTo>
                  <a:lnTo>
                    <a:pt x="101701" y="999778"/>
                  </a:lnTo>
                  <a:cubicBezTo>
                    <a:pt x="45533" y="999778"/>
                    <a:pt x="0" y="954245"/>
                    <a:pt x="0" y="898077"/>
                  </a:cubicBezTo>
                  <a:lnTo>
                    <a:pt x="0" y="101701"/>
                  </a:lnTo>
                  <a:cubicBezTo>
                    <a:pt x="0" y="45533"/>
                    <a:pt x="45533" y="0"/>
                    <a:pt x="101701" y="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42875"/>
              <a:ext cx="1037763" cy="1142653"/>
            </a:xfrm>
            <a:prstGeom prst="rect">
              <a:avLst/>
            </a:prstGeom>
          </p:spPr>
          <p:txBody>
            <a:bodyPr anchor="t" rtlCol="false" tIns="317500" lIns="317500" bIns="317500" rIns="317500"/>
            <a:lstStyle/>
            <a:p>
              <a:pPr algn="l">
                <a:lnSpc>
                  <a:spcPts val="3216"/>
                </a:lnSpc>
              </a:pPr>
              <a:r>
                <a:rPr lang="en-US" sz="1600" spc="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The graph shows that </a:t>
              </a:r>
              <a:r>
                <a:rPr lang="en-US" sz="1600" spc="6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RecruitmentStrategy_Referral, RecruitmentStrategy_External, and ExperienceLevel_Junior are the most influential features </a:t>
              </a:r>
              <a:r>
                <a:rPr lang="en-US" sz="1600" spc="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 this recruitment prediction model.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66191" y="3298811"/>
            <a:ext cx="1112095" cy="690266"/>
            <a:chOff x="0" y="0"/>
            <a:chExt cx="7366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6600" cy="457200"/>
            </a:xfrm>
            <a:custGeom>
              <a:avLst/>
              <a:gdLst/>
              <a:ahLst/>
              <a:cxnLst/>
              <a:rect r="r" b="b" t="t" l="l"/>
              <a:pathLst>
                <a:path h="457200" w="736600">
                  <a:moveTo>
                    <a:pt x="736600" y="228606"/>
                  </a:moveTo>
                  <a:lnTo>
                    <a:pt x="476634" y="457200"/>
                  </a:lnTo>
                  <a:lnTo>
                    <a:pt x="492392" y="332453"/>
                  </a:lnTo>
                  <a:lnTo>
                    <a:pt x="244208" y="332453"/>
                  </a:lnTo>
                  <a:lnTo>
                    <a:pt x="259966" y="457200"/>
                  </a:lnTo>
                  <a:lnTo>
                    <a:pt x="0" y="228606"/>
                  </a:lnTo>
                  <a:lnTo>
                    <a:pt x="259966" y="0"/>
                  </a:lnTo>
                  <a:lnTo>
                    <a:pt x="244196" y="124785"/>
                  </a:lnTo>
                  <a:lnTo>
                    <a:pt x="492404" y="124785"/>
                  </a:lnTo>
                  <a:lnTo>
                    <a:pt x="476634" y="0"/>
                  </a:lnTo>
                  <a:lnTo>
                    <a:pt x="736600" y="228606"/>
                  </a:ln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117475"/>
              <a:ext cx="508000" cy="212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02291" y="350823"/>
            <a:ext cx="7668670" cy="106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3"/>
              </a:lnSpc>
              <a:spcBef>
                <a:spcPct val="0"/>
              </a:spcBef>
            </a:pPr>
            <a:r>
              <a:rPr lang="en-US" sz="6159">
                <a:solidFill>
                  <a:srgbClr val="18102B"/>
                </a:solidFill>
                <a:latin typeface="Raleway"/>
                <a:ea typeface="Raleway"/>
                <a:cs typeface="Raleway"/>
                <a:sym typeface="Raleway"/>
              </a:rPr>
              <a:t>Feature Importance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766191" y="7534370"/>
            <a:ext cx="1112095" cy="690266"/>
            <a:chOff x="0" y="0"/>
            <a:chExt cx="73660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6600" cy="457200"/>
            </a:xfrm>
            <a:custGeom>
              <a:avLst/>
              <a:gdLst/>
              <a:ahLst/>
              <a:cxnLst/>
              <a:rect r="r" b="b" t="t" l="l"/>
              <a:pathLst>
                <a:path h="457200" w="736600">
                  <a:moveTo>
                    <a:pt x="736600" y="228606"/>
                  </a:moveTo>
                  <a:lnTo>
                    <a:pt x="476634" y="457200"/>
                  </a:lnTo>
                  <a:lnTo>
                    <a:pt x="492392" y="332453"/>
                  </a:lnTo>
                  <a:lnTo>
                    <a:pt x="244208" y="332453"/>
                  </a:lnTo>
                  <a:lnTo>
                    <a:pt x="259966" y="457200"/>
                  </a:lnTo>
                  <a:lnTo>
                    <a:pt x="0" y="228606"/>
                  </a:lnTo>
                  <a:lnTo>
                    <a:pt x="259966" y="0"/>
                  </a:lnTo>
                  <a:lnTo>
                    <a:pt x="244196" y="124785"/>
                  </a:lnTo>
                  <a:lnTo>
                    <a:pt x="492404" y="124785"/>
                  </a:lnTo>
                  <a:lnTo>
                    <a:pt x="476634" y="0"/>
                  </a:lnTo>
                  <a:lnTo>
                    <a:pt x="736600" y="228606"/>
                  </a:ln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14300" y="117475"/>
              <a:ext cx="508000" cy="212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0" t="0" r="-5578" b="-909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2291" y="350823"/>
            <a:ext cx="6219698" cy="106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3"/>
              </a:lnSpc>
              <a:spcBef>
                <a:spcPct val="0"/>
              </a:spcBef>
            </a:pPr>
            <a:r>
              <a:rPr lang="en-US" sz="6159">
                <a:solidFill>
                  <a:srgbClr val="18102B"/>
                </a:solidFill>
                <a:latin typeface="Raleway"/>
                <a:ea typeface="Raleway"/>
                <a:cs typeface="Raleway"/>
                <a:sym typeface="Raleway"/>
              </a:rPr>
              <a:t> Business impact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09450" y="2259511"/>
            <a:ext cx="8010838" cy="3265017"/>
            <a:chOff x="0" y="0"/>
            <a:chExt cx="2184152" cy="8902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152" cy="890206"/>
            </a:xfrm>
            <a:custGeom>
              <a:avLst/>
              <a:gdLst/>
              <a:ahLst/>
              <a:cxnLst/>
              <a:rect r="r" b="b" t="t" l="l"/>
              <a:pathLst>
                <a:path h="890206" w="2184152">
                  <a:moveTo>
                    <a:pt x="48322" y="0"/>
                  </a:moveTo>
                  <a:lnTo>
                    <a:pt x="2135830" y="0"/>
                  </a:lnTo>
                  <a:cubicBezTo>
                    <a:pt x="2148646" y="0"/>
                    <a:pt x="2160937" y="5091"/>
                    <a:pt x="2169999" y="14153"/>
                  </a:cubicBezTo>
                  <a:cubicBezTo>
                    <a:pt x="2179061" y="23215"/>
                    <a:pt x="2184152" y="35506"/>
                    <a:pt x="2184152" y="48322"/>
                  </a:cubicBezTo>
                  <a:lnTo>
                    <a:pt x="2184152" y="841884"/>
                  </a:lnTo>
                  <a:cubicBezTo>
                    <a:pt x="2184152" y="854700"/>
                    <a:pt x="2179061" y="866991"/>
                    <a:pt x="2169999" y="876053"/>
                  </a:cubicBezTo>
                  <a:cubicBezTo>
                    <a:pt x="2160937" y="885115"/>
                    <a:pt x="2148646" y="890206"/>
                    <a:pt x="2135830" y="890206"/>
                  </a:cubicBezTo>
                  <a:lnTo>
                    <a:pt x="48322" y="890206"/>
                  </a:lnTo>
                  <a:cubicBezTo>
                    <a:pt x="35506" y="890206"/>
                    <a:pt x="23215" y="885115"/>
                    <a:pt x="14153" y="876053"/>
                  </a:cubicBezTo>
                  <a:cubicBezTo>
                    <a:pt x="5091" y="866991"/>
                    <a:pt x="0" y="854700"/>
                    <a:pt x="0" y="841884"/>
                  </a:cubicBezTo>
                  <a:lnTo>
                    <a:pt x="0" y="48322"/>
                  </a:lnTo>
                  <a:cubicBezTo>
                    <a:pt x="0" y="35506"/>
                    <a:pt x="5091" y="23215"/>
                    <a:pt x="14153" y="14153"/>
                  </a:cubicBezTo>
                  <a:cubicBezTo>
                    <a:pt x="23215" y="5091"/>
                    <a:pt x="35506" y="0"/>
                    <a:pt x="48322" y="0"/>
                  </a:cubicBezTo>
                  <a:close/>
                </a:path>
              </a:pathLst>
            </a:custGeom>
            <a:solidFill>
              <a:srgbClr val="A1C7C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84152" cy="975931"/>
            </a:xfrm>
            <a:prstGeom prst="rect">
              <a:avLst/>
            </a:prstGeom>
          </p:spPr>
          <p:txBody>
            <a:bodyPr anchor="t" rtlCol="false" tIns="368300" lIns="368300" bIns="368300" rIns="368300"/>
            <a:lstStyle/>
            <a:p>
              <a:pPr algn="l">
                <a:lnSpc>
                  <a:spcPts val="3599"/>
                </a:lnSpc>
              </a:pPr>
              <a:r>
                <a:rPr lang="en-US" sz="2399" spc="-5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Based on confusion matrix, we have potential hire candidates as: </a:t>
              </a:r>
            </a:p>
            <a:p>
              <a:pPr algn="l">
                <a:lnSpc>
                  <a:spcPts val="1500"/>
                </a:lnSpc>
              </a:pPr>
            </a:p>
            <a:p>
              <a:pPr algn="ctr">
                <a:lnSpc>
                  <a:spcPts val="3599"/>
                </a:lnSpc>
              </a:pPr>
              <a:r>
                <a:rPr lang="en-US" b="true" sz="2399" spc="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TP (115) + FP (19) = 134 out of 450 candidates</a:t>
              </a:r>
            </a:p>
            <a:p>
              <a:pPr algn="just">
                <a:lnSpc>
                  <a:spcPts val="1500"/>
                </a:lnSpc>
              </a:pPr>
            </a:p>
            <a:p>
              <a:pPr algn="l">
                <a:lnSpc>
                  <a:spcPts val="3150"/>
                </a:lnSpc>
              </a:pPr>
            </a:p>
            <a:p>
              <a:pPr algn="l">
                <a:lnSpc>
                  <a:spcPts val="3599"/>
                </a:lnSpc>
              </a:pPr>
              <a:r>
                <a:rPr lang="en-US" sz="2399" spc="-5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3" tooltip="https://mekari.com/blog/cara-menghitung-biaya-rekrutmen-karyawan/#:~:text=Agensi%20rekrutmen%20karyawan%20Rp%2055.000.000%2C00;%20Biaya%20on%2Dboarding%20dan%20training%20sebesar%20Rp%205.500.000%2C00."/>
                </a:rPr>
                <a:t>C</a:t>
              </a:r>
              <a:r>
                <a:rPr lang="en-US" sz="2399" spc="-5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4" tooltip="https://mekari.com/blog/cara-menghitung-biaya-rekrutmen-karyawan/#:~:text=Agensi%20rekrutmen%20karyawan%20Rp%2055.000.000%2C00;%20Biaya%20on%2Dboarding%20dan%20training%20sebesar%20Rp%205.500.000%2C00."/>
                </a:rPr>
                <a:t>ost per Hire:</a:t>
              </a:r>
              <a:r>
                <a:rPr lang="en-US" sz="2399" spc="-5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11.000.000</a:t>
              </a: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869980" y="1630843"/>
            <a:ext cx="7461320" cy="6651084"/>
          </a:xfrm>
          <a:prstGeom prst="rect">
            <a:avLst/>
          </a:prstGeom>
        </p:spPr>
      </p:pic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20328" y="6090672"/>
          <a:ext cx="8189081" cy="1569478"/>
        </p:xfrm>
        <a:graphic>
          <a:graphicData uri="http://schemas.openxmlformats.org/drawingml/2006/table">
            <a:tbl>
              <a:tblPr/>
              <a:tblGrid>
                <a:gridCol w="1439877"/>
                <a:gridCol w="2187661"/>
                <a:gridCol w="2221112"/>
                <a:gridCol w="2340431"/>
              </a:tblGrid>
              <a:tr h="5217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With Model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Total Hire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Cost per Hire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Total Cost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</a:tr>
              <a:tr h="5260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11.000.000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1.474.000.000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217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450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11.000.000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08"/>
                        </a:lnSpc>
                        <a:defRPr/>
                      </a:pP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4.950.000.</a:t>
                      </a:r>
                      <a:r>
                        <a:rPr lang="en-US" sz="1648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B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9491757" y="7887404"/>
            <a:ext cx="6217767" cy="1640754"/>
            <a:chOff x="0" y="0"/>
            <a:chExt cx="1695272" cy="4473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5272" cy="447351"/>
            </a:xfrm>
            <a:custGeom>
              <a:avLst/>
              <a:gdLst/>
              <a:ahLst/>
              <a:cxnLst/>
              <a:rect r="r" b="b" t="t" l="l"/>
              <a:pathLst>
                <a:path h="447351" w="1695272">
                  <a:moveTo>
                    <a:pt x="62256" y="0"/>
                  </a:moveTo>
                  <a:lnTo>
                    <a:pt x="1633015" y="0"/>
                  </a:lnTo>
                  <a:cubicBezTo>
                    <a:pt x="1649526" y="0"/>
                    <a:pt x="1665362" y="6559"/>
                    <a:pt x="1677037" y="18234"/>
                  </a:cubicBezTo>
                  <a:cubicBezTo>
                    <a:pt x="1688712" y="29910"/>
                    <a:pt x="1695272" y="45745"/>
                    <a:pt x="1695272" y="62256"/>
                  </a:cubicBezTo>
                  <a:lnTo>
                    <a:pt x="1695272" y="385094"/>
                  </a:lnTo>
                  <a:cubicBezTo>
                    <a:pt x="1695272" y="401606"/>
                    <a:pt x="1688712" y="417441"/>
                    <a:pt x="1677037" y="429116"/>
                  </a:cubicBezTo>
                  <a:cubicBezTo>
                    <a:pt x="1665362" y="440792"/>
                    <a:pt x="1649526" y="447351"/>
                    <a:pt x="1633015" y="447351"/>
                  </a:cubicBezTo>
                  <a:lnTo>
                    <a:pt x="62256" y="447351"/>
                  </a:lnTo>
                  <a:cubicBezTo>
                    <a:pt x="45745" y="447351"/>
                    <a:pt x="29910" y="440792"/>
                    <a:pt x="18234" y="429116"/>
                  </a:cubicBezTo>
                  <a:cubicBezTo>
                    <a:pt x="6559" y="417441"/>
                    <a:pt x="0" y="401606"/>
                    <a:pt x="0" y="385094"/>
                  </a:cubicBezTo>
                  <a:lnTo>
                    <a:pt x="0" y="62256"/>
                  </a:lnTo>
                  <a:cubicBezTo>
                    <a:pt x="0" y="45745"/>
                    <a:pt x="6559" y="29910"/>
                    <a:pt x="18234" y="18234"/>
                  </a:cubicBezTo>
                  <a:cubicBezTo>
                    <a:pt x="29910" y="6559"/>
                    <a:pt x="45745" y="0"/>
                    <a:pt x="62256" y="0"/>
                  </a:cubicBezTo>
                  <a:close/>
                </a:path>
              </a:pathLst>
            </a:custGeom>
            <a:solidFill>
              <a:srgbClr val="E9EDE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695272" cy="533076"/>
            </a:xfrm>
            <a:prstGeom prst="rect">
              <a:avLst/>
            </a:prstGeom>
          </p:spPr>
          <p:txBody>
            <a:bodyPr anchor="t" rtlCol="false" tIns="368300" lIns="368300" bIns="368300" rIns="368300"/>
            <a:lstStyle/>
            <a:p>
              <a:pPr algn="l">
                <a:lnSpc>
                  <a:spcPts val="3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09836" y="8105191"/>
            <a:ext cx="4781610" cy="103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74"/>
              </a:lnSpc>
            </a:pPr>
            <a:r>
              <a:rPr lang="en-US" b="true" sz="3395" spc="13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Cost Saving: </a:t>
            </a:r>
            <a:r>
              <a:rPr lang="en-US" b="true" sz="3395" spc="13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Rp 3,476 M</a:t>
            </a:r>
          </a:p>
          <a:p>
            <a:pPr algn="r">
              <a:lnSpc>
                <a:spcPts val="4074"/>
              </a:lnSpc>
              <a:spcBef>
                <a:spcPct val="0"/>
              </a:spcBef>
            </a:pPr>
            <a:r>
              <a:rPr lang="en-US" b="true" sz="3395" spc="13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Cost Efficiency:</a:t>
            </a:r>
            <a:r>
              <a:rPr lang="en-US" b="true" sz="3395" spc="13">
                <a:solidFill>
                  <a:srgbClr val="00CC91"/>
                </a:solidFill>
                <a:latin typeface="Barlow Bold"/>
                <a:ea typeface="Barlow Bold"/>
                <a:cs typeface="Barlow Bold"/>
                <a:sym typeface="Barlow Bold"/>
              </a:rPr>
              <a:t> </a:t>
            </a:r>
            <a:r>
              <a:rPr lang="en-US" b="true" sz="3395" spc="13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70,3 %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DAHHAUYIHsg</dc:identifier>
  <dcterms:modified xsi:type="dcterms:W3CDTF">2011-08-01T06:04:30Z</dcterms:modified>
  <cp:revision>1</cp:revision>
  <dc:title>Smote PPT Presentasi – Kelompok 2 – HIRESIGHTS</dc:title>
</cp:coreProperties>
</file>