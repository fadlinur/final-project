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4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Raleway Bold" charset="1" panose="00000000000000000000"/>
      <p:regular r:id="rId17"/>
    </p:embeddedFont>
    <p:embeddedFont>
      <p:font typeface="Arimo Bold" charset="1" panose="020B0704020202020204"/>
      <p:regular r:id="rId19"/>
    </p:embeddedFont>
    <p:embeddedFont>
      <p:font typeface="Arimo" charset="1" panose="020B0604020202020204"/>
      <p:regular r:id="rId20"/>
    </p:embeddedFont>
    <p:embeddedFont>
      <p:font typeface="Raleway" charset="1" panose="00000000000000000000"/>
      <p:regular r:id="rId25"/>
    </p:embeddedFont>
    <p:embeddedFont>
      <p:font typeface="Roboto" charset="1" panose="02000000000000000000"/>
      <p:regular r:id="rId27"/>
    </p:embeddedFont>
    <p:embeddedFont>
      <p:font typeface="Roboto Bold" charset="1" panose="02000000000000000000"/>
      <p:regular r:id="rId28"/>
    </p:embeddedFont>
    <p:embeddedFont>
      <p:font typeface="Arial Bold" charset="1" panose="020B0704020202020204"/>
      <p:regular r:id="rId30"/>
    </p:embeddedFont>
    <p:embeddedFont>
      <p:font typeface="Arial" charset="1" panose="020B0604020202020204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notesMasters/notesMaster1.xml" Type="http://schemas.openxmlformats.org/officeDocument/2006/relationships/notesMaster"/><Relationship Id="rId15" Target="theme/theme2.xml" Type="http://schemas.openxmlformats.org/officeDocument/2006/relationships/theme"/><Relationship Id="rId16" Target="notesSlides/notesSlide1.xml" Type="http://schemas.openxmlformats.org/officeDocument/2006/relationships/notesSlide"/><Relationship Id="rId17" Target="fonts/font17.fntdata" Type="http://schemas.openxmlformats.org/officeDocument/2006/relationships/font"/><Relationship Id="rId18" Target="notesSlides/notesSlide2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notesSlides/notesSlide3.xml" Type="http://schemas.openxmlformats.org/officeDocument/2006/relationships/notesSlide"/><Relationship Id="rId22" Target="notesSlides/notesSlide4.xml" Type="http://schemas.openxmlformats.org/officeDocument/2006/relationships/notesSlide"/><Relationship Id="rId23" Target="notesSlides/notesSlide5.xml" Type="http://schemas.openxmlformats.org/officeDocument/2006/relationships/notesSlide"/><Relationship Id="rId24" Target="notesSlides/notesSlide6.xml" Type="http://schemas.openxmlformats.org/officeDocument/2006/relationships/notesSlide"/><Relationship Id="rId25" Target="fonts/font25.fntdata" Type="http://schemas.openxmlformats.org/officeDocument/2006/relationships/font"/><Relationship Id="rId26" Target="notesSlides/notesSlide7.xml" Type="http://schemas.openxmlformats.org/officeDocument/2006/relationships/notesSlide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notesSlides/notesSlide8.xml" Type="http://schemas.openxmlformats.org/officeDocument/2006/relationships/notesSlide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Relationship Id="rId4" Target="../media/image2.jpe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www.weforum.org/publications/the-future-of-jobs-report-2025/digest/" TargetMode="External" Type="http://schemas.openxmlformats.org/officeDocument/2006/relationships/hyperlink"/><Relationship Id="rId2" Target="../notesSlides/notesSlide4.xml" Type="http://schemas.openxmlformats.org/officeDocument/2006/relationships/notesSlid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https://diwo.ai/blog/7-characteristics-of-the-data-driven-enterprise/#:~:text=According%20to%20a%20survey%20by,more%20likely%20to%20be%20profitable." TargetMode="External" Type="http://schemas.openxmlformats.org/officeDocument/2006/relationships/hyperlink"/><Relationship Id="rId7" Target="https://www.inc.com/michael-schneider/its-harder-to-get-into-google-than-harvard.html" TargetMode="External" Type="http://schemas.openxmlformats.org/officeDocument/2006/relationships/hyperlink"/><Relationship Id="rId8" Target="https://www.mdpi.com/2076-3417/14/24/11750" TargetMode="External" Type="http://schemas.openxmlformats.org/officeDocument/2006/relationships/hyperlink"/><Relationship Id="rId9" Target="https://www.linkedin.com/pulse/2024-statistical-analysis-us-recruitment-industry-helixtechservices-ipewc" TargetMode="External" Type="http://schemas.openxmlformats.org/officeDocument/2006/relationships/hyperlink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6.png" Type="http://schemas.openxmlformats.org/officeDocument/2006/relationships/image"/><Relationship Id="rId4" Target="../media/image9.png" Type="http://schemas.openxmlformats.org/officeDocument/2006/relationships/image"/><Relationship Id="rId5" Target="https://www.airswift.com/blog/hiring-mistakes" TargetMode="External" Type="http://schemas.openxmlformats.org/officeDocument/2006/relationships/hyperlink"/><Relationship Id="rId6" Target="https://www.peoplekeep.com/blog/employee-retention-the-real-cost-of-losing-an-employee#:~:text=The%20average%20cost%20of%20turnover,in%20recruiting%20and%20training%20expenses." TargetMode="External" Type="http://schemas.openxmlformats.org/officeDocument/2006/relationships/hyperlink"/><Relationship Id="rId7" Target="https://www.bps.go.id/en/statistics-table/2/MTUyMSMy/average-of-net-wage-" TargetMode="External" Type="http://schemas.openxmlformats.org/officeDocument/2006/relationships/hyperlink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6.png" Type="http://schemas.openxmlformats.org/officeDocument/2006/relationships/image"/><Relationship Id="rId4" Target="https://www.mdpi.com/2076-3417/14/24/11750" TargetMode="External" Type="http://schemas.openxmlformats.org/officeDocument/2006/relationships/hyperlink"/><Relationship Id="rId5" Target="https://www.mdpi.com/2076-3417/14/24/11750" TargetMode="External" Type="http://schemas.openxmlformats.org/officeDocument/2006/relationships/hyperlink"/><Relationship Id="rId6" Target="https://www.linkedin.com/pulse/2024-statistical-analysis-us-recruitment-industry-helixtechservices-ipewc" TargetMode="External" Type="http://schemas.openxmlformats.org/officeDocument/2006/relationships/hyperlink"/><Relationship Id="rId7" Target="https://www.mdpi.com/2076-3417/14/24/11750#AI_in_Retention_and_Attrition_Prediction" TargetMode="External" Type="http://schemas.openxmlformats.org/officeDocument/2006/relationships/hyperlink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6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55601" y="3624900"/>
            <a:ext cx="15376798" cy="4150353"/>
            <a:chOff x="0" y="0"/>
            <a:chExt cx="20502397" cy="553380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502400" cy="5533805"/>
            </a:xfrm>
            <a:custGeom>
              <a:avLst/>
              <a:gdLst/>
              <a:ahLst/>
              <a:cxnLst/>
              <a:rect r="r" b="b" t="t" l="l"/>
              <a:pathLst>
                <a:path h="5533805" w="20502400">
                  <a:moveTo>
                    <a:pt x="0" y="0"/>
                  </a:moveTo>
                  <a:lnTo>
                    <a:pt x="20502400" y="0"/>
                  </a:lnTo>
                  <a:lnTo>
                    <a:pt x="20502400" y="5533805"/>
                  </a:lnTo>
                  <a:lnTo>
                    <a:pt x="0" y="553380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5601" r="0" b="-8780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20502397" cy="55528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640"/>
                </a:lnSpc>
              </a:pPr>
              <a:r>
                <a:rPr lang="en-US" sz="7200" b="true">
                  <a:solidFill>
                    <a:srgbClr val="000000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Data-Driven Recruitment System</a:t>
              </a:r>
            </a:p>
            <a:p>
              <a:pPr algn="ctr">
                <a:lnSpc>
                  <a:spcPts val="5759"/>
                </a:lnSpc>
              </a:pPr>
            </a:p>
            <a:p>
              <a:pPr algn="ctr">
                <a:lnSpc>
                  <a:spcPts val="3359"/>
                </a:lnSpc>
              </a:pPr>
              <a:r>
                <a:rPr lang="en-US" b="true" sz="2799">
                  <a:solidFill>
                    <a:srgbClr val="18102B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Optimizing</a:t>
              </a:r>
              <a:r>
                <a:rPr lang="en-US" b="true" sz="2799">
                  <a:solidFill>
                    <a:srgbClr val="18102B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 Biased Talent Acquisition Through Data-Driven HR Analytics</a:t>
              </a:r>
            </a:p>
          </p:txBody>
        </p:sp>
      </p:grpSp>
      <p:sp>
        <p:nvSpPr>
          <p:cNvPr name="AutoShape 6" id="6"/>
          <p:cNvSpPr/>
          <p:nvPr/>
        </p:nvSpPr>
        <p:spPr>
          <a:xfrm>
            <a:off x="3037800" y="6390999"/>
            <a:ext cx="122124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55601" y="2403633"/>
            <a:ext cx="15376798" cy="960425"/>
            <a:chOff x="0" y="0"/>
            <a:chExt cx="20502397" cy="128056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502400" cy="1280568"/>
            </a:xfrm>
            <a:custGeom>
              <a:avLst/>
              <a:gdLst/>
              <a:ahLst/>
              <a:cxnLst/>
              <a:rect r="r" b="b" t="t" l="l"/>
              <a:pathLst>
                <a:path h="1280568" w="20502400">
                  <a:moveTo>
                    <a:pt x="0" y="0"/>
                  </a:moveTo>
                  <a:lnTo>
                    <a:pt x="20502400" y="0"/>
                  </a:lnTo>
                  <a:lnTo>
                    <a:pt x="20502400" y="1280568"/>
                  </a:lnTo>
                  <a:lnTo>
                    <a:pt x="0" y="128056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3845" r="0" b="-370080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20502397" cy="12805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b="true" sz="4800">
                  <a:solidFill>
                    <a:srgbClr val="000000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Men Behind The Gun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2646416" y="4350347"/>
            <a:ext cx="3432262" cy="3432262"/>
          </a:xfrm>
          <a:custGeom>
            <a:avLst/>
            <a:gdLst/>
            <a:ahLst/>
            <a:cxnLst/>
            <a:rect r="r" b="b" t="t" l="l"/>
            <a:pathLst>
              <a:path h="3432262" w="3432262">
                <a:moveTo>
                  <a:pt x="0" y="0"/>
                </a:moveTo>
                <a:lnTo>
                  <a:pt x="3432261" y="0"/>
                </a:lnTo>
                <a:lnTo>
                  <a:pt x="3432261" y="3432261"/>
                </a:lnTo>
                <a:lnTo>
                  <a:pt x="0" y="34322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  <a:ln cap="rnd">
            <a:noFill/>
            <a:prstDash val="sysDot"/>
            <a:round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2374309" y="4350347"/>
            <a:ext cx="3432262" cy="3432262"/>
          </a:xfrm>
          <a:custGeom>
            <a:avLst/>
            <a:gdLst/>
            <a:ahLst/>
            <a:cxnLst/>
            <a:rect r="r" b="b" t="t" l="l"/>
            <a:pathLst>
              <a:path h="3432262" w="3432262">
                <a:moveTo>
                  <a:pt x="0" y="0"/>
                </a:moveTo>
                <a:lnTo>
                  <a:pt x="3432261" y="0"/>
                </a:lnTo>
                <a:lnTo>
                  <a:pt x="3432261" y="3432261"/>
                </a:lnTo>
                <a:lnTo>
                  <a:pt x="0" y="343226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4960" t="-19102" r="-12808" b="-60138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283773" y="4350347"/>
            <a:ext cx="3432262" cy="3432262"/>
          </a:xfrm>
          <a:custGeom>
            <a:avLst/>
            <a:gdLst/>
            <a:ahLst/>
            <a:cxnLst/>
            <a:rect r="r" b="b" t="t" l="l"/>
            <a:pathLst>
              <a:path h="3432262" w="3432262">
                <a:moveTo>
                  <a:pt x="0" y="0"/>
                </a:moveTo>
                <a:lnTo>
                  <a:pt x="3432261" y="0"/>
                </a:lnTo>
                <a:lnTo>
                  <a:pt x="3432261" y="3432261"/>
                </a:lnTo>
                <a:lnTo>
                  <a:pt x="0" y="343226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1777" t="-60291" r="-56606" b="-6409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694320" y="8048005"/>
            <a:ext cx="2792239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73"/>
              </a:lnSpc>
            </a:pPr>
            <a:r>
              <a:rPr lang="en-US" sz="2727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Fadli Nurrizky</a:t>
            </a:r>
          </a:p>
          <a:p>
            <a:pPr algn="ctr">
              <a:lnSpc>
                <a:spcPts val="3273"/>
              </a:lnSpc>
              <a:spcBef>
                <a:spcPct val="0"/>
              </a:spcBef>
            </a:pPr>
            <a:r>
              <a:rPr lang="en-US" sz="272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PM &amp; Engineering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427869" y="8048005"/>
            <a:ext cx="3144069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73"/>
              </a:lnSpc>
            </a:pPr>
            <a:r>
              <a:rPr lang="en-US" sz="2727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Irfan Aulia Rahman</a:t>
            </a:r>
          </a:p>
          <a:p>
            <a:pPr algn="ctr">
              <a:lnSpc>
                <a:spcPts val="3273"/>
              </a:lnSpc>
              <a:spcBef>
                <a:spcPct val="0"/>
              </a:spcBef>
            </a:pPr>
            <a:r>
              <a:rPr lang="en-US" sz="272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Analyst &amp; Scientist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928104" y="8048005"/>
            <a:ext cx="2868885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73"/>
              </a:lnSpc>
            </a:pPr>
            <a:r>
              <a:rPr lang="en-US" sz="2727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Shan Ramadhan</a:t>
            </a:r>
          </a:p>
          <a:p>
            <a:pPr algn="ctr">
              <a:lnSpc>
                <a:spcPts val="3273"/>
              </a:lnSpc>
              <a:spcBef>
                <a:spcPct val="0"/>
              </a:spcBef>
            </a:pPr>
            <a:r>
              <a:rPr lang="en-US" sz="272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Analyst &amp; Scientist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547027" y="4576762"/>
            <a:ext cx="15193947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40"/>
              </a:lnSpc>
            </a:pPr>
            <a:r>
              <a:rPr lang="en-US" b="true" sz="720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Business Understanding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975598"/>
            <a:chOff x="0" y="0"/>
            <a:chExt cx="24384000" cy="130079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00861"/>
            </a:xfrm>
            <a:custGeom>
              <a:avLst/>
              <a:gdLst/>
              <a:ahLst/>
              <a:cxnLst/>
              <a:rect r="r" b="b" t="t" l="l"/>
              <a:pathLst>
                <a:path h="130086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00861"/>
                  </a:lnTo>
                  <a:lnTo>
                    <a:pt x="0" y="1300861"/>
                  </a:lnTo>
                  <a:close/>
                </a:path>
              </a:pathLst>
            </a:custGeom>
            <a:solidFill>
              <a:srgbClr val="E9EDEE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1106403" y="1408266"/>
            <a:ext cx="15193947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16"/>
              </a:lnSpc>
            </a:pPr>
            <a:r>
              <a:rPr lang="en-US" sz="4680" b="true">
                <a:solidFill>
                  <a:srgbClr val="1A1A1A"/>
                </a:solidFill>
                <a:latin typeface="Raleway Bold"/>
                <a:ea typeface="Raleway Bold"/>
                <a:cs typeface="Raleway Bold"/>
                <a:sym typeface="Raleway Bold"/>
              </a:rPr>
              <a:t>Business &amp; Industry Research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131141" y="2583885"/>
            <a:ext cx="7886526" cy="7218664"/>
            <a:chOff x="0" y="0"/>
            <a:chExt cx="10515369" cy="9624886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10515368" cy="9624816"/>
            </a:xfrm>
            <a:custGeom>
              <a:avLst/>
              <a:gdLst/>
              <a:ahLst/>
              <a:cxnLst/>
              <a:rect r="r" b="b" t="t" l="l"/>
              <a:pathLst>
                <a:path h="9624816" w="10515368">
                  <a:moveTo>
                    <a:pt x="0" y="0"/>
                  </a:moveTo>
                  <a:lnTo>
                    <a:pt x="10515368" y="0"/>
                  </a:lnTo>
                  <a:lnTo>
                    <a:pt x="10515368" y="9624816"/>
                  </a:lnTo>
                  <a:lnTo>
                    <a:pt x="0" y="96248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4024" r="-31141" b="-14025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0" y="2583885"/>
            <a:ext cx="8115300" cy="7218664"/>
            <a:chOff x="0" y="0"/>
            <a:chExt cx="10820400" cy="9624886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10820400" cy="9624816"/>
            </a:xfrm>
            <a:custGeom>
              <a:avLst/>
              <a:gdLst/>
              <a:ahLst/>
              <a:cxnLst/>
              <a:rect r="r" b="b" t="t" l="l"/>
              <a:pathLst>
                <a:path h="9624816" w="10820400">
                  <a:moveTo>
                    <a:pt x="0" y="0"/>
                  </a:moveTo>
                  <a:lnTo>
                    <a:pt x="10820400" y="0"/>
                  </a:lnTo>
                  <a:lnTo>
                    <a:pt x="10820400" y="9624816"/>
                  </a:lnTo>
                  <a:lnTo>
                    <a:pt x="0" y="96248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5881" r="-31499" b="-15882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509029" y="4132775"/>
            <a:ext cx="3156793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3"/>
              </a:lnSpc>
            </a:pPr>
            <a:r>
              <a:rPr lang="en-US" b="true" sz="2728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The Paradigm Shift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09029" y="4581447"/>
            <a:ext cx="7194348" cy="837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0"/>
              </a:lnSpc>
            </a:pPr>
            <a:r>
              <a:rPr lang="en-US" sz="2048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HR management is evolving from qualitative "gut-feelings" to objective, logical People Analytics.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09029" y="6486486"/>
            <a:ext cx="7236171" cy="837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0"/>
              </a:lnSpc>
            </a:pPr>
            <a:r>
              <a:rPr lang="en-US" sz="2048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Data-driven organizations are </a:t>
            </a:r>
            <a:r>
              <a:rPr lang="en-US" sz="2048" u="sng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  <a:hlinkClick r:id="rId6" tooltip="https://diwo.ai/blog/7-characteristics-of-the-data-driven-enterprise/#:~:text=According%20to%20a%20survey%20by,more%20likely%20to%20be%20profitable."/>
              </a:rPr>
              <a:t>19x</a:t>
            </a:r>
            <a:r>
              <a:rPr lang="en-US" sz="2048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more likely to be profitable than non-data-driven peers.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47027" y="7662688"/>
            <a:ext cx="3820801" cy="439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3"/>
              </a:lnSpc>
            </a:pPr>
            <a:r>
              <a:rPr lang="en-US" b="true" sz="2728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Scale of Engagement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09029" y="8158884"/>
            <a:ext cx="7257083" cy="837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0"/>
              </a:lnSpc>
            </a:pPr>
            <a:r>
              <a:rPr lang="en-US" sz="2047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Manual screening is not possible on large applicant volumes </a:t>
            </a:r>
          </a:p>
          <a:p>
            <a:pPr algn="l">
              <a:lnSpc>
                <a:spcPts val="3440"/>
              </a:lnSpc>
            </a:pPr>
            <a:r>
              <a:rPr lang="en-US" sz="2048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(e.g. </a:t>
            </a:r>
            <a:r>
              <a:rPr lang="en-US" sz="2048" u="sng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  <a:hlinkClick r:id="rId7" tooltip="https://www.inc.com/michael-schneider/its-harder-to-get-into-google-than-harvard.html"/>
              </a:rPr>
              <a:t>Google ~2M applications</a:t>
            </a:r>
            <a:r>
              <a:rPr lang="en-US" sz="2048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) without sacrificing quality.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09029" y="5996222"/>
            <a:ext cx="5787975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3"/>
              </a:lnSpc>
            </a:pPr>
            <a:r>
              <a:rPr lang="en-US" b="true" sz="2727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Talent as a Competitive Asset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791107" y="2877093"/>
            <a:ext cx="4630192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33"/>
              </a:lnSpc>
            </a:pPr>
            <a:r>
              <a:rPr lang="en-US" b="true" sz="3527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The Strategic Context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843965" y="2886618"/>
            <a:ext cx="2715369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53"/>
              </a:lnSpc>
            </a:pPr>
            <a:r>
              <a:rPr lang="en-US" sz="3127" b="true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Market Trends</a:t>
            </a:r>
          </a:p>
          <a:p>
            <a:pPr algn="ctr">
              <a:lnSpc>
                <a:spcPts val="3753"/>
              </a:lnSpc>
            </a:pPr>
            <a:r>
              <a:rPr lang="en-US" b="true" sz="3127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(2024–2026)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435896" y="4132775"/>
            <a:ext cx="3117875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2"/>
              </a:lnSpc>
            </a:pPr>
            <a:r>
              <a:rPr lang="en-US" b="true" sz="2744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Market Projections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435896" y="4581447"/>
            <a:ext cx="7305078" cy="837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3"/>
              </a:lnSpc>
            </a:pPr>
            <a:r>
              <a:rPr lang="en-US" sz="2049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Global spending projections for AI &amp; analytics in HR by 2025 with a compound </a:t>
            </a:r>
            <a:r>
              <a:rPr lang="en-US" sz="2049" u="sng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  <a:hlinkClick r:id="rId8" tooltip="https://www.mdpi.com/2076-3417/14/24/11750"/>
              </a:rPr>
              <a:t>annual growth rate of 24.5%.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435896" y="5969379"/>
            <a:ext cx="2311450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6"/>
              </a:lnSpc>
            </a:pPr>
            <a:r>
              <a:rPr lang="en-US" b="true" sz="2729" u="sng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  <a:hlinkClick r:id="rId9" tooltip="https://www.linkedin.com/pulse/2024-statistical-analysis-us-recruitment-industry-helixtechservices-ipewc"/>
              </a:rPr>
              <a:t>68%</a:t>
            </a:r>
            <a:r>
              <a:rPr lang="en-US" b="true" sz="2729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 Adoption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435896" y="6417054"/>
            <a:ext cx="7305078" cy="837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3"/>
              </a:lnSpc>
            </a:pPr>
            <a:r>
              <a:rPr lang="en-US" sz="2049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Companies today are already using data-driven recruitment strategies for efficiency.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435896" y="7673109"/>
            <a:ext cx="2428056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6"/>
              </a:lnSpc>
            </a:pPr>
            <a:r>
              <a:rPr lang="en-US" b="true" sz="2729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44% Reskilling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435896" y="8158884"/>
            <a:ext cx="7415238" cy="12656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3"/>
              </a:lnSpc>
            </a:pPr>
            <a:r>
              <a:rPr lang="en-US" sz="2049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Focus shifts from past positions to validated skill sets. The </a:t>
            </a:r>
            <a:r>
              <a:rPr lang="en-US" sz="2049" u="sng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  <a:hlinkClick r:id="rId10" tooltip="https://www.weforum.org/publications/the-future-of-jobs-report-2025/digest/"/>
              </a:rPr>
              <a:t>World Economic Forum 2025</a:t>
            </a:r>
            <a:r>
              <a:rPr lang="en-US" sz="2049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of workers will require reskilling by 2030.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975598"/>
            <a:chOff x="0" y="0"/>
            <a:chExt cx="24384000" cy="130079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00861"/>
            </a:xfrm>
            <a:custGeom>
              <a:avLst/>
              <a:gdLst/>
              <a:ahLst/>
              <a:cxnLst/>
              <a:rect r="r" b="b" t="t" l="l"/>
              <a:pathLst>
                <a:path h="130086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00861"/>
                  </a:lnTo>
                  <a:lnTo>
                    <a:pt x="0" y="1300861"/>
                  </a:lnTo>
                  <a:close/>
                </a:path>
              </a:pathLst>
            </a:custGeom>
            <a:solidFill>
              <a:srgbClr val="E9EDEE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920311" y="2502433"/>
            <a:ext cx="8115404" cy="7490311"/>
            <a:chOff x="0" y="0"/>
            <a:chExt cx="10820538" cy="9987081"/>
          </a:xfrm>
        </p:grpSpPr>
        <p:sp>
          <p:nvSpPr>
            <p:cNvPr name="Freeform 6" id="6" descr="image.png"/>
            <p:cNvSpPr/>
            <p:nvPr/>
          </p:nvSpPr>
          <p:spPr>
            <a:xfrm flipH="false" flipV="false" rot="0">
              <a:off x="0" y="0"/>
              <a:ext cx="10820589" cy="9987107"/>
            </a:xfrm>
            <a:custGeom>
              <a:avLst/>
              <a:gdLst/>
              <a:ahLst/>
              <a:cxnLst/>
              <a:rect r="r" b="b" t="t" l="l"/>
              <a:pathLst>
                <a:path h="9987107" w="10820589">
                  <a:moveTo>
                    <a:pt x="0" y="0"/>
                  </a:moveTo>
                  <a:lnTo>
                    <a:pt x="10820589" y="0"/>
                  </a:lnTo>
                  <a:lnTo>
                    <a:pt x="10820589" y="9987107"/>
                  </a:lnTo>
                  <a:lnTo>
                    <a:pt x="0" y="99871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5457" r="-61842" b="-15457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0" y="2502433"/>
            <a:ext cx="8115300" cy="7490311"/>
            <a:chOff x="0" y="0"/>
            <a:chExt cx="10820400" cy="9987081"/>
          </a:xfrm>
        </p:grpSpPr>
        <p:sp>
          <p:nvSpPr>
            <p:cNvPr name="Freeform 8" id="8" descr="image.png"/>
            <p:cNvSpPr/>
            <p:nvPr/>
          </p:nvSpPr>
          <p:spPr>
            <a:xfrm flipH="false" flipV="false" rot="0">
              <a:off x="0" y="0"/>
              <a:ext cx="10820450" cy="9987107"/>
            </a:xfrm>
            <a:custGeom>
              <a:avLst/>
              <a:gdLst/>
              <a:ahLst/>
              <a:cxnLst/>
              <a:rect r="r" b="b" t="t" l="l"/>
              <a:pathLst>
                <a:path h="9987107" w="10820450">
                  <a:moveTo>
                    <a:pt x="0" y="0"/>
                  </a:moveTo>
                  <a:lnTo>
                    <a:pt x="10820450" y="0"/>
                  </a:lnTo>
                  <a:lnTo>
                    <a:pt x="10820450" y="9987107"/>
                  </a:lnTo>
                  <a:lnTo>
                    <a:pt x="0" y="99871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5456" r="-61842" b="-15456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2081241" y="2638073"/>
            <a:ext cx="587841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32"/>
              </a:lnSpc>
            </a:pPr>
            <a:r>
              <a:rPr lang="en-US" b="true" sz="2943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The Risks of Conventional Hiring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58308" y="4073644"/>
            <a:ext cx="7457190" cy="871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31"/>
              </a:lnSpc>
            </a:pPr>
            <a:r>
              <a:rPr lang="en-US" sz="2101" u="sng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  <a:hlinkClick r:id="rId5" tooltip="https://www.airswift.com/blog/hiring-mistakes"/>
              </a:rPr>
              <a:t>Harvard Business Review</a:t>
            </a:r>
            <a:r>
              <a:rPr lang="en-US" sz="210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reports that 80% of employee turnover is caused by poor hiring decisions.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75081" y="5124450"/>
            <a:ext cx="3002012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2"/>
              </a:lnSpc>
            </a:pPr>
            <a:r>
              <a:rPr lang="en-US" b="true" sz="2744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Financial Leakage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75081" y="5518872"/>
            <a:ext cx="7575654" cy="2215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31"/>
              </a:lnSpc>
            </a:pPr>
            <a:r>
              <a:rPr lang="en-US" sz="2102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A single "bad hire" can cost an organization between </a:t>
            </a:r>
            <a:r>
              <a:rPr lang="en-US" sz="2102" u="sng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  <a:hlinkClick r:id="rId6" tooltip="https://www.peoplekeep.com/blog/employee-retention-the-real-cost-of-losing-an-employee#:~:text=The%20average%20cost%20of%20turnover,in%20recruiting%20and%20training%20expenses."/>
              </a:rPr>
              <a:t>50% and 200%</a:t>
            </a:r>
            <a:r>
              <a:rPr lang="en-US" sz="2102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 of the employee's annual salary when factoring in recruitment, onboarding, and lost productivity. Assuming the annual salary of a tech employee is</a:t>
            </a:r>
            <a:r>
              <a:rPr lang="en-US" sz="2102" u="sng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  <a:hlinkClick r:id="rId7" tooltip="https://www.bps.go.id/en/statistics-table/2/MTUyMSMy/average-of-net-wage-"/>
              </a:rPr>
              <a:t> ~IDR 63.36 million</a:t>
            </a:r>
            <a:r>
              <a:rPr lang="en-US" sz="2102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, an organization might lose 31.68 to 126.72 million rupiah.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75081" y="8008064"/>
            <a:ext cx="4067461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2"/>
              </a:lnSpc>
            </a:pPr>
            <a:r>
              <a:rPr lang="en-US" b="true" sz="2744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Subjectivity Bias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58308" y="8398589"/>
            <a:ext cx="7592426" cy="1319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31"/>
              </a:lnSpc>
            </a:pPr>
            <a:r>
              <a:rPr lang="en-US" sz="2102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HR </a:t>
            </a:r>
            <a:r>
              <a:rPr lang="en-US" sz="2102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team struggles to make consistent and fair hiring decisions due to reliance on subjective judgment. This leads to inefficiency, bias, and missed opportunities.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20311" y="1367541"/>
            <a:ext cx="15193947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16"/>
              </a:lnSpc>
            </a:pPr>
            <a:r>
              <a:rPr lang="en-US" sz="4680" b="true">
                <a:solidFill>
                  <a:srgbClr val="1A1A1A"/>
                </a:solidFill>
                <a:latin typeface="Raleway Bold"/>
                <a:ea typeface="Raleway Bold"/>
                <a:cs typeface="Raleway Bold"/>
                <a:sym typeface="Raleway Bold"/>
              </a:rPr>
              <a:t>Problem &amp; Goal Stateme</a:t>
            </a:r>
            <a:r>
              <a:rPr lang="en-US" sz="4680" b="true">
                <a:solidFill>
                  <a:srgbClr val="1A1A1A"/>
                </a:solidFill>
                <a:latin typeface="Raleway Bold"/>
                <a:ea typeface="Raleway Bold"/>
                <a:cs typeface="Raleway Bold"/>
                <a:sym typeface="Raleway Bold"/>
              </a:rPr>
              <a:t>nts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75081" y="3658375"/>
            <a:ext cx="3155826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2"/>
              </a:lnSpc>
            </a:pPr>
            <a:r>
              <a:rPr lang="en-US" b="true" sz="2744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The Cost of </a:t>
            </a:r>
            <a:r>
              <a:rPr lang="en-US" b="true" sz="2744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Failure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497828" y="2638073"/>
            <a:ext cx="340764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32"/>
              </a:lnSpc>
            </a:pPr>
            <a:r>
              <a:rPr lang="en-US" b="true" sz="2943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Goals &amp; Objectives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473055" y="4233413"/>
            <a:ext cx="7457190" cy="1319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31"/>
              </a:lnSpc>
            </a:pPr>
            <a:r>
              <a:rPr lang="en-US" sz="210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Transform the conventional recruitment process into a data-driven system to improve talent selection accuracy and company operational cost efficiency.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473055" y="3658375"/>
            <a:ext cx="968350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2"/>
              </a:lnSpc>
            </a:pPr>
            <a:r>
              <a:rPr lang="en-US" b="true" sz="2744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Goals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473055" y="6228539"/>
            <a:ext cx="1762646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2"/>
              </a:lnSpc>
            </a:pPr>
            <a:r>
              <a:rPr lang="en-US" b="true" sz="2744">
                <a:solidFill>
                  <a:srgbClr val="F8FAFC"/>
                </a:solidFill>
                <a:latin typeface="Arimo Bold"/>
                <a:ea typeface="Arimo Bold"/>
                <a:cs typeface="Arimo Bold"/>
                <a:sym typeface="Arimo Bold"/>
              </a:rPr>
              <a:t>Objectives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473055" y="6800039"/>
            <a:ext cx="7457190" cy="1767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31"/>
              </a:lnSpc>
            </a:pPr>
            <a:r>
              <a:rPr lang="en-US" sz="2101">
                <a:solidFill>
                  <a:srgbClr val="CBD5E1"/>
                </a:solidFill>
                <a:latin typeface="Arimo"/>
                <a:ea typeface="Arimo"/>
                <a:cs typeface="Arimo"/>
                <a:sym typeface="Arimo"/>
              </a:rPr>
              <a:t>Build an objective, automated model by analyzing qualification variable correlations, determining success score thresholds, and conducting bias audits to ensure fairness in recruitment decision-making.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975598"/>
            <a:chOff x="0" y="0"/>
            <a:chExt cx="24384000" cy="130079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00861"/>
            </a:xfrm>
            <a:custGeom>
              <a:avLst/>
              <a:gdLst/>
              <a:ahLst/>
              <a:cxnLst/>
              <a:rect r="r" b="b" t="t" l="l"/>
              <a:pathLst>
                <a:path h="130086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00861"/>
                  </a:lnTo>
                  <a:lnTo>
                    <a:pt x="0" y="1300861"/>
                  </a:lnTo>
                  <a:close/>
                </a:path>
              </a:pathLst>
            </a:custGeom>
            <a:solidFill>
              <a:srgbClr val="E9EDEE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920311" y="1348491"/>
            <a:ext cx="15193947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16"/>
              </a:lnSpc>
            </a:pPr>
            <a:r>
              <a:rPr lang="en-US" sz="4680" b="true">
                <a:solidFill>
                  <a:srgbClr val="1A1A1A"/>
                </a:solidFill>
                <a:latin typeface="Raleway Bold"/>
                <a:ea typeface="Raleway Bold"/>
                <a:cs typeface="Raleway Bold"/>
                <a:sym typeface="Raleway Bold"/>
              </a:rPr>
              <a:t>Success Metrics &amp; Business Impact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20311" y="2502433"/>
            <a:ext cx="8223689" cy="7490311"/>
            <a:chOff x="0" y="0"/>
            <a:chExt cx="10964918" cy="9987081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10964969" cy="9987107"/>
            </a:xfrm>
            <a:custGeom>
              <a:avLst/>
              <a:gdLst/>
              <a:ahLst/>
              <a:cxnLst/>
              <a:rect r="r" b="b" t="t" l="l"/>
              <a:pathLst>
                <a:path h="9987107" w="10964969">
                  <a:moveTo>
                    <a:pt x="0" y="0"/>
                  </a:moveTo>
                  <a:lnTo>
                    <a:pt x="10964969" y="0"/>
                  </a:lnTo>
                  <a:lnTo>
                    <a:pt x="10964969" y="9987107"/>
                  </a:lnTo>
                  <a:lnTo>
                    <a:pt x="0" y="99871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CCADB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274138" y="3356799"/>
            <a:ext cx="7516035" cy="881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8"/>
              </a:lnSpc>
            </a:pPr>
            <a:r>
              <a:rPr lang="en-US" b="true" sz="2100">
                <a:solidFill>
                  <a:srgbClr val="1A1A1A"/>
                </a:solidFill>
                <a:latin typeface="Raleway Bold"/>
                <a:ea typeface="Raleway Bold"/>
                <a:cs typeface="Raleway Bold"/>
                <a:sym typeface="Raleway Bold"/>
              </a:rPr>
              <a:t>F1-Score</a:t>
            </a:r>
          </a:p>
          <a:p>
            <a:pPr algn="l">
              <a:lnSpc>
                <a:spcPts val="3528"/>
              </a:lnSpc>
            </a:pPr>
            <a:r>
              <a:rPr lang="en-US" sz="2100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rPr>
              <a:t>The main benchmark for balancing Precision and Recall.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74138" y="4581333"/>
            <a:ext cx="7516035" cy="13293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8"/>
              </a:lnSpc>
            </a:pPr>
            <a:r>
              <a:rPr lang="en-US" b="true" sz="2100">
                <a:solidFill>
                  <a:srgbClr val="1A1A1A"/>
                </a:solidFill>
                <a:latin typeface="Raleway Bold"/>
                <a:ea typeface="Raleway Bold"/>
                <a:cs typeface="Raleway Bold"/>
                <a:sym typeface="Raleway Bold"/>
              </a:rPr>
              <a:t>Quality of Hire (QoH)</a:t>
            </a:r>
          </a:p>
          <a:p>
            <a:pPr algn="l">
              <a:lnSpc>
                <a:spcPts val="3528"/>
              </a:lnSpc>
            </a:pPr>
            <a:r>
              <a:rPr lang="en-US" sz="2100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rPr>
              <a:t>Measured by the 15% average improvement in how well new employees fit their roles and contribute to company goals.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74138" y="6253542"/>
            <a:ext cx="4946600" cy="881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8"/>
              </a:lnSpc>
            </a:pPr>
            <a:r>
              <a:rPr lang="en-US" b="true" sz="2100">
                <a:solidFill>
                  <a:srgbClr val="1A1A1A"/>
                </a:solidFill>
                <a:latin typeface="Raleway Bold"/>
                <a:ea typeface="Raleway Bold"/>
                <a:cs typeface="Raleway Bold"/>
                <a:sym typeface="Raleway Bold"/>
              </a:rPr>
              <a:t>Hiring Efficiency</a:t>
            </a:r>
          </a:p>
          <a:p>
            <a:pPr algn="l">
              <a:lnSpc>
                <a:spcPts val="3528"/>
              </a:lnSpc>
            </a:pPr>
            <a:r>
              <a:rPr lang="en-US" sz="2100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rPr>
              <a:t>Reduce manual screening by up to </a:t>
            </a:r>
            <a:r>
              <a:rPr lang="en-US" sz="2100" u="sng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  <a:hlinkClick r:id="rId4" tooltip="https://www.mdpi.com/2076-3417/14/24/11750"/>
              </a:rPr>
              <a:t>80%</a:t>
            </a:r>
            <a:r>
              <a:rPr lang="en-US" sz="2100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rPr>
              <a:t>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74138" y="7481316"/>
            <a:ext cx="7516035" cy="1776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8"/>
              </a:lnSpc>
            </a:pPr>
            <a:r>
              <a:rPr lang="en-US" b="true" sz="2100">
                <a:solidFill>
                  <a:srgbClr val="1A1A1A"/>
                </a:solidFill>
                <a:latin typeface="Raleway Bold"/>
                <a:ea typeface="Raleway Bold"/>
                <a:cs typeface="Raleway Bold"/>
                <a:sym typeface="Raleway Bold"/>
              </a:rPr>
              <a:t>Selection Accuracy</a:t>
            </a:r>
          </a:p>
          <a:p>
            <a:pPr algn="l">
              <a:lnSpc>
                <a:spcPts val="3528"/>
              </a:lnSpc>
            </a:pPr>
            <a:r>
              <a:rPr lang="en-US" sz="2100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rPr>
              <a:t>Machine learning models (e.g., Random Forest, XGBoost) can achieve accuracy rates exceeding</a:t>
            </a:r>
            <a:r>
              <a:rPr lang="en-US" sz="2100" u="sng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  <a:hlinkClick r:id="rId5" tooltip="https://www.mdpi.com/2076-3417/14/24/11750"/>
              </a:rPr>
              <a:t> 95%</a:t>
            </a:r>
            <a:r>
              <a:rPr lang="en-US" sz="2100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rPr>
              <a:t> in predicting candidate suitability based on historical high-performer data.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74138" y="2498811"/>
            <a:ext cx="7516035" cy="540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35"/>
              </a:lnSpc>
            </a:pPr>
            <a:r>
              <a:rPr lang="en-US" b="true" sz="2699">
                <a:solidFill>
                  <a:srgbClr val="1A1A1A"/>
                </a:solidFill>
                <a:latin typeface="Raleway Bold"/>
                <a:ea typeface="Raleway Bold"/>
                <a:cs typeface="Raleway Bold"/>
                <a:sym typeface="Raleway Bold"/>
              </a:rPr>
              <a:t>The KPIs for Data-Driven Era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266259" y="2464333"/>
            <a:ext cx="8223689" cy="7490311"/>
            <a:chOff x="0" y="0"/>
            <a:chExt cx="10964918" cy="9987081"/>
          </a:xfrm>
        </p:grpSpPr>
        <p:sp>
          <p:nvSpPr>
            <p:cNvPr name="Freeform 14" id="14" descr="image.png"/>
            <p:cNvSpPr/>
            <p:nvPr/>
          </p:nvSpPr>
          <p:spPr>
            <a:xfrm flipH="false" flipV="false" rot="0">
              <a:off x="0" y="0"/>
              <a:ext cx="10964969" cy="9987107"/>
            </a:xfrm>
            <a:custGeom>
              <a:avLst/>
              <a:gdLst/>
              <a:ahLst/>
              <a:cxnLst/>
              <a:rect r="r" b="b" t="t" l="l"/>
              <a:pathLst>
                <a:path h="9987107" w="10964969">
                  <a:moveTo>
                    <a:pt x="0" y="0"/>
                  </a:moveTo>
                  <a:lnTo>
                    <a:pt x="10964969" y="0"/>
                  </a:lnTo>
                  <a:lnTo>
                    <a:pt x="10964969" y="9987107"/>
                  </a:lnTo>
                  <a:lnTo>
                    <a:pt x="0" y="99871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CCADB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9620085" y="2498811"/>
            <a:ext cx="7516035" cy="540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35"/>
              </a:lnSpc>
            </a:pPr>
            <a:r>
              <a:rPr lang="en-US" b="true" sz="2699">
                <a:solidFill>
                  <a:srgbClr val="1A1A1A"/>
                </a:solidFill>
                <a:latin typeface="Raleway Bold"/>
                <a:ea typeface="Raleway Bold"/>
                <a:cs typeface="Raleway Bold"/>
                <a:sym typeface="Raleway Bold"/>
              </a:rPr>
              <a:t>The Value Proposition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620085" y="3356799"/>
            <a:ext cx="7516035" cy="1776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8"/>
              </a:lnSpc>
            </a:pPr>
            <a:r>
              <a:rPr lang="en-US" sz="2100" b="true">
                <a:solidFill>
                  <a:srgbClr val="1A1A1A"/>
                </a:solidFill>
                <a:latin typeface="Raleway Bold"/>
                <a:ea typeface="Raleway Bold"/>
                <a:cs typeface="Raleway Bold"/>
                <a:sym typeface="Raleway Bold"/>
              </a:rPr>
              <a:t>1. Operational Cost Efficiency</a:t>
            </a:r>
          </a:p>
          <a:p>
            <a:pPr algn="l">
              <a:lnSpc>
                <a:spcPts val="3528"/>
              </a:lnSpc>
            </a:pPr>
            <a:r>
              <a:rPr lang="en-US" sz="2100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rPr>
              <a:t>Organizations adopting data-driven strategies report a </a:t>
            </a:r>
            <a:r>
              <a:rPr lang="en-US" sz="2100" u="sng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  <a:hlinkClick r:id="rId6" tooltip="https://www.linkedin.com/pulse/2024-statistical-analysis-us-recruitment-industry-helixtechservices-ipewc"/>
              </a:rPr>
              <a:t>20-30%</a:t>
            </a:r>
            <a:r>
              <a:rPr lang="en-US" sz="2100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rPr>
              <a:t> reduction in hiring costs by decreasing reliance on third-party agencies and manual labor.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620085" y="5422200"/>
            <a:ext cx="7516035" cy="1776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8"/>
              </a:lnSpc>
            </a:pPr>
            <a:r>
              <a:rPr lang="en-US" sz="2100" b="true">
                <a:solidFill>
                  <a:srgbClr val="1A1A1A"/>
                </a:solidFill>
                <a:latin typeface="Raleway Bold"/>
                <a:ea typeface="Raleway Bold"/>
                <a:cs typeface="Raleway Bold"/>
                <a:sym typeface="Raleway Bold"/>
              </a:rPr>
              <a:t>2. Reduced Attrition</a:t>
            </a:r>
          </a:p>
          <a:p>
            <a:pPr algn="l">
              <a:lnSpc>
                <a:spcPts val="3528"/>
              </a:lnSpc>
            </a:pPr>
            <a:r>
              <a:rPr lang="en-US" sz="2100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rPr>
              <a:t>Predictive models can identify high-risk departures with </a:t>
            </a:r>
            <a:r>
              <a:rPr lang="en-US" sz="2100" u="sng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  <a:hlinkClick r:id="rId7" tooltip="https://www.mdpi.com/2076-3417/14/24/11750#AI_in_Retention_and_Attrition_Prediction"/>
              </a:rPr>
              <a:t>90% accuracy,</a:t>
            </a:r>
            <a:r>
              <a:rPr lang="en-US" sz="2100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rPr>
              <a:t> allowing for proactive interventions that protect your recruitment ROI.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620085" y="7481316"/>
            <a:ext cx="7639215" cy="1776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28"/>
              </a:lnSpc>
            </a:pPr>
            <a:r>
              <a:rPr lang="en-US" sz="2100" b="true">
                <a:solidFill>
                  <a:srgbClr val="1A1A1A"/>
                </a:solidFill>
                <a:latin typeface="Raleway Bold"/>
                <a:ea typeface="Raleway Bold"/>
                <a:cs typeface="Raleway Bold"/>
                <a:sym typeface="Raleway Bold"/>
              </a:rPr>
              <a:t>3. Diversity &amp; Inclusion</a:t>
            </a:r>
          </a:p>
          <a:p>
            <a:pPr algn="l">
              <a:lnSpc>
                <a:spcPts val="3528"/>
              </a:lnSpc>
            </a:pPr>
            <a:r>
              <a:rPr lang="en-US" sz="2100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rPr>
              <a:t>Data-driven systems can reduce un</a:t>
            </a:r>
            <a:r>
              <a:rPr lang="en-US" sz="2100" u="none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rPr>
              <a:t>c</a:t>
            </a:r>
            <a:r>
              <a:rPr lang="en-US" sz="2100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rPr>
              <a:t>ons</a:t>
            </a:r>
            <a:r>
              <a:rPr lang="en-US" sz="2100" u="none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rPr>
              <a:t>c</a:t>
            </a:r>
            <a:r>
              <a:rPr lang="en-US" sz="2100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rPr>
              <a:t>io</a:t>
            </a:r>
            <a:r>
              <a:rPr lang="en-US" sz="2100" u="none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rPr>
              <a:t>u</a:t>
            </a:r>
            <a:r>
              <a:rPr lang="en-US" sz="2100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rPr>
              <a:t>s bi</a:t>
            </a:r>
            <a:r>
              <a:rPr lang="en-US" sz="2100" u="none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rPr>
              <a:t>a</a:t>
            </a:r>
            <a:r>
              <a:rPr lang="en-US" sz="2100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rPr>
              <a:t>s b</a:t>
            </a:r>
            <a:r>
              <a:rPr lang="en-US" sz="2100" u="none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rPr>
              <a:t>y</a:t>
            </a:r>
            <a:r>
              <a:rPr lang="en-US" sz="2100">
                <a:solidFill>
                  <a:srgbClr val="1A1A1A"/>
                </a:solidFill>
                <a:latin typeface="Raleway"/>
                <a:ea typeface="Raleway"/>
                <a:cs typeface="Raleway"/>
                <a:sym typeface="Raleway"/>
              </a:rPr>
              <a:t> anonymizing candidate profiles (removing name, gender, age) and focusing strictly on objective qualifications.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547027" y="1009650"/>
            <a:ext cx="15193947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16"/>
              </a:lnSpc>
            </a:pPr>
            <a:r>
              <a:rPr lang="en-US" b="true" sz="4680">
                <a:solidFill>
                  <a:srgbClr val="1A1A1A"/>
                </a:solidFill>
                <a:latin typeface="Raleway Bold"/>
                <a:ea typeface="Raleway Bold"/>
                <a:cs typeface="Raleway Bold"/>
                <a:sym typeface="Raleway Bold"/>
              </a:rPr>
              <a:t>Project Timeline &amp; Workflow (CRISP-DM)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69184" y="3394887"/>
            <a:ext cx="16349632" cy="3497226"/>
            <a:chOff x="0" y="0"/>
            <a:chExt cx="21799509" cy="4662968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3985971"/>
              <a:ext cx="3438695" cy="6769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18"/>
                </a:lnSpc>
              </a:pPr>
              <a:r>
                <a:rPr lang="en-US" sz="1681">
                  <a:solidFill>
                    <a:srgbClr val="1A1A1A"/>
                  </a:solidFill>
                  <a:latin typeface="Roboto"/>
                  <a:ea typeface="Roboto"/>
                  <a:cs typeface="Roboto"/>
                  <a:sym typeface="Roboto"/>
                </a:rPr>
                <a:t>Problem Statement, Goals &amp; Objectives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4017566" y="4047303"/>
              <a:ext cx="3342819" cy="3432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18"/>
                </a:lnSpc>
              </a:pPr>
              <a:r>
                <a:rPr lang="en-US" sz="1681">
                  <a:solidFill>
                    <a:srgbClr val="1A1A1A"/>
                  </a:solidFill>
                  <a:latin typeface="Roboto"/>
                  <a:ea typeface="Roboto"/>
                  <a:cs typeface="Roboto"/>
                  <a:sym typeface="Roboto"/>
                </a:rPr>
                <a:t>Exploratory Data Analysis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7542845" y="3985971"/>
              <a:ext cx="3342819" cy="6769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18"/>
                </a:lnSpc>
              </a:pPr>
              <a:r>
                <a:rPr lang="en-US" sz="1681">
                  <a:solidFill>
                    <a:srgbClr val="1A1A1A"/>
                  </a:solidFill>
                  <a:latin typeface="Roboto"/>
                  <a:ea typeface="Roboto"/>
                  <a:cs typeface="Roboto"/>
                  <a:sym typeface="Roboto"/>
                </a:rPr>
                <a:t>Preprocessing &amp; Feature Enginering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11019159" y="3985971"/>
              <a:ext cx="3342819" cy="6769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18"/>
                </a:lnSpc>
              </a:pPr>
              <a:r>
                <a:rPr lang="en-US" sz="1681">
                  <a:solidFill>
                    <a:srgbClr val="1A1A1A"/>
                  </a:solidFill>
                  <a:latin typeface="Roboto"/>
                  <a:ea typeface="Roboto"/>
                  <a:cs typeface="Roboto"/>
                  <a:sym typeface="Roboto"/>
                </a:rPr>
                <a:t>Model Training &amp; Prediction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14452637" y="3985971"/>
              <a:ext cx="3342819" cy="6769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18"/>
                </a:lnSpc>
              </a:pPr>
              <a:r>
                <a:rPr lang="en-US" sz="1681">
                  <a:solidFill>
                    <a:srgbClr val="1A1A1A"/>
                  </a:solidFill>
                  <a:latin typeface="Roboto"/>
                  <a:ea typeface="Roboto"/>
                  <a:cs typeface="Roboto"/>
                  <a:sym typeface="Roboto"/>
                </a:rPr>
                <a:t>Performance Assessment &amp; Validation</a:t>
              </a:r>
            </a:p>
          </p:txBody>
        </p:sp>
        <p:grpSp>
          <p:nvGrpSpPr>
            <p:cNvPr name="Group 10" id="10"/>
            <p:cNvGrpSpPr/>
            <p:nvPr/>
          </p:nvGrpSpPr>
          <p:grpSpPr>
            <a:xfrm rot="0">
              <a:off x="0" y="2925805"/>
              <a:ext cx="4017566" cy="1131023"/>
              <a:chOff x="0" y="0"/>
              <a:chExt cx="3822116" cy="10760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3822121" cy="1076005"/>
              </a:xfrm>
              <a:custGeom>
                <a:avLst/>
                <a:gdLst/>
                <a:ahLst/>
                <a:cxnLst/>
                <a:rect r="r" b="b" t="t" l="l"/>
                <a:pathLst>
                  <a:path h="1076005" w="3822121">
                    <a:moveTo>
                      <a:pt x="0" y="0"/>
                    </a:moveTo>
                    <a:lnTo>
                      <a:pt x="3822121" y="0"/>
                    </a:lnTo>
                    <a:lnTo>
                      <a:pt x="3822121" y="1076005"/>
                    </a:lnTo>
                    <a:lnTo>
                      <a:pt x="0" y="1076005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0" t="-13656" r="8030" b="-13655"/>
                </a:stretch>
              </a:blip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19050"/>
                <a:ext cx="3822116" cy="109505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400"/>
                  </a:lnSpc>
                </a:pPr>
                <a:r>
                  <a:rPr lang="en-US" sz="2000" b="true">
                    <a:solidFill>
                      <a:srgbClr val="1A1A1A"/>
                    </a:solidFill>
                    <a:latin typeface="Roboto Bold"/>
                    <a:ea typeface="Roboto Bold"/>
                    <a:cs typeface="Roboto Bold"/>
                    <a:sym typeface="Roboto Bold"/>
                  </a:rPr>
                  <a:t>Stage 0</a:t>
                </a:r>
              </a:p>
              <a:p>
                <a:pPr algn="l">
                  <a:lnSpc>
                    <a:spcPts val="2400"/>
                  </a:lnSpc>
                </a:pPr>
                <a:r>
                  <a:rPr lang="en-US" sz="2000">
                    <a:solidFill>
                      <a:srgbClr val="1A1A1A"/>
                    </a:solidFill>
                    <a:latin typeface="Roboto"/>
                    <a:ea typeface="Roboto"/>
                    <a:cs typeface="Roboto"/>
                    <a:sym typeface="Roboto"/>
                  </a:rPr>
                  <a:t>Business Understanding</a:t>
                </a: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4017566" y="2925805"/>
              <a:ext cx="3599088" cy="1131023"/>
              <a:chOff x="0" y="0"/>
              <a:chExt cx="3423996" cy="10760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3424000" cy="1076005"/>
              </a:xfrm>
              <a:custGeom>
                <a:avLst/>
                <a:gdLst/>
                <a:ahLst/>
                <a:cxnLst/>
                <a:rect r="r" b="b" t="t" l="l"/>
                <a:pathLst>
                  <a:path h="1076005" w="3424000">
                    <a:moveTo>
                      <a:pt x="0" y="0"/>
                    </a:moveTo>
                    <a:lnTo>
                      <a:pt x="3424000" y="0"/>
                    </a:lnTo>
                    <a:lnTo>
                      <a:pt x="3424000" y="1076005"/>
                    </a:lnTo>
                    <a:lnTo>
                      <a:pt x="0" y="1076005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0" t="-12004" r="0" b="-12003"/>
                </a:stretch>
              </a:blip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19050"/>
                <a:ext cx="3423996" cy="109505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400"/>
                  </a:lnSpc>
                </a:pPr>
                <a:r>
                  <a:rPr lang="en-US" sz="2000" b="true">
                    <a:solidFill>
                      <a:srgbClr val="1A1A1A"/>
                    </a:solidFill>
                    <a:latin typeface="Roboto Bold"/>
                    <a:ea typeface="Roboto Bold"/>
                    <a:cs typeface="Roboto Bold"/>
                    <a:sym typeface="Roboto Bold"/>
                  </a:rPr>
                  <a:t>Stage 1</a:t>
                </a:r>
              </a:p>
              <a:p>
                <a:pPr algn="l">
                  <a:lnSpc>
                    <a:spcPts val="2400"/>
                  </a:lnSpc>
                </a:pPr>
                <a:r>
                  <a:rPr lang="en-US" sz="2000">
                    <a:solidFill>
                      <a:srgbClr val="1A1A1A"/>
                    </a:solidFill>
                    <a:latin typeface="Roboto"/>
                    <a:ea typeface="Roboto"/>
                    <a:cs typeface="Roboto"/>
                    <a:sym typeface="Roboto"/>
                  </a:rPr>
                  <a:t>Data Understanding</a:t>
                </a: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7542845" y="3429984"/>
              <a:ext cx="3599088" cy="565512"/>
              <a:chOff x="0" y="0"/>
              <a:chExt cx="3423996" cy="5380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3424000" cy="538005"/>
              </a:xfrm>
              <a:custGeom>
                <a:avLst/>
                <a:gdLst/>
                <a:ahLst/>
                <a:cxnLst/>
                <a:rect r="r" b="b" t="t" l="l"/>
                <a:pathLst>
                  <a:path h="538005" w="3424000">
                    <a:moveTo>
                      <a:pt x="0" y="0"/>
                    </a:moveTo>
                    <a:lnTo>
                      <a:pt x="3424000" y="0"/>
                    </a:lnTo>
                    <a:lnTo>
                      <a:pt x="3424000" y="538005"/>
                    </a:lnTo>
                    <a:lnTo>
                      <a:pt x="0" y="538005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0" t="-24008" r="0" b="-124006"/>
                </a:stretch>
              </a:blip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19050"/>
                <a:ext cx="3423996" cy="55705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400"/>
                  </a:lnSpc>
                </a:pPr>
                <a:r>
                  <a:rPr lang="en-US" sz="2000">
                    <a:solidFill>
                      <a:srgbClr val="1A1A1A"/>
                    </a:solidFill>
                    <a:latin typeface="Roboto"/>
                    <a:ea typeface="Roboto"/>
                    <a:cs typeface="Roboto"/>
                    <a:sym typeface="Roboto"/>
                  </a:rPr>
                  <a:t>Data Preparation</a:t>
                </a: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11000843" y="2925805"/>
              <a:ext cx="3599088" cy="1131023"/>
              <a:chOff x="0" y="0"/>
              <a:chExt cx="3423996" cy="10760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3424000" cy="1076005"/>
              </a:xfrm>
              <a:custGeom>
                <a:avLst/>
                <a:gdLst/>
                <a:ahLst/>
                <a:cxnLst/>
                <a:rect r="r" b="b" t="t" l="l"/>
                <a:pathLst>
                  <a:path h="1076005" w="3424000">
                    <a:moveTo>
                      <a:pt x="0" y="0"/>
                    </a:moveTo>
                    <a:lnTo>
                      <a:pt x="3424000" y="0"/>
                    </a:lnTo>
                    <a:lnTo>
                      <a:pt x="3424000" y="1076005"/>
                    </a:lnTo>
                    <a:lnTo>
                      <a:pt x="0" y="1076005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0" t="-12004" r="0" b="-12003"/>
                </a:stretch>
              </a:blip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19050"/>
                <a:ext cx="3423996" cy="109505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400"/>
                  </a:lnSpc>
                </a:pPr>
                <a:r>
                  <a:rPr lang="en-US" sz="2000" b="true">
                    <a:solidFill>
                      <a:srgbClr val="1A1A1A"/>
                    </a:solidFill>
                    <a:latin typeface="Roboto Bold"/>
                    <a:ea typeface="Roboto Bold"/>
                    <a:cs typeface="Roboto Bold"/>
                    <a:sym typeface="Roboto Bold"/>
                  </a:rPr>
                  <a:t>Stage 2</a:t>
                </a:r>
              </a:p>
              <a:p>
                <a:pPr algn="l">
                  <a:lnSpc>
                    <a:spcPts val="2400"/>
                  </a:lnSpc>
                </a:pPr>
                <a:r>
                  <a:rPr lang="en-US" sz="2000">
                    <a:solidFill>
                      <a:srgbClr val="1A1A1A"/>
                    </a:solidFill>
                    <a:latin typeface="Roboto"/>
                    <a:ea typeface="Roboto"/>
                    <a:cs typeface="Roboto"/>
                    <a:sym typeface="Roboto"/>
                  </a:rPr>
                  <a:t>Modeling</a:t>
                </a:r>
              </a:p>
            </p:txBody>
          </p:sp>
        </p:grpSp>
        <p:grpSp>
          <p:nvGrpSpPr>
            <p:cNvPr name="Group 22" id="22"/>
            <p:cNvGrpSpPr/>
            <p:nvPr/>
          </p:nvGrpSpPr>
          <p:grpSpPr>
            <a:xfrm rot="0">
              <a:off x="14446386" y="2925805"/>
              <a:ext cx="3599088" cy="1131023"/>
              <a:chOff x="0" y="0"/>
              <a:chExt cx="3423996" cy="10760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3424000" cy="1076005"/>
              </a:xfrm>
              <a:custGeom>
                <a:avLst/>
                <a:gdLst/>
                <a:ahLst/>
                <a:cxnLst/>
                <a:rect r="r" b="b" t="t" l="l"/>
                <a:pathLst>
                  <a:path h="1076005" w="3424000">
                    <a:moveTo>
                      <a:pt x="0" y="0"/>
                    </a:moveTo>
                    <a:lnTo>
                      <a:pt x="3424000" y="0"/>
                    </a:lnTo>
                    <a:lnTo>
                      <a:pt x="3424000" y="1076005"/>
                    </a:lnTo>
                    <a:lnTo>
                      <a:pt x="0" y="1076005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0" t="-12004" r="0" b="-12003"/>
                </a:stretch>
              </a:blipFill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19050"/>
                <a:ext cx="3423996" cy="109505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400"/>
                  </a:lnSpc>
                </a:pPr>
                <a:r>
                  <a:rPr lang="en-US" sz="2000" b="true">
                    <a:solidFill>
                      <a:srgbClr val="1A1A1A"/>
                    </a:solidFill>
                    <a:latin typeface="Roboto Bold"/>
                    <a:ea typeface="Roboto Bold"/>
                    <a:cs typeface="Roboto Bold"/>
                    <a:sym typeface="Roboto Bold"/>
                  </a:rPr>
                  <a:t>Stage 3</a:t>
                </a:r>
              </a:p>
              <a:p>
                <a:pPr algn="l">
                  <a:lnSpc>
                    <a:spcPts val="2400"/>
                  </a:lnSpc>
                </a:pPr>
                <a:r>
                  <a:rPr lang="en-US" sz="2000">
                    <a:solidFill>
                      <a:srgbClr val="1A1A1A"/>
                    </a:solidFill>
                    <a:latin typeface="Roboto"/>
                    <a:ea typeface="Roboto"/>
                    <a:cs typeface="Roboto"/>
                    <a:sym typeface="Roboto"/>
                  </a:rPr>
                  <a:t>Model </a:t>
                </a:r>
                <a:r>
                  <a:rPr lang="en-US" sz="2000">
                    <a:solidFill>
                      <a:srgbClr val="1A1A1A"/>
                    </a:solidFill>
                    <a:latin typeface="Roboto"/>
                    <a:ea typeface="Roboto"/>
                    <a:cs typeface="Roboto"/>
                    <a:sym typeface="Roboto"/>
                  </a:rPr>
                  <a:t>Evaluation</a:t>
                </a: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0">
              <a:off x="18200421" y="2925805"/>
              <a:ext cx="3599088" cy="1131023"/>
              <a:chOff x="0" y="0"/>
              <a:chExt cx="3423996" cy="10760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3424000" cy="1076005"/>
              </a:xfrm>
              <a:custGeom>
                <a:avLst/>
                <a:gdLst/>
                <a:ahLst/>
                <a:cxnLst/>
                <a:rect r="r" b="b" t="t" l="l"/>
                <a:pathLst>
                  <a:path h="1076005" w="3424000">
                    <a:moveTo>
                      <a:pt x="0" y="0"/>
                    </a:moveTo>
                    <a:lnTo>
                      <a:pt x="3424000" y="0"/>
                    </a:lnTo>
                    <a:lnTo>
                      <a:pt x="3424000" y="1076005"/>
                    </a:lnTo>
                    <a:lnTo>
                      <a:pt x="0" y="1076005"/>
                    </a:lnTo>
                    <a:close/>
                  </a:path>
                </a:pathLst>
              </a:custGeom>
              <a:blipFill>
                <a:blip r:embed="rId4">
                  <a:alphaModFix amt="0"/>
                </a:blip>
                <a:stretch>
                  <a:fillRect l="0" t="-12004" r="0" b="-12003"/>
                </a:stretch>
              </a:blipFill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19050"/>
                <a:ext cx="3423996" cy="1095050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400"/>
                  </a:lnSpc>
                </a:pPr>
                <a:r>
                  <a:rPr lang="en-US" sz="2000" b="true">
                    <a:solidFill>
                      <a:srgbClr val="1A1A1A"/>
                    </a:solidFill>
                    <a:latin typeface="Roboto Bold"/>
                    <a:ea typeface="Roboto Bold"/>
                    <a:cs typeface="Roboto Bold"/>
                    <a:sym typeface="Roboto Bold"/>
                  </a:rPr>
                  <a:t>Stage 4</a:t>
                </a:r>
              </a:p>
              <a:p>
                <a:pPr algn="l">
                  <a:lnSpc>
                    <a:spcPts val="2400"/>
                  </a:lnSpc>
                </a:pPr>
                <a:r>
                  <a:rPr lang="en-US" sz="2000">
                    <a:solidFill>
                      <a:srgbClr val="1A1A1A"/>
                    </a:solidFill>
                    <a:latin typeface="Roboto"/>
                    <a:ea typeface="Roboto"/>
                    <a:cs typeface="Roboto"/>
                    <a:sym typeface="Roboto"/>
                  </a:rPr>
                  <a:t>Deployment</a:t>
                </a:r>
              </a:p>
            </p:txBody>
          </p:sp>
        </p:grpSp>
        <p:sp>
          <p:nvSpPr>
            <p:cNvPr name="TextBox 28" id="28"/>
            <p:cNvSpPr txBox="true"/>
            <p:nvPr/>
          </p:nvSpPr>
          <p:spPr>
            <a:xfrm rot="0">
              <a:off x="18200421" y="3985984"/>
              <a:ext cx="3342819" cy="3432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18"/>
                </a:lnSpc>
              </a:pPr>
              <a:r>
                <a:rPr lang="en-US" sz="1681">
                  <a:solidFill>
                    <a:srgbClr val="1A1A1A"/>
                  </a:solidFill>
                  <a:latin typeface="Roboto"/>
                  <a:ea typeface="Roboto"/>
                  <a:cs typeface="Roboto"/>
                  <a:sym typeface="Roboto"/>
                </a:rPr>
                <a:t>Integration &amp; Release</a:t>
              </a:r>
            </a:p>
          </p:txBody>
        </p:sp>
        <p:sp>
          <p:nvSpPr>
            <p:cNvPr name="AutoShape 29" id="29"/>
            <p:cNvSpPr/>
            <p:nvPr/>
          </p:nvSpPr>
          <p:spPr>
            <a:xfrm>
              <a:off x="2291628" y="405407"/>
              <a:ext cx="2050773" cy="1876686"/>
            </a:xfrm>
            <a:prstGeom prst="line">
              <a:avLst/>
            </a:prstGeom>
            <a:ln cap="rnd" w="13349">
              <a:solidFill>
                <a:srgbClr val="BCCADB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30" id="30"/>
            <p:cNvGrpSpPr/>
            <p:nvPr/>
          </p:nvGrpSpPr>
          <p:grpSpPr>
            <a:xfrm rot="0">
              <a:off x="615022" y="1929590"/>
              <a:ext cx="3752980" cy="359073"/>
              <a:chOff x="0" y="0"/>
              <a:chExt cx="3570402" cy="341605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3570351" cy="341630"/>
              </a:xfrm>
              <a:custGeom>
                <a:avLst/>
                <a:gdLst/>
                <a:ahLst/>
                <a:cxnLst/>
                <a:rect r="r" b="b" t="t" l="l"/>
                <a:pathLst>
                  <a:path h="341630" w="3570351">
                    <a:moveTo>
                      <a:pt x="3570351" y="341630"/>
                    </a:moveTo>
                    <a:lnTo>
                      <a:pt x="3239262" y="0"/>
                    </a:lnTo>
                    <a:lnTo>
                      <a:pt x="0" y="0"/>
                    </a:lnTo>
                    <a:lnTo>
                      <a:pt x="331216" y="34163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name="Group 32" id="32"/>
            <p:cNvGrpSpPr/>
            <p:nvPr/>
          </p:nvGrpSpPr>
          <p:grpSpPr>
            <a:xfrm rot="0">
              <a:off x="613967" y="2326442"/>
              <a:ext cx="3752980" cy="359073"/>
              <a:chOff x="0" y="0"/>
              <a:chExt cx="3570402" cy="341605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3570351" cy="341630"/>
              </a:xfrm>
              <a:custGeom>
                <a:avLst/>
                <a:gdLst/>
                <a:ahLst/>
                <a:cxnLst/>
                <a:rect r="r" b="b" t="t" l="l"/>
                <a:pathLst>
                  <a:path h="341630" w="3570351">
                    <a:moveTo>
                      <a:pt x="0" y="341630"/>
                    </a:moveTo>
                    <a:lnTo>
                      <a:pt x="331216" y="0"/>
                    </a:lnTo>
                    <a:lnTo>
                      <a:pt x="3570351" y="0"/>
                    </a:lnTo>
                    <a:lnTo>
                      <a:pt x="3239262" y="34163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</p:grpSp>
        <p:grpSp>
          <p:nvGrpSpPr>
            <p:cNvPr name="Group 34" id="34"/>
            <p:cNvGrpSpPr/>
            <p:nvPr/>
          </p:nvGrpSpPr>
          <p:grpSpPr>
            <a:xfrm rot="0">
              <a:off x="4078586" y="1929590"/>
              <a:ext cx="3752980" cy="359073"/>
              <a:chOff x="0" y="0"/>
              <a:chExt cx="3570402" cy="341605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3570351" cy="341630"/>
              </a:xfrm>
              <a:custGeom>
                <a:avLst/>
                <a:gdLst/>
                <a:ahLst/>
                <a:cxnLst/>
                <a:rect r="r" b="b" t="t" l="l"/>
                <a:pathLst>
                  <a:path h="341630" w="3570351">
                    <a:moveTo>
                      <a:pt x="3570351" y="341630"/>
                    </a:moveTo>
                    <a:lnTo>
                      <a:pt x="3239262" y="0"/>
                    </a:lnTo>
                    <a:lnTo>
                      <a:pt x="0" y="0"/>
                    </a:lnTo>
                    <a:lnTo>
                      <a:pt x="331216" y="34163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name="Group 36" id="36"/>
            <p:cNvGrpSpPr/>
            <p:nvPr/>
          </p:nvGrpSpPr>
          <p:grpSpPr>
            <a:xfrm rot="0">
              <a:off x="4077532" y="2326442"/>
              <a:ext cx="3752980" cy="359073"/>
              <a:chOff x="0" y="0"/>
              <a:chExt cx="3570402" cy="341605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3570351" cy="341630"/>
              </a:xfrm>
              <a:custGeom>
                <a:avLst/>
                <a:gdLst/>
                <a:ahLst/>
                <a:cxnLst/>
                <a:rect r="r" b="b" t="t" l="l"/>
                <a:pathLst>
                  <a:path h="341630" w="3570351">
                    <a:moveTo>
                      <a:pt x="0" y="341630"/>
                    </a:moveTo>
                    <a:lnTo>
                      <a:pt x="331216" y="0"/>
                    </a:lnTo>
                    <a:lnTo>
                      <a:pt x="3570351" y="0"/>
                    </a:lnTo>
                    <a:lnTo>
                      <a:pt x="3239262" y="34163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</p:grpSp>
        <p:sp>
          <p:nvSpPr>
            <p:cNvPr name="AutoShape 38" id="38"/>
            <p:cNvSpPr/>
            <p:nvPr/>
          </p:nvSpPr>
          <p:spPr>
            <a:xfrm>
              <a:off x="9220506" y="405407"/>
              <a:ext cx="2050773" cy="1876686"/>
            </a:xfrm>
            <a:prstGeom prst="line">
              <a:avLst/>
            </a:prstGeom>
            <a:ln cap="rnd" w="13349">
              <a:solidFill>
                <a:srgbClr val="D9D9D9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39" id="39"/>
            <p:cNvGrpSpPr/>
            <p:nvPr/>
          </p:nvGrpSpPr>
          <p:grpSpPr>
            <a:xfrm rot="0">
              <a:off x="7543900" y="1929590"/>
              <a:ext cx="3752980" cy="359073"/>
              <a:chOff x="0" y="0"/>
              <a:chExt cx="3570402" cy="341605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3570351" cy="341630"/>
              </a:xfrm>
              <a:custGeom>
                <a:avLst/>
                <a:gdLst/>
                <a:ahLst/>
                <a:cxnLst/>
                <a:rect r="r" b="b" t="t" l="l"/>
                <a:pathLst>
                  <a:path h="341630" w="3570351">
                    <a:moveTo>
                      <a:pt x="3570351" y="341630"/>
                    </a:moveTo>
                    <a:lnTo>
                      <a:pt x="3239262" y="0"/>
                    </a:lnTo>
                    <a:lnTo>
                      <a:pt x="0" y="0"/>
                    </a:lnTo>
                    <a:lnTo>
                      <a:pt x="331216" y="34163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name="Group 41" id="41"/>
            <p:cNvGrpSpPr/>
            <p:nvPr/>
          </p:nvGrpSpPr>
          <p:grpSpPr>
            <a:xfrm rot="0">
              <a:off x="7542845" y="2326442"/>
              <a:ext cx="3752980" cy="359073"/>
              <a:chOff x="0" y="0"/>
              <a:chExt cx="3570402" cy="341605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3570351" cy="341630"/>
              </a:xfrm>
              <a:custGeom>
                <a:avLst/>
                <a:gdLst/>
                <a:ahLst/>
                <a:cxnLst/>
                <a:rect r="r" b="b" t="t" l="l"/>
                <a:pathLst>
                  <a:path h="341630" w="3570351">
                    <a:moveTo>
                      <a:pt x="0" y="341630"/>
                    </a:moveTo>
                    <a:lnTo>
                      <a:pt x="331216" y="0"/>
                    </a:lnTo>
                    <a:lnTo>
                      <a:pt x="3570351" y="0"/>
                    </a:lnTo>
                    <a:lnTo>
                      <a:pt x="3239262" y="341630"/>
                    </a:lnTo>
                    <a:close/>
                  </a:path>
                </a:pathLst>
              </a:custGeom>
              <a:solidFill>
                <a:srgbClr val="D9D9D9"/>
              </a:solidFill>
            </p:spPr>
          </p:sp>
        </p:grpSp>
        <p:sp>
          <p:nvSpPr>
            <p:cNvPr name="AutoShape 43" id="43"/>
            <p:cNvSpPr/>
            <p:nvPr/>
          </p:nvSpPr>
          <p:spPr>
            <a:xfrm>
              <a:off x="12677436" y="405407"/>
              <a:ext cx="2050773" cy="1876686"/>
            </a:xfrm>
            <a:prstGeom prst="line">
              <a:avLst/>
            </a:prstGeom>
            <a:ln cap="rnd" w="13349">
              <a:solidFill>
                <a:srgbClr val="4E5567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44" id="44"/>
            <p:cNvGrpSpPr/>
            <p:nvPr/>
          </p:nvGrpSpPr>
          <p:grpSpPr>
            <a:xfrm rot="0">
              <a:off x="11000843" y="1929590"/>
              <a:ext cx="3752980" cy="359073"/>
              <a:chOff x="0" y="0"/>
              <a:chExt cx="3570402" cy="341605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3570351" cy="341630"/>
              </a:xfrm>
              <a:custGeom>
                <a:avLst/>
                <a:gdLst/>
                <a:ahLst/>
                <a:cxnLst/>
                <a:rect r="r" b="b" t="t" l="l"/>
                <a:pathLst>
                  <a:path h="341630" w="3570351">
                    <a:moveTo>
                      <a:pt x="3570351" y="341630"/>
                    </a:moveTo>
                    <a:lnTo>
                      <a:pt x="3239262" y="0"/>
                    </a:lnTo>
                    <a:lnTo>
                      <a:pt x="0" y="0"/>
                    </a:lnTo>
                    <a:lnTo>
                      <a:pt x="331216" y="341630"/>
                    </a:lnTo>
                    <a:close/>
                  </a:path>
                </a:pathLst>
              </a:custGeom>
              <a:solidFill>
                <a:srgbClr val="4E5567"/>
              </a:solidFill>
            </p:spPr>
          </p:sp>
        </p:grpSp>
        <p:grpSp>
          <p:nvGrpSpPr>
            <p:cNvPr name="Group 46" id="46"/>
            <p:cNvGrpSpPr/>
            <p:nvPr/>
          </p:nvGrpSpPr>
          <p:grpSpPr>
            <a:xfrm rot="0">
              <a:off x="10999788" y="2326442"/>
              <a:ext cx="3752980" cy="359073"/>
              <a:chOff x="0" y="0"/>
              <a:chExt cx="3570402" cy="341605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3570351" cy="341630"/>
              </a:xfrm>
              <a:custGeom>
                <a:avLst/>
                <a:gdLst/>
                <a:ahLst/>
                <a:cxnLst/>
                <a:rect r="r" b="b" t="t" l="l"/>
                <a:pathLst>
                  <a:path h="341630" w="3570351">
                    <a:moveTo>
                      <a:pt x="0" y="341630"/>
                    </a:moveTo>
                    <a:lnTo>
                      <a:pt x="331216" y="0"/>
                    </a:lnTo>
                    <a:lnTo>
                      <a:pt x="3570351" y="0"/>
                    </a:lnTo>
                    <a:lnTo>
                      <a:pt x="3239262" y="341630"/>
                    </a:lnTo>
                    <a:close/>
                  </a:path>
                </a:pathLst>
              </a:custGeom>
              <a:solidFill>
                <a:srgbClr val="4E5567"/>
              </a:solidFill>
            </p:spPr>
          </p:sp>
        </p:grpSp>
        <p:sp>
          <p:nvSpPr>
            <p:cNvPr name="AutoShape 48" id="48"/>
            <p:cNvSpPr/>
            <p:nvPr/>
          </p:nvSpPr>
          <p:spPr>
            <a:xfrm>
              <a:off x="16124047" y="405407"/>
              <a:ext cx="2050773" cy="1876686"/>
            </a:xfrm>
            <a:prstGeom prst="line">
              <a:avLst/>
            </a:prstGeom>
            <a:ln cap="rnd" w="13349">
              <a:solidFill>
                <a:srgbClr val="4E5567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49" id="49"/>
            <p:cNvGrpSpPr/>
            <p:nvPr/>
          </p:nvGrpSpPr>
          <p:grpSpPr>
            <a:xfrm rot="0">
              <a:off x="14447441" y="1929590"/>
              <a:ext cx="3752980" cy="359073"/>
              <a:chOff x="0" y="0"/>
              <a:chExt cx="3570402" cy="341605"/>
            </a:xfrm>
          </p:grpSpPr>
          <p:sp>
            <p:nvSpPr>
              <p:cNvPr name="Freeform 50" id="50"/>
              <p:cNvSpPr/>
              <p:nvPr/>
            </p:nvSpPr>
            <p:spPr>
              <a:xfrm flipH="false" flipV="false" rot="0">
                <a:off x="0" y="0"/>
                <a:ext cx="3570351" cy="341630"/>
              </a:xfrm>
              <a:custGeom>
                <a:avLst/>
                <a:gdLst/>
                <a:ahLst/>
                <a:cxnLst/>
                <a:rect r="r" b="b" t="t" l="l"/>
                <a:pathLst>
                  <a:path h="341630" w="3570351">
                    <a:moveTo>
                      <a:pt x="3570351" y="341630"/>
                    </a:moveTo>
                    <a:lnTo>
                      <a:pt x="3239262" y="0"/>
                    </a:lnTo>
                    <a:lnTo>
                      <a:pt x="0" y="0"/>
                    </a:lnTo>
                    <a:lnTo>
                      <a:pt x="331216" y="341630"/>
                    </a:lnTo>
                    <a:close/>
                  </a:path>
                </a:pathLst>
              </a:custGeom>
              <a:solidFill>
                <a:srgbClr val="4E5567"/>
              </a:solidFill>
            </p:spPr>
          </p:sp>
        </p:grpSp>
        <p:grpSp>
          <p:nvGrpSpPr>
            <p:cNvPr name="Group 51" id="51"/>
            <p:cNvGrpSpPr/>
            <p:nvPr/>
          </p:nvGrpSpPr>
          <p:grpSpPr>
            <a:xfrm rot="0">
              <a:off x="14446386" y="2326442"/>
              <a:ext cx="3752980" cy="359073"/>
              <a:chOff x="0" y="0"/>
              <a:chExt cx="3570402" cy="341605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3570351" cy="341630"/>
              </a:xfrm>
              <a:custGeom>
                <a:avLst/>
                <a:gdLst/>
                <a:ahLst/>
                <a:cxnLst/>
                <a:rect r="r" b="b" t="t" l="l"/>
                <a:pathLst>
                  <a:path h="341630" w="3570351">
                    <a:moveTo>
                      <a:pt x="0" y="341630"/>
                    </a:moveTo>
                    <a:lnTo>
                      <a:pt x="331216" y="0"/>
                    </a:lnTo>
                    <a:lnTo>
                      <a:pt x="3570351" y="0"/>
                    </a:lnTo>
                    <a:lnTo>
                      <a:pt x="3239262" y="341630"/>
                    </a:lnTo>
                    <a:close/>
                  </a:path>
                </a:pathLst>
              </a:custGeom>
              <a:solidFill>
                <a:srgbClr val="4E5567"/>
              </a:solidFill>
            </p:spPr>
          </p:sp>
        </p:grpSp>
        <p:sp>
          <p:nvSpPr>
            <p:cNvPr name="AutoShape 53" id="53"/>
            <p:cNvSpPr/>
            <p:nvPr/>
          </p:nvSpPr>
          <p:spPr>
            <a:xfrm>
              <a:off x="19582111" y="405407"/>
              <a:ext cx="2050773" cy="1876686"/>
            </a:xfrm>
            <a:prstGeom prst="line">
              <a:avLst/>
            </a:prstGeom>
            <a:ln cap="rnd" w="13349">
              <a:solidFill>
                <a:srgbClr val="4E5567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54" id="54"/>
            <p:cNvGrpSpPr/>
            <p:nvPr/>
          </p:nvGrpSpPr>
          <p:grpSpPr>
            <a:xfrm rot="0">
              <a:off x="17905505" y="1929590"/>
              <a:ext cx="3752980" cy="359073"/>
              <a:chOff x="0" y="0"/>
              <a:chExt cx="3570402" cy="341605"/>
            </a:xfrm>
          </p:grpSpPr>
          <p:sp>
            <p:nvSpPr>
              <p:cNvPr name="Freeform 55" id="55"/>
              <p:cNvSpPr/>
              <p:nvPr/>
            </p:nvSpPr>
            <p:spPr>
              <a:xfrm flipH="false" flipV="false" rot="0">
                <a:off x="0" y="0"/>
                <a:ext cx="3570351" cy="341630"/>
              </a:xfrm>
              <a:custGeom>
                <a:avLst/>
                <a:gdLst/>
                <a:ahLst/>
                <a:cxnLst/>
                <a:rect r="r" b="b" t="t" l="l"/>
                <a:pathLst>
                  <a:path h="341630" w="3570351">
                    <a:moveTo>
                      <a:pt x="3570351" y="341630"/>
                    </a:moveTo>
                    <a:lnTo>
                      <a:pt x="3239262" y="0"/>
                    </a:lnTo>
                    <a:lnTo>
                      <a:pt x="0" y="0"/>
                    </a:lnTo>
                    <a:lnTo>
                      <a:pt x="331216" y="341630"/>
                    </a:lnTo>
                    <a:close/>
                  </a:path>
                </a:pathLst>
              </a:custGeom>
              <a:solidFill>
                <a:srgbClr val="4E5567"/>
              </a:solidFill>
            </p:spPr>
          </p:sp>
        </p:grpSp>
        <p:grpSp>
          <p:nvGrpSpPr>
            <p:cNvPr name="Group 56" id="56"/>
            <p:cNvGrpSpPr/>
            <p:nvPr/>
          </p:nvGrpSpPr>
          <p:grpSpPr>
            <a:xfrm rot="0">
              <a:off x="17904464" y="2326442"/>
              <a:ext cx="3752980" cy="359073"/>
              <a:chOff x="0" y="0"/>
              <a:chExt cx="3570402" cy="341605"/>
            </a:xfrm>
          </p:grpSpPr>
          <p:sp>
            <p:nvSpPr>
              <p:cNvPr name="Freeform 57" id="57"/>
              <p:cNvSpPr/>
              <p:nvPr/>
            </p:nvSpPr>
            <p:spPr>
              <a:xfrm flipH="false" flipV="false" rot="0">
                <a:off x="0" y="0"/>
                <a:ext cx="3570351" cy="341630"/>
              </a:xfrm>
              <a:custGeom>
                <a:avLst/>
                <a:gdLst/>
                <a:ahLst/>
                <a:cxnLst/>
                <a:rect r="r" b="b" t="t" l="l"/>
                <a:pathLst>
                  <a:path h="341630" w="3570351">
                    <a:moveTo>
                      <a:pt x="0" y="341630"/>
                    </a:moveTo>
                    <a:lnTo>
                      <a:pt x="331216" y="0"/>
                    </a:lnTo>
                    <a:lnTo>
                      <a:pt x="3570351" y="0"/>
                    </a:lnTo>
                    <a:lnTo>
                      <a:pt x="3239262" y="341630"/>
                    </a:lnTo>
                    <a:close/>
                  </a:path>
                </a:pathLst>
              </a:custGeom>
              <a:solidFill>
                <a:srgbClr val="4E5567"/>
              </a:solidFill>
            </p:spPr>
          </p:sp>
        </p:grpSp>
        <p:sp>
          <p:nvSpPr>
            <p:cNvPr name="TextBox 58" id="58"/>
            <p:cNvSpPr txBox="true"/>
            <p:nvPr/>
          </p:nvSpPr>
          <p:spPr>
            <a:xfrm rot="0">
              <a:off x="660754" y="1486089"/>
              <a:ext cx="1436316" cy="3432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18"/>
                </a:lnSpc>
                <a:spcBef>
                  <a:spcPct val="0"/>
                </a:spcBef>
              </a:pPr>
              <a:r>
                <a:rPr lang="en-US" sz="1681">
                  <a:solidFill>
                    <a:srgbClr val="1A1A1A"/>
                  </a:solidFill>
                  <a:latin typeface="Roboto"/>
                  <a:ea typeface="Roboto"/>
                  <a:cs typeface="Roboto"/>
                  <a:sym typeface="Roboto"/>
                </a:rPr>
                <a:t>02-03-2026</a:t>
              </a:r>
            </a:p>
          </p:txBody>
        </p:sp>
        <p:sp>
          <p:nvSpPr>
            <p:cNvPr name="TextBox 59" id="59"/>
            <p:cNvSpPr txBox="true"/>
            <p:nvPr/>
          </p:nvSpPr>
          <p:spPr>
            <a:xfrm rot="0">
              <a:off x="407819" y="44643"/>
              <a:ext cx="1831116" cy="3432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014"/>
                </a:lnSpc>
                <a:spcBef>
                  <a:spcPct val="0"/>
                </a:spcBef>
              </a:pPr>
              <a:r>
                <a:rPr lang="en-US" sz="1678">
                  <a:solidFill>
                    <a:srgbClr val="1A1A1A"/>
                  </a:solidFill>
                  <a:latin typeface="Roboto"/>
                  <a:ea typeface="Roboto"/>
                  <a:cs typeface="Roboto"/>
                  <a:sym typeface="Roboto"/>
                </a:rPr>
                <a:t>07-03-2026</a:t>
              </a:r>
            </a:p>
          </p:txBody>
        </p:sp>
        <p:sp>
          <p:nvSpPr>
            <p:cNvPr name="TextBox 60" id="60"/>
            <p:cNvSpPr txBox="true"/>
            <p:nvPr/>
          </p:nvSpPr>
          <p:spPr>
            <a:xfrm rot="0">
              <a:off x="4078586" y="1486089"/>
              <a:ext cx="1831116" cy="3432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14"/>
                </a:lnSpc>
                <a:spcBef>
                  <a:spcPct val="0"/>
                </a:spcBef>
              </a:pPr>
              <a:r>
                <a:rPr lang="en-US" sz="1678">
                  <a:solidFill>
                    <a:srgbClr val="1A1A1A"/>
                  </a:solidFill>
                  <a:latin typeface="Roboto"/>
                  <a:ea typeface="Roboto"/>
                  <a:cs typeface="Roboto"/>
                  <a:sym typeface="Roboto"/>
                </a:rPr>
                <a:t>09-03-2026</a:t>
              </a:r>
            </a:p>
          </p:txBody>
        </p:sp>
        <p:sp>
          <p:nvSpPr>
            <p:cNvPr name="TextBox 61" id="61"/>
            <p:cNvSpPr txBox="true"/>
            <p:nvPr/>
          </p:nvSpPr>
          <p:spPr>
            <a:xfrm rot="0">
              <a:off x="7254457" y="-9525"/>
              <a:ext cx="1831116" cy="3432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014"/>
                </a:lnSpc>
                <a:spcBef>
                  <a:spcPct val="0"/>
                </a:spcBef>
              </a:pPr>
              <a:r>
                <a:rPr lang="en-US" sz="1678">
                  <a:solidFill>
                    <a:srgbClr val="1A1A1A"/>
                  </a:solidFill>
                  <a:latin typeface="Roboto"/>
                  <a:ea typeface="Roboto"/>
                  <a:cs typeface="Roboto"/>
                  <a:sym typeface="Roboto"/>
                </a:rPr>
                <a:t>14</a:t>
              </a:r>
              <a:r>
                <a:rPr lang="en-US" sz="1678">
                  <a:solidFill>
                    <a:srgbClr val="1A1A1A"/>
                  </a:solidFill>
                  <a:latin typeface="Roboto"/>
                  <a:ea typeface="Roboto"/>
                  <a:cs typeface="Roboto"/>
                  <a:sym typeface="Roboto"/>
                </a:rPr>
                <a:t>-03-2026</a:t>
              </a:r>
            </a:p>
          </p:txBody>
        </p:sp>
        <p:sp>
          <p:nvSpPr>
            <p:cNvPr name="TextBox 62" id="62"/>
            <p:cNvSpPr txBox="true"/>
            <p:nvPr/>
          </p:nvSpPr>
          <p:spPr>
            <a:xfrm rot="0">
              <a:off x="11000843" y="1486089"/>
              <a:ext cx="1831116" cy="3432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14"/>
                </a:lnSpc>
                <a:spcBef>
                  <a:spcPct val="0"/>
                </a:spcBef>
              </a:pPr>
              <a:r>
                <a:rPr lang="en-US" sz="1678">
                  <a:solidFill>
                    <a:srgbClr val="1A1A1A"/>
                  </a:solidFill>
                  <a:latin typeface="Roboto"/>
                  <a:ea typeface="Roboto"/>
                  <a:cs typeface="Roboto"/>
                  <a:sym typeface="Roboto"/>
                </a:rPr>
                <a:t>30</a:t>
              </a:r>
              <a:r>
                <a:rPr lang="en-US" sz="1678">
                  <a:solidFill>
                    <a:srgbClr val="1A1A1A"/>
                  </a:solidFill>
                  <a:latin typeface="Roboto"/>
                  <a:ea typeface="Roboto"/>
                  <a:cs typeface="Roboto"/>
                  <a:sym typeface="Roboto"/>
                </a:rPr>
                <a:t>-03-2026</a:t>
              </a:r>
            </a:p>
          </p:txBody>
        </p:sp>
        <p:sp>
          <p:nvSpPr>
            <p:cNvPr name="TextBox 63" id="63"/>
            <p:cNvSpPr txBox="true"/>
            <p:nvPr/>
          </p:nvSpPr>
          <p:spPr>
            <a:xfrm rot="0">
              <a:off x="10846320" y="-9525"/>
              <a:ext cx="1831116" cy="3432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014"/>
                </a:lnSpc>
                <a:spcBef>
                  <a:spcPct val="0"/>
                </a:spcBef>
              </a:pPr>
              <a:r>
                <a:rPr lang="en-US" sz="1678">
                  <a:solidFill>
                    <a:srgbClr val="1A1A1A"/>
                  </a:solidFill>
                  <a:latin typeface="Roboto"/>
                  <a:ea typeface="Roboto"/>
                  <a:cs typeface="Roboto"/>
                  <a:sym typeface="Roboto"/>
                </a:rPr>
                <a:t>04</a:t>
              </a:r>
              <a:r>
                <a:rPr lang="en-US" sz="1678">
                  <a:solidFill>
                    <a:srgbClr val="1A1A1A"/>
                  </a:solidFill>
                  <a:latin typeface="Roboto"/>
                  <a:ea typeface="Roboto"/>
                  <a:cs typeface="Roboto"/>
                  <a:sym typeface="Roboto"/>
                </a:rPr>
                <a:t>-04-2026</a:t>
              </a:r>
            </a:p>
          </p:txBody>
        </p:sp>
        <p:sp>
          <p:nvSpPr>
            <p:cNvPr name="TextBox 64" id="64"/>
            <p:cNvSpPr txBox="true"/>
            <p:nvPr/>
          </p:nvSpPr>
          <p:spPr>
            <a:xfrm rot="0">
              <a:off x="14414814" y="1486089"/>
              <a:ext cx="1831116" cy="3432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14"/>
                </a:lnSpc>
                <a:spcBef>
                  <a:spcPct val="0"/>
                </a:spcBef>
              </a:pPr>
              <a:r>
                <a:rPr lang="en-US" sz="1678">
                  <a:solidFill>
                    <a:srgbClr val="1A1A1A"/>
                  </a:solidFill>
                  <a:latin typeface="Roboto"/>
                  <a:ea typeface="Roboto"/>
                  <a:cs typeface="Roboto"/>
                  <a:sym typeface="Roboto"/>
                </a:rPr>
                <a:t>06</a:t>
              </a:r>
              <a:r>
                <a:rPr lang="en-US" sz="1678">
                  <a:solidFill>
                    <a:srgbClr val="1A1A1A"/>
                  </a:solidFill>
                  <a:latin typeface="Roboto"/>
                  <a:ea typeface="Roboto"/>
                  <a:cs typeface="Roboto"/>
                  <a:sym typeface="Roboto"/>
                </a:rPr>
                <a:t>-04-2026</a:t>
              </a:r>
            </a:p>
          </p:txBody>
        </p:sp>
        <p:sp>
          <p:nvSpPr>
            <p:cNvPr name="TextBox 65" id="65"/>
            <p:cNvSpPr txBox="true"/>
            <p:nvPr/>
          </p:nvSpPr>
          <p:spPr>
            <a:xfrm rot="0">
              <a:off x="14361977" y="-9525"/>
              <a:ext cx="1831116" cy="3432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014"/>
                </a:lnSpc>
                <a:spcBef>
                  <a:spcPct val="0"/>
                </a:spcBef>
              </a:pPr>
              <a:r>
                <a:rPr lang="en-US" sz="1678">
                  <a:solidFill>
                    <a:srgbClr val="1A1A1A"/>
                  </a:solidFill>
                  <a:latin typeface="Roboto"/>
                  <a:ea typeface="Roboto"/>
                  <a:cs typeface="Roboto"/>
                  <a:sym typeface="Roboto"/>
                </a:rPr>
                <a:t>11</a:t>
              </a:r>
              <a:r>
                <a:rPr lang="en-US" sz="1678">
                  <a:solidFill>
                    <a:srgbClr val="1A1A1A"/>
                  </a:solidFill>
                  <a:latin typeface="Roboto"/>
                  <a:ea typeface="Roboto"/>
                  <a:cs typeface="Roboto"/>
                  <a:sym typeface="Roboto"/>
                </a:rPr>
                <a:t>-04-2026</a:t>
              </a:r>
            </a:p>
          </p:txBody>
        </p:sp>
        <p:sp>
          <p:nvSpPr>
            <p:cNvPr name="TextBox 66" id="66"/>
            <p:cNvSpPr txBox="true"/>
            <p:nvPr/>
          </p:nvSpPr>
          <p:spPr>
            <a:xfrm rot="0">
              <a:off x="17904464" y="1486089"/>
              <a:ext cx="1831116" cy="3432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014"/>
                </a:lnSpc>
                <a:spcBef>
                  <a:spcPct val="0"/>
                </a:spcBef>
              </a:pPr>
              <a:r>
                <a:rPr lang="en-US" sz="1678">
                  <a:solidFill>
                    <a:srgbClr val="1A1A1A"/>
                  </a:solidFill>
                  <a:latin typeface="Roboto"/>
                  <a:ea typeface="Roboto"/>
                  <a:cs typeface="Roboto"/>
                  <a:sym typeface="Roboto"/>
                </a:rPr>
                <a:t>13</a:t>
              </a:r>
              <a:r>
                <a:rPr lang="en-US" sz="1678">
                  <a:solidFill>
                    <a:srgbClr val="1A1A1A"/>
                  </a:solidFill>
                  <a:latin typeface="Roboto"/>
                  <a:ea typeface="Roboto"/>
                  <a:cs typeface="Roboto"/>
                  <a:sym typeface="Roboto"/>
                </a:rPr>
                <a:t>-04-2026</a:t>
              </a:r>
            </a:p>
          </p:txBody>
        </p:sp>
        <p:sp>
          <p:nvSpPr>
            <p:cNvPr name="TextBox 67" id="67"/>
            <p:cNvSpPr txBox="true"/>
            <p:nvPr/>
          </p:nvSpPr>
          <p:spPr>
            <a:xfrm rot="0">
              <a:off x="17875123" y="-9525"/>
              <a:ext cx="1831116" cy="34326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014"/>
                </a:lnSpc>
                <a:spcBef>
                  <a:spcPct val="0"/>
                </a:spcBef>
              </a:pPr>
              <a:r>
                <a:rPr lang="en-US" sz="1678">
                  <a:solidFill>
                    <a:srgbClr val="1A1A1A"/>
                  </a:solidFill>
                  <a:latin typeface="Roboto"/>
                  <a:ea typeface="Roboto"/>
                  <a:cs typeface="Roboto"/>
                  <a:sym typeface="Roboto"/>
                </a:rPr>
                <a:t>18</a:t>
              </a:r>
              <a:r>
                <a:rPr lang="en-US" sz="1678">
                  <a:solidFill>
                    <a:srgbClr val="1A1A1A"/>
                  </a:solidFill>
                  <a:latin typeface="Roboto"/>
                  <a:ea typeface="Roboto"/>
                  <a:cs typeface="Roboto"/>
                  <a:sym typeface="Roboto"/>
                </a:rPr>
                <a:t>-04-2026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975598"/>
            <a:chOff x="0" y="0"/>
            <a:chExt cx="24384000" cy="130079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00861"/>
            </a:xfrm>
            <a:custGeom>
              <a:avLst/>
              <a:gdLst/>
              <a:ahLst/>
              <a:cxnLst/>
              <a:rect r="r" b="b" t="t" l="l"/>
              <a:pathLst>
                <a:path h="130086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00861"/>
                  </a:lnTo>
                  <a:lnTo>
                    <a:pt x="0" y="1300861"/>
                  </a:lnTo>
                  <a:close/>
                </a:path>
              </a:pathLst>
            </a:custGeom>
            <a:solidFill>
              <a:srgbClr val="E9EDEE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1547027" y="1576521"/>
            <a:ext cx="15193947" cy="704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20"/>
              </a:lnSpc>
            </a:pPr>
            <a:r>
              <a:rPr lang="en-US" b="true" sz="4600">
                <a:solidFill>
                  <a:srgbClr val="1A1A1A"/>
                </a:solidFill>
                <a:latin typeface="Raleway Bold"/>
                <a:ea typeface="Raleway Bold"/>
                <a:cs typeface="Raleway Bold"/>
                <a:sym typeface="Raleway Bold"/>
              </a:rPr>
              <a:t>Risk-Feasibility</a:t>
            </a:r>
          </a:p>
        </p:txBody>
      </p: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1550327" y="2565475"/>
          <a:ext cx="15996857" cy="7414987"/>
        </p:xfrm>
        <a:graphic>
          <a:graphicData uri="http://schemas.openxmlformats.org/drawingml/2006/table">
            <a:tbl>
              <a:tblPr/>
              <a:tblGrid>
                <a:gridCol w="1895529"/>
                <a:gridCol w="4383981"/>
                <a:gridCol w="4759326"/>
                <a:gridCol w="4958021"/>
              </a:tblGrid>
              <a:tr h="67308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22"/>
                        </a:lnSpc>
                        <a:defRPr/>
                      </a:pPr>
                      <a:r>
                        <a:rPr lang="en-US" b="true" sz="1900">
                          <a:solidFill>
                            <a:srgbClr val="1A1A1A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Aspect</a:t>
                      </a:r>
                      <a:endParaRPr lang="en-US" sz="1100"/>
                    </a:p>
                  </a:txBody>
                  <a:tcPr marL="92472" marR="92472" marT="92472" marB="92472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C7C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22"/>
                        </a:lnSpc>
                        <a:defRPr/>
                      </a:pPr>
                      <a:r>
                        <a:rPr lang="en-US" b="true" sz="1900">
                          <a:solidFill>
                            <a:srgbClr val="1A1A1A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Potential Risk</a:t>
                      </a:r>
                      <a:endParaRPr lang="en-US" sz="1100"/>
                    </a:p>
                  </a:txBody>
                  <a:tcPr marL="92472" marR="92472" marT="92472" marB="92472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C7C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22"/>
                        </a:lnSpc>
                        <a:defRPr/>
                      </a:pPr>
                      <a:r>
                        <a:rPr lang="en-US" b="true" sz="1900">
                          <a:solidFill>
                            <a:srgbClr val="1A1A1A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Mitigation Strategy</a:t>
                      </a:r>
                      <a:endParaRPr lang="en-US" sz="1100"/>
                    </a:p>
                  </a:txBody>
                  <a:tcPr marL="92472" marR="92472" marT="92472" marB="92472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C7C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22"/>
                        </a:lnSpc>
                        <a:defRPr/>
                      </a:pPr>
                      <a:r>
                        <a:rPr lang="en-US" b="true" sz="1900">
                          <a:solidFill>
                            <a:srgbClr val="1A1A1A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Feasibility</a:t>
                      </a:r>
                      <a:endParaRPr lang="en-US" sz="1100"/>
                    </a:p>
                  </a:txBody>
                  <a:tcPr marL="92472" marR="92472" marT="92472" marB="92472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C7CE"/>
                    </a:solidFill>
                  </a:tcPr>
                </a:tc>
              </a:tr>
              <a:tr h="142341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22"/>
                        </a:lnSpc>
                        <a:defRPr/>
                      </a:pPr>
                      <a:r>
                        <a:rPr lang="en-US" b="true" sz="1900">
                          <a:solidFill>
                            <a:srgbClr val="1A1A1A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Data</a:t>
                      </a:r>
                      <a:endParaRPr lang="en-US" sz="1100"/>
                    </a:p>
                  </a:txBody>
                  <a:tcPr marL="92472" marR="92472" marT="92472" marB="92472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C7C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22"/>
                        </a:lnSpc>
                        <a:defRPr/>
                      </a:pPr>
                      <a:r>
                        <a:rPr lang="en-US" sz="1900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Historical bias in the 1,500 candidate records due to previous subjective manual hiring decisions.</a:t>
                      </a:r>
                      <a:endParaRPr lang="en-US" sz="1100"/>
                    </a:p>
                  </a:txBody>
                  <a:tcPr marL="92472" marR="92472" marT="92472" marB="92472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C7C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22"/>
                        </a:lnSpc>
                        <a:defRPr/>
                      </a:pPr>
                      <a:r>
                        <a:rPr lang="en-US" sz="1900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Conduct regular Fairness &amp; Bias Audits.</a:t>
                      </a:r>
                      <a:endParaRPr lang="en-US" sz="1100"/>
                    </a:p>
                  </a:txBody>
                  <a:tcPr marL="92472" marR="92472" marT="92472" marB="92472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C7C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22"/>
                        </a:lnSpc>
                        <a:defRPr/>
                      </a:pPr>
                      <a:r>
                        <a:rPr lang="en-US" sz="19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High; data is available for auditing to ensure objective outcomes.</a:t>
                      </a:r>
                      <a:endParaRPr lang="en-US" sz="1100"/>
                    </a:p>
                  </a:txBody>
                  <a:tcPr marL="92472" marR="92472" marT="92472" marB="92472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C7CE"/>
                    </a:solidFill>
                  </a:tcPr>
                </a:tc>
              </a:tr>
              <a:tr h="142341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22"/>
                        </a:lnSpc>
                        <a:defRPr/>
                      </a:pPr>
                      <a:r>
                        <a:rPr lang="en-US" b="true" sz="1900">
                          <a:solidFill>
                            <a:srgbClr val="1A1A1A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Technical</a:t>
                      </a:r>
                      <a:endParaRPr lang="en-US" sz="1100"/>
                    </a:p>
                  </a:txBody>
                  <a:tcPr marL="92472" marR="92472" marT="92472" marB="92472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C7C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22"/>
                        </a:lnSpc>
                        <a:defRPr/>
                      </a:pPr>
                      <a:r>
                        <a:rPr lang="en-US" sz="1900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Model fails to balance selection precision with the ability to capture potential talent.</a:t>
                      </a:r>
                      <a:endParaRPr lang="en-US" sz="1100"/>
                    </a:p>
                  </a:txBody>
                  <a:tcPr marL="92472" marR="92472" marT="92472" marB="92472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C7C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22"/>
                        </a:lnSpc>
                        <a:defRPr/>
                      </a:pPr>
                      <a:r>
                        <a:rPr lang="en-US" sz="1900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Utilize </a:t>
                      </a:r>
                      <a:r>
                        <a:rPr lang="en-US" sz="1900" b="true">
                          <a:solidFill>
                            <a:srgbClr val="1A1A1A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F1-Score</a:t>
                      </a:r>
                      <a:r>
                        <a:rPr lang="en-US" sz="1900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as the primary benchmark to validate model accuracy and selection balance.</a:t>
                      </a:r>
                      <a:endParaRPr lang="en-US" sz="1100"/>
                    </a:p>
                  </a:txBody>
                  <a:tcPr marL="92472" marR="92472" marT="92472" marB="92472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C7C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22"/>
                        </a:lnSpc>
                        <a:defRPr/>
                      </a:pPr>
                      <a:r>
                        <a:rPr lang="en-US" sz="19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Feasible; F1-Score provides a robust technical validation framework.</a:t>
                      </a:r>
                      <a:endParaRPr lang="en-US" sz="1100"/>
                    </a:p>
                  </a:txBody>
                  <a:tcPr marL="92472" marR="92472" marT="92472" marB="92472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C7CE"/>
                    </a:solidFill>
                  </a:tcPr>
                </a:tc>
              </a:tr>
              <a:tr h="104825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22"/>
                        </a:lnSpc>
                        <a:defRPr/>
                      </a:pPr>
                      <a:r>
                        <a:rPr lang="en-US" b="true" sz="1900">
                          <a:solidFill>
                            <a:srgbClr val="1A1A1A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Operational</a:t>
                      </a:r>
                      <a:endParaRPr lang="en-US" sz="1100"/>
                    </a:p>
                  </a:txBody>
                  <a:tcPr marL="92472" marR="92472" marT="92472" marB="92472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C7C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22"/>
                        </a:lnSpc>
                        <a:defRPr/>
                      </a:pPr>
                      <a:r>
                        <a:rPr lang="en-US" sz="1900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HR teams find it difficult to adopt new systems.</a:t>
                      </a:r>
                      <a:endParaRPr lang="en-US" sz="1100"/>
                    </a:p>
                  </a:txBody>
                  <a:tcPr marL="92472" marR="92472" marT="92472" marB="92472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C7C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22"/>
                        </a:lnSpc>
                        <a:defRPr/>
                      </a:pPr>
                      <a:r>
                        <a:rPr lang="en-US" sz="1900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System integration that provides instant predictions.</a:t>
                      </a:r>
                      <a:endParaRPr lang="en-US" sz="1100"/>
                    </a:p>
                  </a:txBody>
                  <a:tcPr marL="92472" marR="92472" marT="92472" marB="92472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C7C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22"/>
                        </a:lnSpc>
                        <a:defRPr/>
                      </a:pPr>
                      <a:r>
                        <a:rPr lang="en-US" sz="19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Feasible; data-driven systems minimize intuition-based risks.</a:t>
                      </a:r>
                      <a:endParaRPr lang="en-US" sz="1100"/>
                    </a:p>
                  </a:txBody>
                  <a:tcPr marL="92472" marR="92472" marT="92472" marB="92472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C7CE"/>
                    </a:solidFill>
                  </a:tcPr>
                </a:tc>
              </a:tr>
              <a:tr h="142341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22"/>
                        </a:lnSpc>
                        <a:defRPr/>
                      </a:pPr>
                      <a:r>
                        <a:rPr lang="en-US" b="true" sz="1900">
                          <a:solidFill>
                            <a:srgbClr val="1A1A1A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Economic</a:t>
                      </a:r>
                      <a:endParaRPr lang="en-US" sz="1100"/>
                    </a:p>
                  </a:txBody>
                  <a:tcPr marL="92472" marR="92472" marT="92472" marB="92472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C7C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22"/>
                        </a:lnSpc>
                        <a:defRPr/>
                      </a:pPr>
                      <a:r>
                        <a:rPr lang="en-US" sz="1900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Marketing budget wasted on recruitment channels with low conversion rates.</a:t>
                      </a:r>
                      <a:endParaRPr lang="en-US" sz="1100"/>
                    </a:p>
                  </a:txBody>
                  <a:tcPr marL="92472" marR="92472" marT="92472" marB="92472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C7C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22"/>
                        </a:lnSpc>
                        <a:defRPr/>
                      </a:pPr>
                      <a:r>
                        <a:rPr lang="en-US" sz="1900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Perform data-driven evaluations of </a:t>
                      </a:r>
                      <a:r>
                        <a:rPr lang="en-US" sz="1900" b="true">
                          <a:solidFill>
                            <a:srgbClr val="1A1A1A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Recruitment Strategy ROI</a:t>
                      </a:r>
                      <a:r>
                        <a:rPr lang="en-US" sz="1900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to optimize budget allocation.</a:t>
                      </a:r>
                      <a:endParaRPr lang="en-US" sz="1100"/>
                    </a:p>
                  </a:txBody>
                  <a:tcPr marL="92472" marR="92472" marT="92472" marB="92472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C7C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22"/>
                        </a:lnSpc>
                        <a:defRPr/>
                      </a:pPr>
                      <a:r>
                        <a:rPr lang="en-US" sz="19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Feasible; ROI analysis ensures targeted and cost-effective spending.</a:t>
                      </a:r>
                      <a:endParaRPr lang="en-US" sz="1100"/>
                    </a:p>
                  </a:txBody>
                  <a:tcPr marL="92472" marR="92472" marT="92472" marB="92472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C7CE"/>
                    </a:solidFill>
                  </a:tcPr>
                </a:tc>
              </a:tr>
              <a:tr h="142341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22"/>
                        </a:lnSpc>
                        <a:defRPr/>
                      </a:pPr>
                      <a:r>
                        <a:rPr lang="en-US" b="true" sz="1900">
                          <a:solidFill>
                            <a:srgbClr val="1A1A1A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Strategic</a:t>
                      </a:r>
                      <a:endParaRPr lang="en-US" sz="1100"/>
                    </a:p>
                  </a:txBody>
                  <a:tcPr marL="92472" marR="92472" marT="92472" marB="92472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C7C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22"/>
                        </a:lnSpc>
                        <a:defRPr/>
                      </a:pPr>
                      <a:r>
                        <a:rPr lang="en-US" sz="1900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Inaccurate threshold settings for candidate scores, leading to high-risk hires.</a:t>
                      </a:r>
                      <a:endParaRPr lang="en-US" sz="1100"/>
                    </a:p>
                  </a:txBody>
                  <a:tcPr marL="92472" marR="92472" marT="92472" marB="92472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C7C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22"/>
                        </a:lnSpc>
                        <a:defRPr/>
                      </a:pPr>
                      <a:r>
                        <a:rPr lang="en-US" sz="1900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Execute </a:t>
                      </a:r>
                      <a:r>
                        <a:rPr lang="en-US" sz="1900" b="true">
                          <a:solidFill>
                            <a:srgbClr val="1A1A1A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Sensitivity Analysis</a:t>
                      </a:r>
                      <a:r>
                        <a:rPr lang="en-US" sz="1900">
                          <a:solidFill>
                            <a:srgbClr val="1A1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to identify critical score thresholds that guarantee &gt;80% hiring success.</a:t>
                      </a:r>
                      <a:endParaRPr lang="en-US" sz="1100"/>
                    </a:p>
                  </a:txBody>
                  <a:tcPr marL="92472" marR="92472" marT="92472" marB="92472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C7C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22"/>
                        </a:lnSpc>
                        <a:defRPr/>
                      </a:pPr>
                      <a:r>
                        <a:rPr lang="en-US" sz="19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Worthwhile; ensures only top-quality talent is onboarded to boost productivity.</a:t>
                      </a:r>
                      <a:endParaRPr lang="en-US" sz="1100"/>
                    </a:p>
                  </a:txBody>
                  <a:tcPr marL="92472" marR="92472" marT="92472" marB="92472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1C7C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DAHHAUYIHsg</dc:identifier>
  <dcterms:modified xsi:type="dcterms:W3CDTF">2011-08-01T06:04:30Z</dcterms:modified>
  <cp:revision>1</cp:revision>
  <dc:title>Smote PPT Presentasi – Kelompok 2 – HIRESIGHTS</dc:title>
</cp:coreProperties>
</file>