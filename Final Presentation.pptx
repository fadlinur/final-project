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Raleway Bold" charset="1" panose="00000000000000000000"/>
      <p:regular r:id="rId47"/>
    </p:embeddedFont>
    <p:embeddedFont>
      <p:font typeface="Arimo Bold" charset="1" panose="020B0704020202020204"/>
      <p:regular r:id="rId49"/>
    </p:embeddedFont>
    <p:embeddedFont>
      <p:font typeface="Arimo" charset="1" panose="020B0604020202020204"/>
      <p:regular r:id="rId50"/>
    </p:embeddedFont>
    <p:embeddedFont>
      <p:font typeface="Raleway" charset="1" panose="00000000000000000000"/>
      <p:regular r:id="rId55"/>
    </p:embeddedFont>
    <p:embeddedFont>
      <p:font typeface="Roboto" charset="1" panose="02000000000000000000"/>
      <p:regular r:id="rId57"/>
    </p:embeddedFont>
    <p:embeddedFont>
      <p:font typeface="Roboto Bold" charset="1" panose="02000000000000000000"/>
      <p:regular r:id="rId58"/>
    </p:embeddedFont>
    <p:embeddedFont>
      <p:font typeface="Arial Bold" charset="1" panose="020B0704020202020204"/>
      <p:regular r:id="rId60"/>
    </p:embeddedFont>
    <p:embeddedFont>
      <p:font typeface="Arial" charset="1" panose="020B0604020202020204"/>
      <p:regular r:id="rId61"/>
    </p:embeddedFont>
    <p:embeddedFont>
      <p:font typeface="Poppins" charset="1" panose="00000500000000000000"/>
      <p:regular r:id="rId62"/>
    </p:embeddedFont>
    <p:embeddedFont>
      <p:font typeface="Poppins Bold" charset="1" panose="00000800000000000000"/>
      <p:regular r:id="rId63"/>
    </p:embeddedFont>
    <p:embeddedFont>
      <p:font typeface="Canva Sans Bold" charset="1" panose="020B0803030501040103"/>
      <p:regular r:id="rId64"/>
    </p:embeddedFont>
    <p:embeddedFont>
      <p:font typeface="Canva Sans" charset="1" panose="020B0503030501040103"/>
      <p:regular r:id="rId65"/>
    </p:embeddedFont>
    <p:embeddedFont>
      <p:font typeface="Barlow Bold" charset="1" panose="00000800000000000000"/>
      <p:regular r:id="rId70"/>
    </p:embeddedFont>
    <p:embeddedFont>
      <p:font typeface="DM Sans Bold" charset="1" panose="00000000000000000000"/>
      <p:regular r:id="rId72"/>
    </p:embeddedFont>
    <p:embeddedFont>
      <p:font typeface="DM Sans" charset="1" panose="00000000000000000000"/>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notesMasters/notesMaster1.xml" Type="http://schemas.openxmlformats.org/officeDocument/2006/relationships/notesMaster"/><Relationship Id="rId45" Target="theme/theme2.xml" Type="http://schemas.openxmlformats.org/officeDocument/2006/relationships/theme"/><Relationship Id="rId46" Target="notesSlides/notesSlide1.xml" Type="http://schemas.openxmlformats.org/officeDocument/2006/relationships/notesSlide"/><Relationship Id="rId47" Target="fonts/font47.fntdata" Type="http://schemas.openxmlformats.org/officeDocument/2006/relationships/font"/><Relationship Id="rId48" Target="notesSlides/notesSlide2.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3.xml" Type="http://schemas.openxmlformats.org/officeDocument/2006/relationships/notesSlide"/><Relationship Id="rId52" Target="notesSlides/notesSlide4.xml" Type="http://schemas.openxmlformats.org/officeDocument/2006/relationships/notesSlide"/><Relationship Id="rId53" Target="notesSlides/notesSlide5.xml" Type="http://schemas.openxmlformats.org/officeDocument/2006/relationships/notesSlide"/><Relationship Id="rId54" Target="notesSlides/notesSlide6.xml" Type="http://schemas.openxmlformats.org/officeDocument/2006/relationships/notesSlide"/><Relationship Id="rId55" Target="fonts/font55.fntdata" Type="http://schemas.openxmlformats.org/officeDocument/2006/relationships/font"/><Relationship Id="rId56" Target="notesSlides/notesSlide7.xml" Type="http://schemas.openxmlformats.org/officeDocument/2006/relationships/notesSlide"/><Relationship Id="rId57" Target="fonts/font57.fntdata" Type="http://schemas.openxmlformats.org/officeDocument/2006/relationships/font"/><Relationship Id="rId58" Target="fonts/font58.fntdata" Type="http://schemas.openxmlformats.org/officeDocument/2006/relationships/font"/><Relationship Id="rId59" Target="notesSlides/notesSlide8.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notesSlides/notesSlide9.xml" Type="http://schemas.openxmlformats.org/officeDocument/2006/relationships/notesSlide"/><Relationship Id="rId67" Target="notesSlides/notesSlide10.xml" Type="http://schemas.openxmlformats.org/officeDocument/2006/relationships/notesSlide"/><Relationship Id="rId68" Target="notesSlides/notesSlide11.xml" Type="http://schemas.openxmlformats.org/officeDocument/2006/relationships/notesSlide"/><Relationship Id="rId69" Target="notesSlides/notesSlide12.xml" Type="http://schemas.openxmlformats.org/officeDocument/2006/relationships/notesSlide"/><Relationship Id="rId7" Target="slides/slide2.xml" Type="http://schemas.openxmlformats.org/officeDocument/2006/relationships/slide"/><Relationship Id="rId70" Target="fonts/font70.fntdata" Type="http://schemas.openxmlformats.org/officeDocument/2006/relationships/font"/><Relationship Id="rId71" Target="notesSlides/notesSlide13.xml" Type="http://schemas.openxmlformats.org/officeDocument/2006/relationships/notesSlide"/><Relationship Id="rId72" Target="fonts/font72.fntdata" Type="http://schemas.openxmlformats.org/officeDocument/2006/relationships/font"/><Relationship Id="rId73" Target="fonts/font73.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weforum.org/publications/the-future-of-jobs-report-2025/digest/" TargetMode="External" Type="http://schemas.openxmlformats.org/officeDocument/2006/relationships/hyperlink"/><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https://diwo.ai/blog/7-characteristics-of-the-data-driven-enterprise/#:~:text=According%20to%20a%20survey%20by,more%20likely%20to%20be%20profitable." TargetMode="External" Type="http://schemas.openxmlformats.org/officeDocument/2006/relationships/hyperlink"/><Relationship Id="rId7" Target="https://www.inc.com/michael-schneider/its-harder-to-get-into-google-than-harvard.html" TargetMode="External" Type="http://schemas.openxmlformats.org/officeDocument/2006/relationships/hyperlink"/><Relationship Id="rId8" Target="https://www.mdpi.com/2076-3417/14/24/11750" TargetMode="External" Type="http://schemas.openxmlformats.org/officeDocument/2006/relationships/hyperlink"/><Relationship Id="rId9" Target="https://www.linkedin.com/pulse/2024-statistical-analysis-us-recruitment-industry-helixtechservices-ipewc"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9.png" Type="http://schemas.openxmlformats.org/officeDocument/2006/relationships/image"/><Relationship Id="rId5" Target="https://www.airswift.com/blog/hiring-mistakes" TargetMode="External" Type="http://schemas.openxmlformats.org/officeDocument/2006/relationships/hyperlink"/><Relationship Id="rId6" Target="https://www.peoplekeep.com/blog/employee-retention-the-real-cost-of-losing-an-employee#:~:text=The%20average%20cost%20of%20turnover,in%20recruiting%20and%20training%20expenses." TargetMode="External" Type="http://schemas.openxmlformats.org/officeDocument/2006/relationships/hyperlink"/><Relationship Id="rId7" Target="https://www.bps.go.id/en/statistics-table/2/MTUyMSMy/average-of-net-wage-"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https://www.mdpi.com/2076-3417/14/24/11750" TargetMode="External" Type="http://schemas.openxmlformats.org/officeDocument/2006/relationships/hyperlink"/><Relationship Id="rId5" Target="https://www.mdpi.com/2076-3417/14/24/11750" TargetMode="External" Type="http://schemas.openxmlformats.org/officeDocument/2006/relationships/hyperlink"/><Relationship Id="rId6" Target="https://www.linkedin.com/pulse/2024-statistical-analysis-us-recruitment-industry-helixtechservices-ipewc" TargetMode="External" Type="http://schemas.openxmlformats.org/officeDocument/2006/relationships/hyperlink"/><Relationship Id="rId7" Target="https://www.mdpi.com/2076-3417/14/24/11750#AI_in_Retention_and_Attrition_Prediction"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 Id="rId4"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https://mekari.com/blog/cara-menghitung-biaya-rekrutmen-karyawan/#:~:text=Agensi%20rekrutmen%20karyawan%20Rp%2055.000.000%2C00;%20Biaya%20on%2Dboarding%20dan%20training%20sebesar%20Rp%205.500.000%2C00." TargetMode="External" Type="http://schemas.openxmlformats.org/officeDocument/2006/relationships/hyperlink"/><Relationship Id="rId4" Target="https://mekari.com/blog/cara-menghitung-biaya-rekrutmen-karyawan/#:~:text=Agensi%20rekrutmen%20karyawan%20Rp%2055.000.000%2C00;%20Biaya%20on%2Dboarding%20dan%20training%20sebesar%20Rp%205.500.000%2C00." TargetMode="External" Type="http://schemas.openxmlformats.org/officeDocument/2006/relationships/hyperlink"/><Relationship Id="rId5" Target="../media/image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2" Target="../media/image6.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https://github.com/fadlinur/Final-Project.git" TargetMode="External" Type="http://schemas.openxmlformats.org/officeDocument/2006/relationships/hyperlink"/><Relationship Id="rId6" Target="../media/image42.png" Type="http://schemas.openxmlformats.org/officeDocument/2006/relationships/image"/><Relationship Id="rId7" Target="https://github.com/fadlinur/Final-Project.git" TargetMode="External" Type="http://schemas.openxmlformats.org/officeDocument/2006/relationships/hyperlink"/></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455601" y="3624900"/>
            <a:ext cx="15376798" cy="4150353"/>
            <a:chOff x="0" y="0"/>
            <a:chExt cx="20502397" cy="5533803"/>
          </a:xfrm>
        </p:grpSpPr>
        <p:sp>
          <p:nvSpPr>
            <p:cNvPr name="Freeform 4" id="4"/>
            <p:cNvSpPr/>
            <p:nvPr/>
          </p:nvSpPr>
          <p:spPr>
            <a:xfrm flipH="false" flipV="false" rot="0">
              <a:off x="0" y="0"/>
              <a:ext cx="20502400" cy="5533805"/>
            </a:xfrm>
            <a:custGeom>
              <a:avLst/>
              <a:gdLst/>
              <a:ahLst/>
              <a:cxnLst/>
              <a:rect r="r" b="b" t="t" l="l"/>
              <a:pathLst>
                <a:path h="5533805" w="20502400">
                  <a:moveTo>
                    <a:pt x="0" y="0"/>
                  </a:moveTo>
                  <a:lnTo>
                    <a:pt x="20502400" y="0"/>
                  </a:lnTo>
                  <a:lnTo>
                    <a:pt x="20502400" y="5533805"/>
                  </a:lnTo>
                  <a:lnTo>
                    <a:pt x="0" y="5533805"/>
                  </a:lnTo>
                  <a:close/>
                </a:path>
              </a:pathLst>
            </a:custGeom>
            <a:blipFill>
              <a:blip r:embed="rId4">
                <a:alphaModFix amt="0"/>
              </a:blip>
              <a:stretch>
                <a:fillRect l="0" t="-35601" r="0" b="-8780"/>
              </a:stretch>
            </a:blipFill>
          </p:spPr>
        </p:sp>
        <p:sp>
          <p:nvSpPr>
            <p:cNvPr name="TextBox 5" id="5"/>
            <p:cNvSpPr txBox="true"/>
            <p:nvPr/>
          </p:nvSpPr>
          <p:spPr>
            <a:xfrm>
              <a:off x="0" y="-19050"/>
              <a:ext cx="20502397" cy="5552853"/>
            </a:xfrm>
            <a:prstGeom prst="rect">
              <a:avLst/>
            </a:prstGeom>
          </p:spPr>
          <p:txBody>
            <a:bodyPr anchor="ctr" rtlCol="false" tIns="0" lIns="0" bIns="0" rIns="0"/>
            <a:lstStyle/>
            <a:p>
              <a:pPr algn="ctr">
                <a:lnSpc>
                  <a:spcPts val="8640"/>
                </a:lnSpc>
              </a:pPr>
              <a:r>
                <a:rPr lang="en-US" sz="7200" b="true">
                  <a:solidFill>
                    <a:srgbClr val="000000"/>
                  </a:solidFill>
                  <a:latin typeface="Raleway Bold"/>
                  <a:ea typeface="Raleway Bold"/>
                  <a:cs typeface="Raleway Bold"/>
                  <a:sym typeface="Raleway Bold"/>
                </a:rPr>
                <a:t>Data-Driven Recruitment System</a:t>
              </a:r>
            </a:p>
            <a:p>
              <a:pPr algn="ctr">
                <a:lnSpc>
                  <a:spcPts val="5759"/>
                </a:lnSpc>
              </a:pPr>
            </a:p>
            <a:p>
              <a:pPr algn="ctr">
                <a:lnSpc>
                  <a:spcPts val="3359"/>
                </a:lnSpc>
              </a:pPr>
              <a:r>
                <a:rPr lang="en-US" b="true" sz="2799">
                  <a:solidFill>
                    <a:srgbClr val="18102B"/>
                  </a:solidFill>
                  <a:latin typeface="Raleway Bold"/>
                  <a:ea typeface="Raleway Bold"/>
                  <a:cs typeface="Raleway Bold"/>
                  <a:sym typeface="Raleway Bold"/>
                </a:rPr>
                <a:t>Optimizing</a:t>
              </a:r>
              <a:r>
                <a:rPr lang="en-US" b="true" sz="2799">
                  <a:solidFill>
                    <a:srgbClr val="18102B"/>
                  </a:solidFill>
                  <a:latin typeface="Raleway Bold"/>
                  <a:ea typeface="Raleway Bold"/>
                  <a:cs typeface="Raleway Bold"/>
                  <a:sym typeface="Raleway Bold"/>
                </a:rPr>
                <a:t> Biased Talent Acquisition Through Data-Driven HR Analytics</a:t>
              </a:r>
            </a:p>
          </p:txBody>
        </p:sp>
      </p:grpSp>
      <p:sp>
        <p:nvSpPr>
          <p:cNvPr name="AutoShape 6" id="6"/>
          <p:cNvSpPr/>
          <p:nvPr/>
        </p:nvSpPr>
        <p:spPr>
          <a:xfrm>
            <a:off x="3037800" y="6390999"/>
            <a:ext cx="1221240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455601" y="2403633"/>
            <a:ext cx="15376798" cy="960425"/>
            <a:chOff x="0" y="0"/>
            <a:chExt cx="20502397" cy="1280566"/>
          </a:xfrm>
        </p:grpSpPr>
        <p:sp>
          <p:nvSpPr>
            <p:cNvPr name="Freeform 4" id="4"/>
            <p:cNvSpPr/>
            <p:nvPr/>
          </p:nvSpPr>
          <p:spPr>
            <a:xfrm flipH="false" flipV="false" rot="0">
              <a:off x="0" y="0"/>
              <a:ext cx="20502400" cy="1280568"/>
            </a:xfrm>
            <a:custGeom>
              <a:avLst/>
              <a:gdLst/>
              <a:ahLst/>
              <a:cxnLst/>
              <a:rect r="r" b="b" t="t" l="l"/>
              <a:pathLst>
                <a:path h="1280568" w="20502400">
                  <a:moveTo>
                    <a:pt x="0" y="0"/>
                  </a:moveTo>
                  <a:lnTo>
                    <a:pt x="20502400" y="0"/>
                  </a:lnTo>
                  <a:lnTo>
                    <a:pt x="20502400" y="1280568"/>
                  </a:lnTo>
                  <a:lnTo>
                    <a:pt x="0" y="1280568"/>
                  </a:lnTo>
                  <a:close/>
                </a:path>
              </a:pathLst>
            </a:custGeom>
            <a:blipFill>
              <a:blip r:embed="rId4">
                <a:alphaModFix amt="0"/>
              </a:blip>
              <a:stretch>
                <a:fillRect l="0" t="-153845" r="0" b="-370080"/>
              </a:stretch>
            </a:blipFill>
          </p:spPr>
        </p:sp>
        <p:sp>
          <p:nvSpPr>
            <p:cNvPr name="TextBox 5" id="5"/>
            <p:cNvSpPr txBox="true"/>
            <p:nvPr/>
          </p:nvSpPr>
          <p:spPr>
            <a:xfrm>
              <a:off x="0" y="0"/>
              <a:ext cx="20502397" cy="1280566"/>
            </a:xfrm>
            <a:prstGeom prst="rect">
              <a:avLst/>
            </a:prstGeom>
          </p:spPr>
          <p:txBody>
            <a:bodyPr anchor="ctr" rtlCol="false" tIns="0" lIns="0" bIns="0" rIns="0"/>
            <a:lstStyle/>
            <a:p>
              <a:pPr algn="ctr">
                <a:lnSpc>
                  <a:spcPts val="5759"/>
                </a:lnSpc>
              </a:pPr>
              <a:r>
                <a:rPr lang="en-US" b="true" sz="4800">
                  <a:solidFill>
                    <a:srgbClr val="000000"/>
                  </a:solidFill>
                  <a:latin typeface="Raleway Bold"/>
                  <a:ea typeface="Raleway Bold"/>
                  <a:cs typeface="Raleway Bold"/>
                  <a:sym typeface="Raleway Bold"/>
                </a:rPr>
                <a:t>Men Behind The Gun</a:t>
              </a:r>
            </a:p>
          </p:txBody>
        </p:sp>
      </p:grpSp>
      <p:sp>
        <p:nvSpPr>
          <p:cNvPr name="Freeform 6" id="6"/>
          <p:cNvSpPr/>
          <p:nvPr/>
        </p:nvSpPr>
        <p:spPr>
          <a:xfrm flipH="false" flipV="false" rot="0">
            <a:off x="12646416" y="4350347"/>
            <a:ext cx="3432262" cy="3432262"/>
          </a:xfrm>
          <a:custGeom>
            <a:avLst/>
            <a:gdLst/>
            <a:ahLst/>
            <a:cxnLst/>
            <a:rect r="r" b="b" t="t" l="l"/>
            <a:pathLst>
              <a:path h="3432262" w="3432262">
                <a:moveTo>
                  <a:pt x="0" y="0"/>
                </a:moveTo>
                <a:lnTo>
                  <a:pt x="3432261" y="0"/>
                </a:lnTo>
                <a:lnTo>
                  <a:pt x="3432261" y="3432261"/>
                </a:lnTo>
                <a:lnTo>
                  <a:pt x="0" y="3432261"/>
                </a:lnTo>
                <a:lnTo>
                  <a:pt x="0" y="0"/>
                </a:lnTo>
                <a:close/>
              </a:path>
            </a:pathLst>
          </a:custGeom>
          <a:blipFill>
            <a:blip r:embed="rId5"/>
            <a:stretch>
              <a:fillRect l="0" t="0" r="0" b="0"/>
            </a:stretch>
          </a:blipFill>
          <a:ln cap="rnd">
            <a:noFill/>
            <a:prstDash val="sysDot"/>
            <a:round/>
          </a:ln>
        </p:spPr>
      </p:sp>
      <p:sp>
        <p:nvSpPr>
          <p:cNvPr name="Freeform 7" id="7"/>
          <p:cNvSpPr/>
          <p:nvPr/>
        </p:nvSpPr>
        <p:spPr>
          <a:xfrm flipH="false" flipV="false" rot="0">
            <a:off x="2374309" y="4350347"/>
            <a:ext cx="3432262" cy="3432262"/>
          </a:xfrm>
          <a:custGeom>
            <a:avLst/>
            <a:gdLst/>
            <a:ahLst/>
            <a:cxnLst/>
            <a:rect r="r" b="b" t="t" l="l"/>
            <a:pathLst>
              <a:path h="3432262" w="3432262">
                <a:moveTo>
                  <a:pt x="0" y="0"/>
                </a:moveTo>
                <a:lnTo>
                  <a:pt x="3432261" y="0"/>
                </a:lnTo>
                <a:lnTo>
                  <a:pt x="3432261" y="3432261"/>
                </a:lnTo>
                <a:lnTo>
                  <a:pt x="0" y="3432261"/>
                </a:lnTo>
                <a:lnTo>
                  <a:pt x="0" y="0"/>
                </a:lnTo>
                <a:close/>
              </a:path>
            </a:pathLst>
          </a:custGeom>
          <a:blipFill>
            <a:blip r:embed="rId6"/>
            <a:stretch>
              <a:fillRect l="-14960" t="-19102" r="-12808" b="-60138"/>
            </a:stretch>
          </a:blipFill>
        </p:spPr>
      </p:sp>
      <p:sp>
        <p:nvSpPr>
          <p:cNvPr name="Freeform 8" id="8"/>
          <p:cNvSpPr/>
          <p:nvPr/>
        </p:nvSpPr>
        <p:spPr>
          <a:xfrm flipH="false" flipV="false" rot="0">
            <a:off x="7283773" y="4350347"/>
            <a:ext cx="3432262" cy="3432262"/>
          </a:xfrm>
          <a:custGeom>
            <a:avLst/>
            <a:gdLst/>
            <a:ahLst/>
            <a:cxnLst/>
            <a:rect r="r" b="b" t="t" l="l"/>
            <a:pathLst>
              <a:path h="3432262" w="3432262">
                <a:moveTo>
                  <a:pt x="0" y="0"/>
                </a:moveTo>
                <a:lnTo>
                  <a:pt x="3432261" y="0"/>
                </a:lnTo>
                <a:lnTo>
                  <a:pt x="3432261" y="3432261"/>
                </a:lnTo>
                <a:lnTo>
                  <a:pt x="0" y="3432261"/>
                </a:lnTo>
                <a:lnTo>
                  <a:pt x="0" y="0"/>
                </a:lnTo>
                <a:close/>
              </a:path>
            </a:pathLst>
          </a:custGeom>
          <a:blipFill>
            <a:blip r:embed="rId7"/>
            <a:stretch>
              <a:fillRect l="-11777" t="-60291" r="-56606" b="-64090"/>
            </a:stretch>
          </a:blipFill>
        </p:spPr>
      </p:sp>
      <p:sp>
        <p:nvSpPr>
          <p:cNvPr name="TextBox 9" id="9"/>
          <p:cNvSpPr txBox="true"/>
          <p:nvPr/>
        </p:nvSpPr>
        <p:spPr>
          <a:xfrm rot="0">
            <a:off x="2694320" y="8048005"/>
            <a:ext cx="2792239" cy="838200"/>
          </a:xfrm>
          <a:prstGeom prst="rect">
            <a:avLst/>
          </a:prstGeom>
        </p:spPr>
        <p:txBody>
          <a:bodyPr anchor="t" rtlCol="false" tIns="0" lIns="0" bIns="0" rIns="0">
            <a:spAutoFit/>
          </a:bodyPr>
          <a:lstStyle/>
          <a:p>
            <a:pPr algn="ctr">
              <a:lnSpc>
                <a:spcPts val="3273"/>
              </a:lnSpc>
            </a:pPr>
            <a:r>
              <a:rPr lang="en-US" sz="2727" b="true">
                <a:solidFill>
                  <a:srgbClr val="000000"/>
                </a:solidFill>
                <a:latin typeface="Arimo Bold"/>
                <a:ea typeface="Arimo Bold"/>
                <a:cs typeface="Arimo Bold"/>
                <a:sym typeface="Arimo Bold"/>
              </a:rPr>
              <a:t>Fadli Nurrizky</a:t>
            </a:r>
          </a:p>
          <a:p>
            <a:pPr algn="ctr">
              <a:lnSpc>
                <a:spcPts val="3273"/>
              </a:lnSpc>
              <a:spcBef>
                <a:spcPct val="0"/>
              </a:spcBef>
            </a:pPr>
            <a:r>
              <a:rPr lang="en-US" sz="2727">
                <a:solidFill>
                  <a:srgbClr val="000000"/>
                </a:solidFill>
                <a:latin typeface="Arimo"/>
                <a:ea typeface="Arimo"/>
                <a:cs typeface="Arimo"/>
                <a:sym typeface="Arimo"/>
              </a:rPr>
              <a:t>PM &amp; Engineering</a:t>
            </a:r>
          </a:p>
        </p:txBody>
      </p:sp>
      <p:sp>
        <p:nvSpPr>
          <p:cNvPr name="TextBox 10" id="10"/>
          <p:cNvSpPr txBox="true"/>
          <p:nvPr/>
        </p:nvSpPr>
        <p:spPr>
          <a:xfrm rot="0">
            <a:off x="7427869" y="8048005"/>
            <a:ext cx="3144069" cy="838200"/>
          </a:xfrm>
          <a:prstGeom prst="rect">
            <a:avLst/>
          </a:prstGeom>
        </p:spPr>
        <p:txBody>
          <a:bodyPr anchor="t" rtlCol="false" tIns="0" lIns="0" bIns="0" rIns="0">
            <a:spAutoFit/>
          </a:bodyPr>
          <a:lstStyle/>
          <a:p>
            <a:pPr algn="ctr">
              <a:lnSpc>
                <a:spcPts val="3273"/>
              </a:lnSpc>
            </a:pPr>
            <a:r>
              <a:rPr lang="en-US" sz="2727" b="true">
                <a:solidFill>
                  <a:srgbClr val="000000"/>
                </a:solidFill>
                <a:latin typeface="Arimo Bold"/>
                <a:ea typeface="Arimo Bold"/>
                <a:cs typeface="Arimo Bold"/>
                <a:sym typeface="Arimo Bold"/>
              </a:rPr>
              <a:t>Irfan Aulia Rahman</a:t>
            </a:r>
          </a:p>
          <a:p>
            <a:pPr algn="ctr">
              <a:lnSpc>
                <a:spcPts val="3273"/>
              </a:lnSpc>
              <a:spcBef>
                <a:spcPct val="0"/>
              </a:spcBef>
            </a:pPr>
            <a:r>
              <a:rPr lang="en-US" sz="2727">
                <a:solidFill>
                  <a:srgbClr val="000000"/>
                </a:solidFill>
                <a:latin typeface="Arimo"/>
                <a:ea typeface="Arimo"/>
                <a:cs typeface="Arimo"/>
                <a:sym typeface="Arimo"/>
              </a:rPr>
              <a:t>Analyst &amp; Scientist</a:t>
            </a:r>
          </a:p>
        </p:txBody>
      </p:sp>
      <p:sp>
        <p:nvSpPr>
          <p:cNvPr name="TextBox 11" id="11"/>
          <p:cNvSpPr txBox="true"/>
          <p:nvPr/>
        </p:nvSpPr>
        <p:spPr>
          <a:xfrm rot="0">
            <a:off x="12928104" y="8048005"/>
            <a:ext cx="2868885" cy="838200"/>
          </a:xfrm>
          <a:prstGeom prst="rect">
            <a:avLst/>
          </a:prstGeom>
        </p:spPr>
        <p:txBody>
          <a:bodyPr anchor="t" rtlCol="false" tIns="0" lIns="0" bIns="0" rIns="0">
            <a:spAutoFit/>
          </a:bodyPr>
          <a:lstStyle/>
          <a:p>
            <a:pPr algn="ctr">
              <a:lnSpc>
                <a:spcPts val="3273"/>
              </a:lnSpc>
            </a:pPr>
            <a:r>
              <a:rPr lang="en-US" sz="2727" b="true">
                <a:solidFill>
                  <a:srgbClr val="000000"/>
                </a:solidFill>
                <a:latin typeface="Arimo Bold"/>
                <a:ea typeface="Arimo Bold"/>
                <a:cs typeface="Arimo Bold"/>
                <a:sym typeface="Arimo Bold"/>
              </a:rPr>
              <a:t>Shan Ramadhan</a:t>
            </a:r>
          </a:p>
          <a:p>
            <a:pPr algn="ctr">
              <a:lnSpc>
                <a:spcPts val="3273"/>
              </a:lnSpc>
              <a:spcBef>
                <a:spcPct val="0"/>
              </a:spcBef>
            </a:pPr>
            <a:r>
              <a:rPr lang="en-US" sz="2727">
                <a:solidFill>
                  <a:srgbClr val="000000"/>
                </a:solidFill>
                <a:latin typeface="Arimo"/>
                <a:ea typeface="Arimo"/>
                <a:cs typeface="Arimo"/>
                <a:sym typeface="Arimo"/>
              </a:rPr>
              <a:t>Analyst &amp; Scientist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Business Understanding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975598"/>
            <a:chOff x="0" y="0"/>
            <a:chExt cx="24384000" cy="1300798"/>
          </a:xfrm>
        </p:grpSpPr>
        <p:sp>
          <p:nvSpPr>
            <p:cNvPr name="Freeform 4" id="4"/>
            <p:cNvSpPr/>
            <p:nvPr/>
          </p:nvSpPr>
          <p:spPr>
            <a:xfrm flipH="false" flipV="false" rot="0">
              <a:off x="0" y="0"/>
              <a:ext cx="24384000" cy="1300861"/>
            </a:xfrm>
            <a:custGeom>
              <a:avLst/>
              <a:gdLst/>
              <a:ahLst/>
              <a:cxnLst/>
              <a:rect r="r" b="b" t="t" l="l"/>
              <a:pathLst>
                <a:path h="1300861" w="24384000">
                  <a:moveTo>
                    <a:pt x="0" y="0"/>
                  </a:moveTo>
                  <a:lnTo>
                    <a:pt x="24384000" y="0"/>
                  </a:lnTo>
                  <a:lnTo>
                    <a:pt x="24384000" y="1300861"/>
                  </a:lnTo>
                  <a:lnTo>
                    <a:pt x="0" y="1300861"/>
                  </a:lnTo>
                  <a:close/>
                </a:path>
              </a:pathLst>
            </a:custGeom>
            <a:solidFill>
              <a:srgbClr val="E9EDEE"/>
            </a:solidFill>
          </p:spPr>
        </p:sp>
      </p:grpSp>
      <p:sp>
        <p:nvSpPr>
          <p:cNvPr name="TextBox 5" id="5"/>
          <p:cNvSpPr txBox="true"/>
          <p:nvPr/>
        </p:nvSpPr>
        <p:spPr>
          <a:xfrm rot="0">
            <a:off x="1106403" y="1408266"/>
            <a:ext cx="15193947" cy="723900"/>
          </a:xfrm>
          <a:prstGeom prst="rect">
            <a:avLst/>
          </a:prstGeom>
        </p:spPr>
        <p:txBody>
          <a:bodyPr anchor="t" rtlCol="false" tIns="0" lIns="0" bIns="0" rIns="0">
            <a:spAutoFit/>
          </a:bodyPr>
          <a:lstStyle/>
          <a:p>
            <a:pPr algn="l">
              <a:lnSpc>
                <a:spcPts val="5616"/>
              </a:lnSpc>
            </a:pPr>
            <a:r>
              <a:rPr lang="en-US" sz="4680" b="true">
                <a:solidFill>
                  <a:srgbClr val="1A1A1A"/>
                </a:solidFill>
                <a:latin typeface="Raleway Bold"/>
                <a:ea typeface="Raleway Bold"/>
                <a:cs typeface="Raleway Bold"/>
                <a:sym typeface="Raleway Bold"/>
              </a:rPr>
              <a:t>Business &amp; Industry Research</a:t>
            </a:r>
          </a:p>
        </p:txBody>
      </p:sp>
      <p:grpSp>
        <p:nvGrpSpPr>
          <p:cNvPr name="Group 6" id="6"/>
          <p:cNvGrpSpPr/>
          <p:nvPr/>
        </p:nvGrpSpPr>
        <p:grpSpPr>
          <a:xfrm rot="0">
            <a:off x="1131141" y="2583885"/>
            <a:ext cx="7886526" cy="7218664"/>
            <a:chOff x="0" y="0"/>
            <a:chExt cx="10515369" cy="9624886"/>
          </a:xfrm>
        </p:grpSpPr>
        <p:sp>
          <p:nvSpPr>
            <p:cNvPr name="Freeform 7" id="7" descr="image.png"/>
            <p:cNvSpPr/>
            <p:nvPr/>
          </p:nvSpPr>
          <p:spPr>
            <a:xfrm flipH="false" flipV="false" rot="0">
              <a:off x="0" y="0"/>
              <a:ext cx="10515368" cy="9624816"/>
            </a:xfrm>
            <a:custGeom>
              <a:avLst/>
              <a:gdLst/>
              <a:ahLst/>
              <a:cxnLst/>
              <a:rect r="r" b="b" t="t" l="l"/>
              <a:pathLst>
                <a:path h="9624816" w="10515368">
                  <a:moveTo>
                    <a:pt x="0" y="0"/>
                  </a:moveTo>
                  <a:lnTo>
                    <a:pt x="10515368" y="0"/>
                  </a:lnTo>
                  <a:lnTo>
                    <a:pt x="10515368" y="9624816"/>
                  </a:lnTo>
                  <a:lnTo>
                    <a:pt x="0" y="9624816"/>
                  </a:lnTo>
                  <a:lnTo>
                    <a:pt x="0" y="0"/>
                  </a:lnTo>
                  <a:close/>
                </a:path>
              </a:pathLst>
            </a:custGeom>
            <a:blipFill>
              <a:blip r:embed="rId4"/>
              <a:stretch>
                <a:fillRect l="0" t="-14024" r="-31141" b="-14025"/>
              </a:stretch>
            </a:blipFill>
          </p:spPr>
        </p:sp>
      </p:grpSp>
      <p:grpSp>
        <p:nvGrpSpPr>
          <p:cNvPr name="Group 8" id="8"/>
          <p:cNvGrpSpPr/>
          <p:nvPr/>
        </p:nvGrpSpPr>
        <p:grpSpPr>
          <a:xfrm rot="0">
            <a:off x="9144000" y="2583885"/>
            <a:ext cx="8115300" cy="7218664"/>
            <a:chOff x="0" y="0"/>
            <a:chExt cx="10820400" cy="9624886"/>
          </a:xfrm>
        </p:grpSpPr>
        <p:sp>
          <p:nvSpPr>
            <p:cNvPr name="Freeform 9" id="9" descr="image.png"/>
            <p:cNvSpPr/>
            <p:nvPr/>
          </p:nvSpPr>
          <p:spPr>
            <a:xfrm flipH="false" flipV="false" rot="0">
              <a:off x="0" y="0"/>
              <a:ext cx="10820400" cy="9624816"/>
            </a:xfrm>
            <a:custGeom>
              <a:avLst/>
              <a:gdLst/>
              <a:ahLst/>
              <a:cxnLst/>
              <a:rect r="r" b="b" t="t" l="l"/>
              <a:pathLst>
                <a:path h="9624816" w="10820400">
                  <a:moveTo>
                    <a:pt x="0" y="0"/>
                  </a:moveTo>
                  <a:lnTo>
                    <a:pt x="10820400" y="0"/>
                  </a:lnTo>
                  <a:lnTo>
                    <a:pt x="10820400" y="9624816"/>
                  </a:lnTo>
                  <a:lnTo>
                    <a:pt x="0" y="9624816"/>
                  </a:lnTo>
                  <a:lnTo>
                    <a:pt x="0" y="0"/>
                  </a:lnTo>
                  <a:close/>
                </a:path>
              </a:pathLst>
            </a:custGeom>
            <a:blipFill>
              <a:blip r:embed="rId5"/>
              <a:stretch>
                <a:fillRect l="0" t="-15881" r="-31499" b="-15882"/>
              </a:stretch>
            </a:blipFill>
          </p:spPr>
        </p:sp>
      </p:grpSp>
      <p:sp>
        <p:nvSpPr>
          <p:cNvPr name="TextBox 10" id="10"/>
          <p:cNvSpPr txBox="true"/>
          <p:nvPr/>
        </p:nvSpPr>
        <p:spPr>
          <a:xfrm rot="0">
            <a:off x="1509029" y="4132775"/>
            <a:ext cx="3156793" cy="428625"/>
          </a:xfrm>
          <a:prstGeom prst="rect">
            <a:avLst/>
          </a:prstGeom>
        </p:spPr>
        <p:txBody>
          <a:bodyPr anchor="t" rtlCol="false" tIns="0" lIns="0" bIns="0" rIns="0">
            <a:spAutoFit/>
          </a:bodyPr>
          <a:lstStyle/>
          <a:p>
            <a:pPr algn="l">
              <a:lnSpc>
                <a:spcPts val="3273"/>
              </a:lnSpc>
            </a:pPr>
            <a:r>
              <a:rPr lang="en-US" b="true" sz="2728">
                <a:solidFill>
                  <a:srgbClr val="F8FAFC"/>
                </a:solidFill>
                <a:latin typeface="Arimo Bold"/>
                <a:ea typeface="Arimo Bold"/>
                <a:cs typeface="Arimo Bold"/>
                <a:sym typeface="Arimo Bold"/>
              </a:rPr>
              <a:t>The Paradigm Shift</a:t>
            </a:r>
          </a:p>
        </p:txBody>
      </p:sp>
      <p:sp>
        <p:nvSpPr>
          <p:cNvPr name="TextBox 11" id="11"/>
          <p:cNvSpPr txBox="true"/>
          <p:nvPr/>
        </p:nvSpPr>
        <p:spPr>
          <a:xfrm rot="0">
            <a:off x="1509029" y="4581447"/>
            <a:ext cx="7194348" cy="837179"/>
          </a:xfrm>
          <a:prstGeom prst="rect">
            <a:avLst/>
          </a:prstGeom>
        </p:spPr>
        <p:txBody>
          <a:bodyPr anchor="t" rtlCol="false" tIns="0" lIns="0" bIns="0" rIns="0">
            <a:spAutoFit/>
          </a:bodyPr>
          <a:lstStyle/>
          <a:p>
            <a:pPr algn="l">
              <a:lnSpc>
                <a:spcPts val="3440"/>
              </a:lnSpc>
            </a:pPr>
            <a:r>
              <a:rPr lang="en-US" sz="2048">
                <a:solidFill>
                  <a:srgbClr val="CBD5E1"/>
                </a:solidFill>
                <a:latin typeface="Arimo"/>
                <a:ea typeface="Arimo"/>
                <a:cs typeface="Arimo"/>
                <a:sym typeface="Arimo"/>
              </a:rPr>
              <a:t>HR management is evolving from qualitative "gut-feelings" to objective, logical People Analytics.</a:t>
            </a:r>
          </a:p>
        </p:txBody>
      </p:sp>
      <p:sp>
        <p:nvSpPr>
          <p:cNvPr name="TextBox 12" id="12"/>
          <p:cNvSpPr txBox="true"/>
          <p:nvPr/>
        </p:nvSpPr>
        <p:spPr>
          <a:xfrm rot="0">
            <a:off x="1509029" y="6486486"/>
            <a:ext cx="7236171" cy="837179"/>
          </a:xfrm>
          <a:prstGeom prst="rect">
            <a:avLst/>
          </a:prstGeom>
        </p:spPr>
        <p:txBody>
          <a:bodyPr anchor="t" rtlCol="false" tIns="0" lIns="0" bIns="0" rIns="0">
            <a:spAutoFit/>
          </a:bodyPr>
          <a:lstStyle/>
          <a:p>
            <a:pPr algn="l">
              <a:lnSpc>
                <a:spcPts val="3440"/>
              </a:lnSpc>
            </a:pPr>
            <a:r>
              <a:rPr lang="en-US" sz="2048">
                <a:solidFill>
                  <a:srgbClr val="CBD5E1"/>
                </a:solidFill>
                <a:latin typeface="Arimo"/>
                <a:ea typeface="Arimo"/>
                <a:cs typeface="Arimo"/>
                <a:sym typeface="Arimo"/>
              </a:rPr>
              <a:t>Data-driven organizations are </a:t>
            </a:r>
            <a:r>
              <a:rPr lang="en-US" sz="2048" u="sng">
                <a:solidFill>
                  <a:srgbClr val="CBD5E1"/>
                </a:solidFill>
                <a:latin typeface="Arimo"/>
                <a:ea typeface="Arimo"/>
                <a:cs typeface="Arimo"/>
                <a:sym typeface="Arimo"/>
                <a:hlinkClick r:id="rId6" tooltip="https://diwo.ai/blog/7-characteristics-of-the-data-driven-enterprise/#:~:text=According%20to%20a%20survey%20by,more%20likely%20to%20be%20profitable."/>
              </a:rPr>
              <a:t>19x</a:t>
            </a:r>
            <a:r>
              <a:rPr lang="en-US" sz="2048">
                <a:solidFill>
                  <a:srgbClr val="CBD5E1"/>
                </a:solidFill>
                <a:latin typeface="Arimo"/>
                <a:ea typeface="Arimo"/>
                <a:cs typeface="Arimo"/>
                <a:sym typeface="Arimo"/>
              </a:rPr>
              <a:t> more likely to be profitable than non-data-driven peers.</a:t>
            </a:r>
          </a:p>
        </p:txBody>
      </p:sp>
      <p:sp>
        <p:nvSpPr>
          <p:cNvPr name="TextBox 13" id="13"/>
          <p:cNvSpPr txBox="true"/>
          <p:nvPr/>
        </p:nvSpPr>
        <p:spPr>
          <a:xfrm rot="0">
            <a:off x="1547027" y="7662688"/>
            <a:ext cx="3820801" cy="439045"/>
          </a:xfrm>
          <a:prstGeom prst="rect">
            <a:avLst/>
          </a:prstGeom>
        </p:spPr>
        <p:txBody>
          <a:bodyPr anchor="t" rtlCol="false" tIns="0" lIns="0" bIns="0" rIns="0">
            <a:spAutoFit/>
          </a:bodyPr>
          <a:lstStyle/>
          <a:p>
            <a:pPr algn="l">
              <a:lnSpc>
                <a:spcPts val="3273"/>
              </a:lnSpc>
            </a:pPr>
            <a:r>
              <a:rPr lang="en-US" b="true" sz="2728">
                <a:solidFill>
                  <a:srgbClr val="F8FAFC"/>
                </a:solidFill>
                <a:latin typeface="Arimo Bold"/>
                <a:ea typeface="Arimo Bold"/>
                <a:cs typeface="Arimo Bold"/>
                <a:sym typeface="Arimo Bold"/>
              </a:rPr>
              <a:t>Scale of Engagement</a:t>
            </a:r>
          </a:p>
        </p:txBody>
      </p:sp>
      <p:sp>
        <p:nvSpPr>
          <p:cNvPr name="TextBox 14" id="14"/>
          <p:cNvSpPr txBox="true"/>
          <p:nvPr/>
        </p:nvSpPr>
        <p:spPr>
          <a:xfrm rot="0">
            <a:off x="1509029" y="8158884"/>
            <a:ext cx="7257083" cy="837179"/>
          </a:xfrm>
          <a:prstGeom prst="rect">
            <a:avLst/>
          </a:prstGeom>
        </p:spPr>
        <p:txBody>
          <a:bodyPr anchor="t" rtlCol="false" tIns="0" lIns="0" bIns="0" rIns="0">
            <a:spAutoFit/>
          </a:bodyPr>
          <a:lstStyle/>
          <a:p>
            <a:pPr algn="l">
              <a:lnSpc>
                <a:spcPts val="3440"/>
              </a:lnSpc>
            </a:pPr>
            <a:r>
              <a:rPr lang="en-US" sz="2047">
                <a:solidFill>
                  <a:srgbClr val="CBD5E1"/>
                </a:solidFill>
                <a:latin typeface="Arimo"/>
                <a:ea typeface="Arimo"/>
                <a:cs typeface="Arimo"/>
                <a:sym typeface="Arimo"/>
              </a:rPr>
              <a:t>Manual screening is not possible on large applicant volumes </a:t>
            </a:r>
          </a:p>
          <a:p>
            <a:pPr algn="l">
              <a:lnSpc>
                <a:spcPts val="3440"/>
              </a:lnSpc>
            </a:pPr>
            <a:r>
              <a:rPr lang="en-US" sz="2048">
                <a:solidFill>
                  <a:srgbClr val="CBD5E1"/>
                </a:solidFill>
                <a:latin typeface="Arimo"/>
                <a:ea typeface="Arimo"/>
                <a:cs typeface="Arimo"/>
                <a:sym typeface="Arimo"/>
              </a:rPr>
              <a:t>(e.g. </a:t>
            </a:r>
            <a:r>
              <a:rPr lang="en-US" sz="2048" u="sng">
                <a:solidFill>
                  <a:srgbClr val="CBD5E1"/>
                </a:solidFill>
                <a:latin typeface="Arimo"/>
                <a:ea typeface="Arimo"/>
                <a:cs typeface="Arimo"/>
                <a:sym typeface="Arimo"/>
                <a:hlinkClick r:id="rId7" tooltip="https://www.inc.com/michael-schneider/its-harder-to-get-into-google-than-harvard.html"/>
              </a:rPr>
              <a:t>Google ~2M applications</a:t>
            </a:r>
            <a:r>
              <a:rPr lang="en-US" sz="2048">
                <a:solidFill>
                  <a:srgbClr val="CBD5E1"/>
                </a:solidFill>
                <a:latin typeface="Arimo"/>
                <a:ea typeface="Arimo"/>
                <a:cs typeface="Arimo"/>
                <a:sym typeface="Arimo"/>
              </a:rPr>
              <a:t>) without sacrificing quality.</a:t>
            </a:r>
          </a:p>
        </p:txBody>
      </p:sp>
      <p:sp>
        <p:nvSpPr>
          <p:cNvPr name="TextBox 15" id="15"/>
          <p:cNvSpPr txBox="true"/>
          <p:nvPr/>
        </p:nvSpPr>
        <p:spPr>
          <a:xfrm rot="0">
            <a:off x="1509029" y="5996222"/>
            <a:ext cx="5787975" cy="428625"/>
          </a:xfrm>
          <a:prstGeom prst="rect">
            <a:avLst/>
          </a:prstGeom>
        </p:spPr>
        <p:txBody>
          <a:bodyPr anchor="t" rtlCol="false" tIns="0" lIns="0" bIns="0" rIns="0">
            <a:spAutoFit/>
          </a:bodyPr>
          <a:lstStyle/>
          <a:p>
            <a:pPr algn="l">
              <a:lnSpc>
                <a:spcPts val="3273"/>
              </a:lnSpc>
            </a:pPr>
            <a:r>
              <a:rPr lang="en-US" b="true" sz="2727">
                <a:solidFill>
                  <a:srgbClr val="F8FAFC"/>
                </a:solidFill>
                <a:latin typeface="Arimo Bold"/>
                <a:ea typeface="Arimo Bold"/>
                <a:cs typeface="Arimo Bold"/>
                <a:sym typeface="Arimo Bold"/>
              </a:rPr>
              <a:t>Talent as a Competitive Asset</a:t>
            </a:r>
          </a:p>
        </p:txBody>
      </p:sp>
      <p:sp>
        <p:nvSpPr>
          <p:cNvPr name="TextBox 16" id="16"/>
          <p:cNvSpPr txBox="true"/>
          <p:nvPr/>
        </p:nvSpPr>
        <p:spPr>
          <a:xfrm rot="0">
            <a:off x="2791107" y="2877093"/>
            <a:ext cx="4630192" cy="561975"/>
          </a:xfrm>
          <a:prstGeom prst="rect">
            <a:avLst/>
          </a:prstGeom>
        </p:spPr>
        <p:txBody>
          <a:bodyPr anchor="t" rtlCol="false" tIns="0" lIns="0" bIns="0" rIns="0">
            <a:spAutoFit/>
          </a:bodyPr>
          <a:lstStyle/>
          <a:p>
            <a:pPr algn="ctr">
              <a:lnSpc>
                <a:spcPts val="4233"/>
              </a:lnSpc>
            </a:pPr>
            <a:r>
              <a:rPr lang="en-US" b="true" sz="3527">
                <a:solidFill>
                  <a:srgbClr val="F8FAFC"/>
                </a:solidFill>
                <a:latin typeface="Arimo Bold"/>
                <a:ea typeface="Arimo Bold"/>
                <a:cs typeface="Arimo Bold"/>
                <a:sym typeface="Arimo Bold"/>
              </a:rPr>
              <a:t>The Strategic Context</a:t>
            </a:r>
          </a:p>
        </p:txBody>
      </p:sp>
      <p:sp>
        <p:nvSpPr>
          <p:cNvPr name="TextBox 17" id="17"/>
          <p:cNvSpPr txBox="true"/>
          <p:nvPr/>
        </p:nvSpPr>
        <p:spPr>
          <a:xfrm rot="0">
            <a:off x="11843965" y="2886618"/>
            <a:ext cx="2715369" cy="971550"/>
          </a:xfrm>
          <a:prstGeom prst="rect">
            <a:avLst/>
          </a:prstGeom>
        </p:spPr>
        <p:txBody>
          <a:bodyPr anchor="t" rtlCol="false" tIns="0" lIns="0" bIns="0" rIns="0">
            <a:spAutoFit/>
          </a:bodyPr>
          <a:lstStyle/>
          <a:p>
            <a:pPr algn="ctr">
              <a:lnSpc>
                <a:spcPts val="3753"/>
              </a:lnSpc>
            </a:pPr>
            <a:r>
              <a:rPr lang="en-US" sz="3127" b="true">
                <a:solidFill>
                  <a:srgbClr val="F8FAFC"/>
                </a:solidFill>
                <a:latin typeface="Arimo Bold"/>
                <a:ea typeface="Arimo Bold"/>
                <a:cs typeface="Arimo Bold"/>
                <a:sym typeface="Arimo Bold"/>
              </a:rPr>
              <a:t>Market Trends</a:t>
            </a:r>
          </a:p>
          <a:p>
            <a:pPr algn="ctr">
              <a:lnSpc>
                <a:spcPts val="3753"/>
              </a:lnSpc>
            </a:pPr>
            <a:r>
              <a:rPr lang="en-US" b="true" sz="3127">
                <a:solidFill>
                  <a:srgbClr val="F8FAFC"/>
                </a:solidFill>
                <a:latin typeface="Arimo Bold"/>
                <a:ea typeface="Arimo Bold"/>
                <a:cs typeface="Arimo Bold"/>
                <a:sym typeface="Arimo Bold"/>
              </a:rPr>
              <a:t>(2024–2026)</a:t>
            </a:r>
          </a:p>
        </p:txBody>
      </p:sp>
      <p:sp>
        <p:nvSpPr>
          <p:cNvPr name="TextBox 18" id="18"/>
          <p:cNvSpPr txBox="true"/>
          <p:nvPr/>
        </p:nvSpPr>
        <p:spPr>
          <a:xfrm rot="0">
            <a:off x="9435896" y="4132775"/>
            <a:ext cx="3117875"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Market Projections</a:t>
            </a:r>
          </a:p>
        </p:txBody>
      </p:sp>
      <p:sp>
        <p:nvSpPr>
          <p:cNvPr name="TextBox 19" id="19"/>
          <p:cNvSpPr txBox="true"/>
          <p:nvPr/>
        </p:nvSpPr>
        <p:spPr>
          <a:xfrm rot="0">
            <a:off x="9435896" y="4581447"/>
            <a:ext cx="7305078" cy="837057"/>
          </a:xfrm>
          <a:prstGeom prst="rect">
            <a:avLst/>
          </a:prstGeom>
        </p:spPr>
        <p:txBody>
          <a:bodyPr anchor="t" rtlCol="false" tIns="0" lIns="0" bIns="0" rIns="0">
            <a:spAutoFit/>
          </a:bodyPr>
          <a:lstStyle/>
          <a:p>
            <a:pPr algn="l">
              <a:lnSpc>
                <a:spcPts val="3443"/>
              </a:lnSpc>
            </a:pPr>
            <a:r>
              <a:rPr lang="en-US" sz="2049">
                <a:solidFill>
                  <a:srgbClr val="CBD5E1"/>
                </a:solidFill>
                <a:latin typeface="Arimo"/>
                <a:ea typeface="Arimo"/>
                <a:cs typeface="Arimo"/>
                <a:sym typeface="Arimo"/>
              </a:rPr>
              <a:t>Global spending projections for AI &amp; analytics in HR by 2025 with a compound </a:t>
            </a:r>
            <a:r>
              <a:rPr lang="en-US" sz="2049" u="sng">
                <a:solidFill>
                  <a:srgbClr val="CBD5E1"/>
                </a:solidFill>
                <a:latin typeface="Arimo"/>
                <a:ea typeface="Arimo"/>
                <a:cs typeface="Arimo"/>
                <a:sym typeface="Arimo"/>
                <a:hlinkClick r:id="rId8" tooltip="https://www.mdpi.com/2076-3417/14/24/11750"/>
              </a:rPr>
              <a:t>annual growth rate of 24.5%.</a:t>
            </a:r>
          </a:p>
        </p:txBody>
      </p:sp>
      <p:sp>
        <p:nvSpPr>
          <p:cNvPr name="TextBox 20" id="20"/>
          <p:cNvSpPr txBox="true"/>
          <p:nvPr/>
        </p:nvSpPr>
        <p:spPr>
          <a:xfrm rot="0">
            <a:off x="9435896" y="5969379"/>
            <a:ext cx="2311450" cy="428625"/>
          </a:xfrm>
          <a:prstGeom prst="rect">
            <a:avLst/>
          </a:prstGeom>
        </p:spPr>
        <p:txBody>
          <a:bodyPr anchor="t" rtlCol="false" tIns="0" lIns="0" bIns="0" rIns="0">
            <a:spAutoFit/>
          </a:bodyPr>
          <a:lstStyle/>
          <a:p>
            <a:pPr algn="l">
              <a:lnSpc>
                <a:spcPts val="3276"/>
              </a:lnSpc>
            </a:pPr>
            <a:r>
              <a:rPr lang="en-US" b="true" sz="2729" u="sng">
                <a:solidFill>
                  <a:srgbClr val="F8FAFC"/>
                </a:solidFill>
                <a:latin typeface="Arimo Bold"/>
                <a:ea typeface="Arimo Bold"/>
                <a:cs typeface="Arimo Bold"/>
                <a:sym typeface="Arimo Bold"/>
                <a:hlinkClick r:id="rId9" tooltip="https://www.linkedin.com/pulse/2024-statistical-analysis-us-recruitment-industry-helixtechservices-ipewc"/>
              </a:rPr>
              <a:t>68%</a:t>
            </a:r>
            <a:r>
              <a:rPr lang="en-US" b="true" sz="2729">
                <a:solidFill>
                  <a:srgbClr val="F8FAFC"/>
                </a:solidFill>
                <a:latin typeface="Arimo Bold"/>
                <a:ea typeface="Arimo Bold"/>
                <a:cs typeface="Arimo Bold"/>
                <a:sym typeface="Arimo Bold"/>
              </a:rPr>
              <a:t> Adoption</a:t>
            </a:r>
          </a:p>
        </p:txBody>
      </p:sp>
      <p:sp>
        <p:nvSpPr>
          <p:cNvPr name="TextBox 21" id="21"/>
          <p:cNvSpPr txBox="true"/>
          <p:nvPr/>
        </p:nvSpPr>
        <p:spPr>
          <a:xfrm rot="0">
            <a:off x="9435896" y="6417054"/>
            <a:ext cx="7305078" cy="837057"/>
          </a:xfrm>
          <a:prstGeom prst="rect">
            <a:avLst/>
          </a:prstGeom>
        </p:spPr>
        <p:txBody>
          <a:bodyPr anchor="t" rtlCol="false" tIns="0" lIns="0" bIns="0" rIns="0">
            <a:spAutoFit/>
          </a:bodyPr>
          <a:lstStyle/>
          <a:p>
            <a:pPr algn="l">
              <a:lnSpc>
                <a:spcPts val="3443"/>
              </a:lnSpc>
            </a:pPr>
            <a:r>
              <a:rPr lang="en-US" sz="2049">
                <a:solidFill>
                  <a:srgbClr val="CBD5E1"/>
                </a:solidFill>
                <a:latin typeface="Arimo"/>
                <a:ea typeface="Arimo"/>
                <a:cs typeface="Arimo"/>
                <a:sym typeface="Arimo"/>
              </a:rPr>
              <a:t>Companies today are already using data-driven recruitment strategies for efficiency.</a:t>
            </a:r>
          </a:p>
        </p:txBody>
      </p:sp>
      <p:sp>
        <p:nvSpPr>
          <p:cNvPr name="TextBox 22" id="22"/>
          <p:cNvSpPr txBox="true"/>
          <p:nvPr/>
        </p:nvSpPr>
        <p:spPr>
          <a:xfrm rot="0">
            <a:off x="9435896" y="7673109"/>
            <a:ext cx="2428056" cy="428625"/>
          </a:xfrm>
          <a:prstGeom prst="rect">
            <a:avLst/>
          </a:prstGeom>
        </p:spPr>
        <p:txBody>
          <a:bodyPr anchor="t" rtlCol="false" tIns="0" lIns="0" bIns="0" rIns="0">
            <a:spAutoFit/>
          </a:bodyPr>
          <a:lstStyle/>
          <a:p>
            <a:pPr algn="l">
              <a:lnSpc>
                <a:spcPts val="3276"/>
              </a:lnSpc>
            </a:pPr>
            <a:r>
              <a:rPr lang="en-US" b="true" sz="2729">
                <a:solidFill>
                  <a:srgbClr val="F8FAFC"/>
                </a:solidFill>
                <a:latin typeface="Arimo Bold"/>
                <a:ea typeface="Arimo Bold"/>
                <a:cs typeface="Arimo Bold"/>
                <a:sym typeface="Arimo Bold"/>
              </a:rPr>
              <a:t>44% Reskilling</a:t>
            </a:r>
          </a:p>
        </p:txBody>
      </p:sp>
      <p:sp>
        <p:nvSpPr>
          <p:cNvPr name="TextBox 23" id="23"/>
          <p:cNvSpPr txBox="true"/>
          <p:nvPr/>
        </p:nvSpPr>
        <p:spPr>
          <a:xfrm rot="0">
            <a:off x="9435896" y="8158884"/>
            <a:ext cx="7415238" cy="1265682"/>
          </a:xfrm>
          <a:prstGeom prst="rect">
            <a:avLst/>
          </a:prstGeom>
        </p:spPr>
        <p:txBody>
          <a:bodyPr anchor="t" rtlCol="false" tIns="0" lIns="0" bIns="0" rIns="0">
            <a:spAutoFit/>
          </a:bodyPr>
          <a:lstStyle/>
          <a:p>
            <a:pPr algn="l">
              <a:lnSpc>
                <a:spcPts val="3443"/>
              </a:lnSpc>
            </a:pPr>
            <a:r>
              <a:rPr lang="en-US" sz="2049">
                <a:solidFill>
                  <a:srgbClr val="CBD5E1"/>
                </a:solidFill>
                <a:latin typeface="Arimo"/>
                <a:ea typeface="Arimo"/>
                <a:cs typeface="Arimo"/>
                <a:sym typeface="Arimo"/>
              </a:rPr>
              <a:t>Focus shifts from past positions to validated skill sets. The </a:t>
            </a:r>
            <a:r>
              <a:rPr lang="en-US" sz="2049" u="sng">
                <a:solidFill>
                  <a:srgbClr val="CBD5E1"/>
                </a:solidFill>
                <a:latin typeface="Arimo"/>
                <a:ea typeface="Arimo"/>
                <a:cs typeface="Arimo"/>
                <a:sym typeface="Arimo"/>
                <a:hlinkClick r:id="rId10" tooltip="https://www.weforum.org/publications/the-future-of-jobs-report-2025/digest/"/>
              </a:rPr>
              <a:t>World Economic Forum 2025</a:t>
            </a:r>
            <a:r>
              <a:rPr lang="en-US" sz="2049">
                <a:solidFill>
                  <a:srgbClr val="CBD5E1"/>
                </a:solidFill>
                <a:latin typeface="Arimo"/>
                <a:ea typeface="Arimo"/>
                <a:cs typeface="Arimo"/>
                <a:sym typeface="Arimo"/>
              </a:rPr>
              <a:t> of workers will require reskilling by 2030.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975598"/>
            <a:chOff x="0" y="0"/>
            <a:chExt cx="24384000" cy="1300798"/>
          </a:xfrm>
        </p:grpSpPr>
        <p:sp>
          <p:nvSpPr>
            <p:cNvPr name="Freeform 4" id="4"/>
            <p:cNvSpPr/>
            <p:nvPr/>
          </p:nvSpPr>
          <p:spPr>
            <a:xfrm flipH="false" flipV="false" rot="0">
              <a:off x="0" y="0"/>
              <a:ext cx="24384000" cy="1300861"/>
            </a:xfrm>
            <a:custGeom>
              <a:avLst/>
              <a:gdLst/>
              <a:ahLst/>
              <a:cxnLst/>
              <a:rect r="r" b="b" t="t" l="l"/>
              <a:pathLst>
                <a:path h="1300861" w="24384000">
                  <a:moveTo>
                    <a:pt x="0" y="0"/>
                  </a:moveTo>
                  <a:lnTo>
                    <a:pt x="24384000" y="0"/>
                  </a:lnTo>
                  <a:lnTo>
                    <a:pt x="24384000" y="1300861"/>
                  </a:lnTo>
                  <a:lnTo>
                    <a:pt x="0" y="1300861"/>
                  </a:lnTo>
                  <a:close/>
                </a:path>
              </a:pathLst>
            </a:custGeom>
            <a:solidFill>
              <a:srgbClr val="E9EDEE"/>
            </a:solidFill>
          </p:spPr>
        </p:sp>
      </p:grpSp>
      <p:grpSp>
        <p:nvGrpSpPr>
          <p:cNvPr name="Group 5" id="5"/>
          <p:cNvGrpSpPr/>
          <p:nvPr/>
        </p:nvGrpSpPr>
        <p:grpSpPr>
          <a:xfrm rot="0">
            <a:off x="920311" y="2502433"/>
            <a:ext cx="8115404" cy="7490311"/>
            <a:chOff x="0" y="0"/>
            <a:chExt cx="10820538" cy="9987081"/>
          </a:xfrm>
        </p:grpSpPr>
        <p:sp>
          <p:nvSpPr>
            <p:cNvPr name="Freeform 6" id="6" descr="image.png"/>
            <p:cNvSpPr/>
            <p:nvPr/>
          </p:nvSpPr>
          <p:spPr>
            <a:xfrm flipH="false" flipV="false" rot="0">
              <a:off x="0" y="0"/>
              <a:ext cx="10820589" cy="9987107"/>
            </a:xfrm>
            <a:custGeom>
              <a:avLst/>
              <a:gdLst/>
              <a:ahLst/>
              <a:cxnLst/>
              <a:rect r="r" b="b" t="t" l="l"/>
              <a:pathLst>
                <a:path h="9987107" w="10820589">
                  <a:moveTo>
                    <a:pt x="0" y="0"/>
                  </a:moveTo>
                  <a:lnTo>
                    <a:pt x="10820589" y="0"/>
                  </a:lnTo>
                  <a:lnTo>
                    <a:pt x="10820589" y="9987107"/>
                  </a:lnTo>
                  <a:lnTo>
                    <a:pt x="0" y="9987107"/>
                  </a:lnTo>
                  <a:lnTo>
                    <a:pt x="0" y="0"/>
                  </a:lnTo>
                  <a:close/>
                </a:path>
              </a:pathLst>
            </a:custGeom>
            <a:blipFill>
              <a:blip r:embed="rId4"/>
              <a:stretch>
                <a:fillRect l="0" t="-15457" r="-61842" b="-15457"/>
              </a:stretch>
            </a:blipFill>
          </p:spPr>
        </p:sp>
      </p:grpSp>
      <p:grpSp>
        <p:nvGrpSpPr>
          <p:cNvPr name="Group 7" id="7"/>
          <p:cNvGrpSpPr/>
          <p:nvPr/>
        </p:nvGrpSpPr>
        <p:grpSpPr>
          <a:xfrm rot="0">
            <a:off x="9144000" y="2502433"/>
            <a:ext cx="8115300" cy="7490311"/>
            <a:chOff x="0" y="0"/>
            <a:chExt cx="10820400" cy="9987081"/>
          </a:xfrm>
        </p:grpSpPr>
        <p:sp>
          <p:nvSpPr>
            <p:cNvPr name="Freeform 8" id="8" descr="image.png"/>
            <p:cNvSpPr/>
            <p:nvPr/>
          </p:nvSpPr>
          <p:spPr>
            <a:xfrm flipH="false" flipV="false" rot="0">
              <a:off x="0" y="0"/>
              <a:ext cx="10820450" cy="9987107"/>
            </a:xfrm>
            <a:custGeom>
              <a:avLst/>
              <a:gdLst/>
              <a:ahLst/>
              <a:cxnLst/>
              <a:rect r="r" b="b" t="t" l="l"/>
              <a:pathLst>
                <a:path h="9987107" w="10820450">
                  <a:moveTo>
                    <a:pt x="0" y="0"/>
                  </a:moveTo>
                  <a:lnTo>
                    <a:pt x="10820450" y="0"/>
                  </a:lnTo>
                  <a:lnTo>
                    <a:pt x="10820450" y="9987107"/>
                  </a:lnTo>
                  <a:lnTo>
                    <a:pt x="0" y="9987107"/>
                  </a:lnTo>
                  <a:lnTo>
                    <a:pt x="0" y="0"/>
                  </a:lnTo>
                  <a:close/>
                </a:path>
              </a:pathLst>
            </a:custGeom>
            <a:blipFill>
              <a:blip r:embed="rId4"/>
              <a:stretch>
                <a:fillRect l="0" t="-15456" r="-61842" b="-15456"/>
              </a:stretch>
            </a:blipFill>
          </p:spPr>
        </p:sp>
      </p:grpSp>
      <p:sp>
        <p:nvSpPr>
          <p:cNvPr name="TextBox 9" id="9"/>
          <p:cNvSpPr txBox="true"/>
          <p:nvPr/>
        </p:nvSpPr>
        <p:spPr>
          <a:xfrm rot="0">
            <a:off x="2081241" y="2638073"/>
            <a:ext cx="5878413" cy="466725"/>
          </a:xfrm>
          <a:prstGeom prst="rect">
            <a:avLst/>
          </a:prstGeom>
        </p:spPr>
        <p:txBody>
          <a:bodyPr anchor="t" rtlCol="false" tIns="0" lIns="0" bIns="0" rIns="0">
            <a:spAutoFit/>
          </a:bodyPr>
          <a:lstStyle/>
          <a:p>
            <a:pPr algn="l">
              <a:lnSpc>
                <a:spcPts val="3532"/>
              </a:lnSpc>
            </a:pPr>
            <a:r>
              <a:rPr lang="en-US" b="true" sz="2943">
                <a:solidFill>
                  <a:srgbClr val="F8FAFC"/>
                </a:solidFill>
                <a:latin typeface="Arimo Bold"/>
                <a:ea typeface="Arimo Bold"/>
                <a:cs typeface="Arimo Bold"/>
                <a:sym typeface="Arimo Bold"/>
              </a:rPr>
              <a:t>The Risks of Conventional Hiring</a:t>
            </a:r>
          </a:p>
        </p:txBody>
      </p:sp>
      <p:sp>
        <p:nvSpPr>
          <p:cNvPr name="TextBox 10" id="10"/>
          <p:cNvSpPr txBox="true"/>
          <p:nvPr/>
        </p:nvSpPr>
        <p:spPr>
          <a:xfrm rot="0">
            <a:off x="1258308" y="4073644"/>
            <a:ext cx="7457190" cy="871987"/>
          </a:xfrm>
          <a:prstGeom prst="rect">
            <a:avLst/>
          </a:prstGeom>
        </p:spPr>
        <p:txBody>
          <a:bodyPr anchor="t" rtlCol="false" tIns="0" lIns="0" bIns="0" rIns="0">
            <a:spAutoFit/>
          </a:bodyPr>
          <a:lstStyle/>
          <a:p>
            <a:pPr algn="l">
              <a:lnSpc>
                <a:spcPts val="3531"/>
              </a:lnSpc>
            </a:pPr>
            <a:r>
              <a:rPr lang="en-US" sz="2101" u="sng">
                <a:solidFill>
                  <a:srgbClr val="CBD5E1"/>
                </a:solidFill>
                <a:latin typeface="Arimo"/>
                <a:ea typeface="Arimo"/>
                <a:cs typeface="Arimo"/>
                <a:sym typeface="Arimo"/>
                <a:hlinkClick r:id="rId5" tooltip="https://www.airswift.com/blog/hiring-mistakes"/>
              </a:rPr>
              <a:t>Harvard Business Review</a:t>
            </a:r>
            <a:r>
              <a:rPr lang="en-US" sz="2101">
                <a:solidFill>
                  <a:srgbClr val="CBD5E1"/>
                </a:solidFill>
                <a:latin typeface="Arimo"/>
                <a:ea typeface="Arimo"/>
                <a:cs typeface="Arimo"/>
                <a:sym typeface="Arimo"/>
              </a:rPr>
              <a:t> reports that 80% of employee turnover is caused by poor hiring decisions.</a:t>
            </a:r>
          </a:p>
        </p:txBody>
      </p:sp>
      <p:sp>
        <p:nvSpPr>
          <p:cNvPr name="TextBox 11" id="11"/>
          <p:cNvSpPr txBox="true"/>
          <p:nvPr/>
        </p:nvSpPr>
        <p:spPr>
          <a:xfrm rot="0">
            <a:off x="1275081" y="5124450"/>
            <a:ext cx="3002012"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Financial Leakage</a:t>
            </a:r>
          </a:p>
        </p:txBody>
      </p:sp>
      <p:sp>
        <p:nvSpPr>
          <p:cNvPr name="TextBox 12" id="12"/>
          <p:cNvSpPr txBox="true"/>
          <p:nvPr/>
        </p:nvSpPr>
        <p:spPr>
          <a:xfrm rot="0">
            <a:off x="1275081" y="5518872"/>
            <a:ext cx="7575654" cy="2215012"/>
          </a:xfrm>
          <a:prstGeom prst="rect">
            <a:avLst/>
          </a:prstGeom>
        </p:spPr>
        <p:txBody>
          <a:bodyPr anchor="t" rtlCol="false" tIns="0" lIns="0" bIns="0" rIns="0">
            <a:spAutoFit/>
          </a:bodyPr>
          <a:lstStyle/>
          <a:p>
            <a:pPr algn="l">
              <a:lnSpc>
                <a:spcPts val="3531"/>
              </a:lnSpc>
            </a:pPr>
            <a:r>
              <a:rPr lang="en-US" sz="2102">
                <a:solidFill>
                  <a:srgbClr val="CBD5E1"/>
                </a:solidFill>
                <a:latin typeface="Arimo"/>
                <a:ea typeface="Arimo"/>
                <a:cs typeface="Arimo"/>
                <a:sym typeface="Arimo"/>
              </a:rPr>
              <a:t>A single "bad hire" can cost an organization between </a:t>
            </a:r>
            <a:r>
              <a:rPr lang="en-US" sz="2102" u="sng">
                <a:solidFill>
                  <a:srgbClr val="CBD5E1"/>
                </a:solidFill>
                <a:latin typeface="Arimo"/>
                <a:ea typeface="Arimo"/>
                <a:cs typeface="Arimo"/>
                <a:sym typeface="Arimo"/>
                <a:hlinkClick r:id="rId6" tooltip="https://www.peoplekeep.com/blog/employee-retention-the-real-cost-of-losing-an-employee#:~:text=The%20average%20cost%20of%20turnover,in%20recruiting%20and%20training%20expenses."/>
              </a:rPr>
              <a:t>50% and 200%</a:t>
            </a:r>
            <a:r>
              <a:rPr lang="en-US" sz="2102">
                <a:solidFill>
                  <a:srgbClr val="CBD5E1"/>
                </a:solidFill>
                <a:latin typeface="Arimo"/>
                <a:ea typeface="Arimo"/>
                <a:cs typeface="Arimo"/>
                <a:sym typeface="Arimo"/>
              </a:rPr>
              <a:t> of the employee's annual salary when factoring in recruitment, onboarding, and lost productivity. Assuming the annual salary of a tech employee is</a:t>
            </a:r>
            <a:r>
              <a:rPr lang="en-US" sz="2102" u="sng">
                <a:solidFill>
                  <a:srgbClr val="CBD5E1"/>
                </a:solidFill>
                <a:latin typeface="Arimo"/>
                <a:ea typeface="Arimo"/>
                <a:cs typeface="Arimo"/>
                <a:sym typeface="Arimo"/>
                <a:hlinkClick r:id="rId7" tooltip="https://www.bps.go.id/en/statistics-table/2/MTUyMSMy/average-of-net-wage-"/>
              </a:rPr>
              <a:t> ~IDR 63.36 million</a:t>
            </a:r>
            <a:r>
              <a:rPr lang="en-US" sz="2102">
                <a:solidFill>
                  <a:srgbClr val="CBD5E1"/>
                </a:solidFill>
                <a:latin typeface="Arimo"/>
                <a:ea typeface="Arimo"/>
                <a:cs typeface="Arimo"/>
                <a:sym typeface="Arimo"/>
              </a:rPr>
              <a:t>, an organization might lose 31.68 to 126.72 million rupiah.</a:t>
            </a:r>
          </a:p>
        </p:txBody>
      </p:sp>
      <p:sp>
        <p:nvSpPr>
          <p:cNvPr name="TextBox 13" id="13"/>
          <p:cNvSpPr txBox="true"/>
          <p:nvPr/>
        </p:nvSpPr>
        <p:spPr>
          <a:xfrm rot="0">
            <a:off x="1275081" y="8008064"/>
            <a:ext cx="4067461"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Subjectivity Bias</a:t>
            </a:r>
          </a:p>
        </p:txBody>
      </p:sp>
      <p:sp>
        <p:nvSpPr>
          <p:cNvPr name="TextBox 14" id="14"/>
          <p:cNvSpPr txBox="true"/>
          <p:nvPr/>
        </p:nvSpPr>
        <p:spPr>
          <a:xfrm rot="0">
            <a:off x="1258308" y="8398589"/>
            <a:ext cx="7592426" cy="1319662"/>
          </a:xfrm>
          <a:prstGeom prst="rect">
            <a:avLst/>
          </a:prstGeom>
        </p:spPr>
        <p:txBody>
          <a:bodyPr anchor="t" rtlCol="false" tIns="0" lIns="0" bIns="0" rIns="0">
            <a:spAutoFit/>
          </a:bodyPr>
          <a:lstStyle/>
          <a:p>
            <a:pPr algn="l">
              <a:lnSpc>
                <a:spcPts val="3531"/>
              </a:lnSpc>
            </a:pPr>
            <a:r>
              <a:rPr lang="en-US" sz="2102">
                <a:solidFill>
                  <a:srgbClr val="CBD5E1"/>
                </a:solidFill>
                <a:latin typeface="Arimo"/>
                <a:ea typeface="Arimo"/>
                <a:cs typeface="Arimo"/>
                <a:sym typeface="Arimo"/>
              </a:rPr>
              <a:t>HR </a:t>
            </a:r>
            <a:r>
              <a:rPr lang="en-US" sz="2102">
                <a:solidFill>
                  <a:srgbClr val="CBD5E1"/>
                </a:solidFill>
                <a:latin typeface="Arimo"/>
                <a:ea typeface="Arimo"/>
                <a:cs typeface="Arimo"/>
                <a:sym typeface="Arimo"/>
              </a:rPr>
              <a:t>team struggles to make consistent and fair hiring decisions due to reliance on subjective judgment. This leads to inefficiency, bias, and missed opportunities.</a:t>
            </a:r>
          </a:p>
        </p:txBody>
      </p:sp>
      <p:sp>
        <p:nvSpPr>
          <p:cNvPr name="TextBox 15" id="15"/>
          <p:cNvSpPr txBox="true"/>
          <p:nvPr/>
        </p:nvSpPr>
        <p:spPr>
          <a:xfrm rot="0">
            <a:off x="920311" y="1367541"/>
            <a:ext cx="15193947" cy="723900"/>
          </a:xfrm>
          <a:prstGeom prst="rect">
            <a:avLst/>
          </a:prstGeom>
        </p:spPr>
        <p:txBody>
          <a:bodyPr anchor="t" rtlCol="false" tIns="0" lIns="0" bIns="0" rIns="0">
            <a:spAutoFit/>
          </a:bodyPr>
          <a:lstStyle/>
          <a:p>
            <a:pPr algn="l">
              <a:lnSpc>
                <a:spcPts val="5616"/>
              </a:lnSpc>
            </a:pPr>
            <a:r>
              <a:rPr lang="en-US" sz="4680" b="true">
                <a:solidFill>
                  <a:srgbClr val="1A1A1A"/>
                </a:solidFill>
                <a:latin typeface="Raleway Bold"/>
                <a:ea typeface="Raleway Bold"/>
                <a:cs typeface="Raleway Bold"/>
                <a:sym typeface="Raleway Bold"/>
              </a:rPr>
              <a:t>Problem &amp; Goal Stateme</a:t>
            </a:r>
            <a:r>
              <a:rPr lang="en-US" sz="4680" b="true">
                <a:solidFill>
                  <a:srgbClr val="1A1A1A"/>
                </a:solidFill>
                <a:latin typeface="Raleway Bold"/>
                <a:ea typeface="Raleway Bold"/>
                <a:cs typeface="Raleway Bold"/>
                <a:sym typeface="Raleway Bold"/>
              </a:rPr>
              <a:t>nts</a:t>
            </a:r>
          </a:p>
        </p:txBody>
      </p:sp>
      <p:sp>
        <p:nvSpPr>
          <p:cNvPr name="TextBox 16" id="16"/>
          <p:cNvSpPr txBox="true"/>
          <p:nvPr/>
        </p:nvSpPr>
        <p:spPr>
          <a:xfrm rot="0">
            <a:off x="1275081" y="3658375"/>
            <a:ext cx="3155826"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The Cost of </a:t>
            </a:r>
            <a:r>
              <a:rPr lang="en-US" b="true" sz="2744">
                <a:solidFill>
                  <a:srgbClr val="F8FAFC"/>
                </a:solidFill>
                <a:latin typeface="Arimo Bold"/>
                <a:ea typeface="Arimo Bold"/>
                <a:cs typeface="Arimo Bold"/>
                <a:sym typeface="Arimo Bold"/>
              </a:rPr>
              <a:t>Failure</a:t>
            </a:r>
          </a:p>
        </p:txBody>
      </p:sp>
      <p:sp>
        <p:nvSpPr>
          <p:cNvPr name="TextBox 17" id="17"/>
          <p:cNvSpPr txBox="true"/>
          <p:nvPr/>
        </p:nvSpPr>
        <p:spPr>
          <a:xfrm rot="0">
            <a:off x="11497828" y="2638073"/>
            <a:ext cx="3407643" cy="466725"/>
          </a:xfrm>
          <a:prstGeom prst="rect">
            <a:avLst/>
          </a:prstGeom>
        </p:spPr>
        <p:txBody>
          <a:bodyPr anchor="t" rtlCol="false" tIns="0" lIns="0" bIns="0" rIns="0">
            <a:spAutoFit/>
          </a:bodyPr>
          <a:lstStyle/>
          <a:p>
            <a:pPr algn="l">
              <a:lnSpc>
                <a:spcPts val="3532"/>
              </a:lnSpc>
            </a:pPr>
            <a:r>
              <a:rPr lang="en-US" b="true" sz="2943">
                <a:solidFill>
                  <a:srgbClr val="F8FAFC"/>
                </a:solidFill>
                <a:latin typeface="Arimo Bold"/>
                <a:ea typeface="Arimo Bold"/>
                <a:cs typeface="Arimo Bold"/>
                <a:sym typeface="Arimo Bold"/>
              </a:rPr>
              <a:t>Goals &amp; Objectives</a:t>
            </a:r>
          </a:p>
        </p:txBody>
      </p:sp>
      <p:sp>
        <p:nvSpPr>
          <p:cNvPr name="TextBox 18" id="18"/>
          <p:cNvSpPr txBox="true"/>
          <p:nvPr/>
        </p:nvSpPr>
        <p:spPr>
          <a:xfrm rot="0">
            <a:off x="9473055" y="4233413"/>
            <a:ext cx="7457190" cy="1319662"/>
          </a:xfrm>
          <a:prstGeom prst="rect">
            <a:avLst/>
          </a:prstGeom>
        </p:spPr>
        <p:txBody>
          <a:bodyPr anchor="t" rtlCol="false" tIns="0" lIns="0" bIns="0" rIns="0">
            <a:spAutoFit/>
          </a:bodyPr>
          <a:lstStyle/>
          <a:p>
            <a:pPr algn="l">
              <a:lnSpc>
                <a:spcPts val="3531"/>
              </a:lnSpc>
            </a:pPr>
            <a:r>
              <a:rPr lang="en-US" sz="2101">
                <a:solidFill>
                  <a:srgbClr val="CBD5E1"/>
                </a:solidFill>
                <a:latin typeface="Arimo"/>
                <a:ea typeface="Arimo"/>
                <a:cs typeface="Arimo"/>
                <a:sym typeface="Arimo"/>
              </a:rPr>
              <a:t>Transform the conventional recruitment process into a data-driven system to improve talent selection accuracy and company operational cost efficiency.</a:t>
            </a:r>
          </a:p>
        </p:txBody>
      </p:sp>
      <p:sp>
        <p:nvSpPr>
          <p:cNvPr name="TextBox 19" id="19"/>
          <p:cNvSpPr txBox="true"/>
          <p:nvPr/>
        </p:nvSpPr>
        <p:spPr>
          <a:xfrm rot="0">
            <a:off x="9473055" y="3658375"/>
            <a:ext cx="968350"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Goals</a:t>
            </a:r>
          </a:p>
        </p:txBody>
      </p:sp>
      <p:sp>
        <p:nvSpPr>
          <p:cNvPr name="TextBox 20" id="20"/>
          <p:cNvSpPr txBox="true"/>
          <p:nvPr/>
        </p:nvSpPr>
        <p:spPr>
          <a:xfrm rot="0">
            <a:off x="9473055" y="6228539"/>
            <a:ext cx="1762646" cy="428625"/>
          </a:xfrm>
          <a:prstGeom prst="rect">
            <a:avLst/>
          </a:prstGeom>
        </p:spPr>
        <p:txBody>
          <a:bodyPr anchor="t" rtlCol="false" tIns="0" lIns="0" bIns="0" rIns="0">
            <a:spAutoFit/>
          </a:bodyPr>
          <a:lstStyle/>
          <a:p>
            <a:pPr algn="l">
              <a:lnSpc>
                <a:spcPts val="3292"/>
              </a:lnSpc>
            </a:pPr>
            <a:r>
              <a:rPr lang="en-US" b="true" sz="2744">
                <a:solidFill>
                  <a:srgbClr val="F8FAFC"/>
                </a:solidFill>
                <a:latin typeface="Arimo Bold"/>
                <a:ea typeface="Arimo Bold"/>
                <a:cs typeface="Arimo Bold"/>
                <a:sym typeface="Arimo Bold"/>
              </a:rPr>
              <a:t>Objectives</a:t>
            </a:r>
          </a:p>
        </p:txBody>
      </p:sp>
      <p:sp>
        <p:nvSpPr>
          <p:cNvPr name="TextBox 21" id="21"/>
          <p:cNvSpPr txBox="true"/>
          <p:nvPr/>
        </p:nvSpPr>
        <p:spPr>
          <a:xfrm rot="0">
            <a:off x="9473055" y="6800039"/>
            <a:ext cx="7457190" cy="1767337"/>
          </a:xfrm>
          <a:prstGeom prst="rect">
            <a:avLst/>
          </a:prstGeom>
        </p:spPr>
        <p:txBody>
          <a:bodyPr anchor="t" rtlCol="false" tIns="0" lIns="0" bIns="0" rIns="0">
            <a:spAutoFit/>
          </a:bodyPr>
          <a:lstStyle/>
          <a:p>
            <a:pPr algn="l">
              <a:lnSpc>
                <a:spcPts val="3531"/>
              </a:lnSpc>
            </a:pPr>
            <a:r>
              <a:rPr lang="en-US" sz="2101">
                <a:solidFill>
                  <a:srgbClr val="CBD5E1"/>
                </a:solidFill>
                <a:latin typeface="Arimo"/>
                <a:ea typeface="Arimo"/>
                <a:cs typeface="Arimo"/>
                <a:sym typeface="Arimo"/>
              </a:rPr>
              <a:t>Build an objective, automated model by analyzing qualification variable correlations, determining success score thresholds, and conducting bias audits to ensure fairness in recruitment decision-making.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975598"/>
            <a:chOff x="0" y="0"/>
            <a:chExt cx="24384000" cy="1300798"/>
          </a:xfrm>
        </p:grpSpPr>
        <p:sp>
          <p:nvSpPr>
            <p:cNvPr name="Freeform 4" id="4"/>
            <p:cNvSpPr/>
            <p:nvPr/>
          </p:nvSpPr>
          <p:spPr>
            <a:xfrm flipH="false" flipV="false" rot="0">
              <a:off x="0" y="0"/>
              <a:ext cx="24384000" cy="1300861"/>
            </a:xfrm>
            <a:custGeom>
              <a:avLst/>
              <a:gdLst/>
              <a:ahLst/>
              <a:cxnLst/>
              <a:rect r="r" b="b" t="t" l="l"/>
              <a:pathLst>
                <a:path h="1300861" w="24384000">
                  <a:moveTo>
                    <a:pt x="0" y="0"/>
                  </a:moveTo>
                  <a:lnTo>
                    <a:pt x="24384000" y="0"/>
                  </a:lnTo>
                  <a:lnTo>
                    <a:pt x="24384000" y="1300861"/>
                  </a:lnTo>
                  <a:lnTo>
                    <a:pt x="0" y="1300861"/>
                  </a:lnTo>
                  <a:close/>
                </a:path>
              </a:pathLst>
            </a:custGeom>
            <a:solidFill>
              <a:srgbClr val="E9EDEE"/>
            </a:solidFill>
          </p:spPr>
        </p:sp>
      </p:grpSp>
      <p:sp>
        <p:nvSpPr>
          <p:cNvPr name="TextBox 5" id="5"/>
          <p:cNvSpPr txBox="true"/>
          <p:nvPr/>
        </p:nvSpPr>
        <p:spPr>
          <a:xfrm rot="0">
            <a:off x="920311" y="1348491"/>
            <a:ext cx="15193947" cy="723900"/>
          </a:xfrm>
          <a:prstGeom prst="rect">
            <a:avLst/>
          </a:prstGeom>
        </p:spPr>
        <p:txBody>
          <a:bodyPr anchor="t" rtlCol="false" tIns="0" lIns="0" bIns="0" rIns="0">
            <a:spAutoFit/>
          </a:bodyPr>
          <a:lstStyle/>
          <a:p>
            <a:pPr algn="l">
              <a:lnSpc>
                <a:spcPts val="5616"/>
              </a:lnSpc>
            </a:pPr>
            <a:r>
              <a:rPr lang="en-US" sz="4680" b="true">
                <a:solidFill>
                  <a:srgbClr val="1A1A1A"/>
                </a:solidFill>
                <a:latin typeface="Raleway Bold"/>
                <a:ea typeface="Raleway Bold"/>
                <a:cs typeface="Raleway Bold"/>
                <a:sym typeface="Raleway Bold"/>
              </a:rPr>
              <a:t>Success Metrics &amp; Business Impact</a:t>
            </a:r>
          </a:p>
        </p:txBody>
      </p:sp>
      <p:grpSp>
        <p:nvGrpSpPr>
          <p:cNvPr name="Group 6" id="6"/>
          <p:cNvGrpSpPr/>
          <p:nvPr/>
        </p:nvGrpSpPr>
        <p:grpSpPr>
          <a:xfrm rot="0">
            <a:off x="920311" y="2502433"/>
            <a:ext cx="8223689" cy="7490311"/>
            <a:chOff x="0" y="0"/>
            <a:chExt cx="10964918" cy="9987081"/>
          </a:xfrm>
        </p:grpSpPr>
        <p:sp>
          <p:nvSpPr>
            <p:cNvPr name="Freeform 7" id="7" descr="image.png"/>
            <p:cNvSpPr/>
            <p:nvPr/>
          </p:nvSpPr>
          <p:spPr>
            <a:xfrm flipH="false" flipV="false" rot="0">
              <a:off x="0" y="0"/>
              <a:ext cx="10964969" cy="9987107"/>
            </a:xfrm>
            <a:custGeom>
              <a:avLst/>
              <a:gdLst/>
              <a:ahLst/>
              <a:cxnLst/>
              <a:rect r="r" b="b" t="t" l="l"/>
              <a:pathLst>
                <a:path h="9987107" w="10964969">
                  <a:moveTo>
                    <a:pt x="0" y="0"/>
                  </a:moveTo>
                  <a:lnTo>
                    <a:pt x="10964969" y="0"/>
                  </a:lnTo>
                  <a:lnTo>
                    <a:pt x="10964969" y="9987107"/>
                  </a:lnTo>
                  <a:lnTo>
                    <a:pt x="0" y="9987107"/>
                  </a:lnTo>
                  <a:lnTo>
                    <a:pt x="0" y="0"/>
                  </a:lnTo>
                  <a:close/>
                </a:path>
              </a:pathLst>
            </a:custGeom>
            <a:solidFill>
              <a:srgbClr val="BCCADB"/>
            </a:solidFill>
          </p:spPr>
        </p:sp>
      </p:grpSp>
      <p:sp>
        <p:nvSpPr>
          <p:cNvPr name="TextBox 8" id="8"/>
          <p:cNvSpPr txBox="true"/>
          <p:nvPr/>
        </p:nvSpPr>
        <p:spPr>
          <a:xfrm rot="0">
            <a:off x="1274138" y="3356799"/>
            <a:ext cx="7516035" cy="881634"/>
          </a:xfrm>
          <a:prstGeom prst="rect">
            <a:avLst/>
          </a:prstGeom>
        </p:spPr>
        <p:txBody>
          <a:bodyPr anchor="t" rtlCol="false" tIns="0" lIns="0" bIns="0" rIns="0">
            <a:spAutoFit/>
          </a:bodyPr>
          <a:lstStyle/>
          <a:p>
            <a:pPr algn="l">
              <a:lnSpc>
                <a:spcPts val="3528"/>
              </a:lnSpc>
            </a:pPr>
            <a:r>
              <a:rPr lang="en-US" b="true" sz="2100">
                <a:solidFill>
                  <a:srgbClr val="1A1A1A"/>
                </a:solidFill>
                <a:latin typeface="Raleway Bold"/>
                <a:ea typeface="Raleway Bold"/>
                <a:cs typeface="Raleway Bold"/>
                <a:sym typeface="Raleway Bold"/>
              </a:rPr>
              <a:t>F1-Score</a:t>
            </a:r>
          </a:p>
          <a:p>
            <a:pPr algn="l">
              <a:lnSpc>
                <a:spcPts val="3528"/>
              </a:lnSpc>
            </a:pPr>
            <a:r>
              <a:rPr lang="en-US" sz="2100">
                <a:solidFill>
                  <a:srgbClr val="1A1A1A"/>
                </a:solidFill>
                <a:latin typeface="Raleway"/>
                <a:ea typeface="Raleway"/>
                <a:cs typeface="Raleway"/>
                <a:sym typeface="Raleway"/>
              </a:rPr>
              <a:t>The main benchmark for balancing Precision and Recall. </a:t>
            </a:r>
          </a:p>
        </p:txBody>
      </p:sp>
      <p:sp>
        <p:nvSpPr>
          <p:cNvPr name="TextBox 9" id="9"/>
          <p:cNvSpPr txBox="true"/>
          <p:nvPr/>
        </p:nvSpPr>
        <p:spPr>
          <a:xfrm rot="0">
            <a:off x="1274138" y="4581333"/>
            <a:ext cx="7516035" cy="1329309"/>
          </a:xfrm>
          <a:prstGeom prst="rect">
            <a:avLst/>
          </a:prstGeom>
        </p:spPr>
        <p:txBody>
          <a:bodyPr anchor="t" rtlCol="false" tIns="0" lIns="0" bIns="0" rIns="0">
            <a:spAutoFit/>
          </a:bodyPr>
          <a:lstStyle/>
          <a:p>
            <a:pPr algn="l">
              <a:lnSpc>
                <a:spcPts val="3528"/>
              </a:lnSpc>
            </a:pPr>
            <a:r>
              <a:rPr lang="en-US" b="true" sz="2100">
                <a:solidFill>
                  <a:srgbClr val="1A1A1A"/>
                </a:solidFill>
                <a:latin typeface="Raleway Bold"/>
                <a:ea typeface="Raleway Bold"/>
                <a:cs typeface="Raleway Bold"/>
                <a:sym typeface="Raleway Bold"/>
              </a:rPr>
              <a:t>Quality of Hire (QoH)</a:t>
            </a:r>
          </a:p>
          <a:p>
            <a:pPr algn="l">
              <a:lnSpc>
                <a:spcPts val="3528"/>
              </a:lnSpc>
            </a:pPr>
            <a:r>
              <a:rPr lang="en-US" sz="2100">
                <a:solidFill>
                  <a:srgbClr val="1A1A1A"/>
                </a:solidFill>
                <a:latin typeface="Raleway"/>
                <a:ea typeface="Raleway"/>
                <a:cs typeface="Raleway"/>
                <a:sym typeface="Raleway"/>
              </a:rPr>
              <a:t>Measured by the 15% average improvement in how well new employees fit their roles and contribute to company goals.</a:t>
            </a:r>
          </a:p>
        </p:txBody>
      </p:sp>
      <p:sp>
        <p:nvSpPr>
          <p:cNvPr name="TextBox 10" id="10"/>
          <p:cNvSpPr txBox="true"/>
          <p:nvPr/>
        </p:nvSpPr>
        <p:spPr>
          <a:xfrm rot="0">
            <a:off x="1274138" y="6253542"/>
            <a:ext cx="4946600" cy="881634"/>
          </a:xfrm>
          <a:prstGeom prst="rect">
            <a:avLst/>
          </a:prstGeom>
        </p:spPr>
        <p:txBody>
          <a:bodyPr anchor="t" rtlCol="false" tIns="0" lIns="0" bIns="0" rIns="0">
            <a:spAutoFit/>
          </a:bodyPr>
          <a:lstStyle/>
          <a:p>
            <a:pPr algn="l">
              <a:lnSpc>
                <a:spcPts val="3528"/>
              </a:lnSpc>
            </a:pPr>
            <a:r>
              <a:rPr lang="en-US" b="true" sz="2100">
                <a:solidFill>
                  <a:srgbClr val="1A1A1A"/>
                </a:solidFill>
                <a:latin typeface="Raleway Bold"/>
                <a:ea typeface="Raleway Bold"/>
                <a:cs typeface="Raleway Bold"/>
                <a:sym typeface="Raleway Bold"/>
              </a:rPr>
              <a:t>Hiring Efficiency</a:t>
            </a:r>
          </a:p>
          <a:p>
            <a:pPr algn="l">
              <a:lnSpc>
                <a:spcPts val="3528"/>
              </a:lnSpc>
            </a:pPr>
            <a:r>
              <a:rPr lang="en-US" sz="2100">
                <a:solidFill>
                  <a:srgbClr val="1A1A1A"/>
                </a:solidFill>
                <a:latin typeface="Raleway"/>
                <a:ea typeface="Raleway"/>
                <a:cs typeface="Raleway"/>
                <a:sym typeface="Raleway"/>
              </a:rPr>
              <a:t>Reduce manual screening by up to </a:t>
            </a:r>
            <a:r>
              <a:rPr lang="en-US" sz="2100" u="sng">
                <a:solidFill>
                  <a:srgbClr val="1A1A1A"/>
                </a:solidFill>
                <a:latin typeface="Raleway"/>
                <a:ea typeface="Raleway"/>
                <a:cs typeface="Raleway"/>
                <a:sym typeface="Raleway"/>
                <a:hlinkClick r:id="rId4" tooltip="https://www.mdpi.com/2076-3417/14/24/11750"/>
              </a:rPr>
              <a:t>80%</a:t>
            </a:r>
            <a:r>
              <a:rPr lang="en-US" sz="2100">
                <a:solidFill>
                  <a:srgbClr val="1A1A1A"/>
                </a:solidFill>
                <a:latin typeface="Raleway"/>
                <a:ea typeface="Raleway"/>
                <a:cs typeface="Raleway"/>
                <a:sym typeface="Raleway"/>
              </a:rPr>
              <a:t>.</a:t>
            </a:r>
          </a:p>
        </p:txBody>
      </p:sp>
      <p:sp>
        <p:nvSpPr>
          <p:cNvPr name="TextBox 11" id="11"/>
          <p:cNvSpPr txBox="true"/>
          <p:nvPr/>
        </p:nvSpPr>
        <p:spPr>
          <a:xfrm rot="0">
            <a:off x="1274138" y="7481316"/>
            <a:ext cx="7516035" cy="1776984"/>
          </a:xfrm>
          <a:prstGeom prst="rect">
            <a:avLst/>
          </a:prstGeom>
        </p:spPr>
        <p:txBody>
          <a:bodyPr anchor="t" rtlCol="false" tIns="0" lIns="0" bIns="0" rIns="0">
            <a:spAutoFit/>
          </a:bodyPr>
          <a:lstStyle/>
          <a:p>
            <a:pPr algn="l">
              <a:lnSpc>
                <a:spcPts val="3528"/>
              </a:lnSpc>
            </a:pPr>
            <a:r>
              <a:rPr lang="en-US" b="true" sz="2100">
                <a:solidFill>
                  <a:srgbClr val="1A1A1A"/>
                </a:solidFill>
                <a:latin typeface="Raleway Bold"/>
                <a:ea typeface="Raleway Bold"/>
                <a:cs typeface="Raleway Bold"/>
                <a:sym typeface="Raleway Bold"/>
              </a:rPr>
              <a:t>Selection Accuracy</a:t>
            </a:r>
          </a:p>
          <a:p>
            <a:pPr algn="l">
              <a:lnSpc>
                <a:spcPts val="3528"/>
              </a:lnSpc>
            </a:pPr>
            <a:r>
              <a:rPr lang="en-US" sz="2100">
                <a:solidFill>
                  <a:srgbClr val="1A1A1A"/>
                </a:solidFill>
                <a:latin typeface="Raleway"/>
                <a:ea typeface="Raleway"/>
                <a:cs typeface="Raleway"/>
                <a:sym typeface="Raleway"/>
              </a:rPr>
              <a:t>Machine learning models (e.g., Random Forest, XGBoost) can achieve accuracy rates exceeding</a:t>
            </a:r>
            <a:r>
              <a:rPr lang="en-US" sz="2100" u="sng">
                <a:solidFill>
                  <a:srgbClr val="1A1A1A"/>
                </a:solidFill>
                <a:latin typeface="Raleway"/>
                <a:ea typeface="Raleway"/>
                <a:cs typeface="Raleway"/>
                <a:sym typeface="Raleway"/>
                <a:hlinkClick r:id="rId5" tooltip="https://www.mdpi.com/2076-3417/14/24/11750"/>
              </a:rPr>
              <a:t> 95%</a:t>
            </a:r>
            <a:r>
              <a:rPr lang="en-US" sz="2100">
                <a:solidFill>
                  <a:srgbClr val="1A1A1A"/>
                </a:solidFill>
                <a:latin typeface="Raleway"/>
                <a:ea typeface="Raleway"/>
                <a:cs typeface="Raleway"/>
                <a:sym typeface="Raleway"/>
              </a:rPr>
              <a:t> in predicting candidate suitability based on historical high-performer data.</a:t>
            </a:r>
          </a:p>
        </p:txBody>
      </p:sp>
      <p:sp>
        <p:nvSpPr>
          <p:cNvPr name="TextBox 12" id="12"/>
          <p:cNvSpPr txBox="true"/>
          <p:nvPr/>
        </p:nvSpPr>
        <p:spPr>
          <a:xfrm rot="0">
            <a:off x="1274138" y="2498811"/>
            <a:ext cx="7516035" cy="540259"/>
          </a:xfrm>
          <a:prstGeom prst="rect">
            <a:avLst/>
          </a:prstGeom>
        </p:spPr>
        <p:txBody>
          <a:bodyPr anchor="t" rtlCol="false" tIns="0" lIns="0" bIns="0" rIns="0">
            <a:spAutoFit/>
          </a:bodyPr>
          <a:lstStyle/>
          <a:p>
            <a:pPr algn="ctr">
              <a:lnSpc>
                <a:spcPts val="4535"/>
              </a:lnSpc>
            </a:pPr>
            <a:r>
              <a:rPr lang="en-US" b="true" sz="2699">
                <a:solidFill>
                  <a:srgbClr val="1A1A1A"/>
                </a:solidFill>
                <a:latin typeface="Raleway Bold"/>
                <a:ea typeface="Raleway Bold"/>
                <a:cs typeface="Raleway Bold"/>
                <a:sym typeface="Raleway Bold"/>
              </a:rPr>
              <a:t>The KPIs for Data-Driven Era</a:t>
            </a:r>
          </a:p>
        </p:txBody>
      </p:sp>
      <p:grpSp>
        <p:nvGrpSpPr>
          <p:cNvPr name="Group 13" id="13"/>
          <p:cNvGrpSpPr/>
          <p:nvPr/>
        </p:nvGrpSpPr>
        <p:grpSpPr>
          <a:xfrm rot="0">
            <a:off x="9266259" y="2464333"/>
            <a:ext cx="8223689" cy="7490311"/>
            <a:chOff x="0" y="0"/>
            <a:chExt cx="10964918" cy="9987081"/>
          </a:xfrm>
        </p:grpSpPr>
        <p:sp>
          <p:nvSpPr>
            <p:cNvPr name="Freeform 14" id="14" descr="image.png"/>
            <p:cNvSpPr/>
            <p:nvPr/>
          </p:nvSpPr>
          <p:spPr>
            <a:xfrm flipH="false" flipV="false" rot="0">
              <a:off x="0" y="0"/>
              <a:ext cx="10964969" cy="9987107"/>
            </a:xfrm>
            <a:custGeom>
              <a:avLst/>
              <a:gdLst/>
              <a:ahLst/>
              <a:cxnLst/>
              <a:rect r="r" b="b" t="t" l="l"/>
              <a:pathLst>
                <a:path h="9987107" w="10964969">
                  <a:moveTo>
                    <a:pt x="0" y="0"/>
                  </a:moveTo>
                  <a:lnTo>
                    <a:pt x="10964969" y="0"/>
                  </a:lnTo>
                  <a:lnTo>
                    <a:pt x="10964969" y="9987107"/>
                  </a:lnTo>
                  <a:lnTo>
                    <a:pt x="0" y="9987107"/>
                  </a:lnTo>
                  <a:lnTo>
                    <a:pt x="0" y="0"/>
                  </a:lnTo>
                  <a:close/>
                </a:path>
              </a:pathLst>
            </a:custGeom>
            <a:solidFill>
              <a:srgbClr val="BCCADB"/>
            </a:solidFill>
          </p:spPr>
        </p:sp>
      </p:grpSp>
      <p:sp>
        <p:nvSpPr>
          <p:cNvPr name="TextBox 15" id="15"/>
          <p:cNvSpPr txBox="true"/>
          <p:nvPr/>
        </p:nvSpPr>
        <p:spPr>
          <a:xfrm rot="0">
            <a:off x="9620085" y="2498811"/>
            <a:ext cx="7516035" cy="540259"/>
          </a:xfrm>
          <a:prstGeom prst="rect">
            <a:avLst/>
          </a:prstGeom>
        </p:spPr>
        <p:txBody>
          <a:bodyPr anchor="t" rtlCol="false" tIns="0" lIns="0" bIns="0" rIns="0">
            <a:spAutoFit/>
          </a:bodyPr>
          <a:lstStyle/>
          <a:p>
            <a:pPr algn="ctr">
              <a:lnSpc>
                <a:spcPts val="4535"/>
              </a:lnSpc>
            </a:pPr>
            <a:r>
              <a:rPr lang="en-US" b="true" sz="2699">
                <a:solidFill>
                  <a:srgbClr val="1A1A1A"/>
                </a:solidFill>
                <a:latin typeface="Raleway Bold"/>
                <a:ea typeface="Raleway Bold"/>
                <a:cs typeface="Raleway Bold"/>
                <a:sym typeface="Raleway Bold"/>
              </a:rPr>
              <a:t>The Value Proposition</a:t>
            </a:r>
          </a:p>
        </p:txBody>
      </p:sp>
      <p:sp>
        <p:nvSpPr>
          <p:cNvPr name="TextBox 16" id="16"/>
          <p:cNvSpPr txBox="true"/>
          <p:nvPr/>
        </p:nvSpPr>
        <p:spPr>
          <a:xfrm rot="0">
            <a:off x="9620085" y="3356799"/>
            <a:ext cx="7516035" cy="1776984"/>
          </a:xfrm>
          <a:prstGeom prst="rect">
            <a:avLst/>
          </a:prstGeom>
        </p:spPr>
        <p:txBody>
          <a:bodyPr anchor="t" rtlCol="false" tIns="0" lIns="0" bIns="0" rIns="0">
            <a:spAutoFit/>
          </a:bodyPr>
          <a:lstStyle/>
          <a:p>
            <a:pPr algn="l">
              <a:lnSpc>
                <a:spcPts val="3528"/>
              </a:lnSpc>
            </a:pPr>
            <a:r>
              <a:rPr lang="en-US" sz="2100" b="true">
                <a:solidFill>
                  <a:srgbClr val="1A1A1A"/>
                </a:solidFill>
                <a:latin typeface="Raleway Bold"/>
                <a:ea typeface="Raleway Bold"/>
                <a:cs typeface="Raleway Bold"/>
                <a:sym typeface="Raleway Bold"/>
              </a:rPr>
              <a:t>1. Operational Cost Efficiency</a:t>
            </a:r>
          </a:p>
          <a:p>
            <a:pPr algn="l">
              <a:lnSpc>
                <a:spcPts val="3528"/>
              </a:lnSpc>
            </a:pPr>
            <a:r>
              <a:rPr lang="en-US" sz="2100">
                <a:solidFill>
                  <a:srgbClr val="1A1A1A"/>
                </a:solidFill>
                <a:latin typeface="Raleway"/>
                <a:ea typeface="Raleway"/>
                <a:cs typeface="Raleway"/>
                <a:sym typeface="Raleway"/>
              </a:rPr>
              <a:t>Organizations adopting data-driven strategies report a </a:t>
            </a:r>
            <a:r>
              <a:rPr lang="en-US" sz="2100" u="sng">
                <a:solidFill>
                  <a:srgbClr val="1A1A1A"/>
                </a:solidFill>
                <a:latin typeface="Raleway"/>
                <a:ea typeface="Raleway"/>
                <a:cs typeface="Raleway"/>
                <a:sym typeface="Raleway"/>
                <a:hlinkClick r:id="rId6" tooltip="https://www.linkedin.com/pulse/2024-statistical-analysis-us-recruitment-industry-helixtechservices-ipewc"/>
              </a:rPr>
              <a:t>20-30%</a:t>
            </a:r>
            <a:r>
              <a:rPr lang="en-US" sz="2100">
                <a:solidFill>
                  <a:srgbClr val="1A1A1A"/>
                </a:solidFill>
                <a:latin typeface="Raleway"/>
                <a:ea typeface="Raleway"/>
                <a:cs typeface="Raleway"/>
                <a:sym typeface="Raleway"/>
              </a:rPr>
              <a:t> reduction in hiring costs by decreasing reliance on third-party agencies and manual labor.</a:t>
            </a:r>
          </a:p>
        </p:txBody>
      </p:sp>
      <p:sp>
        <p:nvSpPr>
          <p:cNvPr name="TextBox 17" id="17"/>
          <p:cNvSpPr txBox="true"/>
          <p:nvPr/>
        </p:nvSpPr>
        <p:spPr>
          <a:xfrm rot="0">
            <a:off x="9620085" y="5422200"/>
            <a:ext cx="7516035" cy="1776984"/>
          </a:xfrm>
          <a:prstGeom prst="rect">
            <a:avLst/>
          </a:prstGeom>
        </p:spPr>
        <p:txBody>
          <a:bodyPr anchor="t" rtlCol="false" tIns="0" lIns="0" bIns="0" rIns="0">
            <a:spAutoFit/>
          </a:bodyPr>
          <a:lstStyle/>
          <a:p>
            <a:pPr algn="l">
              <a:lnSpc>
                <a:spcPts val="3528"/>
              </a:lnSpc>
            </a:pPr>
            <a:r>
              <a:rPr lang="en-US" sz="2100" b="true">
                <a:solidFill>
                  <a:srgbClr val="1A1A1A"/>
                </a:solidFill>
                <a:latin typeface="Raleway Bold"/>
                <a:ea typeface="Raleway Bold"/>
                <a:cs typeface="Raleway Bold"/>
                <a:sym typeface="Raleway Bold"/>
              </a:rPr>
              <a:t>2. Reduced Attrition</a:t>
            </a:r>
          </a:p>
          <a:p>
            <a:pPr algn="l">
              <a:lnSpc>
                <a:spcPts val="3528"/>
              </a:lnSpc>
            </a:pPr>
            <a:r>
              <a:rPr lang="en-US" sz="2100">
                <a:solidFill>
                  <a:srgbClr val="1A1A1A"/>
                </a:solidFill>
                <a:latin typeface="Raleway"/>
                <a:ea typeface="Raleway"/>
                <a:cs typeface="Raleway"/>
                <a:sym typeface="Raleway"/>
              </a:rPr>
              <a:t>Predictive models can identify high-risk departures with </a:t>
            </a:r>
            <a:r>
              <a:rPr lang="en-US" sz="2100" u="sng">
                <a:solidFill>
                  <a:srgbClr val="1A1A1A"/>
                </a:solidFill>
                <a:latin typeface="Raleway"/>
                <a:ea typeface="Raleway"/>
                <a:cs typeface="Raleway"/>
                <a:sym typeface="Raleway"/>
                <a:hlinkClick r:id="rId7" tooltip="https://www.mdpi.com/2076-3417/14/24/11750#AI_in_Retention_and_Attrition_Prediction"/>
              </a:rPr>
              <a:t>90% accuracy,</a:t>
            </a:r>
            <a:r>
              <a:rPr lang="en-US" sz="2100">
                <a:solidFill>
                  <a:srgbClr val="1A1A1A"/>
                </a:solidFill>
                <a:latin typeface="Raleway"/>
                <a:ea typeface="Raleway"/>
                <a:cs typeface="Raleway"/>
                <a:sym typeface="Raleway"/>
              </a:rPr>
              <a:t> allowing for proactive interventions that protect your recruitment ROI.</a:t>
            </a:r>
          </a:p>
        </p:txBody>
      </p:sp>
      <p:sp>
        <p:nvSpPr>
          <p:cNvPr name="TextBox 18" id="18"/>
          <p:cNvSpPr txBox="true"/>
          <p:nvPr/>
        </p:nvSpPr>
        <p:spPr>
          <a:xfrm rot="0">
            <a:off x="9620085" y="7481316"/>
            <a:ext cx="7639215" cy="1776984"/>
          </a:xfrm>
          <a:prstGeom prst="rect">
            <a:avLst/>
          </a:prstGeom>
        </p:spPr>
        <p:txBody>
          <a:bodyPr anchor="t" rtlCol="false" tIns="0" lIns="0" bIns="0" rIns="0">
            <a:spAutoFit/>
          </a:bodyPr>
          <a:lstStyle/>
          <a:p>
            <a:pPr algn="l">
              <a:lnSpc>
                <a:spcPts val="3528"/>
              </a:lnSpc>
            </a:pPr>
            <a:r>
              <a:rPr lang="en-US" sz="2100" b="true">
                <a:solidFill>
                  <a:srgbClr val="1A1A1A"/>
                </a:solidFill>
                <a:latin typeface="Raleway Bold"/>
                <a:ea typeface="Raleway Bold"/>
                <a:cs typeface="Raleway Bold"/>
                <a:sym typeface="Raleway Bold"/>
              </a:rPr>
              <a:t>3. Diversity &amp; Inclusion</a:t>
            </a:r>
          </a:p>
          <a:p>
            <a:pPr algn="l">
              <a:lnSpc>
                <a:spcPts val="3528"/>
              </a:lnSpc>
            </a:pPr>
            <a:r>
              <a:rPr lang="en-US" sz="2100">
                <a:solidFill>
                  <a:srgbClr val="1A1A1A"/>
                </a:solidFill>
                <a:latin typeface="Raleway"/>
                <a:ea typeface="Raleway"/>
                <a:cs typeface="Raleway"/>
                <a:sym typeface="Raleway"/>
              </a:rPr>
              <a:t>Data-driven systems can reduce un</a:t>
            </a:r>
            <a:r>
              <a:rPr lang="en-US" sz="2100" u="none">
                <a:solidFill>
                  <a:srgbClr val="1A1A1A"/>
                </a:solidFill>
                <a:latin typeface="Raleway"/>
                <a:ea typeface="Raleway"/>
                <a:cs typeface="Raleway"/>
                <a:sym typeface="Raleway"/>
              </a:rPr>
              <a:t>c</a:t>
            </a:r>
            <a:r>
              <a:rPr lang="en-US" sz="2100">
                <a:solidFill>
                  <a:srgbClr val="1A1A1A"/>
                </a:solidFill>
                <a:latin typeface="Raleway"/>
                <a:ea typeface="Raleway"/>
                <a:cs typeface="Raleway"/>
                <a:sym typeface="Raleway"/>
              </a:rPr>
              <a:t>ons</a:t>
            </a:r>
            <a:r>
              <a:rPr lang="en-US" sz="2100" u="none">
                <a:solidFill>
                  <a:srgbClr val="1A1A1A"/>
                </a:solidFill>
                <a:latin typeface="Raleway"/>
                <a:ea typeface="Raleway"/>
                <a:cs typeface="Raleway"/>
                <a:sym typeface="Raleway"/>
              </a:rPr>
              <a:t>c</a:t>
            </a:r>
            <a:r>
              <a:rPr lang="en-US" sz="2100">
                <a:solidFill>
                  <a:srgbClr val="1A1A1A"/>
                </a:solidFill>
                <a:latin typeface="Raleway"/>
                <a:ea typeface="Raleway"/>
                <a:cs typeface="Raleway"/>
                <a:sym typeface="Raleway"/>
              </a:rPr>
              <a:t>io</a:t>
            </a:r>
            <a:r>
              <a:rPr lang="en-US" sz="2100" u="none">
                <a:solidFill>
                  <a:srgbClr val="1A1A1A"/>
                </a:solidFill>
                <a:latin typeface="Raleway"/>
                <a:ea typeface="Raleway"/>
                <a:cs typeface="Raleway"/>
                <a:sym typeface="Raleway"/>
              </a:rPr>
              <a:t>u</a:t>
            </a:r>
            <a:r>
              <a:rPr lang="en-US" sz="2100">
                <a:solidFill>
                  <a:srgbClr val="1A1A1A"/>
                </a:solidFill>
                <a:latin typeface="Raleway"/>
                <a:ea typeface="Raleway"/>
                <a:cs typeface="Raleway"/>
                <a:sym typeface="Raleway"/>
              </a:rPr>
              <a:t>s bi</a:t>
            </a:r>
            <a:r>
              <a:rPr lang="en-US" sz="2100" u="none">
                <a:solidFill>
                  <a:srgbClr val="1A1A1A"/>
                </a:solidFill>
                <a:latin typeface="Raleway"/>
                <a:ea typeface="Raleway"/>
                <a:cs typeface="Raleway"/>
                <a:sym typeface="Raleway"/>
              </a:rPr>
              <a:t>a</a:t>
            </a:r>
            <a:r>
              <a:rPr lang="en-US" sz="2100">
                <a:solidFill>
                  <a:srgbClr val="1A1A1A"/>
                </a:solidFill>
                <a:latin typeface="Raleway"/>
                <a:ea typeface="Raleway"/>
                <a:cs typeface="Raleway"/>
                <a:sym typeface="Raleway"/>
              </a:rPr>
              <a:t>s b</a:t>
            </a:r>
            <a:r>
              <a:rPr lang="en-US" sz="2100" u="none">
                <a:solidFill>
                  <a:srgbClr val="1A1A1A"/>
                </a:solidFill>
                <a:latin typeface="Raleway"/>
                <a:ea typeface="Raleway"/>
                <a:cs typeface="Raleway"/>
                <a:sym typeface="Raleway"/>
              </a:rPr>
              <a:t>y</a:t>
            </a:r>
            <a:r>
              <a:rPr lang="en-US" sz="2100">
                <a:solidFill>
                  <a:srgbClr val="1A1A1A"/>
                </a:solidFill>
                <a:latin typeface="Raleway"/>
                <a:ea typeface="Raleway"/>
                <a:cs typeface="Raleway"/>
                <a:sym typeface="Raleway"/>
              </a:rPr>
              <a:t> anonymizing candidate profiles (removing name, gender, age) and focusing strictly on objective qualifications.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1009650"/>
            <a:ext cx="15193947" cy="723900"/>
          </a:xfrm>
          <a:prstGeom prst="rect">
            <a:avLst/>
          </a:prstGeom>
        </p:spPr>
        <p:txBody>
          <a:bodyPr anchor="t" rtlCol="false" tIns="0" lIns="0" bIns="0" rIns="0">
            <a:spAutoFit/>
          </a:bodyPr>
          <a:lstStyle/>
          <a:p>
            <a:pPr algn="ctr">
              <a:lnSpc>
                <a:spcPts val="5616"/>
              </a:lnSpc>
            </a:pPr>
            <a:r>
              <a:rPr lang="en-US" b="true" sz="4680">
                <a:solidFill>
                  <a:srgbClr val="1A1A1A"/>
                </a:solidFill>
                <a:latin typeface="Raleway Bold"/>
                <a:ea typeface="Raleway Bold"/>
                <a:cs typeface="Raleway Bold"/>
                <a:sym typeface="Raleway Bold"/>
              </a:rPr>
              <a:t>Project Timeline &amp; Workflow (CRISP-DM)</a:t>
            </a:r>
          </a:p>
        </p:txBody>
      </p:sp>
      <p:grpSp>
        <p:nvGrpSpPr>
          <p:cNvPr name="Group 4" id="4"/>
          <p:cNvGrpSpPr/>
          <p:nvPr/>
        </p:nvGrpSpPr>
        <p:grpSpPr>
          <a:xfrm rot="0">
            <a:off x="969184" y="3394887"/>
            <a:ext cx="16349632" cy="3497226"/>
            <a:chOff x="0" y="0"/>
            <a:chExt cx="21799509" cy="4662968"/>
          </a:xfrm>
        </p:grpSpPr>
        <p:sp>
          <p:nvSpPr>
            <p:cNvPr name="TextBox 5" id="5"/>
            <p:cNvSpPr txBox="true"/>
            <p:nvPr/>
          </p:nvSpPr>
          <p:spPr>
            <a:xfrm rot="0">
              <a:off x="0" y="3985971"/>
              <a:ext cx="3438695" cy="676997"/>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Problem Statement, Goals &amp; Objectives</a:t>
              </a:r>
            </a:p>
          </p:txBody>
        </p:sp>
        <p:sp>
          <p:nvSpPr>
            <p:cNvPr name="TextBox 6" id="6"/>
            <p:cNvSpPr txBox="true"/>
            <p:nvPr/>
          </p:nvSpPr>
          <p:spPr>
            <a:xfrm rot="0">
              <a:off x="4017566" y="4047303"/>
              <a:ext cx="3342819" cy="343261"/>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Exploratory Data Analysis</a:t>
              </a:r>
            </a:p>
          </p:txBody>
        </p:sp>
        <p:sp>
          <p:nvSpPr>
            <p:cNvPr name="TextBox 7" id="7"/>
            <p:cNvSpPr txBox="true"/>
            <p:nvPr/>
          </p:nvSpPr>
          <p:spPr>
            <a:xfrm rot="0">
              <a:off x="7542845" y="3985971"/>
              <a:ext cx="3342819" cy="676997"/>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Preprocessing &amp; Feature Enginering</a:t>
              </a:r>
            </a:p>
          </p:txBody>
        </p:sp>
        <p:sp>
          <p:nvSpPr>
            <p:cNvPr name="TextBox 8" id="8"/>
            <p:cNvSpPr txBox="true"/>
            <p:nvPr/>
          </p:nvSpPr>
          <p:spPr>
            <a:xfrm rot="0">
              <a:off x="11019159" y="3985971"/>
              <a:ext cx="3342819" cy="676997"/>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Model Training &amp; Prediction</a:t>
              </a:r>
            </a:p>
          </p:txBody>
        </p:sp>
        <p:sp>
          <p:nvSpPr>
            <p:cNvPr name="TextBox 9" id="9"/>
            <p:cNvSpPr txBox="true"/>
            <p:nvPr/>
          </p:nvSpPr>
          <p:spPr>
            <a:xfrm rot="0">
              <a:off x="14452637" y="3985971"/>
              <a:ext cx="3342819" cy="676997"/>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Performance Assessment &amp; Validation</a:t>
              </a:r>
            </a:p>
          </p:txBody>
        </p:sp>
        <p:grpSp>
          <p:nvGrpSpPr>
            <p:cNvPr name="Group 10" id="10"/>
            <p:cNvGrpSpPr/>
            <p:nvPr/>
          </p:nvGrpSpPr>
          <p:grpSpPr>
            <a:xfrm rot="0">
              <a:off x="0" y="2925805"/>
              <a:ext cx="4017566" cy="1131023"/>
              <a:chOff x="0" y="0"/>
              <a:chExt cx="3822116" cy="1076000"/>
            </a:xfrm>
          </p:grpSpPr>
          <p:sp>
            <p:nvSpPr>
              <p:cNvPr name="Freeform 11" id="11"/>
              <p:cNvSpPr/>
              <p:nvPr/>
            </p:nvSpPr>
            <p:spPr>
              <a:xfrm flipH="false" flipV="false" rot="0">
                <a:off x="0" y="0"/>
                <a:ext cx="3822121" cy="1076005"/>
              </a:xfrm>
              <a:custGeom>
                <a:avLst/>
                <a:gdLst/>
                <a:ahLst/>
                <a:cxnLst/>
                <a:rect r="r" b="b" t="t" l="l"/>
                <a:pathLst>
                  <a:path h="1076005" w="3822121">
                    <a:moveTo>
                      <a:pt x="0" y="0"/>
                    </a:moveTo>
                    <a:lnTo>
                      <a:pt x="3822121" y="0"/>
                    </a:lnTo>
                    <a:lnTo>
                      <a:pt x="3822121" y="1076005"/>
                    </a:lnTo>
                    <a:lnTo>
                      <a:pt x="0" y="1076005"/>
                    </a:lnTo>
                    <a:close/>
                  </a:path>
                </a:pathLst>
              </a:custGeom>
              <a:blipFill>
                <a:blip r:embed="rId4">
                  <a:alphaModFix amt="0"/>
                </a:blip>
                <a:stretch>
                  <a:fillRect l="0" t="-13656" r="8030" b="-13655"/>
                </a:stretch>
              </a:blipFill>
            </p:spPr>
          </p:sp>
          <p:sp>
            <p:nvSpPr>
              <p:cNvPr name="TextBox 12" id="12"/>
              <p:cNvSpPr txBox="true"/>
              <p:nvPr/>
            </p:nvSpPr>
            <p:spPr>
              <a:xfrm>
                <a:off x="0" y="-19050"/>
                <a:ext cx="3822116" cy="1095050"/>
              </a:xfrm>
              <a:prstGeom prst="rect">
                <a:avLst/>
              </a:prstGeom>
            </p:spPr>
            <p:txBody>
              <a:bodyPr anchor="ctr" rtlCol="false" tIns="0" lIns="0" bIns="0" rIns="0"/>
              <a:lstStyle/>
              <a:p>
                <a:pPr algn="l">
                  <a:lnSpc>
                    <a:spcPts val="2400"/>
                  </a:lnSpc>
                </a:pPr>
                <a:r>
                  <a:rPr lang="en-US" sz="2000" b="true">
                    <a:solidFill>
                      <a:srgbClr val="1A1A1A"/>
                    </a:solidFill>
                    <a:latin typeface="Roboto Bold"/>
                    <a:ea typeface="Roboto Bold"/>
                    <a:cs typeface="Roboto Bold"/>
                    <a:sym typeface="Roboto Bold"/>
                  </a:rPr>
                  <a:t>Stage 0</a:t>
                </a:r>
              </a:p>
              <a:p>
                <a:pPr algn="l">
                  <a:lnSpc>
                    <a:spcPts val="2400"/>
                  </a:lnSpc>
                </a:pPr>
                <a:r>
                  <a:rPr lang="en-US" sz="2000">
                    <a:solidFill>
                      <a:srgbClr val="1A1A1A"/>
                    </a:solidFill>
                    <a:latin typeface="Roboto"/>
                    <a:ea typeface="Roboto"/>
                    <a:cs typeface="Roboto"/>
                    <a:sym typeface="Roboto"/>
                  </a:rPr>
                  <a:t>Business Understanding</a:t>
                </a:r>
              </a:p>
            </p:txBody>
          </p:sp>
        </p:grpSp>
        <p:grpSp>
          <p:nvGrpSpPr>
            <p:cNvPr name="Group 13" id="13"/>
            <p:cNvGrpSpPr/>
            <p:nvPr/>
          </p:nvGrpSpPr>
          <p:grpSpPr>
            <a:xfrm rot="0">
              <a:off x="4017566" y="2925805"/>
              <a:ext cx="3599088" cy="1131023"/>
              <a:chOff x="0" y="0"/>
              <a:chExt cx="3423996" cy="1076000"/>
            </a:xfrm>
          </p:grpSpPr>
          <p:sp>
            <p:nvSpPr>
              <p:cNvPr name="Freeform 14" id="14"/>
              <p:cNvSpPr/>
              <p:nvPr/>
            </p:nvSpPr>
            <p:spPr>
              <a:xfrm flipH="false" flipV="false" rot="0">
                <a:off x="0" y="0"/>
                <a:ext cx="3424000" cy="1076005"/>
              </a:xfrm>
              <a:custGeom>
                <a:avLst/>
                <a:gdLst/>
                <a:ahLst/>
                <a:cxnLst/>
                <a:rect r="r" b="b" t="t" l="l"/>
                <a:pathLst>
                  <a:path h="1076005" w="3424000">
                    <a:moveTo>
                      <a:pt x="0" y="0"/>
                    </a:moveTo>
                    <a:lnTo>
                      <a:pt x="3424000" y="0"/>
                    </a:lnTo>
                    <a:lnTo>
                      <a:pt x="3424000" y="1076005"/>
                    </a:lnTo>
                    <a:lnTo>
                      <a:pt x="0" y="1076005"/>
                    </a:lnTo>
                    <a:close/>
                  </a:path>
                </a:pathLst>
              </a:custGeom>
              <a:blipFill>
                <a:blip r:embed="rId4">
                  <a:alphaModFix amt="0"/>
                </a:blip>
                <a:stretch>
                  <a:fillRect l="0" t="-12004" r="0" b="-12003"/>
                </a:stretch>
              </a:blipFill>
            </p:spPr>
          </p:sp>
          <p:sp>
            <p:nvSpPr>
              <p:cNvPr name="TextBox 15" id="15"/>
              <p:cNvSpPr txBox="true"/>
              <p:nvPr/>
            </p:nvSpPr>
            <p:spPr>
              <a:xfrm>
                <a:off x="0" y="-19050"/>
                <a:ext cx="3423996" cy="1095050"/>
              </a:xfrm>
              <a:prstGeom prst="rect">
                <a:avLst/>
              </a:prstGeom>
            </p:spPr>
            <p:txBody>
              <a:bodyPr anchor="ctr" rtlCol="false" tIns="0" lIns="0" bIns="0" rIns="0"/>
              <a:lstStyle/>
              <a:p>
                <a:pPr algn="l">
                  <a:lnSpc>
                    <a:spcPts val="2400"/>
                  </a:lnSpc>
                </a:pPr>
                <a:r>
                  <a:rPr lang="en-US" sz="2000" b="true">
                    <a:solidFill>
                      <a:srgbClr val="1A1A1A"/>
                    </a:solidFill>
                    <a:latin typeface="Roboto Bold"/>
                    <a:ea typeface="Roboto Bold"/>
                    <a:cs typeface="Roboto Bold"/>
                    <a:sym typeface="Roboto Bold"/>
                  </a:rPr>
                  <a:t>Stage 1</a:t>
                </a:r>
              </a:p>
              <a:p>
                <a:pPr algn="l">
                  <a:lnSpc>
                    <a:spcPts val="2400"/>
                  </a:lnSpc>
                </a:pPr>
                <a:r>
                  <a:rPr lang="en-US" sz="2000">
                    <a:solidFill>
                      <a:srgbClr val="1A1A1A"/>
                    </a:solidFill>
                    <a:latin typeface="Roboto"/>
                    <a:ea typeface="Roboto"/>
                    <a:cs typeface="Roboto"/>
                    <a:sym typeface="Roboto"/>
                  </a:rPr>
                  <a:t>Data Understanding</a:t>
                </a:r>
              </a:p>
            </p:txBody>
          </p:sp>
        </p:grpSp>
        <p:grpSp>
          <p:nvGrpSpPr>
            <p:cNvPr name="Group 16" id="16"/>
            <p:cNvGrpSpPr/>
            <p:nvPr/>
          </p:nvGrpSpPr>
          <p:grpSpPr>
            <a:xfrm rot="0">
              <a:off x="7542845" y="3429984"/>
              <a:ext cx="3599088" cy="565512"/>
              <a:chOff x="0" y="0"/>
              <a:chExt cx="3423996" cy="538000"/>
            </a:xfrm>
          </p:grpSpPr>
          <p:sp>
            <p:nvSpPr>
              <p:cNvPr name="Freeform 17" id="17"/>
              <p:cNvSpPr/>
              <p:nvPr/>
            </p:nvSpPr>
            <p:spPr>
              <a:xfrm flipH="false" flipV="false" rot="0">
                <a:off x="0" y="0"/>
                <a:ext cx="3424000" cy="538005"/>
              </a:xfrm>
              <a:custGeom>
                <a:avLst/>
                <a:gdLst/>
                <a:ahLst/>
                <a:cxnLst/>
                <a:rect r="r" b="b" t="t" l="l"/>
                <a:pathLst>
                  <a:path h="538005" w="3424000">
                    <a:moveTo>
                      <a:pt x="0" y="0"/>
                    </a:moveTo>
                    <a:lnTo>
                      <a:pt x="3424000" y="0"/>
                    </a:lnTo>
                    <a:lnTo>
                      <a:pt x="3424000" y="538005"/>
                    </a:lnTo>
                    <a:lnTo>
                      <a:pt x="0" y="538005"/>
                    </a:lnTo>
                    <a:close/>
                  </a:path>
                </a:pathLst>
              </a:custGeom>
              <a:blipFill>
                <a:blip r:embed="rId4">
                  <a:alphaModFix amt="0"/>
                </a:blip>
                <a:stretch>
                  <a:fillRect l="0" t="-24008" r="0" b="-124006"/>
                </a:stretch>
              </a:blipFill>
            </p:spPr>
          </p:sp>
          <p:sp>
            <p:nvSpPr>
              <p:cNvPr name="TextBox 18" id="18"/>
              <p:cNvSpPr txBox="true"/>
              <p:nvPr/>
            </p:nvSpPr>
            <p:spPr>
              <a:xfrm>
                <a:off x="0" y="-19050"/>
                <a:ext cx="3423996" cy="557050"/>
              </a:xfrm>
              <a:prstGeom prst="rect">
                <a:avLst/>
              </a:prstGeom>
            </p:spPr>
            <p:txBody>
              <a:bodyPr anchor="ctr" rtlCol="false" tIns="0" lIns="0" bIns="0" rIns="0"/>
              <a:lstStyle/>
              <a:p>
                <a:pPr algn="l">
                  <a:lnSpc>
                    <a:spcPts val="2400"/>
                  </a:lnSpc>
                </a:pPr>
                <a:r>
                  <a:rPr lang="en-US" sz="2000">
                    <a:solidFill>
                      <a:srgbClr val="1A1A1A"/>
                    </a:solidFill>
                    <a:latin typeface="Roboto"/>
                    <a:ea typeface="Roboto"/>
                    <a:cs typeface="Roboto"/>
                    <a:sym typeface="Roboto"/>
                  </a:rPr>
                  <a:t>Data Preparation</a:t>
                </a:r>
              </a:p>
            </p:txBody>
          </p:sp>
        </p:grpSp>
        <p:grpSp>
          <p:nvGrpSpPr>
            <p:cNvPr name="Group 19" id="19"/>
            <p:cNvGrpSpPr/>
            <p:nvPr/>
          </p:nvGrpSpPr>
          <p:grpSpPr>
            <a:xfrm rot="0">
              <a:off x="11000843" y="2925805"/>
              <a:ext cx="3599088" cy="1131023"/>
              <a:chOff x="0" y="0"/>
              <a:chExt cx="3423996" cy="1076000"/>
            </a:xfrm>
          </p:grpSpPr>
          <p:sp>
            <p:nvSpPr>
              <p:cNvPr name="Freeform 20" id="20"/>
              <p:cNvSpPr/>
              <p:nvPr/>
            </p:nvSpPr>
            <p:spPr>
              <a:xfrm flipH="false" flipV="false" rot="0">
                <a:off x="0" y="0"/>
                <a:ext cx="3424000" cy="1076005"/>
              </a:xfrm>
              <a:custGeom>
                <a:avLst/>
                <a:gdLst/>
                <a:ahLst/>
                <a:cxnLst/>
                <a:rect r="r" b="b" t="t" l="l"/>
                <a:pathLst>
                  <a:path h="1076005" w="3424000">
                    <a:moveTo>
                      <a:pt x="0" y="0"/>
                    </a:moveTo>
                    <a:lnTo>
                      <a:pt x="3424000" y="0"/>
                    </a:lnTo>
                    <a:lnTo>
                      <a:pt x="3424000" y="1076005"/>
                    </a:lnTo>
                    <a:lnTo>
                      <a:pt x="0" y="1076005"/>
                    </a:lnTo>
                    <a:close/>
                  </a:path>
                </a:pathLst>
              </a:custGeom>
              <a:blipFill>
                <a:blip r:embed="rId4">
                  <a:alphaModFix amt="0"/>
                </a:blip>
                <a:stretch>
                  <a:fillRect l="0" t="-12004" r="0" b="-12003"/>
                </a:stretch>
              </a:blipFill>
            </p:spPr>
          </p:sp>
          <p:sp>
            <p:nvSpPr>
              <p:cNvPr name="TextBox 21" id="21"/>
              <p:cNvSpPr txBox="true"/>
              <p:nvPr/>
            </p:nvSpPr>
            <p:spPr>
              <a:xfrm>
                <a:off x="0" y="-19050"/>
                <a:ext cx="3423996" cy="1095050"/>
              </a:xfrm>
              <a:prstGeom prst="rect">
                <a:avLst/>
              </a:prstGeom>
            </p:spPr>
            <p:txBody>
              <a:bodyPr anchor="ctr" rtlCol="false" tIns="0" lIns="0" bIns="0" rIns="0"/>
              <a:lstStyle/>
              <a:p>
                <a:pPr algn="l">
                  <a:lnSpc>
                    <a:spcPts val="2400"/>
                  </a:lnSpc>
                </a:pPr>
                <a:r>
                  <a:rPr lang="en-US" sz="2000" b="true">
                    <a:solidFill>
                      <a:srgbClr val="1A1A1A"/>
                    </a:solidFill>
                    <a:latin typeface="Roboto Bold"/>
                    <a:ea typeface="Roboto Bold"/>
                    <a:cs typeface="Roboto Bold"/>
                    <a:sym typeface="Roboto Bold"/>
                  </a:rPr>
                  <a:t>Stage 2</a:t>
                </a:r>
              </a:p>
              <a:p>
                <a:pPr algn="l">
                  <a:lnSpc>
                    <a:spcPts val="2400"/>
                  </a:lnSpc>
                </a:pPr>
                <a:r>
                  <a:rPr lang="en-US" sz="2000">
                    <a:solidFill>
                      <a:srgbClr val="1A1A1A"/>
                    </a:solidFill>
                    <a:latin typeface="Roboto"/>
                    <a:ea typeface="Roboto"/>
                    <a:cs typeface="Roboto"/>
                    <a:sym typeface="Roboto"/>
                  </a:rPr>
                  <a:t>Modeling</a:t>
                </a:r>
              </a:p>
            </p:txBody>
          </p:sp>
        </p:grpSp>
        <p:grpSp>
          <p:nvGrpSpPr>
            <p:cNvPr name="Group 22" id="22"/>
            <p:cNvGrpSpPr/>
            <p:nvPr/>
          </p:nvGrpSpPr>
          <p:grpSpPr>
            <a:xfrm rot="0">
              <a:off x="14446386" y="2925805"/>
              <a:ext cx="3599088" cy="1131023"/>
              <a:chOff x="0" y="0"/>
              <a:chExt cx="3423996" cy="1076000"/>
            </a:xfrm>
          </p:grpSpPr>
          <p:sp>
            <p:nvSpPr>
              <p:cNvPr name="Freeform 23" id="23"/>
              <p:cNvSpPr/>
              <p:nvPr/>
            </p:nvSpPr>
            <p:spPr>
              <a:xfrm flipH="false" flipV="false" rot="0">
                <a:off x="0" y="0"/>
                <a:ext cx="3424000" cy="1076005"/>
              </a:xfrm>
              <a:custGeom>
                <a:avLst/>
                <a:gdLst/>
                <a:ahLst/>
                <a:cxnLst/>
                <a:rect r="r" b="b" t="t" l="l"/>
                <a:pathLst>
                  <a:path h="1076005" w="3424000">
                    <a:moveTo>
                      <a:pt x="0" y="0"/>
                    </a:moveTo>
                    <a:lnTo>
                      <a:pt x="3424000" y="0"/>
                    </a:lnTo>
                    <a:lnTo>
                      <a:pt x="3424000" y="1076005"/>
                    </a:lnTo>
                    <a:lnTo>
                      <a:pt x="0" y="1076005"/>
                    </a:lnTo>
                    <a:close/>
                  </a:path>
                </a:pathLst>
              </a:custGeom>
              <a:blipFill>
                <a:blip r:embed="rId4">
                  <a:alphaModFix amt="0"/>
                </a:blip>
                <a:stretch>
                  <a:fillRect l="0" t="-12004" r="0" b="-12003"/>
                </a:stretch>
              </a:blipFill>
            </p:spPr>
          </p:sp>
          <p:sp>
            <p:nvSpPr>
              <p:cNvPr name="TextBox 24" id="24"/>
              <p:cNvSpPr txBox="true"/>
              <p:nvPr/>
            </p:nvSpPr>
            <p:spPr>
              <a:xfrm>
                <a:off x="0" y="-19050"/>
                <a:ext cx="3423996" cy="1095050"/>
              </a:xfrm>
              <a:prstGeom prst="rect">
                <a:avLst/>
              </a:prstGeom>
            </p:spPr>
            <p:txBody>
              <a:bodyPr anchor="ctr" rtlCol="false" tIns="0" lIns="0" bIns="0" rIns="0"/>
              <a:lstStyle/>
              <a:p>
                <a:pPr algn="l">
                  <a:lnSpc>
                    <a:spcPts val="2400"/>
                  </a:lnSpc>
                </a:pPr>
                <a:r>
                  <a:rPr lang="en-US" sz="2000" b="true">
                    <a:solidFill>
                      <a:srgbClr val="1A1A1A"/>
                    </a:solidFill>
                    <a:latin typeface="Roboto Bold"/>
                    <a:ea typeface="Roboto Bold"/>
                    <a:cs typeface="Roboto Bold"/>
                    <a:sym typeface="Roboto Bold"/>
                  </a:rPr>
                  <a:t>Stage 3</a:t>
                </a:r>
              </a:p>
              <a:p>
                <a:pPr algn="l">
                  <a:lnSpc>
                    <a:spcPts val="2400"/>
                  </a:lnSpc>
                </a:pPr>
                <a:r>
                  <a:rPr lang="en-US" sz="2000">
                    <a:solidFill>
                      <a:srgbClr val="1A1A1A"/>
                    </a:solidFill>
                    <a:latin typeface="Roboto"/>
                    <a:ea typeface="Roboto"/>
                    <a:cs typeface="Roboto"/>
                    <a:sym typeface="Roboto"/>
                  </a:rPr>
                  <a:t>Model </a:t>
                </a:r>
                <a:r>
                  <a:rPr lang="en-US" sz="2000">
                    <a:solidFill>
                      <a:srgbClr val="1A1A1A"/>
                    </a:solidFill>
                    <a:latin typeface="Roboto"/>
                    <a:ea typeface="Roboto"/>
                    <a:cs typeface="Roboto"/>
                    <a:sym typeface="Roboto"/>
                  </a:rPr>
                  <a:t>Evaluation</a:t>
                </a:r>
              </a:p>
            </p:txBody>
          </p:sp>
        </p:grpSp>
        <p:grpSp>
          <p:nvGrpSpPr>
            <p:cNvPr name="Group 25" id="25"/>
            <p:cNvGrpSpPr/>
            <p:nvPr/>
          </p:nvGrpSpPr>
          <p:grpSpPr>
            <a:xfrm rot="0">
              <a:off x="18200421" y="2925805"/>
              <a:ext cx="3599088" cy="1131023"/>
              <a:chOff x="0" y="0"/>
              <a:chExt cx="3423996" cy="1076000"/>
            </a:xfrm>
          </p:grpSpPr>
          <p:sp>
            <p:nvSpPr>
              <p:cNvPr name="Freeform 26" id="26"/>
              <p:cNvSpPr/>
              <p:nvPr/>
            </p:nvSpPr>
            <p:spPr>
              <a:xfrm flipH="false" flipV="false" rot="0">
                <a:off x="0" y="0"/>
                <a:ext cx="3424000" cy="1076005"/>
              </a:xfrm>
              <a:custGeom>
                <a:avLst/>
                <a:gdLst/>
                <a:ahLst/>
                <a:cxnLst/>
                <a:rect r="r" b="b" t="t" l="l"/>
                <a:pathLst>
                  <a:path h="1076005" w="3424000">
                    <a:moveTo>
                      <a:pt x="0" y="0"/>
                    </a:moveTo>
                    <a:lnTo>
                      <a:pt x="3424000" y="0"/>
                    </a:lnTo>
                    <a:lnTo>
                      <a:pt x="3424000" y="1076005"/>
                    </a:lnTo>
                    <a:lnTo>
                      <a:pt x="0" y="1076005"/>
                    </a:lnTo>
                    <a:close/>
                  </a:path>
                </a:pathLst>
              </a:custGeom>
              <a:blipFill>
                <a:blip r:embed="rId4">
                  <a:alphaModFix amt="0"/>
                </a:blip>
                <a:stretch>
                  <a:fillRect l="0" t="-12004" r="0" b="-12003"/>
                </a:stretch>
              </a:blipFill>
            </p:spPr>
          </p:sp>
          <p:sp>
            <p:nvSpPr>
              <p:cNvPr name="TextBox 27" id="27"/>
              <p:cNvSpPr txBox="true"/>
              <p:nvPr/>
            </p:nvSpPr>
            <p:spPr>
              <a:xfrm>
                <a:off x="0" y="-19050"/>
                <a:ext cx="3423996" cy="1095050"/>
              </a:xfrm>
              <a:prstGeom prst="rect">
                <a:avLst/>
              </a:prstGeom>
            </p:spPr>
            <p:txBody>
              <a:bodyPr anchor="ctr" rtlCol="false" tIns="0" lIns="0" bIns="0" rIns="0"/>
              <a:lstStyle/>
              <a:p>
                <a:pPr algn="l">
                  <a:lnSpc>
                    <a:spcPts val="2400"/>
                  </a:lnSpc>
                </a:pPr>
                <a:r>
                  <a:rPr lang="en-US" sz="2000" b="true">
                    <a:solidFill>
                      <a:srgbClr val="1A1A1A"/>
                    </a:solidFill>
                    <a:latin typeface="Roboto Bold"/>
                    <a:ea typeface="Roboto Bold"/>
                    <a:cs typeface="Roboto Bold"/>
                    <a:sym typeface="Roboto Bold"/>
                  </a:rPr>
                  <a:t>Stage 4</a:t>
                </a:r>
              </a:p>
              <a:p>
                <a:pPr algn="l">
                  <a:lnSpc>
                    <a:spcPts val="2400"/>
                  </a:lnSpc>
                </a:pPr>
                <a:r>
                  <a:rPr lang="en-US" sz="2000">
                    <a:solidFill>
                      <a:srgbClr val="1A1A1A"/>
                    </a:solidFill>
                    <a:latin typeface="Roboto"/>
                    <a:ea typeface="Roboto"/>
                    <a:cs typeface="Roboto"/>
                    <a:sym typeface="Roboto"/>
                  </a:rPr>
                  <a:t>Deployment</a:t>
                </a:r>
              </a:p>
            </p:txBody>
          </p:sp>
        </p:grpSp>
        <p:sp>
          <p:nvSpPr>
            <p:cNvPr name="TextBox 28" id="28"/>
            <p:cNvSpPr txBox="true"/>
            <p:nvPr/>
          </p:nvSpPr>
          <p:spPr>
            <a:xfrm rot="0">
              <a:off x="18200421" y="3985984"/>
              <a:ext cx="3342819" cy="343261"/>
            </a:xfrm>
            <a:prstGeom prst="rect">
              <a:avLst/>
            </a:prstGeom>
          </p:spPr>
          <p:txBody>
            <a:bodyPr anchor="t" rtlCol="false" tIns="0" lIns="0" bIns="0" rIns="0">
              <a:spAutoFit/>
            </a:bodyPr>
            <a:lstStyle/>
            <a:p>
              <a:pPr algn="l">
                <a:lnSpc>
                  <a:spcPts val="2018"/>
                </a:lnSpc>
              </a:pPr>
              <a:r>
                <a:rPr lang="en-US" sz="1681">
                  <a:solidFill>
                    <a:srgbClr val="1A1A1A"/>
                  </a:solidFill>
                  <a:latin typeface="Roboto"/>
                  <a:ea typeface="Roboto"/>
                  <a:cs typeface="Roboto"/>
                  <a:sym typeface="Roboto"/>
                </a:rPr>
                <a:t>Integration &amp; Release</a:t>
              </a:r>
            </a:p>
          </p:txBody>
        </p:sp>
        <p:sp>
          <p:nvSpPr>
            <p:cNvPr name="AutoShape 29" id="29"/>
            <p:cNvSpPr/>
            <p:nvPr/>
          </p:nvSpPr>
          <p:spPr>
            <a:xfrm>
              <a:off x="2291628" y="405407"/>
              <a:ext cx="2050773" cy="1876686"/>
            </a:xfrm>
            <a:prstGeom prst="line">
              <a:avLst/>
            </a:prstGeom>
            <a:ln cap="rnd" w="13349">
              <a:solidFill>
                <a:srgbClr val="BCCADB"/>
              </a:solidFill>
              <a:prstDash val="solid"/>
              <a:headEnd type="none" len="sm" w="sm"/>
              <a:tailEnd type="none" len="sm" w="sm"/>
            </a:ln>
          </p:spPr>
        </p:sp>
        <p:grpSp>
          <p:nvGrpSpPr>
            <p:cNvPr name="Group 30" id="30"/>
            <p:cNvGrpSpPr/>
            <p:nvPr/>
          </p:nvGrpSpPr>
          <p:grpSpPr>
            <a:xfrm rot="0">
              <a:off x="615022" y="1929590"/>
              <a:ext cx="3752980" cy="359073"/>
              <a:chOff x="0" y="0"/>
              <a:chExt cx="3570402" cy="341605"/>
            </a:xfrm>
          </p:grpSpPr>
          <p:sp>
            <p:nvSpPr>
              <p:cNvPr name="Freeform 31" id="31"/>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FFFFFF"/>
              </a:solidFill>
            </p:spPr>
          </p:sp>
        </p:grpSp>
        <p:grpSp>
          <p:nvGrpSpPr>
            <p:cNvPr name="Group 32" id="32"/>
            <p:cNvGrpSpPr/>
            <p:nvPr/>
          </p:nvGrpSpPr>
          <p:grpSpPr>
            <a:xfrm rot="0">
              <a:off x="613967" y="2326442"/>
              <a:ext cx="3752980" cy="359073"/>
              <a:chOff x="0" y="0"/>
              <a:chExt cx="3570402" cy="341605"/>
            </a:xfrm>
          </p:grpSpPr>
          <p:sp>
            <p:nvSpPr>
              <p:cNvPr name="Freeform 33" id="33"/>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D9D9D9"/>
              </a:solidFill>
            </p:spPr>
          </p:sp>
        </p:grpSp>
        <p:grpSp>
          <p:nvGrpSpPr>
            <p:cNvPr name="Group 34" id="34"/>
            <p:cNvGrpSpPr/>
            <p:nvPr/>
          </p:nvGrpSpPr>
          <p:grpSpPr>
            <a:xfrm rot="0">
              <a:off x="4078586" y="1929590"/>
              <a:ext cx="3752980" cy="359073"/>
              <a:chOff x="0" y="0"/>
              <a:chExt cx="3570402" cy="341605"/>
            </a:xfrm>
          </p:grpSpPr>
          <p:sp>
            <p:nvSpPr>
              <p:cNvPr name="Freeform 35" id="35"/>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FFFFFF"/>
              </a:solidFill>
            </p:spPr>
          </p:sp>
        </p:grpSp>
        <p:grpSp>
          <p:nvGrpSpPr>
            <p:cNvPr name="Group 36" id="36"/>
            <p:cNvGrpSpPr/>
            <p:nvPr/>
          </p:nvGrpSpPr>
          <p:grpSpPr>
            <a:xfrm rot="0">
              <a:off x="4077532" y="2326442"/>
              <a:ext cx="3752980" cy="359073"/>
              <a:chOff x="0" y="0"/>
              <a:chExt cx="3570402" cy="341605"/>
            </a:xfrm>
          </p:grpSpPr>
          <p:sp>
            <p:nvSpPr>
              <p:cNvPr name="Freeform 37" id="37"/>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D9D9D9"/>
              </a:solidFill>
            </p:spPr>
          </p:sp>
        </p:grpSp>
        <p:sp>
          <p:nvSpPr>
            <p:cNvPr name="AutoShape 38" id="38"/>
            <p:cNvSpPr/>
            <p:nvPr/>
          </p:nvSpPr>
          <p:spPr>
            <a:xfrm>
              <a:off x="9220506" y="405407"/>
              <a:ext cx="2050773" cy="1876686"/>
            </a:xfrm>
            <a:prstGeom prst="line">
              <a:avLst/>
            </a:prstGeom>
            <a:ln cap="rnd" w="13349">
              <a:solidFill>
                <a:srgbClr val="D9D9D9"/>
              </a:solidFill>
              <a:prstDash val="solid"/>
              <a:headEnd type="none" len="sm" w="sm"/>
              <a:tailEnd type="none" len="sm" w="sm"/>
            </a:ln>
          </p:spPr>
        </p:sp>
        <p:grpSp>
          <p:nvGrpSpPr>
            <p:cNvPr name="Group 39" id="39"/>
            <p:cNvGrpSpPr/>
            <p:nvPr/>
          </p:nvGrpSpPr>
          <p:grpSpPr>
            <a:xfrm rot="0">
              <a:off x="7543900" y="1929590"/>
              <a:ext cx="3752980" cy="359073"/>
              <a:chOff x="0" y="0"/>
              <a:chExt cx="3570402" cy="341605"/>
            </a:xfrm>
          </p:grpSpPr>
          <p:sp>
            <p:nvSpPr>
              <p:cNvPr name="Freeform 40" id="40"/>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FFFFFF"/>
              </a:solidFill>
            </p:spPr>
          </p:sp>
        </p:grpSp>
        <p:grpSp>
          <p:nvGrpSpPr>
            <p:cNvPr name="Group 41" id="41"/>
            <p:cNvGrpSpPr/>
            <p:nvPr/>
          </p:nvGrpSpPr>
          <p:grpSpPr>
            <a:xfrm rot="0">
              <a:off x="7542845" y="2326442"/>
              <a:ext cx="3752980" cy="359073"/>
              <a:chOff x="0" y="0"/>
              <a:chExt cx="3570402" cy="341605"/>
            </a:xfrm>
          </p:grpSpPr>
          <p:sp>
            <p:nvSpPr>
              <p:cNvPr name="Freeform 42" id="42"/>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D9D9D9"/>
              </a:solidFill>
            </p:spPr>
          </p:sp>
        </p:grpSp>
        <p:sp>
          <p:nvSpPr>
            <p:cNvPr name="AutoShape 43" id="43"/>
            <p:cNvSpPr/>
            <p:nvPr/>
          </p:nvSpPr>
          <p:spPr>
            <a:xfrm>
              <a:off x="12677436" y="405407"/>
              <a:ext cx="2050773" cy="1876686"/>
            </a:xfrm>
            <a:prstGeom prst="line">
              <a:avLst/>
            </a:prstGeom>
            <a:ln cap="rnd" w="13349">
              <a:solidFill>
                <a:srgbClr val="4E5567"/>
              </a:solidFill>
              <a:prstDash val="solid"/>
              <a:headEnd type="none" len="sm" w="sm"/>
              <a:tailEnd type="none" len="sm" w="sm"/>
            </a:ln>
          </p:spPr>
        </p:sp>
        <p:grpSp>
          <p:nvGrpSpPr>
            <p:cNvPr name="Group 44" id="44"/>
            <p:cNvGrpSpPr/>
            <p:nvPr/>
          </p:nvGrpSpPr>
          <p:grpSpPr>
            <a:xfrm rot="0">
              <a:off x="11000843" y="1929590"/>
              <a:ext cx="3752980" cy="359073"/>
              <a:chOff x="0" y="0"/>
              <a:chExt cx="3570402" cy="341605"/>
            </a:xfrm>
          </p:grpSpPr>
          <p:sp>
            <p:nvSpPr>
              <p:cNvPr name="Freeform 45" id="45"/>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4E5567"/>
              </a:solidFill>
            </p:spPr>
          </p:sp>
        </p:grpSp>
        <p:grpSp>
          <p:nvGrpSpPr>
            <p:cNvPr name="Group 46" id="46"/>
            <p:cNvGrpSpPr/>
            <p:nvPr/>
          </p:nvGrpSpPr>
          <p:grpSpPr>
            <a:xfrm rot="0">
              <a:off x="10999788" y="2326442"/>
              <a:ext cx="3752980" cy="359073"/>
              <a:chOff x="0" y="0"/>
              <a:chExt cx="3570402" cy="341605"/>
            </a:xfrm>
          </p:grpSpPr>
          <p:sp>
            <p:nvSpPr>
              <p:cNvPr name="Freeform 47" id="47"/>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4E5567"/>
              </a:solidFill>
            </p:spPr>
          </p:sp>
        </p:grpSp>
        <p:sp>
          <p:nvSpPr>
            <p:cNvPr name="AutoShape 48" id="48"/>
            <p:cNvSpPr/>
            <p:nvPr/>
          </p:nvSpPr>
          <p:spPr>
            <a:xfrm>
              <a:off x="16124047" y="405407"/>
              <a:ext cx="2050773" cy="1876686"/>
            </a:xfrm>
            <a:prstGeom prst="line">
              <a:avLst/>
            </a:prstGeom>
            <a:ln cap="rnd" w="13349">
              <a:solidFill>
                <a:srgbClr val="4E5567"/>
              </a:solidFill>
              <a:prstDash val="solid"/>
              <a:headEnd type="none" len="sm" w="sm"/>
              <a:tailEnd type="none" len="sm" w="sm"/>
            </a:ln>
          </p:spPr>
        </p:sp>
        <p:grpSp>
          <p:nvGrpSpPr>
            <p:cNvPr name="Group 49" id="49"/>
            <p:cNvGrpSpPr/>
            <p:nvPr/>
          </p:nvGrpSpPr>
          <p:grpSpPr>
            <a:xfrm rot="0">
              <a:off x="14447441" y="1929590"/>
              <a:ext cx="3752980" cy="359073"/>
              <a:chOff x="0" y="0"/>
              <a:chExt cx="3570402" cy="341605"/>
            </a:xfrm>
          </p:grpSpPr>
          <p:sp>
            <p:nvSpPr>
              <p:cNvPr name="Freeform 50" id="50"/>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4E5567"/>
              </a:solidFill>
            </p:spPr>
          </p:sp>
        </p:grpSp>
        <p:grpSp>
          <p:nvGrpSpPr>
            <p:cNvPr name="Group 51" id="51"/>
            <p:cNvGrpSpPr/>
            <p:nvPr/>
          </p:nvGrpSpPr>
          <p:grpSpPr>
            <a:xfrm rot="0">
              <a:off x="14446386" y="2326442"/>
              <a:ext cx="3752980" cy="359073"/>
              <a:chOff x="0" y="0"/>
              <a:chExt cx="3570402" cy="341605"/>
            </a:xfrm>
          </p:grpSpPr>
          <p:sp>
            <p:nvSpPr>
              <p:cNvPr name="Freeform 52" id="52"/>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4E5567"/>
              </a:solidFill>
            </p:spPr>
          </p:sp>
        </p:grpSp>
        <p:sp>
          <p:nvSpPr>
            <p:cNvPr name="AutoShape 53" id="53"/>
            <p:cNvSpPr/>
            <p:nvPr/>
          </p:nvSpPr>
          <p:spPr>
            <a:xfrm>
              <a:off x="19582111" y="405407"/>
              <a:ext cx="2050773" cy="1876686"/>
            </a:xfrm>
            <a:prstGeom prst="line">
              <a:avLst/>
            </a:prstGeom>
            <a:ln cap="rnd" w="13349">
              <a:solidFill>
                <a:srgbClr val="4E5567"/>
              </a:solidFill>
              <a:prstDash val="solid"/>
              <a:headEnd type="none" len="sm" w="sm"/>
              <a:tailEnd type="none" len="sm" w="sm"/>
            </a:ln>
          </p:spPr>
        </p:sp>
        <p:grpSp>
          <p:nvGrpSpPr>
            <p:cNvPr name="Group 54" id="54"/>
            <p:cNvGrpSpPr/>
            <p:nvPr/>
          </p:nvGrpSpPr>
          <p:grpSpPr>
            <a:xfrm rot="0">
              <a:off x="17905505" y="1929590"/>
              <a:ext cx="3752980" cy="359073"/>
              <a:chOff x="0" y="0"/>
              <a:chExt cx="3570402" cy="341605"/>
            </a:xfrm>
          </p:grpSpPr>
          <p:sp>
            <p:nvSpPr>
              <p:cNvPr name="Freeform 55" id="55"/>
              <p:cNvSpPr/>
              <p:nvPr/>
            </p:nvSpPr>
            <p:spPr>
              <a:xfrm flipH="false" flipV="false" rot="0">
                <a:off x="0" y="0"/>
                <a:ext cx="3570351" cy="341630"/>
              </a:xfrm>
              <a:custGeom>
                <a:avLst/>
                <a:gdLst/>
                <a:ahLst/>
                <a:cxnLst/>
                <a:rect r="r" b="b" t="t" l="l"/>
                <a:pathLst>
                  <a:path h="341630" w="3570351">
                    <a:moveTo>
                      <a:pt x="3570351" y="341630"/>
                    </a:moveTo>
                    <a:lnTo>
                      <a:pt x="3239262" y="0"/>
                    </a:lnTo>
                    <a:lnTo>
                      <a:pt x="0" y="0"/>
                    </a:lnTo>
                    <a:lnTo>
                      <a:pt x="331216" y="341630"/>
                    </a:lnTo>
                    <a:close/>
                  </a:path>
                </a:pathLst>
              </a:custGeom>
              <a:solidFill>
                <a:srgbClr val="4E5567"/>
              </a:solidFill>
            </p:spPr>
          </p:sp>
        </p:grpSp>
        <p:grpSp>
          <p:nvGrpSpPr>
            <p:cNvPr name="Group 56" id="56"/>
            <p:cNvGrpSpPr/>
            <p:nvPr/>
          </p:nvGrpSpPr>
          <p:grpSpPr>
            <a:xfrm rot="0">
              <a:off x="17904464" y="2326442"/>
              <a:ext cx="3752980" cy="359073"/>
              <a:chOff x="0" y="0"/>
              <a:chExt cx="3570402" cy="341605"/>
            </a:xfrm>
          </p:grpSpPr>
          <p:sp>
            <p:nvSpPr>
              <p:cNvPr name="Freeform 57" id="57"/>
              <p:cNvSpPr/>
              <p:nvPr/>
            </p:nvSpPr>
            <p:spPr>
              <a:xfrm flipH="false" flipV="false" rot="0">
                <a:off x="0" y="0"/>
                <a:ext cx="3570351" cy="341630"/>
              </a:xfrm>
              <a:custGeom>
                <a:avLst/>
                <a:gdLst/>
                <a:ahLst/>
                <a:cxnLst/>
                <a:rect r="r" b="b" t="t" l="l"/>
                <a:pathLst>
                  <a:path h="341630" w="3570351">
                    <a:moveTo>
                      <a:pt x="0" y="341630"/>
                    </a:moveTo>
                    <a:lnTo>
                      <a:pt x="331216" y="0"/>
                    </a:lnTo>
                    <a:lnTo>
                      <a:pt x="3570351" y="0"/>
                    </a:lnTo>
                    <a:lnTo>
                      <a:pt x="3239262" y="341630"/>
                    </a:lnTo>
                    <a:close/>
                  </a:path>
                </a:pathLst>
              </a:custGeom>
              <a:solidFill>
                <a:srgbClr val="4E5567"/>
              </a:solidFill>
            </p:spPr>
          </p:sp>
        </p:grpSp>
        <p:sp>
          <p:nvSpPr>
            <p:cNvPr name="TextBox 58" id="58"/>
            <p:cNvSpPr txBox="true"/>
            <p:nvPr/>
          </p:nvSpPr>
          <p:spPr>
            <a:xfrm rot="0">
              <a:off x="660754" y="1486089"/>
              <a:ext cx="1436316" cy="343261"/>
            </a:xfrm>
            <a:prstGeom prst="rect">
              <a:avLst/>
            </a:prstGeom>
          </p:spPr>
          <p:txBody>
            <a:bodyPr anchor="t" rtlCol="false" tIns="0" lIns="0" bIns="0" rIns="0">
              <a:spAutoFit/>
            </a:bodyPr>
            <a:lstStyle/>
            <a:p>
              <a:pPr algn="l">
                <a:lnSpc>
                  <a:spcPts val="2018"/>
                </a:lnSpc>
                <a:spcBef>
                  <a:spcPct val="0"/>
                </a:spcBef>
              </a:pPr>
              <a:r>
                <a:rPr lang="en-US" sz="1681">
                  <a:solidFill>
                    <a:srgbClr val="1A1A1A"/>
                  </a:solidFill>
                  <a:latin typeface="Roboto"/>
                  <a:ea typeface="Roboto"/>
                  <a:cs typeface="Roboto"/>
                  <a:sym typeface="Roboto"/>
                </a:rPr>
                <a:t>02-03-2026</a:t>
              </a:r>
            </a:p>
          </p:txBody>
        </p:sp>
        <p:sp>
          <p:nvSpPr>
            <p:cNvPr name="TextBox 59" id="59"/>
            <p:cNvSpPr txBox="true"/>
            <p:nvPr/>
          </p:nvSpPr>
          <p:spPr>
            <a:xfrm rot="0">
              <a:off x="407819" y="44643"/>
              <a:ext cx="1831116" cy="343261"/>
            </a:xfrm>
            <a:prstGeom prst="rect">
              <a:avLst/>
            </a:prstGeom>
          </p:spPr>
          <p:txBody>
            <a:bodyPr anchor="t" rtlCol="false" tIns="0" lIns="0" bIns="0" rIns="0">
              <a:spAutoFit/>
            </a:bodyPr>
            <a:lstStyle/>
            <a:p>
              <a:pPr algn="r">
                <a:lnSpc>
                  <a:spcPts val="2014"/>
                </a:lnSpc>
                <a:spcBef>
                  <a:spcPct val="0"/>
                </a:spcBef>
              </a:pPr>
              <a:r>
                <a:rPr lang="en-US" sz="1678">
                  <a:solidFill>
                    <a:srgbClr val="1A1A1A"/>
                  </a:solidFill>
                  <a:latin typeface="Roboto"/>
                  <a:ea typeface="Roboto"/>
                  <a:cs typeface="Roboto"/>
                  <a:sym typeface="Roboto"/>
                </a:rPr>
                <a:t>07-03-2026</a:t>
              </a:r>
            </a:p>
          </p:txBody>
        </p:sp>
        <p:sp>
          <p:nvSpPr>
            <p:cNvPr name="TextBox 60" id="60"/>
            <p:cNvSpPr txBox="true"/>
            <p:nvPr/>
          </p:nvSpPr>
          <p:spPr>
            <a:xfrm rot="0">
              <a:off x="4078586" y="1486089"/>
              <a:ext cx="1831116" cy="343261"/>
            </a:xfrm>
            <a:prstGeom prst="rect">
              <a:avLst/>
            </a:prstGeom>
          </p:spPr>
          <p:txBody>
            <a:bodyPr anchor="t" rtlCol="false" tIns="0" lIns="0" bIns="0" rIns="0">
              <a:spAutoFit/>
            </a:bodyPr>
            <a:lstStyle/>
            <a:p>
              <a:pPr algn="l">
                <a:lnSpc>
                  <a:spcPts val="2014"/>
                </a:lnSpc>
                <a:spcBef>
                  <a:spcPct val="0"/>
                </a:spcBef>
              </a:pPr>
              <a:r>
                <a:rPr lang="en-US" sz="1678">
                  <a:solidFill>
                    <a:srgbClr val="1A1A1A"/>
                  </a:solidFill>
                  <a:latin typeface="Roboto"/>
                  <a:ea typeface="Roboto"/>
                  <a:cs typeface="Roboto"/>
                  <a:sym typeface="Roboto"/>
                </a:rPr>
                <a:t>09-03-2026</a:t>
              </a:r>
            </a:p>
          </p:txBody>
        </p:sp>
        <p:sp>
          <p:nvSpPr>
            <p:cNvPr name="TextBox 61" id="61"/>
            <p:cNvSpPr txBox="true"/>
            <p:nvPr/>
          </p:nvSpPr>
          <p:spPr>
            <a:xfrm rot="0">
              <a:off x="7254457" y="-9525"/>
              <a:ext cx="1831116" cy="343261"/>
            </a:xfrm>
            <a:prstGeom prst="rect">
              <a:avLst/>
            </a:prstGeom>
          </p:spPr>
          <p:txBody>
            <a:bodyPr anchor="t" rtlCol="false" tIns="0" lIns="0" bIns="0" rIns="0">
              <a:spAutoFit/>
            </a:bodyPr>
            <a:lstStyle/>
            <a:p>
              <a:pPr algn="r">
                <a:lnSpc>
                  <a:spcPts val="2014"/>
                </a:lnSpc>
                <a:spcBef>
                  <a:spcPct val="0"/>
                </a:spcBef>
              </a:pPr>
              <a:r>
                <a:rPr lang="en-US" sz="1678">
                  <a:solidFill>
                    <a:srgbClr val="1A1A1A"/>
                  </a:solidFill>
                  <a:latin typeface="Roboto"/>
                  <a:ea typeface="Roboto"/>
                  <a:cs typeface="Roboto"/>
                  <a:sym typeface="Roboto"/>
                </a:rPr>
                <a:t>14</a:t>
              </a:r>
              <a:r>
                <a:rPr lang="en-US" sz="1678">
                  <a:solidFill>
                    <a:srgbClr val="1A1A1A"/>
                  </a:solidFill>
                  <a:latin typeface="Roboto"/>
                  <a:ea typeface="Roboto"/>
                  <a:cs typeface="Roboto"/>
                  <a:sym typeface="Roboto"/>
                </a:rPr>
                <a:t>-03-2026</a:t>
              </a:r>
            </a:p>
          </p:txBody>
        </p:sp>
        <p:sp>
          <p:nvSpPr>
            <p:cNvPr name="TextBox 62" id="62"/>
            <p:cNvSpPr txBox="true"/>
            <p:nvPr/>
          </p:nvSpPr>
          <p:spPr>
            <a:xfrm rot="0">
              <a:off x="11000843" y="1486089"/>
              <a:ext cx="1831116" cy="343261"/>
            </a:xfrm>
            <a:prstGeom prst="rect">
              <a:avLst/>
            </a:prstGeom>
          </p:spPr>
          <p:txBody>
            <a:bodyPr anchor="t" rtlCol="false" tIns="0" lIns="0" bIns="0" rIns="0">
              <a:spAutoFit/>
            </a:bodyPr>
            <a:lstStyle/>
            <a:p>
              <a:pPr algn="l">
                <a:lnSpc>
                  <a:spcPts val="2014"/>
                </a:lnSpc>
                <a:spcBef>
                  <a:spcPct val="0"/>
                </a:spcBef>
              </a:pPr>
              <a:r>
                <a:rPr lang="en-US" sz="1678">
                  <a:solidFill>
                    <a:srgbClr val="1A1A1A"/>
                  </a:solidFill>
                  <a:latin typeface="Roboto"/>
                  <a:ea typeface="Roboto"/>
                  <a:cs typeface="Roboto"/>
                  <a:sym typeface="Roboto"/>
                </a:rPr>
                <a:t>30</a:t>
              </a:r>
              <a:r>
                <a:rPr lang="en-US" sz="1678">
                  <a:solidFill>
                    <a:srgbClr val="1A1A1A"/>
                  </a:solidFill>
                  <a:latin typeface="Roboto"/>
                  <a:ea typeface="Roboto"/>
                  <a:cs typeface="Roboto"/>
                  <a:sym typeface="Roboto"/>
                </a:rPr>
                <a:t>-03-2026</a:t>
              </a:r>
            </a:p>
          </p:txBody>
        </p:sp>
        <p:sp>
          <p:nvSpPr>
            <p:cNvPr name="TextBox 63" id="63"/>
            <p:cNvSpPr txBox="true"/>
            <p:nvPr/>
          </p:nvSpPr>
          <p:spPr>
            <a:xfrm rot="0">
              <a:off x="10846320" y="-9525"/>
              <a:ext cx="1831116" cy="343261"/>
            </a:xfrm>
            <a:prstGeom prst="rect">
              <a:avLst/>
            </a:prstGeom>
          </p:spPr>
          <p:txBody>
            <a:bodyPr anchor="t" rtlCol="false" tIns="0" lIns="0" bIns="0" rIns="0">
              <a:spAutoFit/>
            </a:bodyPr>
            <a:lstStyle/>
            <a:p>
              <a:pPr algn="r">
                <a:lnSpc>
                  <a:spcPts val="2014"/>
                </a:lnSpc>
                <a:spcBef>
                  <a:spcPct val="0"/>
                </a:spcBef>
              </a:pPr>
              <a:r>
                <a:rPr lang="en-US" sz="1678">
                  <a:solidFill>
                    <a:srgbClr val="1A1A1A"/>
                  </a:solidFill>
                  <a:latin typeface="Roboto"/>
                  <a:ea typeface="Roboto"/>
                  <a:cs typeface="Roboto"/>
                  <a:sym typeface="Roboto"/>
                </a:rPr>
                <a:t>04</a:t>
              </a:r>
              <a:r>
                <a:rPr lang="en-US" sz="1678">
                  <a:solidFill>
                    <a:srgbClr val="1A1A1A"/>
                  </a:solidFill>
                  <a:latin typeface="Roboto"/>
                  <a:ea typeface="Roboto"/>
                  <a:cs typeface="Roboto"/>
                  <a:sym typeface="Roboto"/>
                </a:rPr>
                <a:t>-04-2026</a:t>
              </a:r>
            </a:p>
          </p:txBody>
        </p:sp>
        <p:sp>
          <p:nvSpPr>
            <p:cNvPr name="TextBox 64" id="64"/>
            <p:cNvSpPr txBox="true"/>
            <p:nvPr/>
          </p:nvSpPr>
          <p:spPr>
            <a:xfrm rot="0">
              <a:off x="14414814" y="1486089"/>
              <a:ext cx="1831116" cy="343261"/>
            </a:xfrm>
            <a:prstGeom prst="rect">
              <a:avLst/>
            </a:prstGeom>
          </p:spPr>
          <p:txBody>
            <a:bodyPr anchor="t" rtlCol="false" tIns="0" lIns="0" bIns="0" rIns="0">
              <a:spAutoFit/>
            </a:bodyPr>
            <a:lstStyle/>
            <a:p>
              <a:pPr algn="l">
                <a:lnSpc>
                  <a:spcPts val="2014"/>
                </a:lnSpc>
                <a:spcBef>
                  <a:spcPct val="0"/>
                </a:spcBef>
              </a:pPr>
              <a:r>
                <a:rPr lang="en-US" sz="1678">
                  <a:solidFill>
                    <a:srgbClr val="1A1A1A"/>
                  </a:solidFill>
                  <a:latin typeface="Roboto"/>
                  <a:ea typeface="Roboto"/>
                  <a:cs typeface="Roboto"/>
                  <a:sym typeface="Roboto"/>
                </a:rPr>
                <a:t>06</a:t>
              </a:r>
              <a:r>
                <a:rPr lang="en-US" sz="1678">
                  <a:solidFill>
                    <a:srgbClr val="1A1A1A"/>
                  </a:solidFill>
                  <a:latin typeface="Roboto"/>
                  <a:ea typeface="Roboto"/>
                  <a:cs typeface="Roboto"/>
                  <a:sym typeface="Roboto"/>
                </a:rPr>
                <a:t>-04-2026</a:t>
              </a:r>
            </a:p>
          </p:txBody>
        </p:sp>
        <p:sp>
          <p:nvSpPr>
            <p:cNvPr name="TextBox 65" id="65"/>
            <p:cNvSpPr txBox="true"/>
            <p:nvPr/>
          </p:nvSpPr>
          <p:spPr>
            <a:xfrm rot="0">
              <a:off x="14361977" y="-9525"/>
              <a:ext cx="1831116" cy="343261"/>
            </a:xfrm>
            <a:prstGeom prst="rect">
              <a:avLst/>
            </a:prstGeom>
          </p:spPr>
          <p:txBody>
            <a:bodyPr anchor="t" rtlCol="false" tIns="0" lIns="0" bIns="0" rIns="0">
              <a:spAutoFit/>
            </a:bodyPr>
            <a:lstStyle/>
            <a:p>
              <a:pPr algn="r">
                <a:lnSpc>
                  <a:spcPts val="2014"/>
                </a:lnSpc>
                <a:spcBef>
                  <a:spcPct val="0"/>
                </a:spcBef>
              </a:pPr>
              <a:r>
                <a:rPr lang="en-US" sz="1678">
                  <a:solidFill>
                    <a:srgbClr val="1A1A1A"/>
                  </a:solidFill>
                  <a:latin typeface="Roboto"/>
                  <a:ea typeface="Roboto"/>
                  <a:cs typeface="Roboto"/>
                  <a:sym typeface="Roboto"/>
                </a:rPr>
                <a:t>11</a:t>
              </a:r>
              <a:r>
                <a:rPr lang="en-US" sz="1678">
                  <a:solidFill>
                    <a:srgbClr val="1A1A1A"/>
                  </a:solidFill>
                  <a:latin typeface="Roboto"/>
                  <a:ea typeface="Roboto"/>
                  <a:cs typeface="Roboto"/>
                  <a:sym typeface="Roboto"/>
                </a:rPr>
                <a:t>-04-2026</a:t>
              </a:r>
            </a:p>
          </p:txBody>
        </p:sp>
        <p:sp>
          <p:nvSpPr>
            <p:cNvPr name="TextBox 66" id="66"/>
            <p:cNvSpPr txBox="true"/>
            <p:nvPr/>
          </p:nvSpPr>
          <p:spPr>
            <a:xfrm rot="0">
              <a:off x="17904464" y="1486089"/>
              <a:ext cx="1831116" cy="343261"/>
            </a:xfrm>
            <a:prstGeom prst="rect">
              <a:avLst/>
            </a:prstGeom>
          </p:spPr>
          <p:txBody>
            <a:bodyPr anchor="t" rtlCol="false" tIns="0" lIns="0" bIns="0" rIns="0">
              <a:spAutoFit/>
            </a:bodyPr>
            <a:lstStyle/>
            <a:p>
              <a:pPr algn="l">
                <a:lnSpc>
                  <a:spcPts val="2014"/>
                </a:lnSpc>
                <a:spcBef>
                  <a:spcPct val="0"/>
                </a:spcBef>
              </a:pPr>
              <a:r>
                <a:rPr lang="en-US" sz="1678">
                  <a:solidFill>
                    <a:srgbClr val="1A1A1A"/>
                  </a:solidFill>
                  <a:latin typeface="Roboto"/>
                  <a:ea typeface="Roboto"/>
                  <a:cs typeface="Roboto"/>
                  <a:sym typeface="Roboto"/>
                </a:rPr>
                <a:t>13</a:t>
              </a:r>
              <a:r>
                <a:rPr lang="en-US" sz="1678">
                  <a:solidFill>
                    <a:srgbClr val="1A1A1A"/>
                  </a:solidFill>
                  <a:latin typeface="Roboto"/>
                  <a:ea typeface="Roboto"/>
                  <a:cs typeface="Roboto"/>
                  <a:sym typeface="Roboto"/>
                </a:rPr>
                <a:t>-04-2026</a:t>
              </a:r>
            </a:p>
          </p:txBody>
        </p:sp>
        <p:sp>
          <p:nvSpPr>
            <p:cNvPr name="TextBox 67" id="67"/>
            <p:cNvSpPr txBox="true"/>
            <p:nvPr/>
          </p:nvSpPr>
          <p:spPr>
            <a:xfrm rot="0">
              <a:off x="17875123" y="-9525"/>
              <a:ext cx="1831116" cy="343261"/>
            </a:xfrm>
            <a:prstGeom prst="rect">
              <a:avLst/>
            </a:prstGeom>
          </p:spPr>
          <p:txBody>
            <a:bodyPr anchor="t" rtlCol="false" tIns="0" lIns="0" bIns="0" rIns="0">
              <a:spAutoFit/>
            </a:bodyPr>
            <a:lstStyle/>
            <a:p>
              <a:pPr algn="r">
                <a:lnSpc>
                  <a:spcPts val="2014"/>
                </a:lnSpc>
                <a:spcBef>
                  <a:spcPct val="0"/>
                </a:spcBef>
              </a:pPr>
              <a:r>
                <a:rPr lang="en-US" sz="1678">
                  <a:solidFill>
                    <a:srgbClr val="1A1A1A"/>
                  </a:solidFill>
                  <a:latin typeface="Roboto"/>
                  <a:ea typeface="Roboto"/>
                  <a:cs typeface="Roboto"/>
                  <a:sym typeface="Roboto"/>
                </a:rPr>
                <a:t>18</a:t>
              </a:r>
              <a:r>
                <a:rPr lang="en-US" sz="1678">
                  <a:solidFill>
                    <a:srgbClr val="1A1A1A"/>
                  </a:solidFill>
                  <a:latin typeface="Roboto"/>
                  <a:ea typeface="Roboto"/>
                  <a:cs typeface="Roboto"/>
                  <a:sym typeface="Roboto"/>
                </a:rPr>
                <a:t>-04-2026</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AutoShape 3" id="3"/>
          <p:cNvSpPr/>
          <p:nvPr/>
        </p:nvSpPr>
        <p:spPr>
          <a:xfrm flipV="true">
            <a:off x="3846738" y="3518350"/>
            <a:ext cx="924132" cy="0"/>
          </a:xfrm>
          <a:prstGeom prst="line">
            <a:avLst/>
          </a:prstGeom>
          <a:ln cap="flat" w="38100">
            <a:solidFill>
              <a:srgbClr val="000000"/>
            </a:solidFill>
            <a:prstDash val="solid"/>
            <a:headEnd type="none" len="sm" w="sm"/>
            <a:tailEnd type="triangle" len="med" w="lg"/>
          </a:ln>
        </p:spPr>
      </p:sp>
      <p:grpSp>
        <p:nvGrpSpPr>
          <p:cNvPr name="Group 4" id="4"/>
          <p:cNvGrpSpPr/>
          <p:nvPr/>
        </p:nvGrpSpPr>
        <p:grpSpPr>
          <a:xfrm rot="0">
            <a:off x="4770870" y="2714502"/>
            <a:ext cx="3262702" cy="1607695"/>
            <a:chOff x="0" y="0"/>
            <a:chExt cx="808944" cy="398606"/>
          </a:xfrm>
        </p:grpSpPr>
        <p:sp>
          <p:nvSpPr>
            <p:cNvPr name="Freeform 5" id="5"/>
            <p:cNvSpPr/>
            <p:nvPr/>
          </p:nvSpPr>
          <p:spPr>
            <a:xfrm flipH="false" flipV="false" rot="0">
              <a:off x="0" y="0"/>
              <a:ext cx="808944" cy="398606"/>
            </a:xfrm>
            <a:custGeom>
              <a:avLst/>
              <a:gdLst/>
              <a:ahLst/>
              <a:cxnLst/>
              <a:rect r="r" b="b" t="t" l="l"/>
              <a:pathLst>
                <a:path h="398606" w="808944">
                  <a:moveTo>
                    <a:pt x="35593" y="0"/>
                  </a:moveTo>
                  <a:lnTo>
                    <a:pt x="773351" y="0"/>
                  </a:lnTo>
                  <a:cubicBezTo>
                    <a:pt x="782791" y="0"/>
                    <a:pt x="791844" y="3750"/>
                    <a:pt x="798519" y="10425"/>
                  </a:cubicBezTo>
                  <a:cubicBezTo>
                    <a:pt x="805194" y="17100"/>
                    <a:pt x="808944" y="26153"/>
                    <a:pt x="808944" y="35593"/>
                  </a:cubicBezTo>
                  <a:lnTo>
                    <a:pt x="808944" y="363014"/>
                  </a:lnTo>
                  <a:cubicBezTo>
                    <a:pt x="808944" y="382671"/>
                    <a:pt x="793008" y="398606"/>
                    <a:pt x="773351" y="398606"/>
                  </a:cubicBezTo>
                  <a:lnTo>
                    <a:pt x="35593" y="398606"/>
                  </a:lnTo>
                  <a:cubicBezTo>
                    <a:pt x="26153" y="398606"/>
                    <a:pt x="17100" y="394857"/>
                    <a:pt x="10425" y="388182"/>
                  </a:cubicBezTo>
                  <a:cubicBezTo>
                    <a:pt x="3750" y="381507"/>
                    <a:pt x="0" y="372453"/>
                    <a:pt x="0" y="363014"/>
                  </a:cubicBezTo>
                  <a:lnTo>
                    <a:pt x="0" y="35593"/>
                  </a:lnTo>
                  <a:cubicBezTo>
                    <a:pt x="0" y="26153"/>
                    <a:pt x="3750" y="17100"/>
                    <a:pt x="10425" y="10425"/>
                  </a:cubicBezTo>
                  <a:cubicBezTo>
                    <a:pt x="17100" y="3750"/>
                    <a:pt x="26153" y="0"/>
                    <a:pt x="35593" y="0"/>
                  </a:cubicBezTo>
                  <a:close/>
                </a:path>
              </a:pathLst>
            </a:custGeom>
            <a:solidFill>
              <a:srgbClr val="CBD5E1"/>
            </a:solidFill>
            <a:ln w="28575" cap="sq">
              <a:solidFill>
                <a:srgbClr val="000000"/>
              </a:solidFill>
              <a:prstDash val="solid"/>
              <a:miter/>
            </a:ln>
          </p:spPr>
        </p:sp>
        <p:sp>
          <p:nvSpPr>
            <p:cNvPr name="TextBox 6" id="6"/>
            <p:cNvSpPr txBox="true"/>
            <p:nvPr/>
          </p:nvSpPr>
          <p:spPr>
            <a:xfrm>
              <a:off x="0" y="-47625"/>
              <a:ext cx="808944" cy="44623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Data Cleaning</a:t>
              </a:r>
            </a:p>
            <a:p>
              <a:pPr algn="ctr">
                <a:lnSpc>
                  <a:spcPts val="2799"/>
                </a:lnSpc>
              </a:pPr>
              <a:r>
                <a:rPr lang="en-US" sz="1999">
                  <a:solidFill>
                    <a:srgbClr val="000000"/>
                  </a:solidFill>
                  <a:latin typeface="Raleway"/>
                  <a:ea typeface="Raleway"/>
                  <a:cs typeface="Raleway"/>
                  <a:sym typeface="Raleway"/>
                </a:rPr>
                <a:t>Missing Value, Duplicate Data, Outlier</a:t>
              </a:r>
            </a:p>
          </p:txBody>
        </p:sp>
      </p:grpSp>
      <p:grpSp>
        <p:nvGrpSpPr>
          <p:cNvPr name="Group 7" id="7"/>
          <p:cNvGrpSpPr/>
          <p:nvPr/>
        </p:nvGrpSpPr>
        <p:grpSpPr>
          <a:xfrm rot="0">
            <a:off x="978264" y="3075908"/>
            <a:ext cx="3278257" cy="884883"/>
            <a:chOff x="0" y="0"/>
            <a:chExt cx="812800" cy="219395"/>
          </a:xfrm>
        </p:grpSpPr>
        <p:sp>
          <p:nvSpPr>
            <p:cNvPr name="Freeform 8" id="8"/>
            <p:cNvSpPr/>
            <p:nvPr/>
          </p:nvSpPr>
          <p:spPr>
            <a:xfrm flipH="false" flipV="false" rot="0">
              <a:off x="0" y="0"/>
              <a:ext cx="812800" cy="219395"/>
            </a:xfrm>
            <a:custGeom>
              <a:avLst/>
              <a:gdLst/>
              <a:ahLst/>
              <a:cxnLst/>
              <a:rect r="r" b="b" t="t" l="l"/>
              <a:pathLst>
                <a:path h="219395" w="812800">
                  <a:moveTo>
                    <a:pt x="203200" y="0"/>
                  </a:moveTo>
                  <a:lnTo>
                    <a:pt x="812800" y="0"/>
                  </a:lnTo>
                  <a:lnTo>
                    <a:pt x="609600" y="219395"/>
                  </a:lnTo>
                  <a:lnTo>
                    <a:pt x="0" y="219395"/>
                  </a:lnTo>
                  <a:lnTo>
                    <a:pt x="203200" y="0"/>
                  </a:lnTo>
                  <a:close/>
                </a:path>
              </a:pathLst>
            </a:custGeom>
            <a:solidFill>
              <a:srgbClr val="5CE1E6"/>
            </a:solidFill>
            <a:ln w="28575" cap="sq">
              <a:solidFill>
                <a:srgbClr val="000000"/>
              </a:solidFill>
              <a:prstDash val="solid"/>
              <a:miter/>
            </a:ln>
          </p:spPr>
        </p:sp>
        <p:sp>
          <p:nvSpPr>
            <p:cNvPr name="TextBox 9" id="9"/>
            <p:cNvSpPr txBox="true"/>
            <p:nvPr/>
          </p:nvSpPr>
          <p:spPr>
            <a:xfrm>
              <a:off x="101600" y="-57150"/>
              <a:ext cx="609600" cy="276545"/>
            </a:xfrm>
            <a:prstGeom prst="rect">
              <a:avLst/>
            </a:prstGeom>
          </p:spPr>
          <p:txBody>
            <a:bodyPr anchor="ctr" rtlCol="false" tIns="50800" lIns="50800" bIns="50800" rIns="50800"/>
            <a:lstStyle/>
            <a:p>
              <a:pPr algn="ctr">
                <a:lnSpc>
                  <a:spcPts val="3359"/>
                </a:lnSpc>
              </a:pPr>
              <a:r>
                <a:rPr lang="en-US" b="true" sz="2399">
                  <a:solidFill>
                    <a:srgbClr val="000000"/>
                  </a:solidFill>
                  <a:latin typeface="Raleway Bold"/>
                  <a:ea typeface="Raleway Bold"/>
                  <a:cs typeface="Raleway Bold"/>
                  <a:sym typeface="Raleway Bold"/>
                </a:rPr>
                <a:t>Data Input</a:t>
              </a:r>
            </a:p>
          </p:txBody>
        </p:sp>
      </p:grpSp>
      <p:grpSp>
        <p:nvGrpSpPr>
          <p:cNvPr name="Group 10" id="10"/>
          <p:cNvGrpSpPr/>
          <p:nvPr/>
        </p:nvGrpSpPr>
        <p:grpSpPr>
          <a:xfrm rot="0">
            <a:off x="4830182" y="5030462"/>
            <a:ext cx="3144079" cy="1607695"/>
            <a:chOff x="0" y="0"/>
            <a:chExt cx="779533" cy="398606"/>
          </a:xfrm>
        </p:grpSpPr>
        <p:sp>
          <p:nvSpPr>
            <p:cNvPr name="Freeform 11" id="11"/>
            <p:cNvSpPr/>
            <p:nvPr/>
          </p:nvSpPr>
          <p:spPr>
            <a:xfrm flipH="false" flipV="false" rot="0">
              <a:off x="0" y="0"/>
              <a:ext cx="779533" cy="398606"/>
            </a:xfrm>
            <a:custGeom>
              <a:avLst/>
              <a:gdLst/>
              <a:ahLst/>
              <a:cxnLst/>
              <a:rect r="r" b="b" t="t" l="l"/>
              <a:pathLst>
                <a:path h="398606" w="779533">
                  <a:moveTo>
                    <a:pt x="36936" y="0"/>
                  </a:moveTo>
                  <a:lnTo>
                    <a:pt x="742597" y="0"/>
                  </a:lnTo>
                  <a:cubicBezTo>
                    <a:pt x="752393" y="0"/>
                    <a:pt x="761788" y="3891"/>
                    <a:pt x="768714" y="10818"/>
                  </a:cubicBezTo>
                  <a:cubicBezTo>
                    <a:pt x="775641" y="17745"/>
                    <a:pt x="779533" y="27140"/>
                    <a:pt x="779533" y="36936"/>
                  </a:cubicBezTo>
                  <a:lnTo>
                    <a:pt x="779533" y="361671"/>
                  </a:lnTo>
                  <a:cubicBezTo>
                    <a:pt x="779533" y="371467"/>
                    <a:pt x="775641" y="380861"/>
                    <a:pt x="768714" y="387788"/>
                  </a:cubicBezTo>
                  <a:cubicBezTo>
                    <a:pt x="761788" y="394715"/>
                    <a:pt x="752393" y="398606"/>
                    <a:pt x="742597" y="398606"/>
                  </a:cubicBezTo>
                  <a:lnTo>
                    <a:pt x="36936" y="398606"/>
                  </a:lnTo>
                  <a:cubicBezTo>
                    <a:pt x="27140" y="398606"/>
                    <a:pt x="17745" y="394715"/>
                    <a:pt x="10818" y="387788"/>
                  </a:cubicBezTo>
                  <a:cubicBezTo>
                    <a:pt x="3891" y="380861"/>
                    <a:pt x="0" y="371467"/>
                    <a:pt x="0" y="361671"/>
                  </a:cubicBezTo>
                  <a:lnTo>
                    <a:pt x="0" y="36936"/>
                  </a:lnTo>
                  <a:cubicBezTo>
                    <a:pt x="0" y="27140"/>
                    <a:pt x="3891" y="17745"/>
                    <a:pt x="10818" y="10818"/>
                  </a:cubicBezTo>
                  <a:cubicBezTo>
                    <a:pt x="17745" y="3891"/>
                    <a:pt x="27140" y="0"/>
                    <a:pt x="36936" y="0"/>
                  </a:cubicBezTo>
                  <a:close/>
                </a:path>
              </a:pathLst>
            </a:custGeom>
            <a:solidFill>
              <a:srgbClr val="CBD5E1"/>
            </a:solidFill>
            <a:ln w="28575" cap="sq">
              <a:solidFill>
                <a:srgbClr val="000000"/>
              </a:solidFill>
              <a:prstDash val="solid"/>
              <a:miter/>
            </a:ln>
          </p:spPr>
        </p:sp>
        <p:sp>
          <p:nvSpPr>
            <p:cNvPr name="TextBox 12" id="12"/>
            <p:cNvSpPr txBox="true"/>
            <p:nvPr/>
          </p:nvSpPr>
          <p:spPr>
            <a:xfrm>
              <a:off x="0" y="-47625"/>
              <a:ext cx="779533" cy="44623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Data Prepocessing</a:t>
              </a:r>
            </a:p>
            <a:p>
              <a:pPr algn="ctr">
                <a:lnSpc>
                  <a:spcPts val="2799"/>
                </a:lnSpc>
              </a:pPr>
              <a:r>
                <a:rPr lang="en-US" sz="1999">
                  <a:solidFill>
                    <a:srgbClr val="000000"/>
                  </a:solidFill>
                  <a:latin typeface="Raleway"/>
                  <a:ea typeface="Raleway"/>
                  <a:cs typeface="Raleway"/>
                  <a:sym typeface="Raleway"/>
                </a:rPr>
                <a:t>Feature Selection,</a:t>
              </a:r>
            </a:p>
            <a:p>
              <a:pPr algn="ctr">
                <a:lnSpc>
                  <a:spcPts val="2799"/>
                </a:lnSpc>
              </a:pPr>
              <a:r>
                <a:rPr lang="en-US" sz="1999">
                  <a:solidFill>
                    <a:srgbClr val="000000"/>
                  </a:solidFill>
                  <a:latin typeface="Raleway"/>
                  <a:ea typeface="Raleway"/>
                  <a:cs typeface="Raleway"/>
                  <a:sym typeface="Raleway"/>
                </a:rPr>
                <a:t>Encoding, Scaling</a:t>
              </a:r>
            </a:p>
          </p:txBody>
        </p:sp>
      </p:grpSp>
      <p:grpSp>
        <p:nvGrpSpPr>
          <p:cNvPr name="Group 13" id="13"/>
          <p:cNvGrpSpPr/>
          <p:nvPr/>
        </p:nvGrpSpPr>
        <p:grpSpPr>
          <a:xfrm rot="0">
            <a:off x="4830182" y="7346422"/>
            <a:ext cx="3144079" cy="1007378"/>
            <a:chOff x="0" y="0"/>
            <a:chExt cx="779533" cy="249766"/>
          </a:xfrm>
        </p:grpSpPr>
        <p:sp>
          <p:nvSpPr>
            <p:cNvPr name="Freeform 14" id="14"/>
            <p:cNvSpPr/>
            <p:nvPr/>
          </p:nvSpPr>
          <p:spPr>
            <a:xfrm flipH="false" flipV="false" rot="0">
              <a:off x="0" y="0"/>
              <a:ext cx="779533" cy="249766"/>
            </a:xfrm>
            <a:custGeom>
              <a:avLst/>
              <a:gdLst/>
              <a:ahLst/>
              <a:cxnLst/>
              <a:rect r="r" b="b" t="t" l="l"/>
              <a:pathLst>
                <a:path h="249766" w="779533">
                  <a:moveTo>
                    <a:pt x="36936" y="0"/>
                  </a:moveTo>
                  <a:lnTo>
                    <a:pt x="742597" y="0"/>
                  </a:lnTo>
                  <a:cubicBezTo>
                    <a:pt x="752393" y="0"/>
                    <a:pt x="761788" y="3891"/>
                    <a:pt x="768714" y="10818"/>
                  </a:cubicBezTo>
                  <a:cubicBezTo>
                    <a:pt x="775641" y="17745"/>
                    <a:pt x="779533" y="27140"/>
                    <a:pt x="779533" y="36936"/>
                  </a:cubicBezTo>
                  <a:lnTo>
                    <a:pt x="779533" y="212830"/>
                  </a:lnTo>
                  <a:cubicBezTo>
                    <a:pt x="779533" y="222626"/>
                    <a:pt x="775641" y="232021"/>
                    <a:pt x="768714" y="238948"/>
                  </a:cubicBezTo>
                  <a:cubicBezTo>
                    <a:pt x="761788" y="245874"/>
                    <a:pt x="752393" y="249766"/>
                    <a:pt x="742597" y="249766"/>
                  </a:cubicBezTo>
                  <a:lnTo>
                    <a:pt x="36936" y="249766"/>
                  </a:lnTo>
                  <a:cubicBezTo>
                    <a:pt x="27140" y="249766"/>
                    <a:pt x="17745" y="245874"/>
                    <a:pt x="10818" y="238948"/>
                  </a:cubicBezTo>
                  <a:cubicBezTo>
                    <a:pt x="3891" y="232021"/>
                    <a:pt x="0" y="222626"/>
                    <a:pt x="0" y="212830"/>
                  </a:cubicBezTo>
                  <a:lnTo>
                    <a:pt x="0" y="36936"/>
                  </a:lnTo>
                  <a:cubicBezTo>
                    <a:pt x="0" y="27140"/>
                    <a:pt x="3891" y="17745"/>
                    <a:pt x="10818" y="10818"/>
                  </a:cubicBezTo>
                  <a:cubicBezTo>
                    <a:pt x="17745" y="3891"/>
                    <a:pt x="27140" y="0"/>
                    <a:pt x="36936" y="0"/>
                  </a:cubicBezTo>
                  <a:close/>
                </a:path>
              </a:pathLst>
            </a:custGeom>
            <a:solidFill>
              <a:srgbClr val="CBD5E1"/>
            </a:solidFill>
            <a:ln w="28575" cap="sq">
              <a:solidFill>
                <a:srgbClr val="000000"/>
              </a:solidFill>
              <a:prstDash val="solid"/>
              <a:miter/>
            </a:ln>
          </p:spPr>
        </p:sp>
        <p:sp>
          <p:nvSpPr>
            <p:cNvPr name="TextBox 15" id="15"/>
            <p:cNvSpPr txBox="true"/>
            <p:nvPr/>
          </p:nvSpPr>
          <p:spPr>
            <a:xfrm>
              <a:off x="0" y="-47625"/>
              <a:ext cx="779533" cy="29739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Model Training</a:t>
              </a:r>
            </a:p>
          </p:txBody>
        </p:sp>
      </p:grpSp>
      <p:grpSp>
        <p:nvGrpSpPr>
          <p:cNvPr name="Group 16" id="16"/>
          <p:cNvGrpSpPr/>
          <p:nvPr/>
        </p:nvGrpSpPr>
        <p:grpSpPr>
          <a:xfrm rot="0">
            <a:off x="7974261" y="3218191"/>
            <a:ext cx="613045" cy="4650970"/>
            <a:chOff x="0" y="0"/>
            <a:chExt cx="817393" cy="6201293"/>
          </a:xfrm>
        </p:grpSpPr>
        <p:sp>
          <p:nvSpPr>
            <p:cNvPr name="AutoShape 17" id="17"/>
            <p:cNvSpPr/>
            <p:nvPr/>
          </p:nvSpPr>
          <p:spPr>
            <a:xfrm flipV="true">
              <a:off x="0" y="6175893"/>
              <a:ext cx="791993" cy="0"/>
            </a:xfrm>
            <a:prstGeom prst="line">
              <a:avLst/>
            </a:prstGeom>
            <a:ln cap="flat" w="50800">
              <a:solidFill>
                <a:srgbClr val="000000"/>
              </a:solidFill>
              <a:prstDash val="solid"/>
              <a:headEnd type="none" len="sm" w="sm"/>
              <a:tailEnd type="none" len="sm" w="sm"/>
            </a:ln>
          </p:spPr>
        </p:sp>
        <p:sp>
          <p:nvSpPr>
            <p:cNvPr name="AutoShape 18" id="18"/>
            <p:cNvSpPr/>
            <p:nvPr/>
          </p:nvSpPr>
          <p:spPr>
            <a:xfrm>
              <a:off x="791993" y="0"/>
              <a:ext cx="0" cy="6175893"/>
            </a:xfrm>
            <a:prstGeom prst="line">
              <a:avLst/>
            </a:prstGeom>
            <a:ln cap="flat" w="50800">
              <a:solidFill>
                <a:srgbClr val="000000"/>
              </a:solidFill>
              <a:prstDash val="solid"/>
              <a:headEnd type="none" len="sm" w="sm"/>
              <a:tailEnd type="none" len="sm" w="sm"/>
            </a:ln>
          </p:spPr>
        </p:sp>
      </p:grpSp>
      <p:sp>
        <p:nvSpPr>
          <p:cNvPr name="AutoShape 19" id="19"/>
          <p:cNvSpPr/>
          <p:nvPr/>
        </p:nvSpPr>
        <p:spPr>
          <a:xfrm flipV="true">
            <a:off x="8551443" y="3218191"/>
            <a:ext cx="1339472" cy="0"/>
          </a:xfrm>
          <a:prstGeom prst="line">
            <a:avLst/>
          </a:prstGeom>
          <a:ln cap="flat" w="38100">
            <a:solidFill>
              <a:srgbClr val="000000"/>
            </a:solidFill>
            <a:prstDash val="solid"/>
            <a:headEnd type="none" len="sm" w="sm"/>
            <a:tailEnd type="triangle" len="med" w="lg"/>
          </a:ln>
        </p:spPr>
      </p:sp>
      <p:grpSp>
        <p:nvGrpSpPr>
          <p:cNvPr name="Group 20" id="20"/>
          <p:cNvGrpSpPr/>
          <p:nvPr/>
        </p:nvGrpSpPr>
        <p:grpSpPr>
          <a:xfrm rot="0">
            <a:off x="9890915" y="4526774"/>
            <a:ext cx="3144079" cy="1007378"/>
            <a:chOff x="0" y="0"/>
            <a:chExt cx="779533" cy="249766"/>
          </a:xfrm>
        </p:grpSpPr>
        <p:sp>
          <p:nvSpPr>
            <p:cNvPr name="Freeform 21" id="21"/>
            <p:cNvSpPr/>
            <p:nvPr/>
          </p:nvSpPr>
          <p:spPr>
            <a:xfrm flipH="false" flipV="false" rot="0">
              <a:off x="0" y="0"/>
              <a:ext cx="779533" cy="249766"/>
            </a:xfrm>
            <a:custGeom>
              <a:avLst/>
              <a:gdLst/>
              <a:ahLst/>
              <a:cxnLst/>
              <a:rect r="r" b="b" t="t" l="l"/>
              <a:pathLst>
                <a:path h="249766" w="779533">
                  <a:moveTo>
                    <a:pt x="36936" y="0"/>
                  </a:moveTo>
                  <a:lnTo>
                    <a:pt x="742597" y="0"/>
                  </a:lnTo>
                  <a:cubicBezTo>
                    <a:pt x="752393" y="0"/>
                    <a:pt x="761788" y="3891"/>
                    <a:pt x="768714" y="10818"/>
                  </a:cubicBezTo>
                  <a:cubicBezTo>
                    <a:pt x="775641" y="17745"/>
                    <a:pt x="779533" y="27140"/>
                    <a:pt x="779533" y="36936"/>
                  </a:cubicBezTo>
                  <a:lnTo>
                    <a:pt x="779533" y="212830"/>
                  </a:lnTo>
                  <a:cubicBezTo>
                    <a:pt x="779533" y="222626"/>
                    <a:pt x="775641" y="232021"/>
                    <a:pt x="768714" y="238948"/>
                  </a:cubicBezTo>
                  <a:cubicBezTo>
                    <a:pt x="761788" y="245874"/>
                    <a:pt x="752393" y="249766"/>
                    <a:pt x="742597" y="249766"/>
                  </a:cubicBezTo>
                  <a:lnTo>
                    <a:pt x="36936" y="249766"/>
                  </a:lnTo>
                  <a:cubicBezTo>
                    <a:pt x="27140" y="249766"/>
                    <a:pt x="17745" y="245874"/>
                    <a:pt x="10818" y="238948"/>
                  </a:cubicBezTo>
                  <a:cubicBezTo>
                    <a:pt x="3891" y="232021"/>
                    <a:pt x="0" y="222626"/>
                    <a:pt x="0" y="212830"/>
                  </a:cubicBezTo>
                  <a:lnTo>
                    <a:pt x="0" y="36936"/>
                  </a:lnTo>
                  <a:cubicBezTo>
                    <a:pt x="0" y="27140"/>
                    <a:pt x="3891" y="17745"/>
                    <a:pt x="10818" y="10818"/>
                  </a:cubicBezTo>
                  <a:cubicBezTo>
                    <a:pt x="17745" y="3891"/>
                    <a:pt x="27140" y="0"/>
                    <a:pt x="36936" y="0"/>
                  </a:cubicBezTo>
                  <a:close/>
                </a:path>
              </a:pathLst>
            </a:custGeom>
            <a:solidFill>
              <a:srgbClr val="CBD5E1"/>
            </a:solidFill>
            <a:ln w="28575" cap="sq">
              <a:solidFill>
                <a:srgbClr val="000000"/>
              </a:solidFill>
              <a:prstDash val="solid"/>
              <a:miter/>
            </a:ln>
          </p:spPr>
        </p:sp>
        <p:sp>
          <p:nvSpPr>
            <p:cNvPr name="TextBox 22" id="22"/>
            <p:cNvSpPr txBox="true"/>
            <p:nvPr/>
          </p:nvSpPr>
          <p:spPr>
            <a:xfrm>
              <a:off x="0" y="-47625"/>
              <a:ext cx="779533" cy="29739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Model Deployment</a:t>
              </a:r>
            </a:p>
          </p:txBody>
        </p:sp>
      </p:grpSp>
      <p:sp>
        <p:nvSpPr>
          <p:cNvPr name="AutoShape 23" id="23"/>
          <p:cNvSpPr/>
          <p:nvPr/>
        </p:nvSpPr>
        <p:spPr>
          <a:xfrm>
            <a:off x="11462955" y="3721880"/>
            <a:ext cx="0" cy="804893"/>
          </a:xfrm>
          <a:prstGeom prst="line">
            <a:avLst/>
          </a:prstGeom>
          <a:ln cap="flat" w="38100">
            <a:solidFill>
              <a:srgbClr val="000000"/>
            </a:solidFill>
            <a:prstDash val="solid"/>
            <a:headEnd type="none" len="sm" w="sm"/>
            <a:tailEnd type="triangle" len="med" w="lg"/>
          </a:ln>
        </p:spPr>
      </p:sp>
      <p:grpSp>
        <p:nvGrpSpPr>
          <p:cNvPr name="Group 24" id="24"/>
          <p:cNvGrpSpPr/>
          <p:nvPr/>
        </p:nvGrpSpPr>
        <p:grpSpPr>
          <a:xfrm rot="0">
            <a:off x="14115221" y="6781486"/>
            <a:ext cx="3144079" cy="1007378"/>
            <a:chOff x="0" y="0"/>
            <a:chExt cx="779533" cy="249766"/>
          </a:xfrm>
        </p:grpSpPr>
        <p:sp>
          <p:nvSpPr>
            <p:cNvPr name="Freeform 25" id="25"/>
            <p:cNvSpPr/>
            <p:nvPr/>
          </p:nvSpPr>
          <p:spPr>
            <a:xfrm flipH="false" flipV="false" rot="0">
              <a:off x="0" y="0"/>
              <a:ext cx="779533" cy="249766"/>
            </a:xfrm>
            <a:custGeom>
              <a:avLst/>
              <a:gdLst/>
              <a:ahLst/>
              <a:cxnLst/>
              <a:rect r="r" b="b" t="t" l="l"/>
              <a:pathLst>
                <a:path h="249766" w="779533">
                  <a:moveTo>
                    <a:pt x="36936" y="0"/>
                  </a:moveTo>
                  <a:lnTo>
                    <a:pt x="742597" y="0"/>
                  </a:lnTo>
                  <a:cubicBezTo>
                    <a:pt x="752393" y="0"/>
                    <a:pt x="761788" y="3891"/>
                    <a:pt x="768714" y="10818"/>
                  </a:cubicBezTo>
                  <a:cubicBezTo>
                    <a:pt x="775641" y="17745"/>
                    <a:pt x="779533" y="27140"/>
                    <a:pt x="779533" y="36936"/>
                  </a:cubicBezTo>
                  <a:lnTo>
                    <a:pt x="779533" y="212830"/>
                  </a:lnTo>
                  <a:cubicBezTo>
                    <a:pt x="779533" y="222626"/>
                    <a:pt x="775641" y="232021"/>
                    <a:pt x="768714" y="238948"/>
                  </a:cubicBezTo>
                  <a:cubicBezTo>
                    <a:pt x="761788" y="245874"/>
                    <a:pt x="752393" y="249766"/>
                    <a:pt x="742597" y="249766"/>
                  </a:cubicBezTo>
                  <a:lnTo>
                    <a:pt x="36936" y="249766"/>
                  </a:lnTo>
                  <a:cubicBezTo>
                    <a:pt x="27140" y="249766"/>
                    <a:pt x="17745" y="245874"/>
                    <a:pt x="10818" y="238948"/>
                  </a:cubicBezTo>
                  <a:cubicBezTo>
                    <a:pt x="3891" y="232021"/>
                    <a:pt x="0" y="222626"/>
                    <a:pt x="0" y="212830"/>
                  </a:cubicBezTo>
                  <a:lnTo>
                    <a:pt x="0" y="36936"/>
                  </a:lnTo>
                  <a:cubicBezTo>
                    <a:pt x="0" y="27140"/>
                    <a:pt x="3891" y="17745"/>
                    <a:pt x="10818" y="10818"/>
                  </a:cubicBezTo>
                  <a:cubicBezTo>
                    <a:pt x="17745" y="3891"/>
                    <a:pt x="27140" y="0"/>
                    <a:pt x="36936" y="0"/>
                  </a:cubicBezTo>
                  <a:close/>
                </a:path>
              </a:pathLst>
            </a:custGeom>
            <a:solidFill>
              <a:srgbClr val="A1C7CE"/>
            </a:solidFill>
            <a:ln w="28575" cap="sq">
              <a:solidFill>
                <a:srgbClr val="000000"/>
              </a:solidFill>
              <a:prstDash val="solid"/>
              <a:miter/>
            </a:ln>
          </p:spPr>
        </p:sp>
        <p:sp>
          <p:nvSpPr>
            <p:cNvPr name="TextBox 26" id="26"/>
            <p:cNvSpPr txBox="true"/>
            <p:nvPr/>
          </p:nvSpPr>
          <p:spPr>
            <a:xfrm>
              <a:off x="0" y="-47625"/>
              <a:ext cx="779533" cy="29739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Monitoring</a:t>
              </a:r>
            </a:p>
          </p:txBody>
        </p:sp>
      </p:grpSp>
      <p:sp>
        <p:nvSpPr>
          <p:cNvPr name="AutoShape 27" id="27"/>
          <p:cNvSpPr/>
          <p:nvPr/>
        </p:nvSpPr>
        <p:spPr>
          <a:xfrm flipV="true">
            <a:off x="13054367" y="7285175"/>
            <a:ext cx="1060853" cy="0"/>
          </a:xfrm>
          <a:prstGeom prst="line">
            <a:avLst/>
          </a:prstGeom>
          <a:ln cap="flat" w="38100">
            <a:solidFill>
              <a:srgbClr val="000000"/>
            </a:solidFill>
            <a:prstDash val="solid"/>
            <a:headEnd type="none" len="sm" w="sm"/>
            <a:tailEnd type="triangle" len="med" w="lg"/>
          </a:ln>
        </p:spPr>
      </p:sp>
      <p:grpSp>
        <p:nvGrpSpPr>
          <p:cNvPr name="Group 28" id="28"/>
          <p:cNvGrpSpPr/>
          <p:nvPr/>
        </p:nvGrpSpPr>
        <p:grpSpPr>
          <a:xfrm rot="0">
            <a:off x="9461761" y="6842733"/>
            <a:ext cx="4002388" cy="884883"/>
            <a:chOff x="0" y="0"/>
            <a:chExt cx="992339" cy="219395"/>
          </a:xfrm>
        </p:grpSpPr>
        <p:sp>
          <p:nvSpPr>
            <p:cNvPr name="Freeform 29" id="29"/>
            <p:cNvSpPr/>
            <p:nvPr/>
          </p:nvSpPr>
          <p:spPr>
            <a:xfrm flipH="false" flipV="false" rot="0">
              <a:off x="0" y="0"/>
              <a:ext cx="992339" cy="219395"/>
            </a:xfrm>
            <a:custGeom>
              <a:avLst/>
              <a:gdLst/>
              <a:ahLst/>
              <a:cxnLst/>
              <a:rect r="r" b="b" t="t" l="l"/>
              <a:pathLst>
                <a:path h="219395" w="992339">
                  <a:moveTo>
                    <a:pt x="203200" y="0"/>
                  </a:moveTo>
                  <a:lnTo>
                    <a:pt x="992339" y="0"/>
                  </a:lnTo>
                  <a:lnTo>
                    <a:pt x="789139" y="219395"/>
                  </a:lnTo>
                  <a:lnTo>
                    <a:pt x="0" y="219395"/>
                  </a:lnTo>
                  <a:lnTo>
                    <a:pt x="203200" y="0"/>
                  </a:lnTo>
                  <a:close/>
                </a:path>
              </a:pathLst>
            </a:custGeom>
            <a:solidFill>
              <a:srgbClr val="5CE1E6"/>
            </a:solidFill>
            <a:ln w="28575" cap="sq">
              <a:solidFill>
                <a:srgbClr val="000000"/>
              </a:solidFill>
              <a:prstDash val="solid"/>
              <a:miter/>
            </a:ln>
          </p:spPr>
        </p:sp>
        <p:sp>
          <p:nvSpPr>
            <p:cNvPr name="TextBox 30" id="30"/>
            <p:cNvSpPr txBox="true"/>
            <p:nvPr/>
          </p:nvSpPr>
          <p:spPr>
            <a:xfrm>
              <a:off x="101600" y="-57150"/>
              <a:ext cx="789139" cy="276545"/>
            </a:xfrm>
            <a:prstGeom prst="rect">
              <a:avLst/>
            </a:prstGeom>
          </p:spPr>
          <p:txBody>
            <a:bodyPr anchor="ctr" rtlCol="false" tIns="50800" lIns="50800" bIns="50800" rIns="50800"/>
            <a:lstStyle/>
            <a:p>
              <a:pPr algn="ctr">
                <a:lnSpc>
                  <a:spcPts val="3359"/>
                </a:lnSpc>
              </a:pPr>
              <a:r>
                <a:rPr lang="en-US" b="true" sz="2399">
                  <a:solidFill>
                    <a:srgbClr val="000000"/>
                  </a:solidFill>
                  <a:latin typeface="Raleway Bold"/>
                  <a:ea typeface="Raleway Bold"/>
                  <a:cs typeface="Raleway Bold"/>
                  <a:sym typeface="Raleway Bold"/>
                </a:rPr>
                <a:t>Prediction Output</a:t>
              </a:r>
            </a:p>
          </p:txBody>
        </p:sp>
      </p:grpSp>
      <p:sp>
        <p:nvSpPr>
          <p:cNvPr name="AutoShape 31" id="31"/>
          <p:cNvSpPr/>
          <p:nvPr/>
        </p:nvSpPr>
        <p:spPr>
          <a:xfrm>
            <a:off x="11462955" y="5534151"/>
            <a:ext cx="0" cy="1308582"/>
          </a:xfrm>
          <a:prstGeom prst="line">
            <a:avLst/>
          </a:prstGeom>
          <a:ln cap="flat" w="38100">
            <a:solidFill>
              <a:srgbClr val="000000"/>
            </a:solidFill>
            <a:prstDash val="solid"/>
            <a:headEnd type="none" len="sm" w="sm"/>
            <a:tailEnd type="triangle" len="med" w="lg"/>
          </a:ln>
        </p:spPr>
      </p:sp>
      <p:grpSp>
        <p:nvGrpSpPr>
          <p:cNvPr name="Group 32" id="32"/>
          <p:cNvGrpSpPr/>
          <p:nvPr/>
        </p:nvGrpSpPr>
        <p:grpSpPr>
          <a:xfrm rot="0">
            <a:off x="9890915" y="2714502"/>
            <a:ext cx="3144079" cy="1007378"/>
            <a:chOff x="0" y="0"/>
            <a:chExt cx="779533" cy="249766"/>
          </a:xfrm>
        </p:grpSpPr>
        <p:sp>
          <p:nvSpPr>
            <p:cNvPr name="Freeform 33" id="33"/>
            <p:cNvSpPr/>
            <p:nvPr/>
          </p:nvSpPr>
          <p:spPr>
            <a:xfrm flipH="false" flipV="false" rot="0">
              <a:off x="0" y="0"/>
              <a:ext cx="779533" cy="249766"/>
            </a:xfrm>
            <a:custGeom>
              <a:avLst/>
              <a:gdLst/>
              <a:ahLst/>
              <a:cxnLst/>
              <a:rect r="r" b="b" t="t" l="l"/>
              <a:pathLst>
                <a:path h="249766" w="779533">
                  <a:moveTo>
                    <a:pt x="36936" y="0"/>
                  </a:moveTo>
                  <a:lnTo>
                    <a:pt x="742597" y="0"/>
                  </a:lnTo>
                  <a:cubicBezTo>
                    <a:pt x="752393" y="0"/>
                    <a:pt x="761788" y="3891"/>
                    <a:pt x="768714" y="10818"/>
                  </a:cubicBezTo>
                  <a:cubicBezTo>
                    <a:pt x="775641" y="17745"/>
                    <a:pt x="779533" y="27140"/>
                    <a:pt x="779533" y="36936"/>
                  </a:cubicBezTo>
                  <a:lnTo>
                    <a:pt x="779533" y="212830"/>
                  </a:lnTo>
                  <a:cubicBezTo>
                    <a:pt x="779533" y="222626"/>
                    <a:pt x="775641" y="232021"/>
                    <a:pt x="768714" y="238948"/>
                  </a:cubicBezTo>
                  <a:cubicBezTo>
                    <a:pt x="761788" y="245874"/>
                    <a:pt x="752393" y="249766"/>
                    <a:pt x="742597" y="249766"/>
                  </a:cubicBezTo>
                  <a:lnTo>
                    <a:pt x="36936" y="249766"/>
                  </a:lnTo>
                  <a:cubicBezTo>
                    <a:pt x="27140" y="249766"/>
                    <a:pt x="17745" y="245874"/>
                    <a:pt x="10818" y="238948"/>
                  </a:cubicBezTo>
                  <a:cubicBezTo>
                    <a:pt x="3891" y="232021"/>
                    <a:pt x="0" y="222626"/>
                    <a:pt x="0" y="212830"/>
                  </a:cubicBezTo>
                  <a:lnTo>
                    <a:pt x="0" y="36936"/>
                  </a:lnTo>
                  <a:cubicBezTo>
                    <a:pt x="0" y="27140"/>
                    <a:pt x="3891" y="17745"/>
                    <a:pt x="10818" y="10818"/>
                  </a:cubicBezTo>
                  <a:cubicBezTo>
                    <a:pt x="17745" y="3891"/>
                    <a:pt x="27140" y="0"/>
                    <a:pt x="36936" y="0"/>
                  </a:cubicBezTo>
                  <a:close/>
                </a:path>
              </a:pathLst>
            </a:custGeom>
            <a:solidFill>
              <a:srgbClr val="CBD5E1"/>
            </a:solidFill>
            <a:ln w="28575" cap="sq">
              <a:solidFill>
                <a:srgbClr val="000000"/>
              </a:solidFill>
              <a:prstDash val="solid"/>
              <a:miter/>
            </a:ln>
          </p:spPr>
        </p:sp>
        <p:sp>
          <p:nvSpPr>
            <p:cNvPr name="TextBox 34" id="34"/>
            <p:cNvSpPr txBox="true"/>
            <p:nvPr/>
          </p:nvSpPr>
          <p:spPr>
            <a:xfrm>
              <a:off x="0" y="-47625"/>
              <a:ext cx="779533" cy="297391"/>
            </a:xfrm>
            <a:prstGeom prst="rect">
              <a:avLst/>
            </a:prstGeom>
          </p:spPr>
          <p:txBody>
            <a:bodyPr anchor="ctr" rtlCol="false" tIns="254000" lIns="254000" bIns="254000" rIns="254000"/>
            <a:lstStyle/>
            <a:p>
              <a:pPr algn="ctr">
                <a:lnSpc>
                  <a:spcPts val="2799"/>
                </a:lnSpc>
              </a:pPr>
              <a:r>
                <a:rPr lang="en-US" b="true" sz="1999">
                  <a:solidFill>
                    <a:srgbClr val="000000"/>
                  </a:solidFill>
                  <a:latin typeface="Raleway Bold"/>
                  <a:ea typeface="Raleway Bold"/>
                  <a:cs typeface="Raleway Bold"/>
                  <a:sym typeface="Raleway Bold"/>
                </a:rPr>
                <a:t>Model Evaluation</a:t>
              </a:r>
            </a:p>
          </p:txBody>
        </p:sp>
      </p:grpSp>
      <p:sp>
        <p:nvSpPr>
          <p:cNvPr name="TextBox 35" id="35"/>
          <p:cNvSpPr txBox="true"/>
          <p:nvPr/>
        </p:nvSpPr>
        <p:spPr>
          <a:xfrm rot="0">
            <a:off x="1028700" y="895350"/>
            <a:ext cx="7658189"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P</a:t>
            </a:r>
            <a:r>
              <a:rPr lang="en-US" sz="6159">
                <a:solidFill>
                  <a:srgbClr val="18102B"/>
                </a:solidFill>
                <a:latin typeface="Raleway"/>
                <a:ea typeface="Raleway"/>
                <a:cs typeface="Raleway"/>
                <a:sym typeface="Raleway"/>
              </a:rPr>
              <a:t>ipeline Model</a:t>
            </a:r>
          </a:p>
        </p:txBody>
      </p:sp>
      <p:sp>
        <p:nvSpPr>
          <p:cNvPr name="AutoShape 36" id="36"/>
          <p:cNvSpPr/>
          <p:nvPr/>
        </p:nvSpPr>
        <p:spPr>
          <a:xfrm>
            <a:off x="6402221" y="4322197"/>
            <a:ext cx="0" cy="708265"/>
          </a:xfrm>
          <a:prstGeom prst="line">
            <a:avLst/>
          </a:prstGeom>
          <a:ln cap="flat" w="38100">
            <a:solidFill>
              <a:srgbClr val="000000"/>
            </a:solidFill>
            <a:prstDash val="solid"/>
            <a:headEnd type="none" len="sm" w="sm"/>
            <a:tailEnd type="triangle" len="med" w="lg"/>
          </a:ln>
        </p:spPr>
      </p:sp>
      <p:sp>
        <p:nvSpPr>
          <p:cNvPr name="AutoShape 37" id="37"/>
          <p:cNvSpPr/>
          <p:nvPr/>
        </p:nvSpPr>
        <p:spPr>
          <a:xfrm>
            <a:off x="6402221" y="6638157"/>
            <a:ext cx="0" cy="708265"/>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975598"/>
            <a:chOff x="0" y="0"/>
            <a:chExt cx="24384000" cy="1300798"/>
          </a:xfrm>
        </p:grpSpPr>
        <p:sp>
          <p:nvSpPr>
            <p:cNvPr name="Freeform 4" id="4"/>
            <p:cNvSpPr/>
            <p:nvPr/>
          </p:nvSpPr>
          <p:spPr>
            <a:xfrm flipH="false" flipV="false" rot="0">
              <a:off x="0" y="0"/>
              <a:ext cx="24384000" cy="1300861"/>
            </a:xfrm>
            <a:custGeom>
              <a:avLst/>
              <a:gdLst/>
              <a:ahLst/>
              <a:cxnLst/>
              <a:rect r="r" b="b" t="t" l="l"/>
              <a:pathLst>
                <a:path h="1300861" w="24384000">
                  <a:moveTo>
                    <a:pt x="0" y="0"/>
                  </a:moveTo>
                  <a:lnTo>
                    <a:pt x="24384000" y="0"/>
                  </a:lnTo>
                  <a:lnTo>
                    <a:pt x="24384000" y="1300861"/>
                  </a:lnTo>
                  <a:lnTo>
                    <a:pt x="0" y="1300861"/>
                  </a:lnTo>
                  <a:close/>
                </a:path>
              </a:pathLst>
            </a:custGeom>
            <a:solidFill>
              <a:srgbClr val="E9EDEE"/>
            </a:solidFill>
          </p:spPr>
        </p:sp>
      </p:grpSp>
      <p:sp>
        <p:nvSpPr>
          <p:cNvPr name="TextBox 5" id="5"/>
          <p:cNvSpPr txBox="true"/>
          <p:nvPr/>
        </p:nvSpPr>
        <p:spPr>
          <a:xfrm rot="0">
            <a:off x="1547027" y="1576521"/>
            <a:ext cx="15193947" cy="704883"/>
          </a:xfrm>
          <a:prstGeom prst="rect">
            <a:avLst/>
          </a:prstGeom>
        </p:spPr>
        <p:txBody>
          <a:bodyPr anchor="t" rtlCol="false" tIns="0" lIns="0" bIns="0" rIns="0">
            <a:spAutoFit/>
          </a:bodyPr>
          <a:lstStyle/>
          <a:p>
            <a:pPr algn="l">
              <a:lnSpc>
                <a:spcPts val="5520"/>
              </a:lnSpc>
            </a:pPr>
            <a:r>
              <a:rPr lang="en-US" b="true" sz="4600">
                <a:solidFill>
                  <a:srgbClr val="1A1A1A"/>
                </a:solidFill>
                <a:latin typeface="Raleway Bold"/>
                <a:ea typeface="Raleway Bold"/>
                <a:cs typeface="Raleway Bold"/>
                <a:sym typeface="Raleway Bold"/>
              </a:rPr>
              <a:t>Risk-Feasibility</a:t>
            </a:r>
          </a:p>
        </p:txBody>
      </p:sp>
      <p:graphicFrame>
        <p:nvGraphicFramePr>
          <p:cNvPr name="Table 6" id="6"/>
          <p:cNvGraphicFramePr>
            <a:graphicFrameLocks noGrp="true"/>
          </p:cNvGraphicFramePr>
          <p:nvPr/>
        </p:nvGraphicFramePr>
        <p:xfrm>
          <a:off x="1547027" y="2891004"/>
          <a:ext cx="15996857" cy="6994228"/>
        </p:xfrm>
        <a:graphic>
          <a:graphicData uri="http://schemas.openxmlformats.org/drawingml/2006/table">
            <a:tbl>
              <a:tblPr/>
              <a:tblGrid>
                <a:gridCol w="1895529"/>
                <a:gridCol w="4404081"/>
                <a:gridCol w="4739226"/>
                <a:gridCol w="4958021"/>
              </a:tblGrid>
              <a:tr h="673296">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Aspect</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Potential Risk</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Mitigation Strategy</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Feasibility</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r h="1264186">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Data</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Historical bias in the 1,500 candidate records due to previous subjective manual hiring decisions.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Conduct regular Fairness &amp; Bias Audits.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000000"/>
                          </a:solidFill>
                          <a:latin typeface="Arial"/>
                          <a:ea typeface="Arial"/>
                          <a:cs typeface="Arial"/>
                          <a:sym typeface="Arial"/>
                        </a:rPr>
                        <a:t>D</a:t>
                      </a:r>
                      <a:r>
                        <a:rPr lang="en-US" sz="1900">
                          <a:solidFill>
                            <a:srgbClr val="000000"/>
                          </a:solidFill>
                          <a:latin typeface="Arial"/>
                          <a:ea typeface="Arial"/>
                          <a:cs typeface="Arial"/>
                          <a:sym typeface="Arial"/>
                        </a:rPr>
                        <a:t>ata is available for auditing to ensure objective outcomes.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r h="1589810">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Technical</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Model fails to balance selection precision with the ability to capture potential talent.</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Use </a:t>
                      </a:r>
                      <a:r>
                        <a:rPr lang="en-US" sz="1900" b="true">
                          <a:solidFill>
                            <a:srgbClr val="1A1A1A"/>
                          </a:solidFill>
                          <a:latin typeface="Arial Bold"/>
                          <a:ea typeface="Arial Bold"/>
                          <a:cs typeface="Arial Bold"/>
                          <a:sym typeface="Arial Bold"/>
                        </a:rPr>
                        <a:t>F1-Score</a:t>
                      </a:r>
                      <a:r>
                        <a:rPr lang="en-US" sz="1900">
                          <a:solidFill>
                            <a:srgbClr val="1A1A1A"/>
                          </a:solidFill>
                          <a:latin typeface="Arial"/>
                          <a:ea typeface="Arial"/>
                          <a:cs typeface="Arial"/>
                          <a:sym typeface="Arial"/>
                        </a:rPr>
                        <a:t> to balance Precision and Recall to reduce bias in modeling, hence minimize bad candidate and maximize good candidate acceptance.</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000000"/>
                          </a:solidFill>
                          <a:latin typeface="Arial"/>
                          <a:ea typeface="Arial"/>
                          <a:cs typeface="Arial"/>
                          <a:sym typeface="Arial"/>
                        </a:rPr>
                        <a:t>F1-Score provides a robust technical validation framework.</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r h="938563">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Operational</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HR teams find it difficult to adopt new systems.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System integration that provides instant predictions.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000000"/>
                          </a:solidFill>
                          <a:latin typeface="Arial"/>
                          <a:ea typeface="Arial"/>
                          <a:cs typeface="Arial"/>
                          <a:sym typeface="Arial"/>
                        </a:rPr>
                        <a:t>D</a:t>
                      </a:r>
                      <a:r>
                        <a:rPr lang="en-US" sz="1900">
                          <a:solidFill>
                            <a:srgbClr val="000000"/>
                          </a:solidFill>
                          <a:latin typeface="Arial"/>
                          <a:ea typeface="Arial"/>
                          <a:cs typeface="Arial"/>
                          <a:sym typeface="Arial"/>
                        </a:rPr>
                        <a:t>ata-driven systems minimize intuition-based risks.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r h="1264186">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Economic</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Marketing budget wasted on recruitment channels with low conversion rates.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Perform data-driven evaluations of </a:t>
                      </a:r>
                      <a:r>
                        <a:rPr lang="en-US" sz="1900" b="true">
                          <a:solidFill>
                            <a:srgbClr val="1A1A1A"/>
                          </a:solidFill>
                          <a:latin typeface="Arial Bold"/>
                          <a:ea typeface="Arial Bold"/>
                          <a:cs typeface="Arial Bold"/>
                          <a:sym typeface="Arial Bold"/>
                        </a:rPr>
                        <a:t>Recruitment Strategy ROI</a:t>
                      </a:r>
                      <a:r>
                        <a:rPr lang="en-US" sz="1900">
                          <a:solidFill>
                            <a:srgbClr val="1A1A1A"/>
                          </a:solidFill>
                          <a:latin typeface="Arial"/>
                          <a:ea typeface="Arial"/>
                          <a:cs typeface="Arial"/>
                          <a:sym typeface="Arial"/>
                        </a:rPr>
                        <a:t> to optimize budget allocation.</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000000"/>
                          </a:solidFill>
                          <a:latin typeface="Arial"/>
                          <a:ea typeface="Arial"/>
                          <a:cs typeface="Arial"/>
                          <a:sym typeface="Arial"/>
                        </a:rPr>
                        <a:t>ROI analysis ensures targeted and cost-effective spending.</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r h="1264186">
                <a:tc>
                  <a:txBody>
                    <a:bodyPr anchor="t" rtlCol="false"/>
                    <a:lstStyle/>
                    <a:p>
                      <a:pPr algn="ctr">
                        <a:lnSpc>
                          <a:spcPts val="2622"/>
                        </a:lnSpc>
                        <a:defRPr/>
                      </a:pPr>
                      <a:r>
                        <a:rPr lang="en-US" b="true" sz="1900">
                          <a:solidFill>
                            <a:srgbClr val="1A1A1A"/>
                          </a:solidFill>
                          <a:latin typeface="Arial Bold"/>
                          <a:ea typeface="Arial Bold"/>
                          <a:cs typeface="Arial Bold"/>
                          <a:sym typeface="Arial Bold"/>
                        </a:rPr>
                        <a:t>Strategic</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Inaccurate threshold settings for candidate scores, leading to high-risk hires.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1A1A1A"/>
                          </a:solidFill>
                          <a:latin typeface="Arial"/>
                          <a:ea typeface="Arial"/>
                          <a:cs typeface="Arial"/>
                          <a:sym typeface="Arial"/>
                        </a:rPr>
                        <a:t>Execute </a:t>
                      </a:r>
                      <a:r>
                        <a:rPr lang="en-US" sz="1900" b="true">
                          <a:solidFill>
                            <a:srgbClr val="1A1A1A"/>
                          </a:solidFill>
                          <a:latin typeface="Arial Bold"/>
                          <a:ea typeface="Arial Bold"/>
                          <a:cs typeface="Arial Bold"/>
                          <a:sym typeface="Arial Bold"/>
                        </a:rPr>
                        <a:t>Sensitivity Analysis</a:t>
                      </a:r>
                      <a:r>
                        <a:rPr lang="en-US" sz="1900">
                          <a:solidFill>
                            <a:srgbClr val="1A1A1A"/>
                          </a:solidFill>
                          <a:latin typeface="Arial"/>
                          <a:ea typeface="Arial"/>
                          <a:cs typeface="Arial"/>
                          <a:sym typeface="Arial"/>
                        </a:rPr>
                        <a:t> to identify critical score thresholds that guarantee &gt;80% hiring success.</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c>
                  <a:txBody>
                    <a:bodyPr anchor="t" rtlCol="false"/>
                    <a:lstStyle/>
                    <a:p>
                      <a:pPr algn="l">
                        <a:lnSpc>
                          <a:spcPts val="2622"/>
                        </a:lnSpc>
                        <a:defRPr/>
                      </a:pPr>
                      <a:r>
                        <a:rPr lang="en-US" sz="1900">
                          <a:solidFill>
                            <a:srgbClr val="000000"/>
                          </a:solidFill>
                          <a:latin typeface="Arial"/>
                          <a:ea typeface="Arial"/>
                          <a:cs typeface="Arial"/>
                          <a:sym typeface="Arial"/>
                        </a:rPr>
                        <a:t>E</a:t>
                      </a:r>
                      <a:r>
                        <a:rPr lang="en-US" sz="1900">
                          <a:solidFill>
                            <a:srgbClr val="000000"/>
                          </a:solidFill>
                          <a:latin typeface="Arial"/>
                          <a:ea typeface="Arial"/>
                          <a:cs typeface="Arial"/>
                          <a:sym typeface="Arial"/>
                        </a:rPr>
                        <a:t>nsures only top-quality talent is onboarded to boost productivity.</a:t>
                      </a:r>
                      <a:endParaRPr lang="en-US" sz="1100"/>
                    </a:p>
                  </a:txBody>
                  <a:tcPr marL="92472" marR="92472" marT="92472" marB="92472"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1C7CE"/>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10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025" t="-5066" r="-2040" b="0"/>
            </a:stretch>
          </a:blipFill>
        </p:spPr>
      </p:sp>
      <p:sp>
        <p:nvSpPr>
          <p:cNvPr name="TextBox 3" id="3"/>
          <p:cNvSpPr txBox="true"/>
          <p:nvPr/>
        </p:nvSpPr>
        <p:spPr>
          <a:xfrm rot="0">
            <a:off x="1842932" y="5124450"/>
            <a:ext cx="14678336" cy="1114425"/>
          </a:xfrm>
          <a:prstGeom prst="rect">
            <a:avLst/>
          </a:prstGeom>
        </p:spPr>
        <p:txBody>
          <a:bodyPr anchor="t" rtlCol="false" tIns="0" lIns="0" bIns="0" rIns="0">
            <a:spAutoFit/>
          </a:bodyPr>
          <a:lstStyle/>
          <a:p>
            <a:pPr algn="ctr" marL="0" indent="0" lvl="0">
              <a:lnSpc>
                <a:spcPts val="8640"/>
              </a:lnSpc>
              <a:spcBef>
                <a:spcPct val="0"/>
              </a:spcBef>
            </a:pPr>
            <a:r>
              <a:rPr lang="en-US" b="true" sz="7200" strike="noStrike" u="none">
                <a:solidFill>
                  <a:srgbClr val="2F2F2F"/>
                </a:solidFill>
                <a:latin typeface="Raleway Bold"/>
                <a:ea typeface="Raleway Bold"/>
                <a:cs typeface="Raleway Bold"/>
                <a:sym typeface="Raleway Bold"/>
              </a:rPr>
              <a:t>Exploratory Data Analysis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604055" y="518342"/>
            <a:ext cx="7568939" cy="962660"/>
          </a:xfrm>
          <a:prstGeom prst="rect">
            <a:avLst/>
          </a:prstGeom>
        </p:spPr>
        <p:txBody>
          <a:bodyPr anchor="t" rtlCol="false" tIns="0" lIns="0" bIns="0" rIns="0">
            <a:spAutoFit/>
          </a:bodyPr>
          <a:lstStyle/>
          <a:p>
            <a:pPr algn="l">
              <a:lnSpc>
                <a:spcPts val="7840"/>
              </a:lnSpc>
              <a:spcBef>
                <a:spcPct val="0"/>
              </a:spcBef>
            </a:pPr>
            <a:r>
              <a:rPr lang="en-US" sz="5600">
                <a:solidFill>
                  <a:srgbClr val="18102B"/>
                </a:solidFill>
                <a:latin typeface="Raleway"/>
                <a:ea typeface="Raleway"/>
                <a:cs typeface="Raleway"/>
                <a:sym typeface="Raleway"/>
              </a:rPr>
              <a:t>Descriptive Statistics</a:t>
            </a:r>
          </a:p>
        </p:txBody>
      </p:sp>
      <p:sp>
        <p:nvSpPr>
          <p:cNvPr name="TextBox 4" id="4"/>
          <p:cNvSpPr txBox="true"/>
          <p:nvPr/>
        </p:nvSpPr>
        <p:spPr>
          <a:xfrm rot="0">
            <a:off x="604055" y="1776277"/>
            <a:ext cx="7901302" cy="1861185"/>
          </a:xfrm>
          <a:prstGeom prst="rect">
            <a:avLst/>
          </a:prstGeom>
        </p:spPr>
        <p:txBody>
          <a:bodyPr anchor="t" rtlCol="false" tIns="0" lIns="0" bIns="0" rIns="0">
            <a:spAutoFit/>
          </a:bodyPr>
          <a:lstStyle/>
          <a:p>
            <a:pPr algn="l" marL="453390" indent="-226695" lvl="1">
              <a:lnSpc>
                <a:spcPts val="2940"/>
              </a:lnSpc>
              <a:buFont typeface="Arial"/>
              <a:buChar char="•"/>
            </a:pPr>
            <a:r>
              <a:rPr lang="en-US" sz="2100" spc="8">
                <a:solidFill>
                  <a:srgbClr val="18102B"/>
                </a:solidFill>
                <a:latin typeface="Poppins"/>
                <a:ea typeface="Poppins"/>
                <a:cs typeface="Poppins"/>
                <a:sym typeface="Poppins"/>
              </a:rPr>
              <a:t>Data shape: </a:t>
            </a:r>
            <a:r>
              <a:rPr lang="en-US" sz="2100" spc="8">
                <a:solidFill>
                  <a:srgbClr val="18102B"/>
                </a:solidFill>
                <a:latin typeface="Poppins"/>
                <a:ea typeface="Poppins"/>
                <a:cs typeface="Poppins"/>
                <a:sym typeface="Poppins"/>
              </a:rPr>
              <a:t>1.500 rows and 11 feature columns</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Feature type:</a:t>
            </a:r>
            <a:r>
              <a:rPr lang="en-US" sz="2100" spc="8">
                <a:solidFill>
                  <a:srgbClr val="18102B"/>
                </a:solidFill>
                <a:latin typeface="Poppins"/>
                <a:ea typeface="Poppins"/>
                <a:cs typeface="Poppins"/>
                <a:sym typeface="Poppins"/>
              </a:rPr>
              <a:t> 7 numerical, 3 categorical, 1 target</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M</a:t>
            </a:r>
            <a:r>
              <a:rPr lang="en-US" sz="2100" spc="8">
                <a:solidFill>
                  <a:srgbClr val="18102B"/>
                </a:solidFill>
                <a:latin typeface="Poppins"/>
                <a:ea typeface="Poppins"/>
                <a:cs typeface="Poppins"/>
                <a:sym typeface="Poppins"/>
              </a:rPr>
              <a:t>issing values: 0</a:t>
            </a:r>
          </a:p>
          <a:p>
            <a:pPr algn="l" marL="453390" indent="-226695" lvl="1">
              <a:lnSpc>
                <a:spcPts val="2940"/>
              </a:lnSpc>
              <a:buFont typeface="Arial"/>
              <a:buChar char="•"/>
            </a:pPr>
            <a:r>
              <a:rPr lang="en-US" sz="2100" spc="8">
                <a:solidFill>
                  <a:srgbClr val="18102B"/>
                </a:solidFill>
                <a:latin typeface="Poppins"/>
                <a:ea typeface="Poppins"/>
                <a:cs typeface="Poppins"/>
                <a:sym typeface="Poppins"/>
              </a:rPr>
              <a:t>Duplicate values: 0</a:t>
            </a:r>
          </a:p>
          <a:p>
            <a:pPr algn="l" marL="453390" indent="-226695" lvl="1">
              <a:lnSpc>
                <a:spcPts val="2940"/>
              </a:lnSpc>
              <a:spcBef>
                <a:spcPct val="0"/>
              </a:spcBef>
              <a:buFont typeface="Arial"/>
              <a:buChar char="•"/>
            </a:pPr>
            <a:r>
              <a:rPr lang="en-US" sz="2100" spc="8">
                <a:solidFill>
                  <a:srgbClr val="18102B"/>
                </a:solidFill>
                <a:latin typeface="Poppins"/>
                <a:ea typeface="Poppins"/>
                <a:cs typeface="Poppins"/>
                <a:sym typeface="Poppins"/>
              </a:rPr>
              <a:t>O</a:t>
            </a:r>
            <a:r>
              <a:rPr lang="en-US" sz="2100" spc="8">
                <a:solidFill>
                  <a:srgbClr val="18102B"/>
                </a:solidFill>
                <a:latin typeface="Poppins"/>
                <a:ea typeface="Poppins"/>
                <a:cs typeface="Poppins"/>
                <a:sym typeface="Poppins"/>
              </a:rPr>
              <a:t>utliers: 0</a:t>
            </a:r>
          </a:p>
        </p:txBody>
      </p:sp>
      <p:grpSp>
        <p:nvGrpSpPr>
          <p:cNvPr name="Group 5" id="5"/>
          <p:cNvGrpSpPr/>
          <p:nvPr/>
        </p:nvGrpSpPr>
        <p:grpSpPr>
          <a:xfrm rot="0">
            <a:off x="12895828" y="5397873"/>
            <a:ext cx="366168" cy="36616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02B"/>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3368"/>
                </a:lnSpc>
              </a:pPr>
            </a:p>
          </p:txBody>
        </p:sp>
      </p:grpSp>
      <p:sp>
        <p:nvSpPr>
          <p:cNvPr name="Freeform 8" id="8"/>
          <p:cNvSpPr/>
          <p:nvPr/>
        </p:nvSpPr>
        <p:spPr>
          <a:xfrm flipH="false" flipV="false" rot="0">
            <a:off x="12972281" y="5469436"/>
            <a:ext cx="223040" cy="223040"/>
          </a:xfrm>
          <a:custGeom>
            <a:avLst/>
            <a:gdLst/>
            <a:ahLst/>
            <a:cxnLst/>
            <a:rect r="r" b="b" t="t" l="l"/>
            <a:pathLst>
              <a:path h="223040" w="223040">
                <a:moveTo>
                  <a:pt x="0" y="0"/>
                </a:moveTo>
                <a:lnTo>
                  <a:pt x="223040" y="0"/>
                </a:lnTo>
                <a:lnTo>
                  <a:pt x="223040" y="223041"/>
                </a:lnTo>
                <a:lnTo>
                  <a:pt x="0" y="2230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9" id="9"/>
          <p:cNvGraphicFramePr>
            <a:graphicFrameLocks noGrp="true"/>
          </p:cNvGraphicFramePr>
          <p:nvPr/>
        </p:nvGraphicFramePr>
        <p:xfrm>
          <a:off x="7993638" y="800598"/>
          <a:ext cx="10071675" cy="8229600"/>
        </p:xfrm>
        <a:graphic>
          <a:graphicData uri="http://schemas.openxmlformats.org/drawingml/2006/table">
            <a:tbl>
              <a:tblPr/>
              <a:tblGrid>
                <a:gridCol w="2786952"/>
                <a:gridCol w="7284723"/>
              </a:tblGrid>
              <a:tr h="591234">
                <a:tc>
                  <a:txBody>
                    <a:bodyPr anchor="t" rtlCol="false"/>
                    <a:lstStyle/>
                    <a:p>
                      <a:pPr algn="ctr">
                        <a:lnSpc>
                          <a:spcPts val="2940"/>
                        </a:lnSpc>
                        <a:defRPr/>
                      </a:pPr>
                      <a:r>
                        <a:rPr lang="en-US" sz="2100" b="true">
                          <a:solidFill>
                            <a:srgbClr val="000000"/>
                          </a:solidFill>
                          <a:latin typeface="Raleway Bold"/>
                          <a:ea typeface="Raleway Bold"/>
                          <a:cs typeface="Raleway Bold"/>
                          <a:sym typeface="Raleway Bold"/>
                        </a:rPr>
                        <a:t>Features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Raleway Bold"/>
                          <a:ea typeface="Raleway Bold"/>
                          <a:cs typeface="Raleway Bold"/>
                          <a:sym typeface="Raleway Bold"/>
                        </a:rPr>
                        <a:t>Description</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9EDEE"/>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Age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age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ExperienceYears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total years of work experience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PreviousCompanies</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total previous 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92499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DistanceFromCompany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home distance from</a:t>
                      </a:r>
                      <a:r>
                        <a:rPr lang="en-US" sz="1800">
                          <a:solidFill>
                            <a:srgbClr val="000000"/>
                          </a:solidFill>
                          <a:latin typeface="Poppins"/>
                          <a:ea typeface="Poppins"/>
                          <a:cs typeface="Poppins"/>
                          <a:sym typeface="Poppins"/>
                        </a:rPr>
                        <a:t> company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InterviewScore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Candidate’s interview</a:t>
                      </a:r>
                      <a:r>
                        <a:rPr lang="en-US" sz="1800">
                          <a:solidFill>
                            <a:srgbClr val="000000"/>
                          </a:solidFill>
                          <a:latin typeface="Poppins"/>
                          <a:ea typeface="Poppins"/>
                          <a:cs typeface="Poppins"/>
                          <a:sym typeface="Poppins"/>
                        </a:rPr>
                        <a:t>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SkillScore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a:t>
                      </a:r>
                      <a:r>
                        <a:rPr lang="en-US" sz="1800">
                          <a:solidFill>
                            <a:srgbClr val="000000"/>
                          </a:solidFill>
                          <a:latin typeface="Poppins"/>
                          <a:ea typeface="Poppins"/>
                          <a:cs typeface="Poppins"/>
                          <a:sym typeface="Poppins"/>
                        </a:rPr>
                        <a:t>ndidate’s technical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PersonalityScore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Ca</a:t>
                      </a:r>
                      <a:r>
                        <a:rPr lang="en-US" sz="1800">
                          <a:solidFill>
                            <a:srgbClr val="000000"/>
                          </a:solidFill>
                          <a:latin typeface="Poppins"/>
                          <a:ea typeface="Poppins"/>
                          <a:cs typeface="Poppins"/>
                          <a:sym typeface="Poppins"/>
                        </a:rPr>
                        <a:t>ndidate’s personality score result</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E8C92"/>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Gender</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0 = Male, 1 = Female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EducationLevel</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1 = High Shcool, 2 = Diploma/Bachelor, 3 = Magister, 4 = PhD</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RecruitmentStrategy</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1 = Internal, 2 = External, 3 = Referral</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1C7CE"/>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HiringDecision</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CCADB"/>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Target: 0 = Not Hired, 1 = Hired</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BCCADB"/>
                    </a:solidFill>
                  </a:tcPr>
                </a:tc>
              </a:tr>
              <a:tr h="610306">
                <a:tc>
                  <a:txBody>
                    <a:bodyPr anchor="t" rtlCol="false"/>
                    <a:lstStyle/>
                    <a:p>
                      <a:pPr algn="l">
                        <a:lnSpc>
                          <a:spcPts val="2520"/>
                        </a:lnSpc>
                        <a:defRPr/>
                      </a:pPr>
                      <a:r>
                        <a:rPr lang="en-US" sz="1800" b="true">
                          <a:solidFill>
                            <a:srgbClr val="000000"/>
                          </a:solidFill>
                          <a:latin typeface="Poppins Bold"/>
                          <a:ea typeface="Poppins Bold"/>
                          <a:cs typeface="Poppins Bold"/>
                          <a:sym typeface="Poppins Bold"/>
                        </a:rPr>
                        <a:t>ExperienceLevel</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9D9D9"/>
                    </a:solidFill>
                  </a:tcPr>
                </a:tc>
                <a:tc>
                  <a:txBody>
                    <a:bodyPr anchor="t" rtlCol="false"/>
                    <a:lstStyle/>
                    <a:p>
                      <a:pPr algn="l">
                        <a:lnSpc>
                          <a:spcPts val="2520"/>
                        </a:lnSpc>
                        <a:defRPr/>
                      </a:pPr>
                      <a:r>
                        <a:rPr lang="en-US" sz="1800">
                          <a:solidFill>
                            <a:srgbClr val="000000"/>
                          </a:solidFill>
                          <a:latin typeface="Poppins"/>
                          <a:ea typeface="Poppins"/>
                          <a:cs typeface="Poppins"/>
                          <a:sym typeface="Poppins"/>
                        </a:rPr>
                        <a:t>Junior (0-2 YoE), Medior (2-5 YoE), Senior (5+ YoE)</a:t>
                      </a:r>
                      <a:endParaRPr lang="en-US" sz="1100"/>
                    </a:p>
                  </a:txBody>
                  <a:tcPr marL="76200" marR="76200" marT="76200" marB="762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9D9D9"/>
                    </a:solidFill>
                  </a:tcPr>
                </a:tc>
              </a:tr>
            </a:tbl>
          </a:graphicData>
        </a:graphic>
      </p:graphicFrame>
      <p:grpSp>
        <p:nvGrpSpPr>
          <p:cNvPr name="Group 10" id="10"/>
          <p:cNvGrpSpPr/>
          <p:nvPr/>
        </p:nvGrpSpPr>
        <p:grpSpPr>
          <a:xfrm rot="0">
            <a:off x="604055" y="3989887"/>
            <a:ext cx="6780551" cy="5649912"/>
            <a:chOff x="0" y="0"/>
            <a:chExt cx="9040735" cy="7533216"/>
          </a:xfrm>
        </p:grpSpPr>
        <p:grpSp>
          <p:nvGrpSpPr>
            <p:cNvPr name="Group 11" id="11"/>
            <p:cNvGrpSpPr/>
            <p:nvPr/>
          </p:nvGrpSpPr>
          <p:grpSpPr>
            <a:xfrm rot="0">
              <a:off x="0" y="3848030"/>
              <a:ext cx="4320699" cy="3685185"/>
              <a:chOff x="0" y="0"/>
              <a:chExt cx="682684" cy="582271"/>
            </a:xfrm>
          </p:grpSpPr>
          <p:sp>
            <p:nvSpPr>
              <p:cNvPr name="Freeform 12" id="12"/>
              <p:cNvSpPr/>
              <p:nvPr/>
            </p:nvSpPr>
            <p:spPr>
              <a:xfrm flipH="false" flipV="false" rot="0">
                <a:off x="0" y="0"/>
                <a:ext cx="682684" cy="582271"/>
              </a:xfrm>
              <a:custGeom>
                <a:avLst/>
                <a:gdLst/>
                <a:ahLst/>
                <a:cxnLst/>
                <a:rect r="r" b="b" t="t" l="l"/>
                <a:pathLst>
                  <a:path h="582271" w="682684">
                    <a:moveTo>
                      <a:pt x="78397" y="0"/>
                    </a:moveTo>
                    <a:lnTo>
                      <a:pt x="604287" y="0"/>
                    </a:lnTo>
                    <a:cubicBezTo>
                      <a:pt x="647585" y="0"/>
                      <a:pt x="682684" y="35100"/>
                      <a:pt x="682684" y="78397"/>
                    </a:cubicBezTo>
                    <a:lnTo>
                      <a:pt x="682684" y="503874"/>
                    </a:lnTo>
                    <a:cubicBezTo>
                      <a:pt x="682684" y="524666"/>
                      <a:pt x="674425" y="544607"/>
                      <a:pt x="659722" y="559309"/>
                    </a:cubicBezTo>
                    <a:cubicBezTo>
                      <a:pt x="645020" y="574012"/>
                      <a:pt x="625079" y="582271"/>
                      <a:pt x="604287" y="582271"/>
                    </a:cubicBezTo>
                    <a:lnTo>
                      <a:pt x="78397" y="582271"/>
                    </a:lnTo>
                    <a:cubicBezTo>
                      <a:pt x="57605" y="582271"/>
                      <a:pt x="37664" y="574012"/>
                      <a:pt x="22962" y="559309"/>
                    </a:cubicBezTo>
                    <a:cubicBezTo>
                      <a:pt x="8260" y="544607"/>
                      <a:pt x="0" y="524666"/>
                      <a:pt x="0" y="503874"/>
                    </a:cubicBezTo>
                    <a:lnTo>
                      <a:pt x="0" y="78397"/>
                    </a:lnTo>
                    <a:cubicBezTo>
                      <a:pt x="0" y="35100"/>
                      <a:pt x="35100" y="0"/>
                      <a:pt x="78397" y="0"/>
                    </a:cubicBezTo>
                    <a:close/>
                  </a:path>
                </a:pathLst>
              </a:custGeom>
              <a:solidFill>
                <a:srgbClr val="BCCADB"/>
              </a:solidFill>
            </p:spPr>
          </p:sp>
          <p:sp>
            <p:nvSpPr>
              <p:cNvPr name="TextBox 13" id="13"/>
              <p:cNvSpPr txBox="true"/>
              <p:nvPr/>
            </p:nvSpPr>
            <p:spPr>
              <a:xfrm>
                <a:off x="0" y="-57150"/>
                <a:ext cx="682684" cy="639421"/>
              </a:xfrm>
              <a:prstGeom prst="rect">
                <a:avLst/>
              </a:prstGeom>
            </p:spPr>
            <p:txBody>
              <a:bodyPr anchor="ctr" rtlCol="false" tIns="50800" lIns="50800" bIns="50800" rIns="50800"/>
              <a:lstStyle/>
              <a:p>
                <a:pPr algn="ctr">
                  <a:lnSpc>
                    <a:spcPts val="3368"/>
                  </a:lnSpc>
                </a:pPr>
              </a:p>
            </p:txBody>
          </p:sp>
        </p:grpSp>
        <p:pic>
          <p:nvPicPr>
            <p:cNvPr name="Picture 14" id="14"/>
            <p:cNvPicPr>
              <a:picLocks noChangeAspect="true"/>
            </p:cNvPicPr>
            <p:nvPr/>
          </p:nvPicPr>
          <p:blipFill>
            <a:blip r:embed="rId5"/>
            <a:stretch>
              <a:fillRect/>
            </a:stretch>
          </p:blipFill>
          <p:spPr>
            <a:xfrm rot="0">
              <a:off x="428062" y="5095760"/>
              <a:ext cx="2532365" cy="654194"/>
            </a:xfrm>
            <a:prstGeom prst="rect">
              <a:avLst/>
            </a:prstGeom>
          </p:spPr>
        </p:pic>
        <p:pic>
          <p:nvPicPr>
            <p:cNvPr name="Picture 15" id="15"/>
            <p:cNvPicPr>
              <a:picLocks noChangeAspect="true"/>
            </p:cNvPicPr>
            <p:nvPr/>
          </p:nvPicPr>
          <p:blipFill>
            <a:blip r:embed="rId6"/>
            <a:stretch>
              <a:fillRect/>
            </a:stretch>
          </p:blipFill>
          <p:spPr>
            <a:xfrm rot="0">
              <a:off x="428062" y="6372854"/>
              <a:ext cx="2532365" cy="654194"/>
            </a:xfrm>
            <a:prstGeom prst="rect">
              <a:avLst/>
            </a:prstGeom>
          </p:spPr>
        </p:pic>
        <p:sp>
          <p:nvSpPr>
            <p:cNvPr name="TextBox 16" id="16"/>
            <p:cNvSpPr txBox="true"/>
            <p:nvPr/>
          </p:nvSpPr>
          <p:spPr>
            <a:xfrm rot="0">
              <a:off x="639092" y="4842365"/>
              <a:ext cx="4265725" cy="381684"/>
            </a:xfrm>
            <a:prstGeom prst="rect">
              <a:avLst/>
            </a:prstGeom>
          </p:spPr>
          <p:txBody>
            <a:bodyPr anchor="t" rtlCol="false" tIns="0" lIns="0" bIns="0" rIns="0">
              <a:spAutoFit/>
            </a:bodyPr>
            <a:lstStyle/>
            <a:p>
              <a:pPr algn="l">
                <a:lnSpc>
                  <a:spcPts val="2450"/>
                </a:lnSpc>
              </a:pPr>
              <a:r>
                <a:rPr lang="en-US" sz="1750" b="true">
                  <a:solidFill>
                    <a:srgbClr val="18102B"/>
                  </a:solidFill>
                  <a:latin typeface="Raleway Bold"/>
                  <a:ea typeface="Raleway Bold"/>
                  <a:cs typeface="Raleway Bold"/>
                  <a:sym typeface="Raleway Bold"/>
                </a:rPr>
                <a:t>Hired</a:t>
              </a:r>
            </a:p>
          </p:txBody>
        </p:sp>
        <p:sp>
          <p:nvSpPr>
            <p:cNvPr name="TextBox 17" id="17"/>
            <p:cNvSpPr txBox="true"/>
            <p:nvPr/>
          </p:nvSpPr>
          <p:spPr>
            <a:xfrm rot="0">
              <a:off x="619314" y="6161279"/>
              <a:ext cx="1522649" cy="381684"/>
            </a:xfrm>
            <a:prstGeom prst="rect">
              <a:avLst/>
            </a:prstGeom>
          </p:spPr>
          <p:txBody>
            <a:bodyPr anchor="t" rtlCol="false" tIns="0" lIns="0" bIns="0" rIns="0">
              <a:spAutoFit/>
            </a:bodyPr>
            <a:lstStyle/>
            <a:p>
              <a:pPr algn="l">
                <a:lnSpc>
                  <a:spcPts val="2450"/>
                </a:lnSpc>
              </a:pPr>
              <a:r>
                <a:rPr lang="en-US" sz="1750" b="true">
                  <a:solidFill>
                    <a:srgbClr val="18102B"/>
                  </a:solidFill>
                  <a:latin typeface="Raleway Bold"/>
                  <a:ea typeface="Raleway Bold"/>
                  <a:cs typeface="Raleway Bold"/>
                  <a:sym typeface="Raleway Bold"/>
                </a:rPr>
                <a:t>Not Hired</a:t>
              </a:r>
            </a:p>
          </p:txBody>
        </p:sp>
        <p:sp>
          <p:nvSpPr>
            <p:cNvPr name="TextBox 18" id="18"/>
            <p:cNvSpPr txBox="true"/>
            <p:nvPr/>
          </p:nvSpPr>
          <p:spPr>
            <a:xfrm rot="0">
              <a:off x="2806640" y="4990994"/>
              <a:ext cx="1074800" cy="564918"/>
            </a:xfrm>
            <a:prstGeom prst="rect">
              <a:avLst/>
            </a:prstGeom>
          </p:spPr>
          <p:txBody>
            <a:bodyPr anchor="t" rtlCol="false" tIns="0" lIns="0" bIns="0" rIns="0">
              <a:spAutoFit/>
            </a:bodyPr>
            <a:lstStyle/>
            <a:p>
              <a:pPr algn="l">
                <a:lnSpc>
                  <a:spcPts val="3522"/>
                </a:lnSpc>
              </a:pPr>
              <a:r>
                <a:rPr lang="en-US" sz="2515" b="true">
                  <a:solidFill>
                    <a:srgbClr val="18102B"/>
                  </a:solidFill>
                  <a:latin typeface="Raleway Bold"/>
                  <a:ea typeface="Raleway Bold"/>
                  <a:cs typeface="Raleway Bold"/>
                  <a:sym typeface="Raleway Bold"/>
                </a:rPr>
                <a:t>31%</a:t>
              </a:r>
            </a:p>
          </p:txBody>
        </p:sp>
        <p:sp>
          <p:nvSpPr>
            <p:cNvPr name="TextBox 19" id="19"/>
            <p:cNvSpPr txBox="true"/>
            <p:nvPr/>
          </p:nvSpPr>
          <p:spPr>
            <a:xfrm rot="0">
              <a:off x="2806640" y="6268088"/>
              <a:ext cx="1074800" cy="564918"/>
            </a:xfrm>
            <a:prstGeom prst="rect">
              <a:avLst/>
            </a:prstGeom>
          </p:spPr>
          <p:txBody>
            <a:bodyPr anchor="t" rtlCol="false" tIns="0" lIns="0" bIns="0" rIns="0">
              <a:spAutoFit/>
            </a:bodyPr>
            <a:lstStyle/>
            <a:p>
              <a:pPr algn="l">
                <a:lnSpc>
                  <a:spcPts val="3522"/>
                </a:lnSpc>
              </a:pPr>
              <a:r>
                <a:rPr lang="en-US" sz="2515" b="true">
                  <a:solidFill>
                    <a:srgbClr val="18102B"/>
                  </a:solidFill>
                  <a:latin typeface="Raleway Bold"/>
                  <a:ea typeface="Raleway Bold"/>
                  <a:cs typeface="Raleway Bold"/>
                  <a:sym typeface="Raleway Bold"/>
                </a:rPr>
                <a:t>69%</a:t>
              </a:r>
            </a:p>
          </p:txBody>
        </p:sp>
        <p:grpSp>
          <p:nvGrpSpPr>
            <p:cNvPr name="Group 20" id="20"/>
            <p:cNvGrpSpPr/>
            <p:nvPr/>
          </p:nvGrpSpPr>
          <p:grpSpPr>
            <a:xfrm rot="0">
              <a:off x="0" y="0"/>
              <a:ext cx="4394033" cy="3685185"/>
              <a:chOff x="0" y="0"/>
              <a:chExt cx="1047040" cy="878131"/>
            </a:xfrm>
          </p:grpSpPr>
          <p:sp>
            <p:nvSpPr>
              <p:cNvPr name="Freeform 21" id="21"/>
              <p:cNvSpPr/>
              <p:nvPr/>
            </p:nvSpPr>
            <p:spPr>
              <a:xfrm flipH="false" flipV="false" rot="0">
                <a:off x="0" y="0"/>
                <a:ext cx="1047040" cy="878131"/>
              </a:xfrm>
              <a:custGeom>
                <a:avLst/>
                <a:gdLst/>
                <a:ahLst/>
                <a:cxnLst/>
                <a:rect r="r" b="b" t="t" l="l"/>
                <a:pathLst>
                  <a:path h="878131" w="1047040">
                    <a:moveTo>
                      <a:pt x="131051" y="0"/>
                    </a:moveTo>
                    <a:lnTo>
                      <a:pt x="915989" y="0"/>
                    </a:lnTo>
                    <a:cubicBezTo>
                      <a:pt x="950746" y="0"/>
                      <a:pt x="984079" y="13807"/>
                      <a:pt x="1008656" y="38384"/>
                    </a:cubicBezTo>
                    <a:cubicBezTo>
                      <a:pt x="1033233" y="62961"/>
                      <a:pt x="1047040" y="96294"/>
                      <a:pt x="1047040" y="131051"/>
                    </a:cubicBezTo>
                    <a:lnTo>
                      <a:pt x="1047040" y="747080"/>
                    </a:lnTo>
                    <a:cubicBezTo>
                      <a:pt x="1047040" y="819457"/>
                      <a:pt x="988366" y="878131"/>
                      <a:pt x="915989" y="878131"/>
                    </a:cubicBezTo>
                    <a:lnTo>
                      <a:pt x="131051" y="878131"/>
                    </a:lnTo>
                    <a:cubicBezTo>
                      <a:pt x="96294" y="878131"/>
                      <a:pt x="62961" y="864324"/>
                      <a:pt x="38384" y="839747"/>
                    </a:cubicBezTo>
                    <a:cubicBezTo>
                      <a:pt x="13807" y="815170"/>
                      <a:pt x="0" y="781836"/>
                      <a:pt x="0" y="747080"/>
                    </a:cubicBezTo>
                    <a:lnTo>
                      <a:pt x="0" y="131051"/>
                    </a:lnTo>
                    <a:cubicBezTo>
                      <a:pt x="0" y="96294"/>
                      <a:pt x="13807" y="62961"/>
                      <a:pt x="38384" y="38384"/>
                    </a:cubicBezTo>
                    <a:cubicBezTo>
                      <a:pt x="62961" y="13807"/>
                      <a:pt x="96294" y="0"/>
                      <a:pt x="131051" y="0"/>
                    </a:cubicBezTo>
                    <a:close/>
                  </a:path>
                </a:pathLst>
              </a:custGeom>
              <a:solidFill>
                <a:srgbClr val="7E8C92"/>
              </a:solidFill>
            </p:spPr>
          </p:sp>
          <p:sp>
            <p:nvSpPr>
              <p:cNvPr name="TextBox 22" id="22"/>
              <p:cNvSpPr txBox="true"/>
              <p:nvPr/>
            </p:nvSpPr>
            <p:spPr>
              <a:xfrm>
                <a:off x="0" y="-19050"/>
                <a:ext cx="1047040" cy="897181"/>
              </a:xfrm>
              <a:prstGeom prst="rect">
                <a:avLst/>
              </a:prstGeom>
            </p:spPr>
            <p:txBody>
              <a:bodyPr anchor="ctr" rtlCol="false" tIns="38726" lIns="38726" bIns="38726" rIns="38726"/>
              <a:lstStyle/>
              <a:p>
                <a:pPr algn="ctr">
                  <a:lnSpc>
                    <a:spcPts val="1919"/>
                  </a:lnSpc>
                </a:pPr>
              </a:p>
            </p:txBody>
          </p:sp>
        </p:grpSp>
        <p:grpSp>
          <p:nvGrpSpPr>
            <p:cNvPr name="Group 23" id="23"/>
            <p:cNvGrpSpPr/>
            <p:nvPr/>
          </p:nvGrpSpPr>
          <p:grpSpPr>
            <a:xfrm rot="0">
              <a:off x="4646701" y="0"/>
              <a:ext cx="4394033" cy="3685185"/>
              <a:chOff x="0" y="0"/>
              <a:chExt cx="1047040" cy="878131"/>
            </a:xfrm>
          </p:grpSpPr>
          <p:sp>
            <p:nvSpPr>
              <p:cNvPr name="Freeform 24" id="24"/>
              <p:cNvSpPr/>
              <p:nvPr/>
            </p:nvSpPr>
            <p:spPr>
              <a:xfrm flipH="false" flipV="false" rot="0">
                <a:off x="0" y="0"/>
                <a:ext cx="1047040" cy="878131"/>
              </a:xfrm>
              <a:custGeom>
                <a:avLst/>
                <a:gdLst/>
                <a:ahLst/>
                <a:cxnLst/>
                <a:rect r="r" b="b" t="t" l="l"/>
                <a:pathLst>
                  <a:path h="878131" w="1047040">
                    <a:moveTo>
                      <a:pt x="131051" y="0"/>
                    </a:moveTo>
                    <a:lnTo>
                      <a:pt x="915989" y="0"/>
                    </a:lnTo>
                    <a:cubicBezTo>
                      <a:pt x="950746" y="0"/>
                      <a:pt x="984079" y="13807"/>
                      <a:pt x="1008656" y="38384"/>
                    </a:cubicBezTo>
                    <a:cubicBezTo>
                      <a:pt x="1033233" y="62961"/>
                      <a:pt x="1047040" y="96294"/>
                      <a:pt x="1047040" y="131051"/>
                    </a:cubicBezTo>
                    <a:lnTo>
                      <a:pt x="1047040" y="747080"/>
                    </a:lnTo>
                    <a:cubicBezTo>
                      <a:pt x="1047040" y="819457"/>
                      <a:pt x="988366" y="878131"/>
                      <a:pt x="915989" y="878131"/>
                    </a:cubicBezTo>
                    <a:lnTo>
                      <a:pt x="131051" y="878131"/>
                    </a:lnTo>
                    <a:cubicBezTo>
                      <a:pt x="96294" y="878131"/>
                      <a:pt x="62961" y="864324"/>
                      <a:pt x="38384" y="839747"/>
                    </a:cubicBezTo>
                    <a:cubicBezTo>
                      <a:pt x="13807" y="815170"/>
                      <a:pt x="0" y="781836"/>
                      <a:pt x="0" y="747080"/>
                    </a:cubicBezTo>
                    <a:lnTo>
                      <a:pt x="0" y="131051"/>
                    </a:lnTo>
                    <a:cubicBezTo>
                      <a:pt x="0" y="96294"/>
                      <a:pt x="13807" y="62961"/>
                      <a:pt x="38384" y="38384"/>
                    </a:cubicBezTo>
                    <a:cubicBezTo>
                      <a:pt x="62961" y="13807"/>
                      <a:pt x="96294" y="0"/>
                      <a:pt x="131051" y="0"/>
                    </a:cubicBezTo>
                    <a:close/>
                  </a:path>
                </a:pathLst>
              </a:custGeom>
              <a:solidFill>
                <a:srgbClr val="A1C7CE"/>
              </a:solidFill>
            </p:spPr>
          </p:sp>
          <p:sp>
            <p:nvSpPr>
              <p:cNvPr name="TextBox 25" id="25"/>
              <p:cNvSpPr txBox="true"/>
              <p:nvPr/>
            </p:nvSpPr>
            <p:spPr>
              <a:xfrm>
                <a:off x="0" y="-19050"/>
                <a:ext cx="1047040" cy="897181"/>
              </a:xfrm>
              <a:prstGeom prst="rect">
                <a:avLst/>
              </a:prstGeom>
            </p:spPr>
            <p:txBody>
              <a:bodyPr anchor="ctr" rtlCol="false" tIns="38726" lIns="38726" bIns="38726" rIns="38726"/>
              <a:lstStyle/>
              <a:p>
                <a:pPr algn="ctr">
                  <a:lnSpc>
                    <a:spcPts val="1919"/>
                  </a:lnSpc>
                </a:pPr>
              </a:p>
            </p:txBody>
          </p:sp>
        </p:grpSp>
        <p:sp>
          <p:nvSpPr>
            <p:cNvPr name="TextBox 26" id="26"/>
            <p:cNvSpPr txBox="true"/>
            <p:nvPr/>
          </p:nvSpPr>
          <p:spPr>
            <a:xfrm rot="0">
              <a:off x="639092" y="353081"/>
              <a:ext cx="2455415" cy="291515"/>
            </a:xfrm>
            <a:prstGeom prst="rect">
              <a:avLst/>
            </a:prstGeom>
          </p:spPr>
          <p:txBody>
            <a:bodyPr anchor="t" rtlCol="false" tIns="0" lIns="0" bIns="0" rIns="0">
              <a:spAutoFit/>
            </a:bodyPr>
            <a:lstStyle/>
            <a:p>
              <a:pPr algn="ctr">
                <a:lnSpc>
                  <a:spcPts val="1647"/>
                </a:lnSpc>
                <a:spcBef>
                  <a:spcPct val="0"/>
                </a:spcBef>
              </a:pPr>
              <a:r>
                <a:rPr lang="en-US" b="true" sz="1373" spc="5">
                  <a:solidFill>
                    <a:srgbClr val="000000"/>
                  </a:solidFill>
                  <a:latin typeface="Poppins Bold"/>
                  <a:ea typeface="Poppins Bold"/>
                  <a:cs typeface="Poppins Bold"/>
                  <a:sym typeface="Poppins Bold"/>
                </a:rPr>
                <a:t>Numerical Features</a:t>
              </a:r>
            </a:p>
          </p:txBody>
        </p:sp>
        <p:sp>
          <p:nvSpPr>
            <p:cNvPr name="TextBox 27" id="27"/>
            <p:cNvSpPr txBox="true"/>
            <p:nvPr/>
          </p:nvSpPr>
          <p:spPr>
            <a:xfrm rot="0">
              <a:off x="5179655" y="353081"/>
              <a:ext cx="2647779" cy="296881"/>
            </a:xfrm>
            <a:prstGeom prst="rect">
              <a:avLst/>
            </a:prstGeom>
          </p:spPr>
          <p:txBody>
            <a:bodyPr anchor="t" rtlCol="false" tIns="0" lIns="0" bIns="0" rIns="0">
              <a:spAutoFit/>
            </a:bodyPr>
            <a:lstStyle/>
            <a:p>
              <a:pPr algn="l">
                <a:lnSpc>
                  <a:spcPts val="1647"/>
                </a:lnSpc>
                <a:spcBef>
                  <a:spcPct val="0"/>
                </a:spcBef>
              </a:pPr>
              <a:r>
                <a:rPr lang="en-US" b="true" sz="1373" spc="5">
                  <a:solidFill>
                    <a:srgbClr val="000000"/>
                  </a:solidFill>
                  <a:latin typeface="Poppins Bold"/>
                  <a:ea typeface="Poppins Bold"/>
                  <a:cs typeface="Poppins Bold"/>
                  <a:sym typeface="Poppins Bold"/>
                </a:rPr>
                <a:t>Categorical Features</a:t>
              </a:r>
            </a:p>
          </p:txBody>
        </p:sp>
        <p:sp>
          <p:nvSpPr>
            <p:cNvPr name="TextBox 28" id="28"/>
            <p:cNvSpPr txBox="true"/>
            <p:nvPr/>
          </p:nvSpPr>
          <p:spPr>
            <a:xfrm rot="0">
              <a:off x="435864" y="713832"/>
              <a:ext cx="3310843" cy="2213007"/>
            </a:xfrm>
            <a:prstGeom prst="rect">
              <a:avLst/>
            </a:prstGeom>
          </p:spPr>
          <p:txBody>
            <a:bodyPr anchor="t" rtlCol="false" tIns="0" lIns="0" bIns="0" rIns="0">
              <a:spAutoFit/>
            </a:bodyPr>
            <a:lstStyle/>
            <a:p>
              <a:pPr algn="just" marL="296441" indent="-148221" lvl="1">
                <a:lnSpc>
                  <a:spcPts val="1922"/>
                </a:lnSpc>
                <a:buFont typeface="Arial"/>
                <a:buChar char="•"/>
              </a:pPr>
              <a:r>
                <a:rPr lang="en-US" sz="1373" spc="5">
                  <a:solidFill>
                    <a:srgbClr val="000000"/>
                  </a:solidFill>
                  <a:latin typeface="Poppins"/>
                  <a:ea typeface="Poppins"/>
                  <a:cs typeface="Poppins"/>
                  <a:sym typeface="Poppins"/>
                </a:rPr>
                <a:t>Age</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ExperienceYears</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PreviousCompanies</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DistanceFromCompany</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InterviewScore</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SkillScore</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PersonalityScore</a:t>
              </a:r>
            </a:p>
          </p:txBody>
        </p:sp>
        <p:sp>
          <p:nvSpPr>
            <p:cNvPr name="TextBox 29" id="29"/>
            <p:cNvSpPr txBox="true"/>
            <p:nvPr/>
          </p:nvSpPr>
          <p:spPr>
            <a:xfrm rot="0">
              <a:off x="5139684" y="713832"/>
              <a:ext cx="2899080" cy="949301"/>
            </a:xfrm>
            <a:prstGeom prst="rect">
              <a:avLst/>
            </a:prstGeom>
          </p:spPr>
          <p:txBody>
            <a:bodyPr anchor="t" rtlCol="false" tIns="0" lIns="0" bIns="0" rIns="0">
              <a:spAutoFit/>
            </a:bodyPr>
            <a:lstStyle/>
            <a:p>
              <a:pPr algn="just" marL="296441" indent="-148221" lvl="1">
                <a:lnSpc>
                  <a:spcPts val="1922"/>
                </a:lnSpc>
                <a:buFont typeface="Arial"/>
                <a:buChar char="•"/>
              </a:pPr>
              <a:r>
                <a:rPr lang="en-US" sz="1373" spc="5">
                  <a:solidFill>
                    <a:srgbClr val="000000"/>
                  </a:solidFill>
                  <a:latin typeface="Poppins"/>
                  <a:ea typeface="Poppins"/>
                  <a:cs typeface="Poppins"/>
                  <a:sym typeface="Poppins"/>
                </a:rPr>
                <a:t>G</a:t>
              </a:r>
              <a:r>
                <a:rPr lang="en-US" sz="1373" spc="5">
                  <a:solidFill>
                    <a:srgbClr val="000000"/>
                  </a:solidFill>
                  <a:latin typeface="Poppins"/>
                  <a:ea typeface="Poppins"/>
                  <a:cs typeface="Poppins"/>
                  <a:sym typeface="Poppins"/>
                </a:rPr>
                <a:t>ender</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EducationLevel</a:t>
              </a:r>
            </a:p>
            <a:p>
              <a:pPr algn="just" marL="296441" indent="-148221" lvl="1">
                <a:lnSpc>
                  <a:spcPts val="1922"/>
                </a:lnSpc>
                <a:buFont typeface="Arial"/>
                <a:buChar char="•"/>
              </a:pPr>
              <a:r>
                <a:rPr lang="en-US" sz="1373" spc="5">
                  <a:solidFill>
                    <a:srgbClr val="000000"/>
                  </a:solidFill>
                  <a:latin typeface="Poppins"/>
                  <a:ea typeface="Poppins"/>
                  <a:cs typeface="Poppins"/>
                  <a:sym typeface="Poppins"/>
                </a:rPr>
                <a:t>RecruitmentStrategy</a:t>
              </a:r>
            </a:p>
          </p:txBody>
        </p:sp>
        <p:sp>
          <p:nvSpPr>
            <p:cNvPr name="TextBox 30" id="30"/>
            <p:cNvSpPr txBox="true"/>
            <p:nvPr/>
          </p:nvSpPr>
          <p:spPr>
            <a:xfrm rot="0">
              <a:off x="596653" y="4180122"/>
              <a:ext cx="3127393" cy="296881"/>
            </a:xfrm>
            <a:prstGeom prst="rect">
              <a:avLst/>
            </a:prstGeom>
          </p:spPr>
          <p:txBody>
            <a:bodyPr anchor="t" rtlCol="false" tIns="0" lIns="0" bIns="0" rIns="0">
              <a:spAutoFit/>
            </a:bodyPr>
            <a:lstStyle/>
            <a:p>
              <a:pPr algn="l">
                <a:lnSpc>
                  <a:spcPts val="1647"/>
                </a:lnSpc>
                <a:spcBef>
                  <a:spcPct val="0"/>
                </a:spcBef>
              </a:pPr>
              <a:r>
                <a:rPr lang="en-US" b="true" sz="1373" spc="5">
                  <a:solidFill>
                    <a:srgbClr val="000000"/>
                  </a:solidFill>
                  <a:latin typeface="Poppins Bold"/>
                  <a:ea typeface="Poppins Bold"/>
                  <a:cs typeface="Poppins Bold"/>
                  <a:sym typeface="Poppins Bold"/>
                </a:rPr>
                <a:t>Target: Hiring Decision</a:t>
              </a:r>
            </a:p>
          </p:txBody>
        </p:sp>
        <p:grpSp>
          <p:nvGrpSpPr>
            <p:cNvPr name="Group 31" id="31"/>
            <p:cNvGrpSpPr/>
            <p:nvPr/>
          </p:nvGrpSpPr>
          <p:grpSpPr>
            <a:xfrm rot="0">
              <a:off x="4646701" y="3848030"/>
              <a:ext cx="4320699" cy="3685185"/>
              <a:chOff x="0" y="0"/>
              <a:chExt cx="682684" cy="582271"/>
            </a:xfrm>
          </p:grpSpPr>
          <p:sp>
            <p:nvSpPr>
              <p:cNvPr name="Freeform 32" id="32"/>
              <p:cNvSpPr/>
              <p:nvPr/>
            </p:nvSpPr>
            <p:spPr>
              <a:xfrm flipH="false" flipV="false" rot="0">
                <a:off x="0" y="0"/>
                <a:ext cx="682684" cy="582271"/>
              </a:xfrm>
              <a:custGeom>
                <a:avLst/>
                <a:gdLst/>
                <a:ahLst/>
                <a:cxnLst/>
                <a:rect r="r" b="b" t="t" l="l"/>
                <a:pathLst>
                  <a:path h="582271" w="682684">
                    <a:moveTo>
                      <a:pt x="78397" y="0"/>
                    </a:moveTo>
                    <a:lnTo>
                      <a:pt x="604287" y="0"/>
                    </a:lnTo>
                    <a:cubicBezTo>
                      <a:pt x="647585" y="0"/>
                      <a:pt x="682684" y="35100"/>
                      <a:pt x="682684" y="78397"/>
                    </a:cubicBezTo>
                    <a:lnTo>
                      <a:pt x="682684" y="503874"/>
                    </a:lnTo>
                    <a:cubicBezTo>
                      <a:pt x="682684" y="524666"/>
                      <a:pt x="674425" y="544607"/>
                      <a:pt x="659722" y="559309"/>
                    </a:cubicBezTo>
                    <a:cubicBezTo>
                      <a:pt x="645020" y="574012"/>
                      <a:pt x="625079" y="582271"/>
                      <a:pt x="604287" y="582271"/>
                    </a:cubicBezTo>
                    <a:lnTo>
                      <a:pt x="78397" y="582271"/>
                    </a:lnTo>
                    <a:cubicBezTo>
                      <a:pt x="57605" y="582271"/>
                      <a:pt x="37664" y="574012"/>
                      <a:pt x="22962" y="559309"/>
                    </a:cubicBezTo>
                    <a:cubicBezTo>
                      <a:pt x="8260" y="544607"/>
                      <a:pt x="0" y="524666"/>
                      <a:pt x="0" y="503874"/>
                    </a:cubicBezTo>
                    <a:lnTo>
                      <a:pt x="0" y="78397"/>
                    </a:lnTo>
                    <a:cubicBezTo>
                      <a:pt x="0" y="35100"/>
                      <a:pt x="35100" y="0"/>
                      <a:pt x="78397" y="0"/>
                    </a:cubicBezTo>
                    <a:close/>
                  </a:path>
                </a:pathLst>
              </a:custGeom>
              <a:solidFill>
                <a:srgbClr val="D9D9D9"/>
              </a:solidFill>
            </p:spPr>
          </p:sp>
          <p:sp>
            <p:nvSpPr>
              <p:cNvPr name="TextBox 33" id="33"/>
              <p:cNvSpPr txBox="true"/>
              <p:nvPr/>
            </p:nvSpPr>
            <p:spPr>
              <a:xfrm>
                <a:off x="0" y="-57150"/>
                <a:ext cx="682684" cy="639421"/>
              </a:xfrm>
              <a:prstGeom prst="rect">
                <a:avLst/>
              </a:prstGeom>
            </p:spPr>
            <p:txBody>
              <a:bodyPr anchor="ctr" rtlCol="false" tIns="50800" lIns="50800" bIns="50800" rIns="50800"/>
              <a:lstStyle/>
              <a:p>
                <a:pPr algn="ctr">
                  <a:lnSpc>
                    <a:spcPts val="3368"/>
                  </a:lnSpc>
                </a:pPr>
              </a:p>
            </p:txBody>
          </p:sp>
        </p:grpSp>
        <p:sp>
          <p:nvSpPr>
            <p:cNvPr name="TextBox 34" id="34"/>
            <p:cNvSpPr txBox="true"/>
            <p:nvPr/>
          </p:nvSpPr>
          <p:spPr>
            <a:xfrm rot="0">
              <a:off x="5280021" y="4180122"/>
              <a:ext cx="3127393" cy="296881"/>
            </a:xfrm>
            <a:prstGeom prst="rect">
              <a:avLst/>
            </a:prstGeom>
          </p:spPr>
          <p:txBody>
            <a:bodyPr anchor="t" rtlCol="false" tIns="0" lIns="0" bIns="0" rIns="0">
              <a:spAutoFit/>
            </a:bodyPr>
            <a:lstStyle/>
            <a:p>
              <a:pPr algn="l">
                <a:lnSpc>
                  <a:spcPts val="1647"/>
                </a:lnSpc>
                <a:spcBef>
                  <a:spcPct val="0"/>
                </a:spcBef>
              </a:pPr>
              <a:r>
                <a:rPr lang="en-US" b="true" sz="1373" spc="5">
                  <a:solidFill>
                    <a:srgbClr val="000000"/>
                  </a:solidFill>
                  <a:latin typeface="Poppins Bold"/>
                  <a:ea typeface="Poppins Bold"/>
                  <a:cs typeface="Poppins Bold"/>
                  <a:sym typeface="Poppins Bold"/>
                </a:rPr>
                <a:t>Feature Engineering</a:t>
              </a:r>
            </a:p>
          </p:txBody>
        </p:sp>
        <p:sp>
          <p:nvSpPr>
            <p:cNvPr name="TextBox 35" id="35"/>
            <p:cNvSpPr txBox="true"/>
            <p:nvPr/>
          </p:nvSpPr>
          <p:spPr>
            <a:xfrm rot="0">
              <a:off x="5139684" y="4717235"/>
              <a:ext cx="2899080" cy="317183"/>
            </a:xfrm>
            <a:prstGeom prst="rect">
              <a:avLst/>
            </a:prstGeom>
          </p:spPr>
          <p:txBody>
            <a:bodyPr anchor="t" rtlCol="false" tIns="0" lIns="0" bIns="0" rIns="0">
              <a:spAutoFit/>
            </a:bodyPr>
            <a:lstStyle/>
            <a:p>
              <a:pPr algn="just" marL="296441" indent="-148221" lvl="1">
                <a:lnSpc>
                  <a:spcPts val="1922"/>
                </a:lnSpc>
                <a:buFont typeface="Arial"/>
                <a:buChar char="•"/>
              </a:pPr>
              <a:r>
                <a:rPr lang="en-US" sz="1373" spc="5">
                  <a:solidFill>
                    <a:srgbClr val="000000"/>
                  </a:solidFill>
                  <a:latin typeface="Poppins"/>
                  <a:ea typeface="Poppins"/>
                  <a:cs typeface="Poppins"/>
                  <a:sym typeface="Poppins"/>
                </a:rPr>
                <a:t>ExperienceLevel</a:t>
              </a:r>
            </a:p>
          </p:txBody>
        </p:sp>
      </p:grpSp>
      <p:sp>
        <p:nvSpPr>
          <p:cNvPr name="TextBox 36" id="36"/>
          <p:cNvSpPr txBox="true"/>
          <p:nvPr/>
        </p:nvSpPr>
        <p:spPr>
          <a:xfrm rot="0">
            <a:off x="4735179" y="7828728"/>
            <a:ext cx="2230292" cy="1201471"/>
          </a:xfrm>
          <a:prstGeom prst="rect">
            <a:avLst/>
          </a:prstGeom>
        </p:spPr>
        <p:txBody>
          <a:bodyPr anchor="t" rtlCol="false" tIns="0" lIns="0" bIns="0" rIns="0">
            <a:spAutoFit/>
          </a:bodyPr>
          <a:lstStyle/>
          <a:p>
            <a:pPr algn="l">
              <a:lnSpc>
                <a:spcPts val="1919"/>
              </a:lnSpc>
            </a:pPr>
            <a:r>
              <a:rPr lang="en-US" sz="1370" spc="5">
                <a:solidFill>
                  <a:srgbClr val="000000"/>
                </a:solidFill>
                <a:latin typeface="Poppins"/>
                <a:ea typeface="Poppins"/>
                <a:cs typeface="Poppins"/>
                <a:sym typeface="Poppins"/>
              </a:rPr>
              <a:t>T</a:t>
            </a:r>
            <a:r>
              <a:rPr lang="en-US" sz="1370" spc="5">
                <a:solidFill>
                  <a:srgbClr val="000000"/>
                </a:solidFill>
                <a:latin typeface="Poppins"/>
                <a:ea typeface="Poppins"/>
                <a:cs typeface="Poppins"/>
                <a:sym typeface="Poppins"/>
              </a:rPr>
              <a:t>ransforms continuous numerical data in ExperienceYears feature into discrete categories (binning).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702291" y="7155850"/>
            <a:ext cx="17056703" cy="2791866"/>
            <a:chOff x="0" y="0"/>
            <a:chExt cx="4650503" cy="761201"/>
          </a:xfrm>
        </p:grpSpPr>
        <p:sp>
          <p:nvSpPr>
            <p:cNvPr name="Freeform 4" id="4"/>
            <p:cNvSpPr/>
            <p:nvPr/>
          </p:nvSpPr>
          <p:spPr>
            <a:xfrm flipH="false" flipV="false" rot="0">
              <a:off x="0" y="0"/>
              <a:ext cx="4650503" cy="761201"/>
            </a:xfrm>
            <a:custGeom>
              <a:avLst/>
              <a:gdLst/>
              <a:ahLst/>
              <a:cxnLst/>
              <a:rect r="r" b="b" t="t" l="l"/>
              <a:pathLst>
                <a:path h="761201" w="4650503">
                  <a:moveTo>
                    <a:pt x="22695" y="0"/>
                  </a:moveTo>
                  <a:lnTo>
                    <a:pt x="4627809" y="0"/>
                  </a:lnTo>
                  <a:cubicBezTo>
                    <a:pt x="4640343" y="0"/>
                    <a:pt x="4650503" y="10161"/>
                    <a:pt x="4650503" y="22695"/>
                  </a:cubicBezTo>
                  <a:lnTo>
                    <a:pt x="4650503" y="738507"/>
                  </a:lnTo>
                  <a:cubicBezTo>
                    <a:pt x="4650503" y="751040"/>
                    <a:pt x="4640343" y="761201"/>
                    <a:pt x="4627809" y="761201"/>
                  </a:cubicBezTo>
                  <a:lnTo>
                    <a:pt x="22695" y="761201"/>
                  </a:lnTo>
                  <a:cubicBezTo>
                    <a:pt x="10161" y="761201"/>
                    <a:pt x="0" y="751040"/>
                    <a:pt x="0" y="738507"/>
                  </a:cubicBezTo>
                  <a:lnTo>
                    <a:pt x="0" y="22695"/>
                  </a:lnTo>
                  <a:cubicBezTo>
                    <a:pt x="0" y="10161"/>
                    <a:pt x="10161" y="0"/>
                    <a:pt x="22695" y="0"/>
                  </a:cubicBezTo>
                  <a:close/>
                </a:path>
              </a:pathLst>
            </a:custGeom>
            <a:solidFill>
              <a:srgbClr val="A1C7CE"/>
            </a:solidFill>
          </p:spPr>
        </p:sp>
        <p:sp>
          <p:nvSpPr>
            <p:cNvPr name="TextBox 5" id="5"/>
            <p:cNvSpPr txBox="true"/>
            <p:nvPr/>
          </p:nvSpPr>
          <p:spPr>
            <a:xfrm>
              <a:off x="0" y="-19050"/>
              <a:ext cx="4650503" cy="780251"/>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No data points were found outside the whiskers for each featu</a:t>
              </a:r>
              <a:r>
                <a:rPr lang="en-US" sz="2100" spc="8">
                  <a:solidFill>
                    <a:srgbClr val="000000"/>
                  </a:solidFill>
                  <a:latin typeface="Poppins"/>
                  <a:ea typeface="Poppins"/>
                  <a:cs typeface="Poppins"/>
                  <a:sym typeface="Poppins"/>
                </a:rPr>
                <a:t>res. This indicates the dataset is free from outliers, thus model will not be affected by significantly deviant values.</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The distribution plot looks approximately symmetric, meaning no significant skew is present.</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Due to the neat data distribution and lack of outliers, this dataset is ideal and can move into the modeling stage without the need for complex outlier handling.</a:t>
              </a:r>
            </a:p>
          </p:txBody>
        </p:sp>
      </p:grpSp>
      <p:sp>
        <p:nvSpPr>
          <p:cNvPr name="Freeform 6" id="6"/>
          <p:cNvSpPr/>
          <p:nvPr/>
        </p:nvSpPr>
        <p:spPr>
          <a:xfrm flipH="false" flipV="false" rot="0">
            <a:off x="702291" y="1905683"/>
            <a:ext cx="8099272" cy="5050540"/>
          </a:xfrm>
          <a:custGeom>
            <a:avLst/>
            <a:gdLst/>
            <a:ahLst/>
            <a:cxnLst/>
            <a:rect r="r" b="b" t="t" l="l"/>
            <a:pathLst>
              <a:path h="5050540" w="8099272">
                <a:moveTo>
                  <a:pt x="0" y="0"/>
                </a:moveTo>
                <a:lnTo>
                  <a:pt x="8099272" y="0"/>
                </a:lnTo>
                <a:lnTo>
                  <a:pt x="8099272" y="5050540"/>
                </a:lnTo>
                <a:lnTo>
                  <a:pt x="0" y="5050540"/>
                </a:lnTo>
                <a:lnTo>
                  <a:pt x="0" y="0"/>
                </a:lnTo>
                <a:close/>
              </a:path>
            </a:pathLst>
          </a:custGeom>
          <a:blipFill>
            <a:blip r:embed="rId3"/>
            <a:stretch>
              <a:fillRect l="0" t="0" r="0" b="0"/>
            </a:stretch>
          </a:blipFill>
        </p:spPr>
      </p:sp>
      <p:sp>
        <p:nvSpPr>
          <p:cNvPr name="Freeform 7" id="7"/>
          <p:cNvSpPr/>
          <p:nvPr/>
        </p:nvSpPr>
        <p:spPr>
          <a:xfrm flipH="false" flipV="false" rot="0">
            <a:off x="9144000" y="1905683"/>
            <a:ext cx="8614994" cy="5050540"/>
          </a:xfrm>
          <a:custGeom>
            <a:avLst/>
            <a:gdLst/>
            <a:ahLst/>
            <a:cxnLst/>
            <a:rect r="r" b="b" t="t" l="l"/>
            <a:pathLst>
              <a:path h="5050540" w="8614994">
                <a:moveTo>
                  <a:pt x="0" y="0"/>
                </a:moveTo>
                <a:lnTo>
                  <a:pt x="8614994" y="0"/>
                </a:lnTo>
                <a:lnTo>
                  <a:pt x="8614994" y="5050540"/>
                </a:lnTo>
                <a:lnTo>
                  <a:pt x="0" y="5050540"/>
                </a:lnTo>
                <a:lnTo>
                  <a:pt x="0" y="0"/>
                </a:lnTo>
                <a:close/>
              </a:path>
            </a:pathLst>
          </a:custGeom>
          <a:blipFill>
            <a:blip r:embed="rId4"/>
            <a:stretch>
              <a:fillRect l="0" t="0" r="0" b="0"/>
            </a:stretch>
          </a:blipFill>
        </p:spPr>
      </p:sp>
      <p:sp>
        <p:nvSpPr>
          <p:cNvPr name="TextBox 8" id="8"/>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Univari</a:t>
            </a:r>
            <a:r>
              <a:rPr lang="en-US" sz="6159">
                <a:solidFill>
                  <a:srgbClr val="18102B"/>
                </a:solidFill>
                <a:latin typeface="Raleway"/>
                <a:ea typeface="Raleway"/>
                <a:cs typeface="Raleway"/>
                <a:sym typeface="Raleway"/>
              </a:rPr>
              <a:t>ate Analysis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144000" y="2471876"/>
            <a:ext cx="8010838" cy="6335345"/>
            <a:chOff x="0" y="0"/>
            <a:chExt cx="2184152" cy="1727329"/>
          </a:xfrm>
        </p:grpSpPr>
        <p:sp>
          <p:nvSpPr>
            <p:cNvPr name="Freeform 4" id="4"/>
            <p:cNvSpPr/>
            <p:nvPr/>
          </p:nvSpPr>
          <p:spPr>
            <a:xfrm flipH="false" flipV="false" rot="0">
              <a:off x="0" y="0"/>
              <a:ext cx="2184152" cy="1727329"/>
            </a:xfrm>
            <a:custGeom>
              <a:avLst/>
              <a:gdLst/>
              <a:ahLst/>
              <a:cxnLst/>
              <a:rect r="r" b="b" t="t" l="l"/>
              <a:pathLst>
                <a:path h="1727329" w="2184152">
                  <a:moveTo>
                    <a:pt x="48322" y="0"/>
                  </a:moveTo>
                  <a:lnTo>
                    <a:pt x="2135830" y="0"/>
                  </a:lnTo>
                  <a:cubicBezTo>
                    <a:pt x="2148646" y="0"/>
                    <a:pt x="2160937" y="5091"/>
                    <a:pt x="2169999" y="14153"/>
                  </a:cubicBezTo>
                  <a:cubicBezTo>
                    <a:pt x="2179061" y="23215"/>
                    <a:pt x="2184152" y="35506"/>
                    <a:pt x="2184152" y="48322"/>
                  </a:cubicBezTo>
                  <a:lnTo>
                    <a:pt x="2184152" y="1679008"/>
                  </a:lnTo>
                  <a:cubicBezTo>
                    <a:pt x="2184152" y="1691824"/>
                    <a:pt x="2179061" y="1704114"/>
                    <a:pt x="2169999" y="1713176"/>
                  </a:cubicBezTo>
                  <a:cubicBezTo>
                    <a:pt x="2160937" y="1722238"/>
                    <a:pt x="2148646" y="1727329"/>
                    <a:pt x="2135830" y="1727329"/>
                  </a:cubicBezTo>
                  <a:lnTo>
                    <a:pt x="48322" y="1727329"/>
                  </a:lnTo>
                  <a:cubicBezTo>
                    <a:pt x="35506" y="1727329"/>
                    <a:pt x="23215" y="1722238"/>
                    <a:pt x="14153" y="1713176"/>
                  </a:cubicBezTo>
                  <a:cubicBezTo>
                    <a:pt x="5091" y="1704114"/>
                    <a:pt x="0" y="1691824"/>
                    <a:pt x="0" y="1679008"/>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5" id="5"/>
            <p:cNvSpPr txBox="true"/>
            <p:nvPr/>
          </p:nvSpPr>
          <p:spPr>
            <a:xfrm>
              <a:off x="0" y="-19050"/>
              <a:ext cx="2184152" cy="1746379"/>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Most of the numerical features have a low to moderate correlation with each other, with correlation values ranging from -0.052 hingga 0.044. </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No features show a very </a:t>
              </a:r>
              <a:r>
                <a:rPr lang="en-US" sz="2100" spc="8">
                  <a:solidFill>
                    <a:srgbClr val="000000"/>
                  </a:solidFill>
                  <a:latin typeface="Poppins"/>
                  <a:ea typeface="Poppins"/>
                  <a:cs typeface="Poppins"/>
                  <a:sym typeface="Poppins"/>
                </a:rPr>
                <a:t>high correlation (above 0.8), which indicates that there is no significant multicollinearity among them.</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Fea</a:t>
              </a:r>
              <a:r>
                <a:rPr lang="en-US" sz="2100" spc="8">
                  <a:solidFill>
                    <a:srgbClr val="000000"/>
                  </a:solidFill>
                  <a:latin typeface="Poppins"/>
                  <a:ea typeface="Poppins"/>
                  <a:cs typeface="Poppins"/>
                  <a:sym typeface="Poppins"/>
                </a:rPr>
                <a:t>tures such as </a:t>
              </a:r>
              <a:r>
                <a:rPr lang="en-US" b="true" sz="2100" spc="8">
                  <a:solidFill>
                    <a:srgbClr val="000000"/>
                  </a:solidFill>
                  <a:latin typeface="Poppins Bold"/>
                  <a:ea typeface="Poppins Bold"/>
                  <a:cs typeface="Poppins Bold"/>
                  <a:sym typeface="Poppins Bold"/>
                </a:rPr>
                <a:t>ExperienceYears</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InterviewScore</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SkillScore</a:t>
              </a:r>
              <a:r>
                <a:rPr lang="en-US" sz="2100" spc="8">
                  <a:solidFill>
                    <a:srgbClr val="000000"/>
                  </a:solidFill>
                  <a:latin typeface="Poppins"/>
                  <a:ea typeface="Poppins"/>
                  <a:cs typeface="Poppins"/>
                  <a:sym typeface="Poppins"/>
                </a:rPr>
                <a:t>, </a:t>
              </a:r>
              <a:r>
                <a:rPr lang="en-US" b="true" sz="2100" spc="8">
                  <a:solidFill>
                    <a:srgbClr val="000000"/>
                  </a:solidFill>
                  <a:latin typeface="Poppins Bold"/>
                  <a:ea typeface="Poppins Bold"/>
                  <a:cs typeface="Poppins Bold"/>
                  <a:sym typeface="Poppins Bold"/>
                </a:rPr>
                <a:t>PersonalityScore,</a:t>
              </a:r>
              <a:r>
                <a:rPr lang="en-US" sz="2100" spc="8">
                  <a:solidFill>
                    <a:srgbClr val="000000"/>
                  </a:solidFill>
                  <a:latin typeface="Poppins"/>
                  <a:ea typeface="Poppins"/>
                  <a:cs typeface="Poppins"/>
                  <a:sym typeface="Poppins"/>
                </a:rPr>
                <a:t> show a significant positive correlation with the target label (</a:t>
              </a:r>
              <a:r>
                <a:rPr lang="en-US" b="true" sz="2100" spc="8">
                  <a:solidFill>
                    <a:srgbClr val="000000"/>
                  </a:solidFill>
                  <a:latin typeface="Poppins Bold"/>
                  <a:ea typeface="Poppins Bold"/>
                  <a:cs typeface="Poppins Bold"/>
                  <a:sym typeface="Poppins Bold"/>
                </a:rPr>
                <a:t>HiringDecision</a:t>
              </a:r>
              <a:r>
                <a:rPr lang="en-US" sz="2100" spc="8">
                  <a:solidFill>
                    <a:srgbClr val="000000"/>
                  </a:solidFill>
                  <a:latin typeface="Poppins"/>
                  <a:ea typeface="Poppins"/>
                  <a:cs typeface="Poppins"/>
                  <a:sym typeface="Poppins"/>
                </a:rPr>
                <a:t>)."</a:t>
              </a:r>
            </a:p>
            <a:p>
              <a:pPr algn="l">
                <a:lnSpc>
                  <a:spcPts val="2520"/>
                </a:lnSpc>
              </a:pPr>
            </a:p>
          </p:txBody>
        </p:sp>
      </p:grpSp>
      <p:sp>
        <p:nvSpPr>
          <p:cNvPr name="Freeform 6" id="6"/>
          <p:cNvSpPr/>
          <p:nvPr/>
        </p:nvSpPr>
        <p:spPr>
          <a:xfrm flipH="false" flipV="false" rot="0">
            <a:off x="1028700" y="2471876"/>
            <a:ext cx="7607791" cy="6497241"/>
          </a:xfrm>
          <a:custGeom>
            <a:avLst/>
            <a:gdLst/>
            <a:ahLst/>
            <a:cxnLst/>
            <a:rect r="r" b="b" t="t" l="l"/>
            <a:pathLst>
              <a:path h="6497241" w="7607791">
                <a:moveTo>
                  <a:pt x="0" y="0"/>
                </a:moveTo>
                <a:lnTo>
                  <a:pt x="7607791" y="0"/>
                </a:lnTo>
                <a:lnTo>
                  <a:pt x="7607791" y="6497240"/>
                </a:lnTo>
                <a:lnTo>
                  <a:pt x="0" y="6497240"/>
                </a:lnTo>
                <a:lnTo>
                  <a:pt x="0" y="0"/>
                </a:lnTo>
                <a:close/>
              </a:path>
            </a:pathLst>
          </a:custGeom>
          <a:blipFill>
            <a:blip r:embed="rId3"/>
            <a:stretch>
              <a:fillRect l="0" t="0" r="0" b="0"/>
            </a:stretch>
          </a:blipFill>
        </p:spPr>
      </p:sp>
      <p:sp>
        <p:nvSpPr>
          <p:cNvPr name="TextBox 7" id="7"/>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Multivari</a:t>
            </a:r>
            <a:r>
              <a:rPr lang="en-US" sz="6159">
                <a:solidFill>
                  <a:srgbClr val="18102B"/>
                </a:solidFill>
                <a:latin typeface="Raleway"/>
                <a:ea typeface="Raleway"/>
                <a:cs typeface="Raleway"/>
                <a:sym typeface="Raleway"/>
              </a:rPr>
              <a:t>ate Analysis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597514" y="572463"/>
            <a:ext cx="13362446"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Chi-Square &amp; ANOVA</a:t>
            </a:r>
            <a:r>
              <a:rPr lang="en-US" sz="6159">
                <a:solidFill>
                  <a:srgbClr val="18102B"/>
                </a:solidFill>
                <a:latin typeface="Raleway"/>
                <a:ea typeface="Raleway"/>
                <a:cs typeface="Raleway"/>
                <a:sym typeface="Raleway"/>
              </a:rPr>
              <a:t> Test Result</a:t>
            </a:r>
          </a:p>
        </p:txBody>
      </p:sp>
      <p:graphicFrame>
        <p:nvGraphicFramePr>
          <p:cNvPr name="Table 4" id="4"/>
          <p:cNvGraphicFramePr>
            <a:graphicFrameLocks noGrp="true"/>
          </p:cNvGraphicFramePr>
          <p:nvPr/>
        </p:nvGraphicFramePr>
        <p:xfrm>
          <a:off x="597514" y="2857500"/>
          <a:ext cx="8704148" cy="4667250"/>
        </p:xfrm>
        <a:graphic>
          <a:graphicData uri="http://schemas.openxmlformats.org/drawingml/2006/table">
            <a:tbl>
              <a:tblPr/>
              <a:tblGrid>
                <a:gridCol w="3532059"/>
                <a:gridCol w="2586044"/>
                <a:gridCol w="2586044"/>
              </a:tblGrid>
              <a:tr h="603772">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F-stat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p-value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Age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0.9429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ExperienceYears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22.819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PreviousCompanies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2.909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0.0883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DistanceFromCompany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0.422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0.5158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marL="0" indent="0" lvl="0">
                        <a:lnSpc>
                          <a:spcPts val="2308"/>
                        </a:lnSpc>
                        <a:spcBef>
                          <a:spcPct val="0"/>
                        </a:spcBef>
                        <a:defRPr/>
                      </a:pPr>
                      <a:r>
                        <a:rPr lang="en-US" sz="1648" strike="noStrike" u="none">
                          <a:solidFill>
                            <a:srgbClr val="000000"/>
                          </a:solidFill>
                          <a:latin typeface="Canva Sans"/>
                          <a:ea typeface="Canva Sans"/>
                          <a:cs typeface="Canva Sans"/>
                          <a:sym typeface="Canva Sans"/>
                        </a:rPr>
                        <a:t>InterviewScore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32.656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SkillScore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64.827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PersonalityScore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44.137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07935">
                <a:tc>
                  <a:txBody>
                    <a:bodyPr anchor="t" rtlCol="false"/>
                    <a:lstStyle/>
                    <a:p>
                      <a:pPr algn="r">
                        <a:lnSpc>
                          <a:spcPts val="2308"/>
                        </a:lnSpc>
                        <a:defRPr/>
                      </a:pPr>
                      <a:r>
                        <a:rPr lang="en-US" sz="1648">
                          <a:solidFill>
                            <a:srgbClr val="000000"/>
                          </a:solidFill>
                          <a:latin typeface="Canva Sans"/>
                          <a:ea typeface="Canva Sans"/>
                          <a:cs typeface="Canva Sans"/>
                          <a:sym typeface="Canva Sans"/>
                        </a:rPr>
                        <a:t>Age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0.9429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bl>
          </a:graphicData>
        </a:graphic>
      </p:graphicFrame>
      <p:sp>
        <p:nvSpPr>
          <p:cNvPr name="TextBox 5" id="5"/>
          <p:cNvSpPr txBox="true"/>
          <p:nvPr/>
        </p:nvSpPr>
        <p:spPr>
          <a:xfrm rot="0">
            <a:off x="4095649" y="2055123"/>
            <a:ext cx="1707877" cy="665480"/>
          </a:xfrm>
          <a:prstGeom prst="rect">
            <a:avLst/>
          </a:prstGeom>
        </p:spPr>
        <p:txBody>
          <a:bodyPr anchor="t" rtlCol="false" tIns="0" lIns="0" bIns="0" rIns="0">
            <a:spAutoFit/>
          </a:bodyPr>
          <a:lstStyle/>
          <a:p>
            <a:pPr algn="ctr">
              <a:lnSpc>
                <a:spcPts val="5320"/>
              </a:lnSpc>
              <a:spcBef>
                <a:spcPct val="0"/>
              </a:spcBef>
            </a:pPr>
            <a:r>
              <a:rPr lang="en-US" b="true" sz="3800">
                <a:solidFill>
                  <a:srgbClr val="18102B"/>
                </a:solidFill>
                <a:latin typeface="Raleway Bold"/>
                <a:ea typeface="Raleway Bold"/>
                <a:cs typeface="Raleway Bold"/>
                <a:sym typeface="Raleway Bold"/>
              </a:rPr>
              <a:t>ANOVA</a:t>
            </a:r>
          </a:p>
        </p:txBody>
      </p:sp>
      <p:sp>
        <p:nvSpPr>
          <p:cNvPr name="TextBox 6" id="6"/>
          <p:cNvSpPr txBox="true"/>
          <p:nvPr/>
        </p:nvSpPr>
        <p:spPr>
          <a:xfrm rot="0">
            <a:off x="12661546" y="2055123"/>
            <a:ext cx="2596828" cy="665480"/>
          </a:xfrm>
          <a:prstGeom prst="rect">
            <a:avLst/>
          </a:prstGeom>
        </p:spPr>
        <p:txBody>
          <a:bodyPr anchor="t" rtlCol="false" tIns="0" lIns="0" bIns="0" rIns="0">
            <a:spAutoFit/>
          </a:bodyPr>
          <a:lstStyle/>
          <a:p>
            <a:pPr algn="ctr">
              <a:lnSpc>
                <a:spcPts val="5320"/>
              </a:lnSpc>
              <a:spcBef>
                <a:spcPct val="0"/>
              </a:spcBef>
            </a:pPr>
            <a:r>
              <a:rPr lang="en-US" b="true" sz="3800">
                <a:solidFill>
                  <a:srgbClr val="18102B"/>
                </a:solidFill>
                <a:latin typeface="Raleway Bold"/>
                <a:ea typeface="Raleway Bold"/>
                <a:cs typeface="Raleway Bold"/>
                <a:sym typeface="Raleway Bold"/>
              </a:rPr>
              <a:t>Chi-Square</a:t>
            </a:r>
          </a:p>
        </p:txBody>
      </p:sp>
      <p:graphicFrame>
        <p:nvGraphicFramePr>
          <p:cNvPr name="Table 7" id="7"/>
          <p:cNvGraphicFramePr>
            <a:graphicFrameLocks noGrp="true"/>
          </p:cNvGraphicFramePr>
          <p:nvPr/>
        </p:nvGraphicFramePr>
        <p:xfrm>
          <a:off x="10132854" y="2857500"/>
          <a:ext cx="7654211" cy="2647950"/>
        </p:xfrm>
        <a:graphic>
          <a:graphicData uri="http://schemas.openxmlformats.org/drawingml/2006/table">
            <a:tbl>
              <a:tblPr/>
              <a:tblGrid>
                <a:gridCol w="3222192"/>
                <a:gridCol w="1565171"/>
                <a:gridCol w="1936846"/>
                <a:gridCol w="930002"/>
              </a:tblGrid>
              <a:tr h="606621">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Chi2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p-value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dof</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940"/>
                        </a:lnSpc>
                        <a:defRPr/>
                      </a:pPr>
                      <a:r>
                        <a:rPr lang="en-US" sz="2100"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0.001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0.9751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Gender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103.675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489.681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RecruitmentStrategy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0332">
                <a:tc>
                  <a:txBody>
                    <a:bodyPr anchor="t" rtlCol="false"/>
                    <a:lstStyle/>
                    <a:p>
                      <a:pPr algn="r">
                        <a:lnSpc>
                          <a:spcPts val="2308"/>
                        </a:lnSpc>
                        <a:defRPr/>
                      </a:pPr>
                      <a:r>
                        <a:rPr lang="en-US" sz="1648">
                          <a:solidFill>
                            <a:srgbClr val="000000"/>
                          </a:solidFill>
                          <a:latin typeface="Canva Sans"/>
                          <a:ea typeface="Canva Sans"/>
                          <a:cs typeface="Canva Sans"/>
                          <a:sym typeface="Canva Sans"/>
                        </a:rPr>
                        <a:t>39.198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r">
                        <a:lnSpc>
                          <a:spcPts val="2308"/>
                        </a:lnSpc>
                        <a:defRPr/>
                      </a:pPr>
                      <a:r>
                        <a:rPr lang="en-US" sz="1648">
                          <a:solidFill>
                            <a:srgbClr val="000000"/>
                          </a:solidFill>
                          <a:latin typeface="Canva Sans"/>
                          <a:ea typeface="Canva Sans"/>
                          <a:cs typeface="Canva Sans"/>
                          <a:sym typeface="Canva Sans"/>
                        </a:rPr>
                        <a:t>ExperienceLevel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Insight Extraction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86777" y="6532068"/>
            <a:ext cx="16114446" cy="3491666"/>
            <a:chOff x="0" y="0"/>
            <a:chExt cx="4393597" cy="952001"/>
          </a:xfrm>
        </p:grpSpPr>
        <p:sp>
          <p:nvSpPr>
            <p:cNvPr name="Freeform 4" id="4"/>
            <p:cNvSpPr/>
            <p:nvPr/>
          </p:nvSpPr>
          <p:spPr>
            <a:xfrm flipH="false" flipV="false" rot="0">
              <a:off x="0" y="0"/>
              <a:ext cx="4393597" cy="952001"/>
            </a:xfrm>
            <a:custGeom>
              <a:avLst/>
              <a:gdLst/>
              <a:ahLst/>
              <a:cxnLst/>
              <a:rect r="r" b="b" t="t" l="l"/>
              <a:pathLst>
                <a:path h="952001" w="4393597">
                  <a:moveTo>
                    <a:pt x="24022" y="0"/>
                  </a:moveTo>
                  <a:lnTo>
                    <a:pt x="4369576" y="0"/>
                  </a:lnTo>
                  <a:cubicBezTo>
                    <a:pt x="4375946" y="0"/>
                    <a:pt x="4382057" y="2531"/>
                    <a:pt x="4386562" y="7036"/>
                  </a:cubicBezTo>
                  <a:cubicBezTo>
                    <a:pt x="4391066" y="11541"/>
                    <a:pt x="4393597" y="17651"/>
                    <a:pt x="4393597" y="24022"/>
                  </a:cubicBezTo>
                  <a:lnTo>
                    <a:pt x="4393597" y="927980"/>
                  </a:lnTo>
                  <a:cubicBezTo>
                    <a:pt x="4393597" y="941247"/>
                    <a:pt x="4382843" y="952001"/>
                    <a:pt x="4369576" y="952001"/>
                  </a:cubicBezTo>
                  <a:lnTo>
                    <a:pt x="24022" y="952001"/>
                  </a:lnTo>
                  <a:cubicBezTo>
                    <a:pt x="10755" y="952001"/>
                    <a:pt x="0" y="941247"/>
                    <a:pt x="0" y="927980"/>
                  </a:cubicBezTo>
                  <a:lnTo>
                    <a:pt x="0" y="24022"/>
                  </a:lnTo>
                  <a:cubicBezTo>
                    <a:pt x="0" y="10755"/>
                    <a:pt x="10755" y="0"/>
                    <a:pt x="24022" y="0"/>
                  </a:cubicBezTo>
                  <a:close/>
                </a:path>
              </a:pathLst>
            </a:custGeom>
            <a:solidFill>
              <a:srgbClr val="A1C7CE"/>
            </a:solidFill>
          </p:spPr>
        </p:sp>
        <p:sp>
          <p:nvSpPr>
            <p:cNvPr name="TextBox 5" id="5"/>
            <p:cNvSpPr txBox="true"/>
            <p:nvPr/>
          </p:nvSpPr>
          <p:spPr>
            <a:xfrm>
              <a:off x="0" y="-19050"/>
              <a:ext cx="4393597" cy="971051"/>
            </a:xfrm>
            <a:prstGeom prst="rect">
              <a:avLst/>
            </a:prstGeom>
          </p:spPr>
          <p:txBody>
            <a:bodyPr anchor="ctr" rtlCol="false" tIns="49361" lIns="49361" bIns="49361" rIns="49361"/>
            <a:lstStyle/>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InterviewScore</a:t>
              </a:r>
              <a:r>
                <a:rPr lang="en-US" sz="1900" spc="7">
                  <a:solidFill>
                    <a:srgbClr val="000000"/>
                  </a:solidFill>
                  <a:latin typeface="Poppins"/>
                  <a:ea typeface="Poppins"/>
                  <a:cs typeface="Poppins"/>
                  <a:sym typeface="Poppins"/>
                </a:rPr>
                <a:t>: Unsuccessful candidates had a median interview score above 60. Accepted candidates had a median below 50. This indicates that in this dataset, interview scores were not a primary determinant of recruitment success, or that other factors were more dominant.</a:t>
              </a:r>
            </a:p>
            <a:p>
              <a:pPr algn="l">
                <a:lnSpc>
                  <a:spcPts val="2280"/>
                </a:lnSpc>
              </a:pPr>
            </a:p>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SkillScore</a:t>
              </a:r>
              <a:r>
                <a:rPr lang="en-US" sz="1900" spc="7">
                  <a:solidFill>
                    <a:srgbClr val="000000"/>
                  </a:solidFill>
                  <a:latin typeface="Poppins"/>
                  <a:ea typeface="Poppins"/>
                  <a:cs typeface="Poppins"/>
                  <a:sym typeface="Poppins"/>
                </a:rPr>
                <a:t>: The range of skill scores for successful candidates was wider, with a median of around 45. Meanwhile, unsuccessful candidates had a higher concentration of scores in the upper range (median &gt;60).</a:t>
              </a:r>
            </a:p>
            <a:p>
              <a:pPr algn="l">
                <a:lnSpc>
                  <a:spcPts val="2280"/>
                </a:lnSpc>
              </a:pPr>
            </a:p>
            <a:p>
              <a:pPr algn="l" marL="410211" indent="-205106" lvl="1">
                <a:lnSpc>
                  <a:spcPts val="2280"/>
                </a:lnSpc>
                <a:buFont typeface="Arial"/>
                <a:buChar char="•"/>
              </a:pPr>
              <a:r>
                <a:rPr lang="en-US" b="true" sz="1900" spc="7">
                  <a:solidFill>
                    <a:srgbClr val="000000"/>
                  </a:solidFill>
                  <a:latin typeface="Poppins Bold"/>
                  <a:ea typeface="Poppins Bold"/>
                  <a:cs typeface="Poppins Bold"/>
                  <a:sym typeface="Poppins Bold"/>
                </a:rPr>
                <a:t>PersonalityScore</a:t>
              </a:r>
              <a:r>
                <a:rPr lang="en-US" sz="1900" spc="7">
                  <a:solidFill>
                    <a:srgbClr val="000000"/>
                  </a:solidFill>
                  <a:latin typeface="Poppins"/>
                  <a:ea typeface="Poppins"/>
                  <a:cs typeface="Poppins"/>
                  <a:sym typeface="Poppins"/>
                </a:rPr>
                <a:t>: Shows a similar pattern to the other variables, with the lower bound (Q1) for successful candidates being (~20) and the lower bound (Q1) for unsuccessful candidates being (~30).</a:t>
              </a:r>
            </a:p>
          </p:txBody>
        </p:sp>
      </p:grpSp>
      <p:sp>
        <p:nvSpPr>
          <p:cNvPr name="Freeform 6" id="6"/>
          <p:cNvSpPr/>
          <p:nvPr/>
        </p:nvSpPr>
        <p:spPr>
          <a:xfrm flipH="false" flipV="false" rot="0">
            <a:off x="3701027" y="1663004"/>
            <a:ext cx="3587620" cy="4659477"/>
          </a:xfrm>
          <a:custGeom>
            <a:avLst/>
            <a:gdLst/>
            <a:ahLst/>
            <a:cxnLst/>
            <a:rect r="r" b="b" t="t" l="l"/>
            <a:pathLst>
              <a:path h="4659477" w="3587620">
                <a:moveTo>
                  <a:pt x="0" y="0"/>
                </a:moveTo>
                <a:lnTo>
                  <a:pt x="3587621" y="0"/>
                </a:lnTo>
                <a:lnTo>
                  <a:pt x="3587621" y="4659477"/>
                </a:lnTo>
                <a:lnTo>
                  <a:pt x="0" y="4659477"/>
                </a:lnTo>
                <a:lnTo>
                  <a:pt x="0" y="0"/>
                </a:lnTo>
                <a:close/>
              </a:path>
            </a:pathLst>
          </a:custGeom>
          <a:blipFill>
            <a:blip r:embed="rId3"/>
            <a:stretch>
              <a:fillRect l="0" t="0" r="0" b="0"/>
            </a:stretch>
          </a:blipFill>
        </p:spPr>
      </p:sp>
      <p:sp>
        <p:nvSpPr>
          <p:cNvPr name="Freeform 7" id="7"/>
          <p:cNvSpPr/>
          <p:nvPr/>
        </p:nvSpPr>
        <p:spPr>
          <a:xfrm flipH="false" flipV="false" rot="0">
            <a:off x="7446808" y="1675660"/>
            <a:ext cx="3545551" cy="4646821"/>
          </a:xfrm>
          <a:custGeom>
            <a:avLst/>
            <a:gdLst/>
            <a:ahLst/>
            <a:cxnLst/>
            <a:rect r="r" b="b" t="t" l="l"/>
            <a:pathLst>
              <a:path h="4646821" w="3545551">
                <a:moveTo>
                  <a:pt x="0" y="0"/>
                </a:moveTo>
                <a:lnTo>
                  <a:pt x="3545551" y="0"/>
                </a:lnTo>
                <a:lnTo>
                  <a:pt x="3545551" y="4646821"/>
                </a:lnTo>
                <a:lnTo>
                  <a:pt x="0" y="4646821"/>
                </a:lnTo>
                <a:lnTo>
                  <a:pt x="0" y="0"/>
                </a:lnTo>
                <a:close/>
              </a:path>
            </a:pathLst>
          </a:custGeom>
          <a:blipFill>
            <a:blip r:embed="rId4"/>
            <a:stretch>
              <a:fillRect l="0" t="0" r="0" b="0"/>
            </a:stretch>
          </a:blipFill>
        </p:spPr>
      </p:sp>
      <p:sp>
        <p:nvSpPr>
          <p:cNvPr name="Freeform 8" id="8"/>
          <p:cNvSpPr/>
          <p:nvPr/>
        </p:nvSpPr>
        <p:spPr>
          <a:xfrm flipH="false" flipV="false" rot="0">
            <a:off x="11138877" y="1677474"/>
            <a:ext cx="3506173" cy="4645007"/>
          </a:xfrm>
          <a:custGeom>
            <a:avLst/>
            <a:gdLst/>
            <a:ahLst/>
            <a:cxnLst/>
            <a:rect r="r" b="b" t="t" l="l"/>
            <a:pathLst>
              <a:path h="4645007" w="3506173">
                <a:moveTo>
                  <a:pt x="0" y="0"/>
                </a:moveTo>
                <a:lnTo>
                  <a:pt x="3506173" y="0"/>
                </a:lnTo>
                <a:lnTo>
                  <a:pt x="3506173" y="4645007"/>
                </a:lnTo>
                <a:lnTo>
                  <a:pt x="0" y="4645007"/>
                </a:lnTo>
                <a:lnTo>
                  <a:pt x="0" y="0"/>
                </a:lnTo>
                <a:close/>
              </a:path>
            </a:pathLst>
          </a:custGeom>
          <a:blipFill>
            <a:blip r:embed="rId5"/>
            <a:stretch>
              <a:fillRect l="0" t="0" r="0" b="0"/>
            </a:stretch>
          </a:blipFill>
        </p:spPr>
      </p:sp>
      <p:sp>
        <p:nvSpPr>
          <p:cNvPr name="TextBox 9" id="9"/>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Score-based Features Likely Insignificant to Hiring Decision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017865" y="2950915"/>
            <a:ext cx="7818949" cy="5331360"/>
            <a:chOff x="0" y="0"/>
            <a:chExt cx="2131833" cy="1453593"/>
          </a:xfrm>
        </p:grpSpPr>
        <p:sp>
          <p:nvSpPr>
            <p:cNvPr name="Freeform 4" id="4"/>
            <p:cNvSpPr/>
            <p:nvPr/>
          </p:nvSpPr>
          <p:spPr>
            <a:xfrm flipH="false" flipV="false" rot="0">
              <a:off x="0" y="0"/>
              <a:ext cx="2131833" cy="1453593"/>
            </a:xfrm>
            <a:custGeom>
              <a:avLst/>
              <a:gdLst/>
              <a:ahLst/>
              <a:cxnLst/>
              <a:rect r="r" b="b" t="t" l="l"/>
              <a:pathLst>
                <a:path h="1453593" w="2131833">
                  <a:moveTo>
                    <a:pt x="49507" y="0"/>
                  </a:moveTo>
                  <a:lnTo>
                    <a:pt x="2082326" y="0"/>
                  </a:lnTo>
                  <a:cubicBezTo>
                    <a:pt x="2109668" y="0"/>
                    <a:pt x="2131833" y="22165"/>
                    <a:pt x="2131833" y="49507"/>
                  </a:cubicBezTo>
                  <a:lnTo>
                    <a:pt x="2131833" y="1404086"/>
                  </a:lnTo>
                  <a:cubicBezTo>
                    <a:pt x="2131833" y="1431428"/>
                    <a:pt x="2109668" y="1453593"/>
                    <a:pt x="2082326" y="1453593"/>
                  </a:cubicBezTo>
                  <a:lnTo>
                    <a:pt x="49507" y="1453593"/>
                  </a:lnTo>
                  <a:cubicBezTo>
                    <a:pt x="22165" y="1453593"/>
                    <a:pt x="0" y="1431428"/>
                    <a:pt x="0" y="1404086"/>
                  </a:cubicBezTo>
                  <a:lnTo>
                    <a:pt x="0" y="49507"/>
                  </a:lnTo>
                  <a:cubicBezTo>
                    <a:pt x="0" y="22165"/>
                    <a:pt x="22165" y="0"/>
                    <a:pt x="49507" y="0"/>
                  </a:cubicBezTo>
                  <a:close/>
                </a:path>
              </a:pathLst>
            </a:custGeom>
            <a:solidFill>
              <a:srgbClr val="A1C7CE"/>
            </a:solidFill>
          </p:spPr>
        </p:sp>
        <p:sp>
          <p:nvSpPr>
            <p:cNvPr name="TextBox 5" id="5"/>
            <p:cNvSpPr txBox="true"/>
            <p:nvPr/>
          </p:nvSpPr>
          <p:spPr>
            <a:xfrm>
              <a:off x="0" y="-19050"/>
              <a:ext cx="2131833" cy="1472643"/>
            </a:xfrm>
            <a:prstGeom prst="rect">
              <a:avLst/>
            </a:prstGeom>
          </p:spPr>
          <p:txBody>
            <a:bodyPr anchor="ctr" rtlCol="false" tIns="49361" lIns="49361" bIns="49361" rIns="49361"/>
            <a:lstStyle/>
            <a:p>
              <a:pPr algn="l" marL="410211" indent="-205106" lvl="1">
                <a:lnSpc>
                  <a:spcPts val="2280"/>
                </a:lnSpc>
                <a:buFont typeface="Arial"/>
                <a:buChar char="•"/>
              </a:pPr>
              <a:r>
                <a:rPr lang="en-US" sz="1900" spc="7">
                  <a:solidFill>
                    <a:srgbClr val="000000"/>
                  </a:solidFill>
                  <a:latin typeface="Poppins"/>
                  <a:ea typeface="Poppins"/>
                  <a:cs typeface="Poppins"/>
                  <a:sym typeface="Poppins"/>
                </a:rPr>
                <a:t>From the data shown, we can visualize a direct positive correlation between experience level and hiring success. Senior-level candidates are significantly more likely to be hired compared to Junior and Medior levels, suggesting a strong industry preference for established expertise.</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Senior candidates have the highest hiring rate at 36.6%, which is nearly double that of Junior candidates (18.9%) whereas Junior applicants face the toughest competition, with a non-hiring rate of 81.1%.</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Incremental Growth: There is a steady upward trend in "Hired" percentages as candidates move from Junior (18.9%) to Medior (22.2%) and finally Senior (36.6%).</a:t>
              </a:r>
            </a:p>
          </p:txBody>
        </p:sp>
      </p:grpSp>
      <p:sp>
        <p:nvSpPr>
          <p:cNvPr name="Freeform 6" id="6"/>
          <p:cNvSpPr/>
          <p:nvPr/>
        </p:nvSpPr>
        <p:spPr>
          <a:xfrm flipH="false" flipV="false" rot="0">
            <a:off x="456877" y="2950915"/>
            <a:ext cx="9413811" cy="5331360"/>
          </a:xfrm>
          <a:custGeom>
            <a:avLst/>
            <a:gdLst/>
            <a:ahLst/>
            <a:cxnLst/>
            <a:rect r="r" b="b" t="t" l="l"/>
            <a:pathLst>
              <a:path h="5331360" w="9413811">
                <a:moveTo>
                  <a:pt x="0" y="0"/>
                </a:moveTo>
                <a:lnTo>
                  <a:pt x="9413812" y="0"/>
                </a:lnTo>
                <a:lnTo>
                  <a:pt x="9413812" y="5331360"/>
                </a:lnTo>
                <a:lnTo>
                  <a:pt x="0" y="5331360"/>
                </a:lnTo>
                <a:lnTo>
                  <a:pt x="0" y="0"/>
                </a:lnTo>
                <a:close/>
              </a:path>
            </a:pathLst>
          </a:custGeom>
          <a:blipFill>
            <a:blip r:embed="rId3"/>
            <a:stretch>
              <a:fillRect l="0" t="0" r="0" b="0"/>
            </a:stretch>
          </a:blipFill>
        </p:spPr>
      </p:sp>
      <p:sp>
        <p:nvSpPr>
          <p:cNvPr name="TextBox 7" id="7"/>
          <p:cNvSpPr txBox="true"/>
          <p:nvPr/>
        </p:nvSpPr>
        <p:spPr>
          <a:xfrm rot="0">
            <a:off x="907463" y="2288083"/>
            <a:ext cx="851263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ExperienceLevel is significant to HiringDecision</a:t>
            </a:r>
          </a:p>
        </p:txBody>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Senior-level Candidates are More Likely to be Hired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352870" y="2830131"/>
            <a:ext cx="7297573" cy="5177909"/>
            <a:chOff x="0" y="0"/>
            <a:chExt cx="1989680" cy="1411755"/>
          </a:xfrm>
        </p:grpSpPr>
        <p:sp>
          <p:nvSpPr>
            <p:cNvPr name="Freeform 4" id="4"/>
            <p:cNvSpPr/>
            <p:nvPr/>
          </p:nvSpPr>
          <p:spPr>
            <a:xfrm flipH="false" flipV="false" rot="0">
              <a:off x="0" y="0"/>
              <a:ext cx="1989680" cy="1411755"/>
            </a:xfrm>
            <a:custGeom>
              <a:avLst/>
              <a:gdLst/>
              <a:ahLst/>
              <a:cxnLst/>
              <a:rect r="r" b="b" t="t" l="l"/>
              <a:pathLst>
                <a:path h="1411755" w="1989680">
                  <a:moveTo>
                    <a:pt x="53044" y="0"/>
                  </a:moveTo>
                  <a:lnTo>
                    <a:pt x="1936636" y="0"/>
                  </a:lnTo>
                  <a:cubicBezTo>
                    <a:pt x="1965932" y="0"/>
                    <a:pt x="1989680" y="23749"/>
                    <a:pt x="1989680" y="53044"/>
                  </a:cubicBezTo>
                  <a:lnTo>
                    <a:pt x="1989680" y="1358710"/>
                  </a:lnTo>
                  <a:cubicBezTo>
                    <a:pt x="1989680" y="1388006"/>
                    <a:pt x="1965932" y="1411755"/>
                    <a:pt x="1936636" y="1411755"/>
                  </a:cubicBezTo>
                  <a:lnTo>
                    <a:pt x="53044" y="1411755"/>
                  </a:lnTo>
                  <a:cubicBezTo>
                    <a:pt x="23749" y="1411755"/>
                    <a:pt x="0" y="1388006"/>
                    <a:pt x="0" y="1358710"/>
                  </a:cubicBezTo>
                  <a:lnTo>
                    <a:pt x="0" y="53044"/>
                  </a:lnTo>
                  <a:cubicBezTo>
                    <a:pt x="0" y="23749"/>
                    <a:pt x="23749" y="0"/>
                    <a:pt x="53044" y="0"/>
                  </a:cubicBezTo>
                  <a:close/>
                </a:path>
              </a:pathLst>
            </a:custGeom>
            <a:solidFill>
              <a:srgbClr val="A1C7CE"/>
            </a:solidFill>
          </p:spPr>
        </p:sp>
        <p:sp>
          <p:nvSpPr>
            <p:cNvPr name="TextBox 5" id="5"/>
            <p:cNvSpPr txBox="true"/>
            <p:nvPr/>
          </p:nvSpPr>
          <p:spPr>
            <a:xfrm>
              <a:off x="0" y="-19050"/>
              <a:ext cx="1989680" cy="1430805"/>
            </a:xfrm>
            <a:prstGeom prst="rect">
              <a:avLst/>
            </a:prstGeom>
          </p:spPr>
          <p:txBody>
            <a:bodyPr anchor="ctr" rtlCol="false" tIns="49361" lIns="49361" bIns="49361" rIns="49361"/>
            <a:lstStyle/>
            <a:p>
              <a:pPr algn="l" marL="410211" indent="-205106" lvl="1">
                <a:lnSpc>
                  <a:spcPts val="2280"/>
                </a:lnSpc>
                <a:buFont typeface="Arial"/>
                <a:buChar char="•"/>
              </a:pPr>
              <a:r>
                <a:rPr lang="en-US" sz="1900" spc="7">
                  <a:solidFill>
                    <a:srgbClr val="000000"/>
                  </a:solidFill>
                  <a:latin typeface="Poppins"/>
                  <a:ea typeface="Poppins"/>
                  <a:cs typeface="Poppins"/>
                  <a:sym typeface="Poppins"/>
                </a:rPr>
                <a:t>Candidates with a high school (22.8%) and a diploma/bachelor (23.4%) have almost equally low acceptance rates. The vast majority (over 76%) of this group failed the selection process.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Magister’s</a:t>
              </a:r>
              <a:r>
                <a:rPr lang="en-US" sz="1900" spc="7">
                  <a:solidFill>
                    <a:srgbClr val="000000"/>
                  </a:solidFill>
                  <a:latin typeface="Poppins"/>
                  <a:ea typeface="Poppins"/>
                  <a:cs typeface="Poppins"/>
                  <a:sym typeface="Poppins"/>
                </a:rPr>
                <a:t> degree graduates shows a significant increase in their chances of being accepted, reaching (45.7%). This suggests that a magister’s degree is an important "threshold" for companies in selecting candidates.</a:t>
              </a:r>
            </a:p>
            <a:p>
              <a:pPr algn="l">
                <a:lnSpc>
                  <a:spcPts val="2280"/>
                </a:lnSpc>
              </a:pPr>
            </a:p>
            <a:p>
              <a:pPr algn="l" marL="410211" indent="-205106" lvl="1">
                <a:lnSpc>
                  <a:spcPts val="2280"/>
                </a:lnSpc>
                <a:buFont typeface="Arial"/>
                <a:buChar char="•"/>
              </a:pPr>
              <a:r>
                <a:rPr lang="en-US" sz="1900" spc="7">
                  <a:solidFill>
                    <a:srgbClr val="000000"/>
                  </a:solidFill>
                  <a:latin typeface="Poppins"/>
                  <a:ea typeface="Poppins"/>
                  <a:cs typeface="Poppins"/>
                  <a:sym typeface="Poppins"/>
                </a:rPr>
                <a:t>PhD</a:t>
              </a:r>
              <a:r>
                <a:rPr lang="en-US" sz="1900" spc="7">
                  <a:solidFill>
                    <a:srgbClr val="000000"/>
                  </a:solidFill>
                  <a:latin typeface="Poppins"/>
                  <a:ea typeface="Poppins"/>
                  <a:cs typeface="Poppins"/>
                  <a:sym typeface="Poppins"/>
                </a:rPr>
                <a:t> degree graduates have the highest hiring rate at (56.6%). This was the only group where more candidates were accepted than rejected (above 50% ratio).</a:t>
              </a:r>
            </a:p>
            <a:p>
              <a:pPr algn="l">
                <a:lnSpc>
                  <a:spcPts val="2280"/>
                </a:lnSpc>
              </a:pPr>
            </a:p>
          </p:txBody>
        </p:sp>
      </p:grpSp>
      <p:sp>
        <p:nvSpPr>
          <p:cNvPr name="Freeform 6" id="6"/>
          <p:cNvSpPr/>
          <p:nvPr/>
        </p:nvSpPr>
        <p:spPr>
          <a:xfrm flipH="false" flipV="false" rot="0">
            <a:off x="575996" y="2830131"/>
            <a:ext cx="9507705" cy="5018332"/>
          </a:xfrm>
          <a:custGeom>
            <a:avLst/>
            <a:gdLst/>
            <a:ahLst/>
            <a:cxnLst/>
            <a:rect r="r" b="b" t="t" l="l"/>
            <a:pathLst>
              <a:path h="5018332" w="9507705">
                <a:moveTo>
                  <a:pt x="0" y="0"/>
                </a:moveTo>
                <a:lnTo>
                  <a:pt x="9507705" y="0"/>
                </a:lnTo>
                <a:lnTo>
                  <a:pt x="9507705" y="5018332"/>
                </a:lnTo>
                <a:lnTo>
                  <a:pt x="0" y="5018332"/>
                </a:lnTo>
                <a:lnTo>
                  <a:pt x="0" y="0"/>
                </a:lnTo>
                <a:close/>
              </a:path>
            </a:pathLst>
          </a:custGeom>
          <a:blipFill>
            <a:blip r:embed="rId3"/>
            <a:stretch>
              <a:fillRect l="0" t="0" r="0" b="0"/>
            </a:stretch>
          </a:blipFill>
        </p:spPr>
      </p:sp>
      <p:sp>
        <p:nvSpPr>
          <p:cNvPr name="TextBox 7" id="7"/>
          <p:cNvSpPr txBox="true"/>
          <p:nvPr/>
        </p:nvSpPr>
        <p:spPr>
          <a:xfrm rot="0">
            <a:off x="1065290" y="2212943"/>
            <a:ext cx="8449650"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EducationLevel is significant to HiringDecision</a:t>
            </a:r>
          </a:p>
        </p:txBody>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Higher Education Level = Higher Probability to be Hired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0154329" y="2890880"/>
            <a:ext cx="7777378" cy="5138291"/>
            <a:chOff x="0" y="0"/>
            <a:chExt cx="2120499" cy="1400953"/>
          </a:xfrm>
        </p:grpSpPr>
        <p:sp>
          <p:nvSpPr>
            <p:cNvPr name="Freeform 4" id="4"/>
            <p:cNvSpPr/>
            <p:nvPr/>
          </p:nvSpPr>
          <p:spPr>
            <a:xfrm flipH="false" flipV="false" rot="0">
              <a:off x="0" y="0"/>
              <a:ext cx="2120499" cy="1400953"/>
            </a:xfrm>
            <a:custGeom>
              <a:avLst/>
              <a:gdLst/>
              <a:ahLst/>
              <a:cxnLst/>
              <a:rect r="r" b="b" t="t" l="l"/>
              <a:pathLst>
                <a:path h="1400953" w="2120499">
                  <a:moveTo>
                    <a:pt x="49772" y="0"/>
                  </a:moveTo>
                  <a:lnTo>
                    <a:pt x="2070727" y="0"/>
                  </a:lnTo>
                  <a:cubicBezTo>
                    <a:pt x="2083927" y="0"/>
                    <a:pt x="2096587" y="5244"/>
                    <a:pt x="2105921" y="14578"/>
                  </a:cubicBezTo>
                  <a:cubicBezTo>
                    <a:pt x="2115255" y="23912"/>
                    <a:pt x="2120499" y="36572"/>
                    <a:pt x="2120499" y="49772"/>
                  </a:cubicBezTo>
                  <a:lnTo>
                    <a:pt x="2120499" y="1351181"/>
                  </a:lnTo>
                  <a:cubicBezTo>
                    <a:pt x="2120499" y="1364381"/>
                    <a:pt x="2115255" y="1377041"/>
                    <a:pt x="2105921" y="1386375"/>
                  </a:cubicBezTo>
                  <a:cubicBezTo>
                    <a:pt x="2096587" y="1395709"/>
                    <a:pt x="2083927" y="1400953"/>
                    <a:pt x="2070727" y="1400953"/>
                  </a:cubicBezTo>
                  <a:lnTo>
                    <a:pt x="49772" y="1400953"/>
                  </a:lnTo>
                  <a:cubicBezTo>
                    <a:pt x="36572" y="1400953"/>
                    <a:pt x="23912" y="1395709"/>
                    <a:pt x="14578" y="1386375"/>
                  </a:cubicBezTo>
                  <a:cubicBezTo>
                    <a:pt x="5244" y="1377041"/>
                    <a:pt x="0" y="1364381"/>
                    <a:pt x="0" y="1351181"/>
                  </a:cubicBezTo>
                  <a:lnTo>
                    <a:pt x="0" y="49772"/>
                  </a:lnTo>
                  <a:cubicBezTo>
                    <a:pt x="0" y="36572"/>
                    <a:pt x="5244" y="23912"/>
                    <a:pt x="14578" y="14578"/>
                  </a:cubicBezTo>
                  <a:cubicBezTo>
                    <a:pt x="23912" y="5244"/>
                    <a:pt x="36572" y="0"/>
                    <a:pt x="49772" y="0"/>
                  </a:cubicBezTo>
                  <a:close/>
                </a:path>
              </a:pathLst>
            </a:custGeom>
            <a:solidFill>
              <a:srgbClr val="A1C7CE"/>
            </a:solidFill>
          </p:spPr>
        </p:sp>
        <p:sp>
          <p:nvSpPr>
            <p:cNvPr name="TextBox 5" id="5"/>
            <p:cNvSpPr txBox="true"/>
            <p:nvPr/>
          </p:nvSpPr>
          <p:spPr>
            <a:xfrm>
              <a:off x="0" y="-19050"/>
              <a:ext cx="2120499" cy="1420003"/>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The internal recruitment strategy has a success rate far exceeding other channels. 71.7% of candidates through the internal </a:t>
              </a:r>
              <a:r>
                <a:rPr lang="en-US" sz="2100" spc="8">
                  <a:solidFill>
                    <a:srgbClr val="000000"/>
                  </a:solidFill>
                  <a:latin typeface="Poppins"/>
                  <a:ea typeface="Poppins"/>
                  <a:cs typeface="Poppins"/>
                  <a:sym typeface="Poppins"/>
                </a:rPr>
                <a:t>channel are hired. This is the only category where the number of accepted candidates significantly outnumbers those rejected.</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In contrast to internal applicants, candidates who come from outside sources or through referrals have a very low chance of being accepted:</a:t>
              </a:r>
            </a:p>
            <a:p>
              <a:pPr algn="l" marL="906780" indent="-302260" lvl="2">
                <a:lnSpc>
                  <a:spcPts val="2520"/>
                </a:lnSpc>
                <a:buFont typeface="Arial"/>
                <a:buChar char="⚬"/>
              </a:pPr>
              <a:r>
                <a:rPr lang="en-US" sz="2100" spc="8">
                  <a:solidFill>
                    <a:srgbClr val="000000"/>
                  </a:solidFill>
                  <a:latin typeface="Poppins"/>
                  <a:ea typeface="Poppins"/>
                  <a:cs typeface="Poppins"/>
                  <a:sym typeface="Poppins"/>
                </a:rPr>
                <a:t>External: Only 13.6% are accepted.</a:t>
              </a:r>
            </a:p>
            <a:p>
              <a:pPr algn="l" marL="906780" indent="-302260" lvl="2">
                <a:lnSpc>
                  <a:spcPts val="2520"/>
                </a:lnSpc>
                <a:buFont typeface="Arial"/>
                <a:buChar char="⚬"/>
              </a:pPr>
              <a:r>
                <a:rPr lang="en-US" sz="2100" spc="8">
                  <a:solidFill>
                    <a:srgbClr val="000000"/>
                  </a:solidFill>
                  <a:latin typeface="Poppins"/>
                  <a:ea typeface="Poppins"/>
                  <a:cs typeface="Poppins"/>
                  <a:sym typeface="Poppins"/>
                </a:rPr>
                <a:t>Referral: Only 14.4% are accepted.</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Both of the non-internal applicants have high rejection rates, exceeding 85%.</a:t>
              </a:r>
            </a:p>
          </p:txBody>
        </p:sp>
      </p:grpSp>
      <p:sp>
        <p:nvSpPr>
          <p:cNvPr name="Freeform 6" id="6"/>
          <p:cNvSpPr/>
          <p:nvPr/>
        </p:nvSpPr>
        <p:spPr>
          <a:xfrm flipH="false" flipV="false" rot="0">
            <a:off x="540518" y="2890880"/>
            <a:ext cx="9160953" cy="5158721"/>
          </a:xfrm>
          <a:custGeom>
            <a:avLst/>
            <a:gdLst/>
            <a:ahLst/>
            <a:cxnLst/>
            <a:rect r="r" b="b" t="t" l="l"/>
            <a:pathLst>
              <a:path h="5158721" w="9160953">
                <a:moveTo>
                  <a:pt x="0" y="0"/>
                </a:moveTo>
                <a:lnTo>
                  <a:pt x="9160954" y="0"/>
                </a:lnTo>
                <a:lnTo>
                  <a:pt x="9160954" y="5158721"/>
                </a:lnTo>
                <a:lnTo>
                  <a:pt x="0" y="5158721"/>
                </a:lnTo>
                <a:lnTo>
                  <a:pt x="0" y="0"/>
                </a:lnTo>
                <a:close/>
              </a:path>
            </a:pathLst>
          </a:custGeom>
          <a:blipFill>
            <a:blip r:embed="rId3"/>
            <a:stretch>
              <a:fillRect l="0" t="0" r="0" b="0"/>
            </a:stretch>
          </a:blipFill>
        </p:spPr>
      </p:sp>
      <p:sp>
        <p:nvSpPr>
          <p:cNvPr name="TextBox 7" id="7"/>
          <p:cNvSpPr txBox="true"/>
          <p:nvPr/>
        </p:nvSpPr>
        <p:spPr>
          <a:xfrm rot="0">
            <a:off x="697648" y="2261773"/>
            <a:ext cx="884669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18102B"/>
                </a:solidFill>
                <a:latin typeface="Raleway Bold"/>
                <a:ea typeface="Raleway Bold"/>
                <a:cs typeface="Raleway Bold"/>
                <a:sym typeface="Raleway Bold"/>
              </a:rPr>
              <a:t>RecruitmentStrategy is significant to HiringDecision</a:t>
            </a:r>
          </a:p>
        </p:txBody>
      </p:sp>
      <p:sp>
        <p:nvSpPr>
          <p:cNvPr name="TextBox 8" id="8"/>
          <p:cNvSpPr txBox="true"/>
          <p:nvPr/>
        </p:nvSpPr>
        <p:spPr>
          <a:xfrm rot="0">
            <a:off x="1086777" y="534797"/>
            <a:ext cx="16172523" cy="729995"/>
          </a:xfrm>
          <a:prstGeom prst="rect">
            <a:avLst/>
          </a:prstGeom>
        </p:spPr>
        <p:txBody>
          <a:bodyPr anchor="t" rtlCol="false" tIns="0" lIns="0" bIns="0" rIns="0">
            <a:spAutoFit/>
          </a:bodyPr>
          <a:lstStyle/>
          <a:p>
            <a:pPr algn="ctr">
              <a:lnSpc>
                <a:spcPts val="5964"/>
              </a:lnSpc>
              <a:spcBef>
                <a:spcPct val="0"/>
              </a:spcBef>
            </a:pPr>
            <a:r>
              <a:rPr lang="en-US" sz="4260">
                <a:solidFill>
                  <a:srgbClr val="18102B"/>
                </a:solidFill>
                <a:latin typeface="Raleway"/>
                <a:ea typeface="Raleway"/>
                <a:cs typeface="Raleway"/>
                <a:sym typeface="Raleway"/>
              </a:rPr>
              <a:t>Most Hired Candidates are Internal Applicants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11572930" y="3255439"/>
            <a:ext cx="4809972" cy="6836556"/>
            <a:chOff x="0" y="0"/>
            <a:chExt cx="6014936" cy="8549208"/>
          </a:xfrm>
        </p:grpSpPr>
        <p:sp>
          <p:nvSpPr>
            <p:cNvPr name="Freeform 4" id="4" descr="image.png"/>
            <p:cNvSpPr/>
            <p:nvPr/>
          </p:nvSpPr>
          <p:spPr>
            <a:xfrm flipH="false" flipV="false" rot="-10800000">
              <a:off x="0" y="0"/>
              <a:ext cx="6014974" cy="8549233"/>
            </a:xfrm>
            <a:custGeom>
              <a:avLst/>
              <a:gdLst/>
              <a:ahLst/>
              <a:cxnLst/>
              <a:rect r="r" b="b" t="t" l="l"/>
              <a:pathLst>
                <a:path h="8549233" w="6014974">
                  <a:moveTo>
                    <a:pt x="6014974" y="8549233"/>
                  </a:moveTo>
                  <a:lnTo>
                    <a:pt x="0" y="8549233"/>
                  </a:lnTo>
                  <a:lnTo>
                    <a:pt x="0" y="0"/>
                  </a:lnTo>
                  <a:lnTo>
                    <a:pt x="6014974" y="0"/>
                  </a:lnTo>
                  <a:lnTo>
                    <a:pt x="6014974" y="8549233"/>
                  </a:lnTo>
                  <a:close/>
                </a:path>
              </a:pathLst>
            </a:custGeom>
            <a:blipFill>
              <a:blip r:embed="rId3"/>
              <a:stretch>
                <a:fillRect l="-82078" t="0" r="-8815" b="0"/>
              </a:stretch>
            </a:blipFill>
          </p:spPr>
        </p:sp>
      </p:grpSp>
      <p:sp>
        <p:nvSpPr>
          <p:cNvPr name="TextBox 5" id="5"/>
          <p:cNvSpPr txBox="true"/>
          <p:nvPr/>
        </p:nvSpPr>
        <p:spPr>
          <a:xfrm rot="0">
            <a:off x="702291" y="350823"/>
            <a:ext cx="7781894" cy="1062736"/>
          </a:xfrm>
          <a:prstGeom prst="rect">
            <a:avLst/>
          </a:prstGeom>
        </p:spPr>
        <p:txBody>
          <a:bodyPr anchor="t" rtlCol="false" tIns="0" lIns="0" bIns="0" rIns="0">
            <a:spAutoFit/>
          </a:bodyPr>
          <a:lstStyle/>
          <a:p>
            <a:pPr algn="ctr">
              <a:lnSpc>
                <a:spcPts val="8623"/>
              </a:lnSpc>
              <a:spcBef>
                <a:spcPct val="0"/>
              </a:spcBef>
            </a:pPr>
            <a:r>
              <a:rPr lang="en-US" sz="6159">
                <a:solidFill>
                  <a:srgbClr val="000000"/>
                </a:solidFill>
                <a:latin typeface="Raleway"/>
                <a:ea typeface="Raleway"/>
                <a:cs typeface="Raleway"/>
                <a:sym typeface="Raleway"/>
              </a:rPr>
              <a:t>Fe</a:t>
            </a:r>
            <a:r>
              <a:rPr lang="en-US" sz="6159">
                <a:solidFill>
                  <a:srgbClr val="000000"/>
                </a:solidFill>
                <a:latin typeface="Raleway"/>
                <a:ea typeface="Raleway"/>
                <a:cs typeface="Raleway"/>
                <a:sym typeface="Raleway"/>
              </a:rPr>
              <a:t>ature Selection</a:t>
            </a:r>
          </a:p>
        </p:txBody>
      </p:sp>
      <p:sp>
        <p:nvSpPr>
          <p:cNvPr name="TextBox 6" id="6"/>
          <p:cNvSpPr txBox="true"/>
          <p:nvPr/>
        </p:nvSpPr>
        <p:spPr>
          <a:xfrm rot="0">
            <a:off x="1345165" y="2157331"/>
            <a:ext cx="15602278" cy="790088"/>
          </a:xfrm>
          <a:prstGeom prst="rect">
            <a:avLst/>
          </a:prstGeom>
        </p:spPr>
        <p:txBody>
          <a:bodyPr anchor="t" rtlCol="false" tIns="0" lIns="0" bIns="0" rIns="0">
            <a:spAutoFit/>
          </a:bodyPr>
          <a:lstStyle/>
          <a:p>
            <a:pPr algn="just">
              <a:lnSpc>
                <a:spcPts val="3176"/>
              </a:lnSpc>
            </a:pPr>
            <a:r>
              <a:rPr lang="en-US" sz="2269">
                <a:solidFill>
                  <a:srgbClr val="000000"/>
                </a:solidFill>
                <a:latin typeface="Raleway"/>
                <a:ea typeface="Raleway"/>
                <a:cs typeface="Raleway"/>
                <a:sym typeface="Raleway"/>
              </a:rPr>
              <a:t>The features identified as strongly correlated with the target should be prioritized for modeling, as they are expected to yield the best evaluation results.</a:t>
            </a:r>
          </a:p>
        </p:txBody>
      </p:sp>
      <p:grpSp>
        <p:nvGrpSpPr>
          <p:cNvPr name="Group 7" id="7"/>
          <p:cNvGrpSpPr/>
          <p:nvPr/>
        </p:nvGrpSpPr>
        <p:grpSpPr>
          <a:xfrm rot="0">
            <a:off x="1345165" y="3255439"/>
            <a:ext cx="4809972" cy="6836556"/>
            <a:chOff x="0" y="0"/>
            <a:chExt cx="6014936" cy="8549208"/>
          </a:xfrm>
        </p:grpSpPr>
        <p:sp>
          <p:nvSpPr>
            <p:cNvPr name="Freeform 8" id="8"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grpSp>
        <p:nvGrpSpPr>
          <p:cNvPr name="Group 9" id="9"/>
          <p:cNvGrpSpPr/>
          <p:nvPr/>
        </p:nvGrpSpPr>
        <p:grpSpPr>
          <a:xfrm rot="0">
            <a:off x="6441230" y="3255439"/>
            <a:ext cx="4809972" cy="6836556"/>
            <a:chOff x="0" y="0"/>
            <a:chExt cx="6014936" cy="8549208"/>
          </a:xfrm>
        </p:grpSpPr>
        <p:sp>
          <p:nvSpPr>
            <p:cNvPr name="Freeform 10" id="10" descr="image.png"/>
            <p:cNvSpPr/>
            <p:nvPr/>
          </p:nvSpPr>
          <p:spPr>
            <a:xfrm flipH="false" flipV="false" rot="0">
              <a:off x="0" y="0"/>
              <a:ext cx="6014974" cy="8549233"/>
            </a:xfrm>
            <a:custGeom>
              <a:avLst/>
              <a:gdLst/>
              <a:ahLst/>
              <a:cxnLst/>
              <a:rect r="r" b="b" t="t" l="l"/>
              <a:pathLst>
                <a:path h="8549233" w="6014974">
                  <a:moveTo>
                    <a:pt x="0" y="0"/>
                  </a:moveTo>
                  <a:lnTo>
                    <a:pt x="6014974" y="0"/>
                  </a:lnTo>
                  <a:lnTo>
                    <a:pt x="6014974" y="8549233"/>
                  </a:lnTo>
                  <a:lnTo>
                    <a:pt x="0" y="8549233"/>
                  </a:lnTo>
                  <a:lnTo>
                    <a:pt x="0" y="0"/>
                  </a:lnTo>
                  <a:close/>
                </a:path>
              </a:pathLst>
            </a:custGeom>
            <a:blipFill>
              <a:blip r:embed="rId3"/>
              <a:stretch>
                <a:fillRect l="-8814" t="0" r="-82078" b="0"/>
              </a:stretch>
            </a:blipFill>
          </p:spPr>
        </p:sp>
      </p:grpSp>
      <p:sp>
        <p:nvSpPr>
          <p:cNvPr name="TextBox 11" id="11"/>
          <p:cNvSpPr txBox="true"/>
          <p:nvPr/>
        </p:nvSpPr>
        <p:spPr>
          <a:xfrm rot="0">
            <a:off x="6757650"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InterviewScore</a:t>
            </a:r>
          </a:p>
          <a:p>
            <a:pPr algn="ctr">
              <a:lnSpc>
                <a:spcPts val="2026"/>
              </a:lnSpc>
              <a:spcBef>
                <a:spcPct val="0"/>
              </a:spcBef>
            </a:pPr>
            <a:r>
              <a:rPr lang="en-US" sz="1688" spc="6">
                <a:solidFill>
                  <a:srgbClr val="FEFEFE"/>
                </a:solidFill>
                <a:latin typeface="Raleway"/>
                <a:ea typeface="Raleway"/>
                <a:cs typeface="Raleway"/>
                <a:sym typeface="Raleway"/>
              </a:rPr>
              <a:t>Interview Score shows a moderate correlation with hiring outcomes, where candidates with higher scores are more likely to be accepted.</a:t>
            </a:r>
          </a:p>
        </p:txBody>
      </p:sp>
      <p:sp>
        <p:nvSpPr>
          <p:cNvPr name="TextBox 12" id="12"/>
          <p:cNvSpPr txBox="true"/>
          <p:nvPr/>
        </p:nvSpPr>
        <p:spPr>
          <a:xfrm rot="0">
            <a:off x="1493505" y="3721550"/>
            <a:ext cx="4513291"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ExperienceYears</a:t>
            </a:r>
          </a:p>
          <a:p>
            <a:pPr algn="ctr">
              <a:lnSpc>
                <a:spcPts val="2026"/>
              </a:lnSpc>
              <a:spcBef>
                <a:spcPct val="0"/>
              </a:spcBef>
            </a:pPr>
            <a:r>
              <a:rPr lang="en-US" sz="1688" spc="6">
                <a:solidFill>
                  <a:srgbClr val="FEFEFE"/>
                </a:solidFill>
                <a:latin typeface="Raleway"/>
                <a:ea typeface="Raleway"/>
                <a:cs typeface="Raleway"/>
                <a:sym typeface="Raleway"/>
              </a:rPr>
              <a:t>ExperienceYears shows a moderate correlation with hiring outcomes and contains many unique values, making it suitable for binning.</a:t>
            </a:r>
          </a:p>
        </p:txBody>
      </p:sp>
      <p:sp>
        <p:nvSpPr>
          <p:cNvPr name="TextBox 13" id="13"/>
          <p:cNvSpPr txBox="true"/>
          <p:nvPr/>
        </p:nvSpPr>
        <p:spPr>
          <a:xfrm rot="0">
            <a:off x="6805531" y="3721550"/>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SkillScore</a:t>
            </a:r>
          </a:p>
          <a:p>
            <a:pPr algn="ctr">
              <a:lnSpc>
                <a:spcPts val="2026"/>
              </a:lnSpc>
              <a:spcBef>
                <a:spcPct val="0"/>
              </a:spcBef>
            </a:pPr>
            <a:r>
              <a:rPr lang="en-US" sz="1688" spc="6">
                <a:solidFill>
                  <a:srgbClr val="FEFEFE"/>
                </a:solidFill>
                <a:latin typeface="Raleway"/>
                <a:ea typeface="Raleway"/>
                <a:cs typeface="Raleway"/>
                <a:sym typeface="Raleway"/>
              </a:rPr>
              <a:t>Skill Score shows a moderate correlation with hiring outcomes, where candidates with higher scores are more likely to be accepted.</a:t>
            </a:r>
          </a:p>
        </p:txBody>
      </p:sp>
      <p:sp>
        <p:nvSpPr>
          <p:cNvPr name="TextBox 14" id="14"/>
          <p:cNvSpPr txBox="true"/>
          <p:nvPr/>
        </p:nvSpPr>
        <p:spPr>
          <a:xfrm rot="0">
            <a:off x="6505003" y="6770387"/>
            <a:ext cx="4586663" cy="160029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PersonalityScore</a:t>
            </a:r>
          </a:p>
          <a:p>
            <a:pPr algn="ctr">
              <a:lnSpc>
                <a:spcPts val="2026"/>
              </a:lnSpc>
              <a:spcBef>
                <a:spcPct val="0"/>
              </a:spcBef>
            </a:pPr>
            <a:r>
              <a:rPr lang="en-US" sz="1688" spc="6">
                <a:solidFill>
                  <a:srgbClr val="FEFEFE"/>
                </a:solidFill>
                <a:latin typeface="Raleway"/>
                <a:ea typeface="Raleway"/>
                <a:cs typeface="Raleway"/>
                <a:sym typeface="Raleway"/>
              </a:rPr>
              <a:t>Personality Score shows a moderate correlation with hiring outcomes, with higher scores linked to a greater likelihood of acceptance.</a:t>
            </a:r>
          </a:p>
          <a:p>
            <a:pPr algn="ctr">
              <a:lnSpc>
                <a:spcPts val="2364"/>
              </a:lnSpc>
              <a:spcBef>
                <a:spcPct val="0"/>
              </a:spcBef>
            </a:pPr>
          </a:p>
        </p:txBody>
      </p:sp>
      <p:sp>
        <p:nvSpPr>
          <p:cNvPr name="TextBox 15" id="15"/>
          <p:cNvSpPr txBox="true"/>
          <p:nvPr/>
        </p:nvSpPr>
        <p:spPr>
          <a:xfrm rot="0">
            <a:off x="1661641" y="5245938"/>
            <a:ext cx="4081370" cy="1305374"/>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EducationLevel</a:t>
            </a:r>
          </a:p>
          <a:p>
            <a:pPr algn="ctr">
              <a:lnSpc>
                <a:spcPts val="2026"/>
              </a:lnSpc>
              <a:spcBef>
                <a:spcPct val="0"/>
              </a:spcBef>
            </a:pPr>
            <a:r>
              <a:rPr lang="en-US" sz="1688" spc="6">
                <a:solidFill>
                  <a:srgbClr val="FEFEFE"/>
                </a:solidFill>
                <a:latin typeface="Raleway"/>
                <a:ea typeface="Raleway"/>
                <a:cs typeface="Raleway"/>
                <a:sym typeface="Raleway"/>
              </a:rPr>
              <a:t>Candidate education level shows a fairly strong correlation with hiring outcomes, with higher educational levels associated with greater acceptance.</a:t>
            </a:r>
          </a:p>
        </p:txBody>
      </p:sp>
      <p:sp>
        <p:nvSpPr>
          <p:cNvPr name="TextBox 16" id="16"/>
          <p:cNvSpPr txBox="true"/>
          <p:nvPr/>
        </p:nvSpPr>
        <p:spPr>
          <a:xfrm rot="0">
            <a:off x="1463556" y="6781088"/>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RecruitmentStrategy</a:t>
            </a:r>
          </a:p>
          <a:p>
            <a:pPr algn="ctr">
              <a:lnSpc>
                <a:spcPts val="2026"/>
              </a:lnSpc>
              <a:spcBef>
                <a:spcPct val="0"/>
              </a:spcBef>
            </a:pPr>
            <a:r>
              <a:rPr lang="en-US" sz="1688" spc="6">
                <a:solidFill>
                  <a:srgbClr val="FEFEFE"/>
                </a:solidFill>
                <a:latin typeface="Raleway"/>
                <a:ea typeface="Raleway"/>
                <a:cs typeface="Raleway"/>
                <a:sym typeface="Raleway"/>
              </a:rPr>
              <a:t>Recruitment strategy shows a strong correlation with hiring outcomes, with aggressive strategies leading to higher acceptance rates.</a:t>
            </a:r>
          </a:p>
        </p:txBody>
      </p:sp>
      <p:sp>
        <p:nvSpPr>
          <p:cNvPr name="TextBox 17" id="17"/>
          <p:cNvSpPr txBox="true"/>
          <p:nvPr/>
        </p:nvSpPr>
        <p:spPr>
          <a:xfrm rot="0">
            <a:off x="11711461" y="5245938"/>
            <a:ext cx="4513291" cy="1055141"/>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5CE1E6"/>
                </a:solidFill>
                <a:latin typeface="Raleway Bold"/>
                <a:ea typeface="Raleway Bold"/>
                <a:cs typeface="Raleway Bold"/>
                <a:sym typeface="Raleway Bold"/>
              </a:rPr>
              <a:t>ExperienceLevel</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ere is a significant relationship where higher levels of experience tend to have a greater chance of acceptance.</a:t>
            </a:r>
          </a:p>
        </p:txBody>
      </p:sp>
      <p:sp>
        <p:nvSpPr>
          <p:cNvPr name="TextBox 18" id="18"/>
          <p:cNvSpPr txBox="true"/>
          <p:nvPr/>
        </p:nvSpPr>
        <p:spPr>
          <a:xfrm rot="0">
            <a:off x="1493505" y="8315217"/>
            <a:ext cx="4477539" cy="1305529"/>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Age</a:t>
            </a:r>
          </a:p>
          <a:p>
            <a:pPr algn="ctr">
              <a:lnSpc>
                <a:spcPts val="2026"/>
              </a:lnSpc>
              <a:spcBef>
                <a:spcPct val="0"/>
              </a:spcBef>
            </a:pPr>
            <a:r>
              <a:rPr lang="en-US" sz="1688" spc="6">
                <a:solidFill>
                  <a:srgbClr val="FEFEFE"/>
                </a:solidFill>
                <a:latin typeface="Raleway"/>
                <a:ea typeface="Raleway"/>
                <a:cs typeface="Raleway"/>
                <a:sym typeface="Raleway"/>
              </a:rPr>
              <a:t>Ag</a:t>
            </a:r>
            <a:r>
              <a:rPr lang="en-US" sz="1688" spc="6">
                <a:solidFill>
                  <a:srgbClr val="FEFEFE"/>
                </a:solidFill>
                <a:latin typeface="Raleway"/>
                <a:ea typeface="Raleway"/>
                <a:cs typeface="Raleway"/>
                <a:sym typeface="Raleway"/>
              </a:rPr>
              <a:t>e had no significant correlation with recruitment outcomes, indicating that the model provides equal opportunities regardless of candidate age.</a:t>
            </a:r>
          </a:p>
        </p:txBody>
      </p:sp>
      <p:sp>
        <p:nvSpPr>
          <p:cNvPr name="TextBox 19" id="19"/>
          <p:cNvSpPr txBox="true"/>
          <p:nvPr/>
        </p:nvSpPr>
        <p:spPr>
          <a:xfrm rot="0">
            <a:off x="6661951" y="8315217"/>
            <a:ext cx="4477539" cy="1555793"/>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PreviousCompanies</a:t>
            </a:r>
          </a:p>
          <a:p>
            <a:pPr algn="ctr">
              <a:lnSpc>
                <a:spcPts val="2026"/>
              </a:lnSpc>
              <a:spcBef>
                <a:spcPct val="0"/>
              </a:spcBef>
            </a:pPr>
            <a:r>
              <a:rPr lang="en-US" sz="1688" spc="6">
                <a:solidFill>
                  <a:srgbClr val="FEFEFE"/>
                </a:solidFill>
                <a:latin typeface="Raleway"/>
                <a:ea typeface="Raleway"/>
                <a:cs typeface="Raleway"/>
                <a:sym typeface="Raleway"/>
              </a:rPr>
              <a:t>Th</a:t>
            </a:r>
            <a:r>
              <a:rPr lang="en-US" sz="1688" spc="6">
                <a:solidFill>
                  <a:srgbClr val="FEFEFE"/>
                </a:solidFill>
                <a:latin typeface="Raleway"/>
                <a:ea typeface="Raleway"/>
                <a:cs typeface="Raleway"/>
                <a:sym typeface="Raleway"/>
              </a:rPr>
              <a:t>is feature shows an insignificant effect. This means that the number of companies a candidate has previously worked for is not a major determinant of hiring decisions in this model.</a:t>
            </a:r>
          </a:p>
        </p:txBody>
      </p:sp>
      <p:sp>
        <p:nvSpPr>
          <p:cNvPr name="TextBox 20" id="20"/>
          <p:cNvSpPr txBox="true"/>
          <p:nvPr/>
        </p:nvSpPr>
        <p:spPr>
          <a:xfrm rot="0">
            <a:off x="11747213" y="3721550"/>
            <a:ext cx="4477539" cy="1055265"/>
          </a:xfrm>
          <a:prstGeom prst="rect">
            <a:avLst/>
          </a:prstGeom>
        </p:spPr>
        <p:txBody>
          <a:bodyPr anchor="t" rtlCol="false" tIns="0" lIns="0" bIns="0" rIns="0">
            <a:spAutoFit/>
          </a:bodyPr>
          <a:lstStyle/>
          <a:p>
            <a:pPr algn="ctr">
              <a:lnSpc>
                <a:spcPts val="2364"/>
              </a:lnSpc>
              <a:spcBef>
                <a:spcPct val="0"/>
              </a:spcBef>
            </a:pPr>
            <a:r>
              <a:rPr lang="en-US" b="true" sz="1970" spc="7" u="sng">
                <a:solidFill>
                  <a:srgbClr val="C1FF72"/>
                </a:solidFill>
                <a:latin typeface="Raleway Bold"/>
                <a:ea typeface="Raleway Bold"/>
                <a:cs typeface="Raleway Bold"/>
                <a:sym typeface="Raleway Bold"/>
              </a:rPr>
              <a:t>DistanceFromCompany</a:t>
            </a:r>
          </a:p>
          <a:p>
            <a:pPr algn="ctr">
              <a:lnSpc>
                <a:spcPts val="2026"/>
              </a:lnSpc>
              <a:spcBef>
                <a:spcPct val="0"/>
              </a:spcBef>
            </a:pPr>
            <a:r>
              <a:rPr lang="en-US" sz="1688" spc="6">
                <a:solidFill>
                  <a:srgbClr val="FEFEFE"/>
                </a:solidFill>
                <a:latin typeface="Raleway"/>
                <a:ea typeface="Raleway"/>
                <a:cs typeface="Raleway"/>
                <a:sym typeface="Raleway"/>
              </a:rPr>
              <a:t>D</a:t>
            </a:r>
            <a:r>
              <a:rPr lang="en-US" sz="1688" spc="6">
                <a:solidFill>
                  <a:srgbClr val="FEFEFE"/>
                </a:solidFill>
                <a:latin typeface="Raleway"/>
                <a:ea typeface="Raleway"/>
                <a:cs typeface="Raleway"/>
                <a:sym typeface="Raleway"/>
              </a:rPr>
              <a:t>istanceFromCompany did not show a statistically significant effect on recruitment decisions.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854691" y="503223"/>
            <a:ext cx="7742328"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Dat</a:t>
            </a:r>
            <a:r>
              <a:rPr lang="en-US" sz="6159">
                <a:solidFill>
                  <a:srgbClr val="18102B"/>
                </a:solidFill>
                <a:latin typeface="Raleway"/>
                <a:ea typeface="Raleway"/>
                <a:cs typeface="Raleway"/>
                <a:sym typeface="Raleway"/>
              </a:rPr>
              <a:t>a Pre-processing</a:t>
            </a:r>
          </a:p>
        </p:txBody>
      </p:sp>
      <p:grpSp>
        <p:nvGrpSpPr>
          <p:cNvPr name="Group 4" id="4"/>
          <p:cNvGrpSpPr/>
          <p:nvPr/>
        </p:nvGrpSpPr>
        <p:grpSpPr>
          <a:xfrm rot="0">
            <a:off x="10706681" y="5093262"/>
            <a:ext cx="3078444" cy="4625902"/>
            <a:chOff x="0" y="0"/>
            <a:chExt cx="10623847" cy="15964193"/>
          </a:xfrm>
        </p:grpSpPr>
        <p:sp>
          <p:nvSpPr>
            <p:cNvPr name="Freeform 5" id="5"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6" id="6"/>
          <p:cNvSpPr txBox="true"/>
          <p:nvPr/>
        </p:nvSpPr>
        <p:spPr>
          <a:xfrm rot="0">
            <a:off x="10913271" y="5308370"/>
            <a:ext cx="2665265" cy="2066925"/>
          </a:xfrm>
          <a:prstGeom prst="rect">
            <a:avLst/>
          </a:prstGeom>
        </p:spPr>
        <p:txBody>
          <a:bodyPr anchor="t" rtlCol="false" tIns="0" lIns="0" bIns="0" rIns="0">
            <a:spAutoFit/>
          </a:bodyPr>
          <a:lstStyle/>
          <a:p>
            <a:pPr algn="ctr">
              <a:lnSpc>
                <a:spcPts val="2280"/>
              </a:lnSpc>
            </a:pPr>
            <a:r>
              <a:rPr lang="en-US" b="true" sz="1900" spc="7">
                <a:solidFill>
                  <a:srgbClr val="C1FF72"/>
                </a:solidFill>
                <a:latin typeface="Raleway Bold"/>
                <a:ea typeface="Raleway Bold"/>
                <a:cs typeface="Raleway Bold"/>
                <a:sym typeface="Raleway Bold"/>
              </a:rPr>
              <a:t>StandarScaler</a:t>
            </a:r>
          </a:p>
          <a:p>
            <a:pPr algn="ctr">
              <a:lnSpc>
                <a:spcPts val="2279"/>
              </a:lnSpc>
              <a:spcBef>
                <a:spcPct val="0"/>
              </a:spcBef>
            </a:pPr>
          </a:p>
          <a:p>
            <a:pPr algn="ctr">
              <a:lnSpc>
                <a:spcPts val="1980"/>
              </a:lnSpc>
              <a:spcBef>
                <a:spcPct val="0"/>
              </a:spcBef>
            </a:pPr>
            <a:r>
              <a:rPr lang="en-US" sz="1650" spc="6">
                <a:solidFill>
                  <a:srgbClr val="FFFFFF"/>
                </a:solidFill>
                <a:latin typeface="Raleway"/>
                <a:ea typeface="Raleway"/>
                <a:cs typeface="Raleway"/>
                <a:sym typeface="Raleway"/>
              </a:rPr>
              <a:t>Numerical features will be processed using StandardScaler to ensure they share a similar range, allowing the model to learn more effectively.</a:t>
            </a:r>
          </a:p>
        </p:txBody>
      </p:sp>
      <p:grpSp>
        <p:nvGrpSpPr>
          <p:cNvPr name="Group 7" id="7"/>
          <p:cNvGrpSpPr/>
          <p:nvPr/>
        </p:nvGrpSpPr>
        <p:grpSpPr>
          <a:xfrm rot="0">
            <a:off x="1233825" y="5093262"/>
            <a:ext cx="3078444" cy="4625902"/>
            <a:chOff x="0" y="0"/>
            <a:chExt cx="10623847" cy="15964193"/>
          </a:xfrm>
        </p:grpSpPr>
        <p:sp>
          <p:nvSpPr>
            <p:cNvPr name="Freeform 8" id="8"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9" id="9"/>
          <p:cNvSpPr txBox="true"/>
          <p:nvPr/>
        </p:nvSpPr>
        <p:spPr>
          <a:xfrm rot="0">
            <a:off x="1459077" y="7657536"/>
            <a:ext cx="2627941" cy="1819275"/>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One Hot Encoding</a:t>
            </a:r>
          </a:p>
          <a:p>
            <a:pPr algn="ctr">
              <a:lnSpc>
                <a:spcPts val="2277"/>
              </a:lnSpc>
              <a:spcBef>
                <a:spcPct val="0"/>
              </a:spcBef>
            </a:pPr>
          </a:p>
          <a:p>
            <a:pPr algn="ctr">
              <a:lnSpc>
                <a:spcPts val="1952"/>
              </a:lnSpc>
              <a:spcBef>
                <a:spcPct val="0"/>
              </a:spcBef>
            </a:pPr>
            <a:r>
              <a:rPr lang="en-US" sz="1627" spc="6">
                <a:solidFill>
                  <a:srgbClr val="FFFFFF"/>
                </a:solidFill>
                <a:latin typeface="Raleway"/>
                <a:ea typeface="Raleway"/>
                <a:cs typeface="Raleway"/>
                <a:sym typeface="Raleway"/>
              </a:rPr>
              <a:t>For c</a:t>
            </a:r>
            <a:r>
              <a:rPr lang="en-US" sz="1627" spc="6">
                <a:solidFill>
                  <a:srgbClr val="FFFFFF"/>
                </a:solidFill>
                <a:latin typeface="Raleway"/>
                <a:ea typeface="Raleway"/>
                <a:cs typeface="Raleway"/>
                <a:sym typeface="Raleway"/>
              </a:rPr>
              <a:t>ategorical features with more than two unique values. For example: ExperienceYear (Junior, Medior, Senior)</a:t>
            </a:r>
          </a:p>
        </p:txBody>
      </p:sp>
      <p:sp>
        <p:nvSpPr>
          <p:cNvPr name="TextBox 10" id="10"/>
          <p:cNvSpPr txBox="true"/>
          <p:nvPr/>
        </p:nvSpPr>
        <p:spPr>
          <a:xfrm rot="0">
            <a:off x="1459077" y="5308370"/>
            <a:ext cx="2627941" cy="2009775"/>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Ordinal Encoding</a:t>
            </a:r>
          </a:p>
          <a:p>
            <a:pPr algn="ctr">
              <a:lnSpc>
                <a:spcPts val="2277"/>
              </a:lnSpc>
              <a:spcBef>
                <a:spcPct val="0"/>
              </a:spcBef>
            </a:pPr>
          </a:p>
          <a:p>
            <a:pPr algn="ctr">
              <a:lnSpc>
                <a:spcPts val="1919"/>
              </a:lnSpc>
              <a:spcBef>
                <a:spcPct val="0"/>
              </a:spcBef>
            </a:pPr>
            <a:r>
              <a:rPr lang="en-US" sz="1599" spc="6">
                <a:solidFill>
                  <a:srgbClr val="FFFFFF"/>
                </a:solidFill>
                <a:latin typeface="Raleway"/>
                <a:ea typeface="Raleway"/>
                <a:cs typeface="Raleway"/>
                <a:sym typeface="Raleway"/>
              </a:rPr>
              <a:t>For categorical features with logical order. Example: EducationLevel where each category is converted to a number representing that order (1, 2, 3, 4).</a:t>
            </a:r>
          </a:p>
        </p:txBody>
      </p:sp>
      <p:grpSp>
        <p:nvGrpSpPr>
          <p:cNvPr name="Group 11" id="11"/>
          <p:cNvGrpSpPr/>
          <p:nvPr/>
        </p:nvGrpSpPr>
        <p:grpSpPr>
          <a:xfrm rot="0">
            <a:off x="1028700" y="2545021"/>
            <a:ext cx="16243644" cy="2488000"/>
            <a:chOff x="0" y="0"/>
            <a:chExt cx="21658192" cy="3317334"/>
          </a:xfrm>
        </p:grpSpPr>
        <p:sp>
          <p:nvSpPr>
            <p:cNvPr name="TextBox 12" id="12"/>
            <p:cNvSpPr txBox="true"/>
            <p:nvPr/>
          </p:nvSpPr>
          <p:spPr>
            <a:xfrm rot="0">
              <a:off x="12601735" y="-19050"/>
              <a:ext cx="5135757" cy="1543050"/>
            </a:xfrm>
            <a:prstGeom prst="rect">
              <a:avLst/>
            </a:prstGeom>
          </p:spPr>
          <p:txBody>
            <a:bodyPr anchor="t" rtlCol="false" tIns="0" lIns="0" bIns="0" rIns="0">
              <a:spAutoFit/>
            </a:bodyPr>
            <a:lstStyle/>
            <a:p>
              <a:pPr algn="ctr">
                <a:lnSpc>
                  <a:spcPts val="4560"/>
                </a:lnSpc>
              </a:pPr>
              <a:r>
                <a:rPr lang="en-US" b="true" sz="3800">
                  <a:solidFill>
                    <a:srgbClr val="000000"/>
                  </a:solidFill>
                  <a:latin typeface="Raleway Bold"/>
                  <a:ea typeface="Raleway Bold"/>
                  <a:cs typeface="Raleway Bold"/>
                  <a:sym typeface="Raleway Bold"/>
                </a:rPr>
                <a:t>Feature </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Scaling</a:t>
              </a:r>
            </a:p>
          </p:txBody>
        </p:sp>
        <p:sp>
          <p:nvSpPr>
            <p:cNvPr name="TextBox 13" id="13"/>
            <p:cNvSpPr txBox="true"/>
            <p:nvPr/>
          </p:nvSpPr>
          <p:spPr>
            <a:xfrm rot="0">
              <a:off x="0" y="-19050"/>
              <a:ext cx="5017062" cy="1543050"/>
            </a:xfrm>
            <a:prstGeom prst="rect">
              <a:avLst/>
            </a:prstGeom>
          </p:spPr>
          <p:txBody>
            <a:bodyPr anchor="t" rtlCol="false" tIns="0" lIns="0" bIns="0" rIns="0">
              <a:spAutoFit/>
            </a:bodyPr>
            <a:lstStyle/>
            <a:p>
              <a:pPr algn="ctr">
                <a:lnSpc>
                  <a:spcPts val="4560"/>
                </a:lnSpc>
              </a:pPr>
              <a:r>
                <a:rPr lang="en-US" sz="3800" b="true">
                  <a:solidFill>
                    <a:srgbClr val="000000"/>
                  </a:solidFill>
                  <a:latin typeface="Raleway Bold"/>
                  <a:ea typeface="Raleway Bold"/>
                  <a:cs typeface="Raleway Bold"/>
                  <a:sym typeface="Raleway Bold"/>
                </a:rPr>
                <a:t>Fe</a:t>
              </a:r>
              <a:r>
                <a:rPr lang="en-US" b="true" sz="3800">
                  <a:solidFill>
                    <a:srgbClr val="000000"/>
                  </a:solidFill>
                  <a:latin typeface="Raleway Bold"/>
                  <a:ea typeface="Raleway Bold"/>
                  <a:cs typeface="Raleway Bold"/>
                  <a:sym typeface="Raleway Bold"/>
                </a:rPr>
                <a:t>ature</a:t>
              </a:r>
            </a:p>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Encoding</a:t>
              </a:r>
            </a:p>
          </p:txBody>
        </p:sp>
        <p:sp>
          <p:nvSpPr>
            <p:cNvPr name="TextBox 14" id="14"/>
            <p:cNvSpPr txBox="true"/>
            <p:nvPr/>
          </p:nvSpPr>
          <p:spPr>
            <a:xfrm rot="0">
              <a:off x="17554719" y="-19050"/>
              <a:ext cx="3632251"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Model Training</a:t>
              </a:r>
            </a:p>
          </p:txBody>
        </p:sp>
        <p:sp>
          <p:nvSpPr>
            <p:cNvPr name="TextBox 15" id="15"/>
            <p:cNvSpPr txBox="true"/>
            <p:nvPr/>
          </p:nvSpPr>
          <p:spPr>
            <a:xfrm rot="0">
              <a:off x="4678787" y="-19050"/>
              <a:ext cx="3988353"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Split D</a:t>
              </a:r>
              <a:r>
                <a:rPr lang="en-US" b="true" sz="3800">
                  <a:solidFill>
                    <a:srgbClr val="000000"/>
                  </a:solidFill>
                  <a:latin typeface="Raleway Bold"/>
                  <a:ea typeface="Raleway Bold"/>
                  <a:cs typeface="Raleway Bold"/>
                  <a:sym typeface="Raleway Bold"/>
                </a:rPr>
                <a:t>ata (70:30)</a:t>
              </a:r>
            </a:p>
          </p:txBody>
        </p:sp>
        <p:sp>
          <p:nvSpPr>
            <p:cNvPr name="TextBox 16" id="16"/>
            <p:cNvSpPr txBox="true"/>
            <p:nvPr/>
          </p:nvSpPr>
          <p:spPr>
            <a:xfrm rot="0">
              <a:off x="8527579" y="-19050"/>
              <a:ext cx="4595026" cy="1543050"/>
            </a:xfrm>
            <a:prstGeom prst="rect">
              <a:avLst/>
            </a:prstGeom>
          </p:spPr>
          <p:txBody>
            <a:bodyPr anchor="t" rtlCol="false" tIns="0" lIns="0" bIns="0" rIns="0">
              <a:spAutoFit/>
            </a:bodyPr>
            <a:lstStyle/>
            <a:p>
              <a:pPr algn="ctr" marL="0" indent="0" lvl="0">
                <a:lnSpc>
                  <a:spcPts val="4560"/>
                </a:lnSpc>
                <a:spcBef>
                  <a:spcPct val="0"/>
                </a:spcBef>
              </a:pPr>
              <a:r>
                <a:rPr lang="en-US" b="true" sz="3800">
                  <a:solidFill>
                    <a:srgbClr val="000000"/>
                  </a:solidFill>
                  <a:latin typeface="Raleway Bold"/>
                  <a:ea typeface="Raleway Bold"/>
                  <a:cs typeface="Raleway Bold"/>
                  <a:sym typeface="Raleway Bold"/>
                </a:rPr>
                <a:t>D</a:t>
              </a:r>
              <a:r>
                <a:rPr lang="en-US" b="true" sz="3800">
                  <a:solidFill>
                    <a:srgbClr val="000000"/>
                  </a:solidFill>
                  <a:latin typeface="Raleway Bold"/>
                  <a:ea typeface="Raleway Bold"/>
                  <a:cs typeface="Raleway Bold"/>
                  <a:sym typeface="Raleway Bold"/>
                </a:rPr>
                <a:t>ata Balancing</a:t>
              </a:r>
            </a:p>
          </p:txBody>
        </p:sp>
        <p:grpSp>
          <p:nvGrpSpPr>
            <p:cNvPr name="Group 17" id="17"/>
            <p:cNvGrpSpPr/>
            <p:nvPr/>
          </p:nvGrpSpPr>
          <p:grpSpPr>
            <a:xfrm rot="0">
              <a:off x="222469" y="2598183"/>
              <a:ext cx="4574696" cy="341605"/>
              <a:chOff x="0" y="0"/>
              <a:chExt cx="4574696" cy="341605"/>
            </a:xfrm>
          </p:grpSpPr>
          <p:sp>
            <p:nvSpPr>
              <p:cNvPr name="Freeform 18" id="18"/>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19" id="19"/>
            <p:cNvGrpSpPr/>
            <p:nvPr/>
          </p:nvGrpSpPr>
          <p:grpSpPr>
            <a:xfrm rot="0">
              <a:off x="221183" y="2975729"/>
              <a:ext cx="4574696" cy="341605"/>
              <a:chOff x="0" y="0"/>
              <a:chExt cx="4574696" cy="341605"/>
            </a:xfrm>
          </p:grpSpPr>
          <p:sp>
            <p:nvSpPr>
              <p:cNvPr name="Freeform 20" id="20"/>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21" id="21"/>
            <p:cNvGrpSpPr/>
            <p:nvPr/>
          </p:nvGrpSpPr>
          <p:grpSpPr>
            <a:xfrm rot="0">
              <a:off x="4444381" y="2598183"/>
              <a:ext cx="4574696" cy="341605"/>
              <a:chOff x="0" y="0"/>
              <a:chExt cx="4574696" cy="341605"/>
            </a:xfrm>
          </p:grpSpPr>
          <p:sp>
            <p:nvSpPr>
              <p:cNvPr name="Freeform 22" id="22"/>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3" id="23"/>
            <p:cNvGrpSpPr/>
            <p:nvPr/>
          </p:nvGrpSpPr>
          <p:grpSpPr>
            <a:xfrm rot="0">
              <a:off x="4443096" y="2975729"/>
              <a:ext cx="4574696" cy="341605"/>
              <a:chOff x="0" y="0"/>
              <a:chExt cx="4574696" cy="341605"/>
            </a:xfrm>
          </p:grpSpPr>
          <p:sp>
            <p:nvSpPr>
              <p:cNvPr name="Freeform 24" id="24"/>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D9D9D9"/>
              </a:solidFill>
            </p:spPr>
          </p:sp>
        </p:grpSp>
        <p:grpSp>
          <p:nvGrpSpPr>
            <p:cNvPr name="Group 25" id="25"/>
            <p:cNvGrpSpPr/>
            <p:nvPr/>
          </p:nvGrpSpPr>
          <p:grpSpPr>
            <a:xfrm rot="0">
              <a:off x="8668425" y="2598183"/>
              <a:ext cx="4574696" cy="341605"/>
              <a:chOff x="0" y="0"/>
              <a:chExt cx="4574696" cy="341605"/>
            </a:xfrm>
          </p:grpSpPr>
          <p:sp>
            <p:nvSpPr>
              <p:cNvPr name="Freeform 26" id="26"/>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nvGrpSpPr>
            <p:cNvPr name="Group 27" id="27"/>
            <p:cNvGrpSpPr/>
            <p:nvPr/>
          </p:nvGrpSpPr>
          <p:grpSpPr>
            <a:xfrm rot="0">
              <a:off x="8667139" y="2975729"/>
              <a:ext cx="4574696" cy="341605"/>
              <a:chOff x="0" y="0"/>
              <a:chExt cx="4574696" cy="341605"/>
            </a:xfrm>
          </p:grpSpPr>
          <p:sp>
            <p:nvSpPr>
              <p:cNvPr name="Freeform 28" id="2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29" id="29"/>
            <p:cNvGrpSpPr/>
            <p:nvPr/>
          </p:nvGrpSpPr>
          <p:grpSpPr>
            <a:xfrm rot="0">
              <a:off x="12882266" y="2598183"/>
              <a:ext cx="4574696" cy="341605"/>
              <a:chOff x="0" y="0"/>
              <a:chExt cx="4574696" cy="341605"/>
            </a:xfrm>
          </p:grpSpPr>
          <p:sp>
            <p:nvSpPr>
              <p:cNvPr name="Freeform 30" id="3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4E5567"/>
              </a:solidFill>
            </p:spPr>
          </p:sp>
        </p:grpSp>
        <p:grpSp>
          <p:nvGrpSpPr>
            <p:cNvPr name="Group 31" id="31"/>
            <p:cNvGrpSpPr/>
            <p:nvPr/>
          </p:nvGrpSpPr>
          <p:grpSpPr>
            <a:xfrm rot="0">
              <a:off x="12880981" y="2975729"/>
              <a:ext cx="4574696" cy="341605"/>
              <a:chOff x="0" y="0"/>
              <a:chExt cx="4574696" cy="341605"/>
            </a:xfrm>
          </p:grpSpPr>
          <p:sp>
            <p:nvSpPr>
              <p:cNvPr name="Freeform 32" id="32"/>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3" id="33"/>
            <p:cNvGrpSpPr/>
            <p:nvPr/>
          </p:nvGrpSpPr>
          <p:grpSpPr>
            <a:xfrm rot="0">
              <a:off x="17083496" y="2598183"/>
              <a:ext cx="4574696" cy="341605"/>
              <a:chOff x="0" y="0"/>
              <a:chExt cx="4574696" cy="341605"/>
            </a:xfrm>
          </p:grpSpPr>
          <p:sp>
            <p:nvSpPr>
              <p:cNvPr name="Freeform 34" id="34"/>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2F2F2F"/>
              </a:solidFill>
            </p:spPr>
          </p:sp>
        </p:grpSp>
        <p:grpSp>
          <p:nvGrpSpPr>
            <p:cNvPr name="Group 35" id="35"/>
            <p:cNvGrpSpPr/>
            <p:nvPr/>
          </p:nvGrpSpPr>
          <p:grpSpPr>
            <a:xfrm rot="0">
              <a:off x="17082211" y="2975729"/>
              <a:ext cx="4574696" cy="341605"/>
              <a:chOff x="0" y="0"/>
              <a:chExt cx="4574696" cy="341605"/>
            </a:xfrm>
          </p:grpSpPr>
          <p:sp>
            <p:nvSpPr>
              <p:cNvPr name="Freeform 36" id="36"/>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4E5567"/>
              </a:solidFill>
            </p:spPr>
          </p:sp>
        </p:grpSp>
        <p:grpSp>
          <p:nvGrpSpPr>
            <p:cNvPr name="Group 37" id="37"/>
            <p:cNvGrpSpPr/>
            <p:nvPr/>
          </p:nvGrpSpPr>
          <p:grpSpPr>
            <a:xfrm rot="0">
              <a:off x="12880981" y="2975729"/>
              <a:ext cx="4574696" cy="341605"/>
              <a:chOff x="0" y="0"/>
              <a:chExt cx="4574696" cy="341605"/>
            </a:xfrm>
          </p:grpSpPr>
          <p:sp>
            <p:nvSpPr>
              <p:cNvPr name="Freeform 38" id="38"/>
              <p:cNvSpPr/>
              <p:nvPr/>
            </p:nvSpPr>
            <p:spPr>
              <a:xfrm flipH="false" flipV="false" rot="0">
                <a:off x="0" y="0"/>
                <a:ext cx="4574631" cy="341630"/>
              </a:xfrm>
              <a:custGeom>
                <a:avLst/>
                <a:gdLst/>
                <a:ahLst/>
                <a:cxnLst/>
                <a:rect r="r" b="b" t="t" l="l"/>
                <a:pathLst>
                  <a:path h="341630" w="4574631">
                    <a:moveTo>
                      <a:pt x="0" y="341630"/>
                    </a:moveTo>
                    <a:lnTo>
                      <a:pt x="424381" y="0"/>
                    </a:lnTo>
                    <a:lnTo>
                      <a:pt x="4574631" y="0"/>
                    </a:lnTo>
                    <a:lnTo>
                      <a:pt x="4150412" y="341630"/>
                    </a:lnTo>
                    <a:close/>
                  </a:path>
                </a:pathLst>
              </a:custGeom>
              <a:solidFill>
                <a:srgbClr val="7E8C92"/>
              </a:solidFill>
            </p:spPr>
          </p:sp>
        </p:grpSp>
        <p:grpSp>
          <p:nvGrpSpPr>
            <p:cNvPr name="Group 39" id="39"/>
            <p:cNvGrpSpPr/>
            <p:nvPr/>
          </p:nvGrpSpPr>
          <p:grpSpPr>
            <a:xfrm rot="0">
              <a:off x="12880981" y="2598183"/>
              <a:ext cx="4574696" cy="341605"/>
              <a:chOff x="0" y="0"/>
              <a:chExt cx="4574696" cy="341605"/>
            </a:xfrm>
          </p:grpSpPr>
          <p:sp>
            <p:nvSpPr>
              <p:cNvPr name="Freeform 40" id="40"/>
              <p:cNvSpPr/>
              <p:nvPr/>
            </p:nvSpPr>
            <p:spPr>
              <a:xfrm flipH="false" flipV="false" rot="0">
                <a:off x="0" y="0"/>
                <a:ext cx="4574631" cy="341630"/>
              </a:xfrm>
              <a:custGeom>
                <a:avLst/>
                <a:gdLst/>
                <a:ahLst/>
                <a:cxnLst/>
                <a:rect r="r" b="b" t="t" l="l"/>
                <a:pathLst>
                  <a:path h="341630" w="4574631">
                    <a:moveTo>
                      <a:pt x="4574631" y="341630"/>
                    </a:moveTo>
                    <a:lnTo>
                      <a:pt x="4150412" y="0"/>
                    </a:lnTo>
                    <a:lnTo>
                      <a:pt x="0" y="0"/>
                    </a:lnTo>
                    <a:lnTo>
                      <a:pt x="424381" y="341630"/>
                    </a:lnTo>
                    <a:close/>
                  </a:path>
                </a:pathLst>
              </a:custGeom>
              <a:solidFill>
                <a:srgbClr val="FFFFFF"/>
              </a:solidFill>
            </p:spPr>
          </p:sp>
        </p:grpSp>
      </p:grpSp>
      <p:grpSp>
        <p:nvGrpSpPr>
          <p:cNvPr name="Group 41" id="41"/>
          <p:cNvGrpSpPr/>
          <p:nvPr/>
        </p:nvGrpSpPr>
        <p:grpSpPr>
          <a:xfrm rot="0">
            <a:off x="7550881" y="5093262"/>
            <a:ext cx="3078444" cy="4625902"/>
            <a:chOff x="0" y="0"/>
            <a:chExt cx="10623847" cy="15964193"/>
          </a:xfrm>
        </p:grpSpPr>
        <p:sp>
          <p:nvSpPr>
            <p:cNvPr name="Freeform 42" id="42" descr="image.png"/>
            <p:cNvSpPr/>
            <p:nvPr/>
          </p:nvSpPr>
          <p:spPr>
            <a:xfrm flipH="false" flipV="false" rot="0">
              <a:off x="0" y="0"/>
              <a:ext cx="10623886" cy="15964219"/>
            </a:xfrm>
            <a:custGeom>
              <a:avLst/>
              <a:gdLst/>
              <a:ahLst/>
              <a:cxnLst/>
              <a:rect r="r" b="b" t="t" l="l"/>
              <a:pathLst>
                <a:path h="15964219" w="10623886">
                  <a:moveTo>
                    <a:pt x="0" y="0"/>
                  </a:moveTo>
                  <a:lnTo>
                    <a:pt x="10623886" y="0"/>
                  </a:lnTo>
                  <a:lnTo>
                    <a:pt x="10623886" y="15964219"/>
                  </a:lnTo>
                  <a:lnTo>
                    <a:pt x="0" y="15964219"/>
                  </a:lnTo>
                  <a:lnTo>
                    <a:pt x="0" y="0"/>
                  </a:lnTo>
                  <a:close/>
                </a:path>
              </a:pathLst>
            </a:custGeom>
            <a:solidFill>
              <a:srgbClr val="7E8C92"/>
            </a:solidFill>
          </p:spPr>
        </p:sp>
      </p:grpSp>
      <p:sp>
        <p:nvSpPr>
          <p:cNvPr name="TextBox 43" id="43"/>
          <p:cNvSpPr txBox="true"/>
          <p:nvPr/>
        </p:nvSpPr>
        <p:spPr>
          <a:xfrm rot="0">
            <a:off x="7834342" y="5308370"/>
            <a:ext cx="2632360" cy="3058187"/>
          </a:xfrm>
          <a:prstGeom prst="rect">
            <a:avLst/>
          </a:prstGeom>
        </p:spPr>
        <p:txBody>
          <a:bodyPr anchor="t" rtlCol="false" tIns="0" lIns="0" bIns="0" rIns="0">
            <a:spAutoFit/>
          </a:bodyPr>
          <a:lstStyle/>
          <a:p>
            <a:pPr algn="ctr">
              <a:lnSpc>
                <a:spcPts val="2277"/>
              </a:lnSpc>
            </a:pPr>
            <a:r>
              <a:rPr lang="en-US" b="true" sz="1898" spc="7">
                <a:solidFill>
                  <a:srgbClr val="C1FF72"/>
                </a:solidFill>
                <a:latin typeface="Raleway Bold"/>
                <a:ea typeface="Raleway Bold"/>
                <a:cs typeface="Raleway Bold"/>
                <a:sym typeface="Raleway Bold"/>
              </a:rPr>
              <a:t>SMOTE</a:t>
            </a:r>
          </a:p>
          <a:p>
            <a:pPr algn="ctr">
              <a:lnSpc>
                <a:spcPts val="2277"/>
              </a:lnSpc>
              <a:spcBef>
                <a:spcPct val="0"/>
              </a:spcBef>
            </a:pPr>
          </a:p>
          <a:p>
            <a:pPr algn="ctr">
              <a:lnSpc>
                <a:spcPts val="1980"/>
              </a:lnSpc>
              <a:spcBef>
                <a:spcPct val="0"/>
              </a:spcBef>
            </a:pPr>
            <a:r>
              <a:rPr lang="en-US" sz="1650" spc="6">
                <a:solidFill>
                  <a:srgbClr val="FFFFFF"/>
                </a:solidFill>
                <a:latin typeface="Raleway"/>
                <a:ea typeface="Raleway"/>
                <a:cs typeface="Raleway"/>
                <a:sym typeface="Raleway"/>
              </a:rPr>
              <a:t>This technique handles imbalanced data by creating new, synthetic data for the minority class. SMOTE helps the model learn to better recognize the characteristics of the minority class, thereby improving detection performance.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Modeling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92683" y="2915205"/>
            <a:ext cx="10980615" cy="5713772"/>
            <a:chOff x="0" y="0"/>
            <a:chExt cx="16429701" cy="8549208"/>
          </a:xfrm>
        </p:grpSpPr>
        <p:sp>
          <p:nvSpPr>
            <p:cNvPr name="Freeform 4" id="4" descr="image.png"/>
            <p:cNvSpPr/>
            <p:nvPr/>
          </p:nvSpPr>
          <p:spPr>
            <a:xfrm flipH="false" flipV="false" rot="0">
              <a:off x="0" y="0"/>
              <a:ext cx="16429738" cy="8549233"/>
            </a:xfrm>
            <a:custGeom>
              <a:avLst/>
              <a:gdLst/>
              <a:ahLst/>
              <a:cxnLst/>
              <a:rect r="r" b="b" t="t" l="l"/>
              <a:pathLst>
                <a:path h="8549233" w="16429738">
                  <a:moveTo>
                    <a:pt x="250444" y="0"/>
                  </a:moveTo>
                  <a:lnTo>
                    <a:pt x="16179295" y="0"/>
                  </a:lnTo>
                  <a:cubicBezTo>
                    <a:pt x="16317610" y="0"/>
                    <a:pt x="16429738" y="112128"/>
                    <a:pt x="16429738" y="250444"/>
                  </a:cubicBezTo>
                  <a:lnTo>
                    <a:pt x="16429738" y="8298790"/>
                  </a:lnTo>
                  <a:cubicBezTo>
                    <a:pt x="16429738" y="8365211"/>
                    <a:pt x="16403352" y="8428913"/>
                    <a:pt x="16356385" y="8475880"/>
                  </a:cubicBezTo>
                  <a:cubicBezTo>
                    <a:pt x="16309417" y="8522847"/>
                    <a:pt x="16245717" y="8549233"/>
                    <a:pt x="16179295" y="8549233"/>
                  </a:cubicBezTo>
                  <a:lnTo>
                    <a:pt x="250444" y="8549233"/>
                  </a:lnTo>
                  <a:cubicBezTo>
                    <a:pt x="112128" y="8549233"/>
                    <a:pt x="0" y="8437106"/>
                    <a:pt x="0" y="8298790"/>
                  </a:cubicBezTo>
                  <a:lnTo>
                    <a:pt x="0" y="250444"/>
                  </a:lnTo>
                  <a:cubicBezTo>
                    <a:pt x="0" y="112128"/>
                    <a:pt x="112128" y="0"/>
                    <a:pt x="250444" y="0"/>
                  </a:cubicBezTo>
                  <a:close/>
                </a:path>
              </a:pathLst>
            </a:custGeom>
            <a:solidFill>
              <a:srgbClr val="A1C7CE"/>
            </a:solidFill>
            <a:ln w="85725" cap="rnd">
              <a:solidFill>
                <a:srgbClr val="4E5567"/>
              </a:solidFill>
              <a:prstDash val="solid"/>
              <a:round/>
            </a:ln>
          </p:spPr>
        </p:sp>
      </p:grpSp>
      <p:sp>
        <p:nvSpPr>
          <p:cNvPr name="TextBox 5" id="5"/>
          <p:cNvSpPr txBox="true"/>
          <p:nvPr/>
        </p:nvSpPr>
        <p:spPr>
          <a:xfrm rot="0">
            <a:off x="5301444" y="3086115"/>
            <a:ext cx="3563094" cy="598171"/>
          </a:xfrm>
          <a:prstGeom prst="rect">
            <a:avLst/>
          </a:prstGeom>
        </p:spPr>
        <p:txBody>
          <a:bodyPr anchor="t" rtlCol="false" tIns="0" lIns="0" bIns="0" rIns="0">
            <a:spAutoFit/>
          </a:bodyPr>
          <a:lstStyle/>
          <a:p>
            <a:pPr algn="l">
              <a:lnSpc>
                <a:spcPts val="5039"/>
              </a:lnSpc>
            </a:pPr>
            <a:r>
              <a:rPr lang="en-US" b="true" sz="2999">
                <a:solidFill>
                  <a:srgbClr val="000000"/>
                </a:solidFill>
                <a:latin typeface="Raleway Bold"/>
                <a:ea typeface="Raleway Bold"/>
                <a:cs typeface="Raleway Bold"/>
                <a:sym typeface="Raleway Bold"/>
              </a:rPr>
              <a:t>Logistic Regression</a:t>
            </a:r>
          </a:p>
        </p:txBody>
      </p:sp>
      <p:grpSp>
        <p:nvGrpSpPr>
          <p:cNvPr name="Group 6" id="6"/>
          <p:cNvGrpSpPr/>
          <p:nvPr/>
        </p:nvGrpSpPr>
        <p:grpSpPr>
          <a:xfrm rot="0">
            <a:off x="13338618" y="2915205"/>
            <a:ext cx="3042301" cy="5713772"/>
            <a:chOff x="0" y="0"/>
            <a:chExt cx="801264" cy="1504862"/>
          </a:xfrm>
        </p:grpSpPr>
        <p:sp>
          <p:nvSpPr>
            <p:cNvPr name="Freeform 7" id="7"/>
            <p:cNvSpPr/>
            <p:nvPr/>
          </p:nvSpPr>
          <p:spPr>
            <a:xfrm flipH="false" flipV="false" rot="0">
              <a:off x="0" y="0"/>
              <a:ext cx="801264" cy="1504862"/>
            </a:xfrm>
            <a:custGeom>
              <a:avLst/>
              <a:gdLst/>
              <a:ahLst/>
              <a:cxnLst/>
              <a:rect r="r" b="b" t="t" l="l"/>
              <a:pathLst>
                <a:path h="1504862" w="801264">
                  <a:moveTo>
                    <a:pt x="129783" y="0"/>
                  </a:moveTo>
                  <a:lnTo>
                    <a:pt x="671482" y="0"/>
                  </a:lnTo>
                  <a:cubicBezTo>
                    <a:pt x="743159" y="0"/>
                    <a:pt x="801264" y="58106"/>
                    <a:pt x="801264" y="129783"/>
                  </a:cubicBezTo>
                  <a:lnTo>
                    <a:pt x="801264" y="1375079"/>
                  </a:lnTo>
                  <a:cubicBezTo>
                    <a:pt x="801264" y="1409500"/>
                    <a:pt x="787591" y="1442510"/>
                    <a:pt x="763252" y="1466849"/>
                  </a:cubicBezTo>
                  <a:cubicBezTo>
                    <a:pt x="738913" y="1491188"/>
                    <a:pt x="705902" y="1504862"/>
                    <a:pt x="671482" y="1504862"/>
                  </a:cubicBezTo>
                  <a:lnTo>
                    <a:pt x="129783" y="1504862"/>
                  </a:lnTo>
                  <a:cubicBezTo>
                    <a:pt x="95362" y="1504862"/>
                    <a:pt x="62351" y="1491188"/>
                    <a:pt x="38012" y="1466849"/>
                  </a:cubicBezTo>
                  <a:cubicBezTo>
                    <a:pt x="13673" y="1442510"/>
                    <a:pt x="0" y="1409500"/>
                    <a:pt x="0" y="1375079"/>
                  </a:cubicBezTo>
                  <a:lnTo>
                    <a:pt x="0" y="129783"/>
                  </a:lnTo>
                  <a:cubicBezTo>
                    <a:pt x="0" y="95362"/>
                    <a:pt x="13673" y="62351"/>
                    <a:pt x="38012" y="38012"/>
                  </a:cubicBezTo>
                  <a:cubicBezTo>
                    <a:pt x="62351" y="13673"/>
                    <a:pt x="95362" y="0"/>
                    <a:pt x="129783" y="0"/>
                  </a:cubicBezTo>
                  <a:close/>
                </a:path>
              </a:pathLst>
            </a:custGeom>
            <a:solidFill>
              <a:srgbClr val="A1C7CE"/>
            </a:solidFill>
            <a:ln w="85725" cap="rnd">
              <a:solidFill>
                <a:srgbClr val="505050"/>
              </a:solidFill>
              <a:prstDash val="solid"/>
              <a:round/>
            </a:ln>
          </p:spPr>
        </p:sp>
        <p:sp>
          <p:nvSpPr>
            <p:cNvPr name="TextBox 8" id="8"/>
            <p:cNvSpPr txBox="true"/>
            <p:nvPr/>
          </p:nvSpPr>
          <p:spPr>
            <a:xfrm>
              <a:off x="0" y="-9525"/>
              <a:ext cx="801264" cy="1514387"/>
            </a:xfrm>
            <a:prstGeom prst="rect">
              <a:avLst/>
            </a:prstGeom>
          </p:spPr>
          <p:txBody>
            <a:bodyPr anchor="ctr" rtlCol="false" tIns="50800" lIns="50800" bIns="50800" rIns="50800"/>
            <a:lstStyle/>
            <a:p>
              <a:pPr algn="ctr">
                <a:lnSpc>
                  <a:spcPts val="2491"/>
                </a:lnSpc>
              </a:pPr>
            </a:p>
          </p:txBody>
        </p:sp>
      </p:grpSp>
      <p:sp>
        <p:nvSpPr>
          <p:cNvPr name="TextBox 9" id="9"/>
          <p:cNvSpPr txBox="true"/>
          <p:nvPr/>
        </p:nvSpPr>
        <p:spPr>
          <a:xfrm rot="0">
            <a:off x="13649959" y="4209958"/>
            <a:ext cx="2419619" cy="400116"/>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F1 S</a:t>
            </a:r>
            <a:r>
              <a:rPr lang="en-US" b="true" sz="2600">
                <a:solidFill>
                  <a:srgbClr val="18102B"/>
                </a:solidFill>
                <a:latin typeface="Raleway Bold"/>
                <a:ea typeface="Raleway Bold"/>
                <a:cs typeface="Raleway Bold"/>
                <a:sym typeface="Raleway Bold"/>
              </a:rPr>
              <a:t>core</a:t>
            </a:r>
          </a:p>
        </p:txBody>
      </p:sp>
      <p:sp>
        <p:nvSpPr>
          <p:cNvPr name="TextBox 10" id="10"/>
          <p:cNvSpPr txBox="true"/>
          <p:nvPr/>
        </p:nvSpPr>
        <p:spPr>
          <a:xfrm rot="0">
            <a:off x="13649959" y="6038758"/>
            <a:ext cx="2419619" cy="400116"/>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ROC AUC</a:t>
            </a:r>
          </a:p>
        </p:txBody>
      </p:sp>
      <p:sp>
        <p:nvSpPr>
          <p:cNvPr name="TextBox 11" id="11"/>
          <p:cNvSpPr txBox="true"/>
          <p:nvPr/>
        </p:nvSpPr>
        <p:spPr>
          <a:xfrm rot="0">
            <a:off x="13649959" y="4591090"/>
            <a:ext cx="2419619" cy="904809"/>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72.3%</a:t>
            </a:r>
          </a:p>
        </p:txBody>
      </p:sp>
      <p:sp>
        <p:nvSpPr>
          <p:cNvPr name="TextBox 12" id="12"/>
          <p:cNvSpPr txBox="true"/>
          <p:nvPr/>
        </p:nvSpPr>
        <p:spPr>
          <a:xfrm rot="0">
            <a:off x="13649959" y="6419890"/>
            <a:ext cx="2419619" cy="904809"/>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88.6%</a:t>
            </a:r>
          </a:p>
        </p:txBody>
      </p:sp>
      <p:sp>
        <p:nvSpPr>
          <p:cNvPr name="TextBox 13" id="13"/>
          <p:cNvSpPr txBox="true"/>
          <p:nvPr/>
        </p:nvSpPr>
        <p:spPr>
          <a:xfrm rot="0">
            <a:off x="2178480" y="3854415"/>
            <a:ext cx="9809022" cy="4419600"/>
          </a:xfrm>
          <a:prstGeom prst="rect">
            <a:avLst/>
          </a:prstGeom>
        </p:spPr>
        <p:txBody>
          <a:bodyPr anchor="t" rtlCol="false" tIns="0" lIns="0" bIns="0" rIns="0">
            <a:spAutoFit/>
          </a:bodyPr>
          <a:lstStyle/>
          <a:p>
            <a:pPr algn="l" marL="453387" indent="-226693" lvl="1">
              <a:lnSpc>
                <a:spcPts val="2519"/>
              </a:lnSpc>
              <a:buFont typeface="Arial"/>
              <a:buChar char="•"/>
            </a:pPr>
            <a:r>
              <a:rPr lang="en-US" b="true" sz="2099">
                <a:solidFill>
                  <a:srgbClr val="000000"/>
                </a:solidFill>
                <a:latin typeface="Raleway Bold"/>
                <a:ea typeface="Raleway Bold"/>
                <a:cs typeface="Raleway Bold"/>
                <a:sym typeface="Raleway Bold"/>
              </a:rPr>
              <a:t>Simple and Fast:</a:t>
            </a:r>
            <a:r>
              <a:rPr lang="en-US" sz="2099">
                <a:solidFill>
                  <a:srgbClr val="000000"/>
                </a:solidFill>
                <a:latin typeface="Raleway"/>
                <a:ea typeface="Raleway"/>
                <a:cs typeface="Raleway"/>
                <a:sym typeface="Raleway"/>
              </a:rPr>
              <a:t> This algorithm is very easy to train and allows you to quickly evaluate initial performance without the need for complex tuning.</a:t>
            </a:r>
          </a:p>
          <a:p>
            <a:pPr algn="l">
              <a:lnSpc>
                <a:spcPts val="2519"/>
              </a:lnSpc>
            </a:pPr>
          </a:p>
          <a:p>
            <a:pPr algn="l" marL="453387" indent="-226693" lvl="1">
              <a:lnSpc>
                <a:spcPts val="2519"/>
              </a:lnSpc>
              <a:buFont typeface="Arial"/>
              <a:buChar char="•"/>
            </a:pPr>
            <a:r>
              <a:rPr lang="en-US" b="true" sz="2099">
                <a:solidFill>
                  <a:srgbClr val="000000"/>
                </a:solidFill>
                <a:latin typeface="Raleway Bold"/>
                <a:ea typeface="Raleway Bold"/>
                <a:cs typeface="Raleway Bold"/>
                <a:sym typeface="Raleway Bold"/>
              </a:rPr>
              <a:t>Ideal for Simple Linear Trends:</a:t>
            </a:r>
            <a:r>
              <a:rPr lang="en-US" sz="2099">
                <a:solidFill>
                  <a:srgbClr val="000000"/>
                </a:solidFill>
                <a:latin typeface="Raleway"/>
                <a:ea typeface="Raleway"/>
                <a:cs typeface="Raleway"/>
                <a:sym typeface="Raleway"/>
              </a:rPr>
              <a:t> Works best when the relationship between features (such as test scores or experience) and selection outcomes is linear. For example, the higher the interview score, the greater the probability of a candidate being hired.</a:t>
            </a:r>
          </a:p>
          <a:p>
            <a:pPr algn="l">
              <a:lnSpc>
                <a:spcPts val="2519"/>
              </a:lnSpc>
            </a:pPr>
          </a:p>
          <a:p>
            <a:pPr algn="l" marL="453387" indent="-226693" lvl="1">
              <a:lnSpc>
                <a:spcPts val="2519"/>
              </a:lnSpc>
              <a:buFont typeface="Arial"/>
              <a:buChar char="•"/>
            </a:pPr>
            <a:r>
              <a:rPr lang="en-US" b="true" sz="2099">
                <a:solidFill>
                  <a:srgbClr val="000000"/>
                </a:solidFill>
                <a:latin typeface="Raleway Bold"/>
                <a:ea typeface="Raleway Bold"/>
                <a:cs typeface="Raleway Bold"/>
                <a:sym typeface="Raleway Bold"/>
              </a:rPr>
              <a:t>Stable and Consistent:</a:t>
            </a:r>
            <a:r>
              <a:rPr lang="en-US" sz="2099">
                <a:solidFill>
                  <a:srgbClr val="000000"/>
                </a:solidFill>
                <a:latin typeface="Raleway"/>
                <a:ea typeface="Raleway"/>
                <a:cs typeface="Raleway"/>
                <a:sym typeface="Raleway"/>
              </a:rPr>
              <a:t> Its predictions are not easily affected by small changes in the data, making it a fair benchmark for complex models like XGBoost.</a:t>
            </a:r>
          </a:p>
          <a:p>
            <a:pPr algn="l">
              <a:lnSpc>
                <a:spcPts val="2519"/>
              </a:lnSpc>
            </a:pPr>
          </a:p>
          <a:p>
            <a:pPr algn="l" marL="453387" indent="-226693" lvl="1">
              <a:lnSpc>
                <a:spcPts val="2519"/>
              </a:lnSpc>
              <a:buFont typeface="Arial"/>
              <a:buChar char="•"/>
            </a:pPr>
            <a:r>
              <a:rPr lang="en-US" b="true" sz="2099">
                <a:solidFill>
                  <a:srgbClr val="000000"/>
                </a:solidFill>
                <a:latin typeface="Raleway Bold"/>
                <a:ea typeface="Raleway Bold"/>
                <a:cs typeface="Raleway Bold"/>
                <a:sym typeface="Raleway Bold"/>
              </a:rPr>
              <a:t>Flexible with Imbalanced Data:</a:t>
            </a:r>
            <a:r>
              <a:rPr lang="en-US" sz="2099">
                <a:solidFill>
                  <a:srgbClr val="000000"/>
                </a:solidFill>
                <a:latin typeface="Raleway"/>
                <a:ea typeface="Raleway"/>
                <a:cs typeface="Raleway"/>
                <a:sym typeface="Raleway"/>
              </a:rPr>
              <a:t> Easily configurable to handle imbalanced datasets, a very common condition in real-world recruitment scenarios.</a:t>
            </a:r>
          </a:p>
        </p:txBody>
      </p:sp>
      <p:sp>
        <p:nvSpPr>
          <p:cNvPr name="TextBox 14" id="14"/>
          <p:cNvSpPr txBox="true"/>
          <p:nvPr/>
        </p:nvSpPr>
        <p:spPr>
          <a:xfrm rot="0">
            <a:off x="1028700" y="895350"/>
            <a:ext cx="6737768" cy="1062670"/>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Ba</a:t>
            </a:r>
            <a:r>
              <a:rPr lang="en-US" sz="6159">
                <a:solidFill>
                  <a:srgbClr val="18102B"/>
                </a:solidFill>
                <a:latin typeface="Raleway"/>
                <a:ea typeface="Raleway"/>
                <a:cs typeface="Raleway"/>
                <a:sym typeface="Raleway"/>
              </a:rPr>
              <a:t>seline Model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aphicFrame>
        <p:nvGraphicFramePr>
          <p:cNvPr name="Table 3" id="3"/>
          <p:cNvGraphicFramePr>
            <a:graphicFrameLocks noGrp="true"/>
          </p:cNvGraphicFramePr>
          <p:nvPr/>
        </p:nvGraphicFramePr>
        <p:xfrm>
          <a:off x="2228338" y="2400086"/>
          <a:ext cx="13831324" cy="6867739"/>
        </p:xfrm>
        <a:graphic>
          <a:graphicData uri="http://schemas.openxmlformats.org/drawingml/2006/table">
            <a:tbl>
              <a:tblPr/>
              <a:tblGrid>
                <a:gridCol w="2257352"/>
                <a:gridCol w="2257352"/>
                <a:gridCol w="2257352"/>
                <a:gridCol w="2257352"/>
                <a:gridCol w="2400958"/>
                <a:gridCol w="2400958"/>
              </a:tblGrid>
              <a:tr h="542190">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Model</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Ac</a:t>
                      </a:r>
                      <a:r>
                        <a:rPr lang="en-US" sz="1648" b="true">
                          <a:solidFill>
                            <a:srgbClr val="000000"/>
                          </a:solidFill>
                          <a:latin typeface="Raleway Bold"/>
                          <a:ea typeface="Raleway Bold"/>
                          <a:cs typeface="Raleway Bold"/>
                          <a:sym typeface="Raleway Bold"/>
                        </a:rPr>
                        <a:t>curacy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Precision</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Recall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F1-Score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ROC-AUC</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38100">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r>
              <a:tr h="731952">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Random Forest</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0.898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0.843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0.791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0.816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0.910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r>
              <a:tr h="653645">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Gap(%)</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10.222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15.702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20.930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18.400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8.969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694800">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0.882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0.797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0.791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0.794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0.899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r>
              <a:tr h="690796">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Gap(%)</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11.778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20.312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20.930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20.623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10.131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42190">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Logistic Regression</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0.862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0.853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0.628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0.723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0.886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r>
              <a:tr h="542190">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Gap(%)</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4.114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5.073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27.545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18.015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6.914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657649">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Decision Tree</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0.809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0.635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0.783</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0.701</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0.801</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ysDash"/>
                      <a:round/>
                      <a:headEnd type="none" w="med" len="med"/>
                      <a:tailEnd type="none" w="med" len="med"/>
                    </a:lnB>
                    <a:solidFill>
                      <a:srgbClr val="F8FAFC"/>
                    </a:solidFill>
                  </a:tcPr>
                </a:tc>
              </a:tr>
              <a:tr h="727948">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Gap(%)</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19.111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36.478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21.705</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29.861</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19.887</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42190">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K-Neighbors</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0.381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0.558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0.453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0.625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ysDash"/>
                      <a:round/>
                      <a:headEnd type="none" w="med" len="med"/>
                      <a:tailEnd type="none" w="med" len="med"/>
                    </a:lnB>
                    <a:solidFill>
                      <a:srgbClr val="F8FAFC"/>
                    </a:solidFill>
                  </a:tcPr>
                </a:tc>
              </a:tr>
              <a:tr h="542190">
                <a:tc>
                  <a:txBody>
                    <a:bodyPr anchor="t" rtlCol="false"/>
                    <a:lstStyle/>
                    <a:p>
                      <a:pPr algn="r">
                        <a:lnSpc>
                          <a:spcPts val="2308"/>
                        </a:lnSpc>
                        <a:defRPr/>
                      </a:pPr>
                      <a:r>
                        <a:rPr lang="en-US" sz="1648" b="true">
                          <a:solidFill>
                            <a:srgbClr val="000000"/>
                          </a:solidFill>
                          <a:latin typeface="Raleway Bold"/>
                          <a:ea typeface="Raleway Bold"/>
                          <a:cs typeface="Raleway Bold"/>
                          <a:sym typeface="Raleway Bold"/>
                        </a:rPr>
                        <a:t>Gap(%)</a:t>
                      </a:r>
                      <a:endParaRPr lang="en-US" sz="1100"/>
                    </a:p>
                  </a:txBody>
                  <a:tcPr marL="76200" marR="76200" marT="76200" marB="76200" anchor="ctr">
                    <a:lnL cmpd="sng" algn="ctr" cap="flat" w="38100">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19.549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38.894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32.281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36.885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28.845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38100">
                      <a:solidFill>
                        <a:srgbClr val="365B6D"/>
                      </a:solidFill>
                      <a:prstDash val="solid"/>
                      <a:round/>
                      <a:headEnd type="none" w="med" len="med"/>
                      <a:tailEnd type="none" w="med" len="med"/>
                    </a:lnR>
                    <a:lnT cmpd="sng" algn="ctr" cap="flat" w="28575">
                      <a:solidFill>
                        <a:srgbClr val="000000"/>
                      </a:solidFill>
                      <a:prstDash val="sysDash"/>
                      <a:round/>
                      <a:headEnd type="none" w="med" len="med"/>
                      <a:tailEnd type="none" w="med" len="med"/>
                    </a:lnT>
                    <a:lnB cmpd="sng" algn="ctr" cap="flat" w="38100">
                      <a:solidFill>
                        <a:srgbClr val="365B6D"/>
                      </a:solidFill>
                      <a:prstDash val="solid"/>
                      <a:round/>
                      <a:headEnd type="none" w="med" len="med"/>
                      <a:tailEnd type="none" w="med" len="med"/>
                    </a:lnB>
                    <a:solidFill>
                      <a:srgbClr val="F8FAFC"/>
                    </a:solidFill>
                  </a:tcPr>
                </a:tc>
              </a:tr>
            </a:tbl>
          </a:graphicData>
        </a:graphic>
      </p:graphicFrame>
      <p:sp>
        <p:nvSpPr>
          <p:cNvPr name="TextBox 4" id="4"/>
          <p:cNvSpPr txBox="true"/>
          <p:nvPr/>
        </p:nvSpPr>
        <p:spPr>
          <a:xfrm rot="0">
            <a:off x="1028700" y="895350"/>
            <a:ext cx="6737768"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Model Experiment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aphicFrame>
        <p:nvGraphicFramePr>
          <p:cNvPr name="Table 3" id="3"/>
          <p:cNvGraphicFramePr>
            <a:graphicFrameLocks noGrp="true"/>
          </p:cNvGraphicFramePr>
          <p:nvPr/>
        </p:nvGraphicFramePr>
        <p:xfrm>
          <a:off x="1028700" y="2371809"/>
          <a:ext cx="16404609" cy="3114675"/>
        </p:xfrm>
        <a:graphic>
          <a:graphicData uri="http://schemas.openxmlformats.org/drawingml/2006/table">
            <a:tbl>
              <a:tblPr/>
              <a:tblGrid>
                <a:gridCol w="2677327"/>
                <a:gridCol w="2677327"/>
                <a:gridCol w="2677327"/>
                <a:gridCol w="2677327"/>
                <a:gridCol w="2847650"/>
                <a:gridCol w="2847650"/>
              </a:tblGrid>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Model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Accu</a:t>
                      </a:r>
                      <a:r>
                        <a:rPr lang="en-US" sz="1648" b="true">
                          <a:solidFill>
                            <a:srgbClr val="000000"/>
                          </a:solidFill>
                          <a:latin typeface="Raleway Bold"/>
                          <a:ea typeface="Raleway Bold"/>
                          <a:cs typeface="Raleway Bold"/>
                          <a:sym typeface="Raleway Bold"/>
                        </a:rPr>
                        <a:t>racy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Pr</a:t>
                      </a:r>
                      <a:r>
                        <a:rPr lang="en-US" sz="1648" b="true">
                          <a:solidFill>
                            <a:srgbClr val="000000"/>
                          </a:solidFill>
                          <a:latin typeface="Raleway Bold"/>
                          <a:ea typeface="Raleway Bold"/>
                          <a:cs typeface="Raleway Bold"/>
                          <a:sym typeface="Raleway Bold"/>
                        </a:rPr>
                        <a:t>ecision</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a:t>
                      </a:r>
                      <a:r>
                        <a:rPr lang="en-US" sz="1648" b="true">
                          <a:solidFill>
                            <a:srgbClr val="000000"/>
                          </a:solidFill>
                          <a:latin typeface="Raleway Bold"/>
                          <a:ea typeface="Raleway Bold"/>
                          <a:cs typeface="Raleway Bold"/>
                          <a:sym typeface="Raleway Bold"/>
                        </a:rPr>
                        <a:t>ecall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F1-Score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ROC-AUC</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r>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0.857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0.837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0.847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Random Forest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0.873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0.765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0.806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0.785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0.894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Decision Tree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0.864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0.739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0.814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0.775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0.889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Logistic Regression</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0.778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0.574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0.868</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0.691</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0.881</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K-Neighbors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0.636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0.407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0.597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0.484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0.653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bl>
          </a:graphicData>
        </a:graphic>
      </p:graphicFrame>
      <p:grpSp>
        <p:nvGrpSpPr>
          <p:cNvPr name="Group 4" id="4"/>
          <p:cNvGrpSpPr/>
          <p:nvPr/>
        </p:nvGrpSpPr>
        <p:grpSpPr>
          <a:xfrm rot="0">
            <a:off x="1028700" y="5896059"/>
            <a:ext cx="16404609" cy="3167045"/>
            <a:chOff x="0" y="0"/>
            <a:chExt cx="4472710" cy="863494"/>
          </a:xfrm>
        </p:grpSpPr>
        <p:sp>
          <p:nvSpPr>
            <p:cNvPr name="Freeform 5" id="5"/>
            <p:cNvSpPr/>
            <p:nvPr/>
          </p:nvSpPr>
          <p:spPr>
            <a:xfrm flipH="false" flipV="false" rot="0">
              <a:off x="0" y="0"/>
              <a:ext cx="4472710" cy="863494"/>
            </a:xfrm>
            <a:custGeom>
              <a:avLst/>
              <a:gdLst/>
              <a:ahLst/>
              <a:cxnLst/>
              <a:rect r="r" b="b" t="t" l="l"/>
              <a:pathLst>
                <a:path h="863494" w="4472710">
                  <a:moveTo>
                    <a:pt x="23597" y="0"/>
                  </a:moveTo>
                  <a:lnTo>
                    <a:pt x="4449113" y="0"/>
                  </a:lnTo>
                  <a:cubicBezTo>
                    <a:pt x="4455371" y="0"/>
                    <a:pt x="4461373" y="2486"/>
                    <a:pt x="4465799" y="6911"/>
                  </a:cubicBezTo>
                  <a:cubicBezTo>
                    <a:pt x="4470224" y="11337"/>
                    <a:pt x="4472710" y="17339"/>
                    <a:pt x="4472710" y="23597"/>
                  </a:cubicBezTo>
                  <a:lnTo>
                    <a:pt x="4472710" y="839897"/>
                  </a:lnTo>
                  <a:cubicBezTo>
                    <a:pt x="4472710" y="852929"/>
                    <a:pt x="4462145" y="863494"/>
                    <a:pt x="4449113" y="863494"/>
                  </a:cubicBezTo>
                  <a:lnTo>
                    <a:pt x="23597" y="863494"/>
                  </a:lnTo>
                  <a:cubicBezTo>
                    <a:pt x="10565" y="863494"/>
                    <a:pt x="0" y="852929"/>
                    <a:pt x="0" y="839897"/>
                  </a:cubicBezTo>
                  <a:lnTo>
                    <a:pt x="0" y="23597"/>
                  </a:lnTo>
                  <a:cubicBezTo>
                    <a:pt x="0" y="10565"/>
                    <a:pt x="10565" y="0"/>
                    <a:pt x="23597" y="0"/>
                  </a:cubicBezTo>
                  <a:close/>
                </a:path>
              </a:pathLst>
            </a:custGeom>
            <a:solidFill>
              <a:srgbClr val="F8FAFC"/>
            </a:solidFill>
            <a:ln w="38100" cap="rnd">
              <a:solidFill>
                <a:srgbClr val="7E8C92"/>
              </a:solidFill>
              <a:prstDash val="solid"/>
              <a:round/>
            </a:ln>
          </p:spPr>
        </p:sp>
        <p:sp>
          <p:nvSpPr>
            <p:cNvPr name="TextBox 6" id="6"/>
            <p:cNvSpPr txBox="true"/>
            <p:nvPr/>
          </p:nvSpPr>
          <p:spPr>
            <a:xfrm>
              <a:off x="0" y="-19050"/>
              <a:ext cx="4472710" cy="882544"/>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Raleway"/>
                  <a:ea typeface="Raleway"/>
                  <a:cs typeface="Raleway"/>
                  <a:sym typeface="Raleway"/>
                </a:rPr>
                <a:t>Hyperparameter tuning was performed us</a:t>
              </a:r>
              <a:r>
                <a:rPr lang="en-US" sz="2100" spc="8">
                  <a:solidFill>
                    <a:srgbClr val="000000"/>
                  </a:solidFill>
                  <a:latin typeface="Raleway"/>
                  <a:ea typeface="Raleway"/>
                  <a:cs typeface="Raleway"/>
                  <a:sym typeface="Raleway"/>
                </a:rPr>
                <a:t>ing the RandomSearchCV method with cross-validation 5. </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For complex algorithms like XGBoost or Random Forest was time-consuming.</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Bayesian methods produce sub-optimal results.</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RandomizedSearchCV is easier to implement and debug if errors occur.</a:t>
              </a:r>
            </a:p>
          </p:txBody>
        </p:sp>
      </p:grpSp>
      <p:sp>
        <p:nvSpPr>
          <p:cNvPr name="TextBox 7" id="7"/>
          <p:cNvSpPr txBox="true"/>
          <p:nvPr/>
        </p:nvSpPr>
        <p:spPr>
          <a:xfrm rot="0">
            <a:off x="1028700" y="895350"/>
            <a:ext cx="8632752"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Hyp</a:t>
            </a:r>
            <a:r>
              <a:rPr lang="en-US" sz="6159">
                <a:solidFill>
                  <a:srgbClr val="18102B"/>
                </a:solidFill>
                <a:latin typeface="Raleway"/>
                <a:ea typeface="Raleway"/>
                <a:cs typeface="Raleway"/>
                <a:sym typeface="Raleway"/>
              </a:rPr>
              <a:t>erparameter Tuning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aphicFrame>
        <p:nvGraphicFramePr>
          <p:cNvPr name="Table 3" id="3"/>
          <p:cNvGraphicFramePr>
            <a:graphicFrameLocks noGrp="true"/>
          </p:cNvGraphicFramePr>
          <p:nvPr/>
        </p:nvGraphicFramePr>
        <p:xfrm>
          <a:off x="1038225" y="2629016"/>
          <a:ext cx="16404609" cy="1571625"/>
        </p:xfrm>
        <a:graphic>
          <a:graphicData uri="http://schemas.openxmlformats.org/drawingml/2006/table">
            <a:tbl>
              <a:tblPr/>
              <a:tblGrid>
                <a:gridCol w="2677327"/>
                <a:gridCol w="2677327"/>
                <a:gridCol w="2677327"/>
                <a:gridCol w="2677327"/>
                <a:gridCol w="2847650"/>
                <a:gridCol w="2847650"/>
              </a:tblGrid>
              <a:tr h="523875">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Model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Ac</a:t>
                      </a:r>
                      <a:r>
                        <a:rPr lang="en-US" sz="1648" b="true">
                          <a:solidFill>
                            <a:srgbClr val="000000"/>
                          </a:solidFill>
                          <a:latin typeface="Raleway Bold"/>
                          <a:ea typeface="Raleway Bold"/>
                          <a:cs typeface="Raleway Bold"/>
                          <a:sym typeface="Raleway Bold"/>
                        </a:rPr>
                        <a:t>curacy Gap(%)</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Precision Gap(%)</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Recall Gap(%)</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ROC-AUC Gap(%)</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F1-Score  Gap(%)</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r>
              <a:tr h="523875">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6.286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12.857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12.918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7.835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12.890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23875">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Random Forest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4.754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16.643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10.276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7.106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13.501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bl>
          </a:graphicData>
        </a:graphic>
      </p:graphicFrame>
      <p:grpSp>
        <p:nvGrpSpPr>
          <p:cNvPr name="Group 4" id="4"/>
          <p:cNvGrpSpPr/>
          <p:nvPr/>
        </p:nvGrpSpPr>
        <p:grpSpPr>
          <a:xfrm rot="0">
            <a:off x="1038225" y="4867391"/>
            <a:ext cx="16404609" cy="3436904"/>
            <a:chOff x="0" y="0"/>
            <a:chExt cx="4472710" cy="937070"/>
          </a:xfrm>
        </p:grpSpPr>
        <p:sp>
          <p:nvSpPr>
            <p:cNvPr name="Freeform 5" id="5"/>
            <p:cNvSpPr/>
            <p:nvPr/>
          </p:nvSpPr>
          <p:spPr>
            <a:xfrm flipH="false" flipV="false" rot="0">
              <a:off x="0" y="0"/>
              <a:ext cx="4472710" cy="937070"/>
            </a:xfrm>
            <a:custGeom>
              <a:avLst/>
              <a:gdLst/>
              <a:ahLst/>
              <a:cxnLst/>
              <a:rect r="r" b="b" t="t" l="l"/>
              <a:pathLst>
                <a:path h="937070" w="4472710">
                  <a:moveTo>
                    <a:pt x="23597" y="0"/>
                  </a:moveTo>
                  <a:lnTo>
                    <a:pt x="4449113" y="0"/>
                  </a:lnTo>
                  <a:cubicBezTo>
                    <a:pt x="4455371" y="0"/>
                    <a:pt x="4461373" y="2486"/>
                    <a:pt x="4465799" y="6911"/>
                  </a:cubicBezTo>
                  <a:cubicBezTo>
                    <a:pt x="4470224" y="11337"/>
                    <a:pt x="4472710" y="17339"/>
                    <a:pt x="4472710" y="23597"/>
                  </a:cubicBezTo>
                  <a:lnTo>
                    <a:pt x="4472710" y="913474"/>
                  </a:lnTo>
                  <a:cubicBezTo>
                    <a:pt x="4472710" y="926506"/>
                    <a:pt x="4462145" y="937070"/>
                    <a:pt x="4449113" y="937070"/>
                  </a:cubicBezTo>
                  <a:lnTo>
                    <a:pt x="23597" y="937070"/>
                  </a:lnTo>
                  <a:cubicBezTo>
                    <a:pt x="10565" y="937070"/>
                    <a:pt x="0" y="926506"/>
                    <a:pt x="0" y="913474"/>
                  </a:cubicBezTo>
                  <a:lnTo>
                    <a:pt x="0" y="23597"/>
                  </a:lnTo>
                  <a:cubicBezTo>
                    <a:pt x="0" y="10565"/>
                    <a:pt x="10565" y="0"/>
                    <a:pt x="23597" y="0"/>
                  </a:cubicBezTo>
                  <a:close/>
                </a:path>
              </a:pathLst>
            </a:custGeom>
            <a:solidFill>
              <a:srgbClr val="F8FAFC"/>
            </a:solidFill>
          </p:spPr>
        </p:sp>
        <p:sp>
          <p:nvSpPr>
            <p:cNvPr name="TextBox 6" id="6"/>
            <p:cNvSpPr txBox="true"/>
            <p:nvPr/>
          </p:nvSpPr>
          <p:spPr>
            <a:xfrm>
              <a:off x="0" y="-19050"/>
              <a:ext cx="4472710" cy="956120"/>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Raleway"/>
                  <a:ea typeface="Raleway"/>
                  <a:cs typeface="Raleway"/>
                  <a:sym typeface="Raleway"/>
                </a:rPr>
                <a:t>Random Forest has the smallest Accuracy Gap (4.75%). However, XGBoost remains highly competitive with a stable gap across the board, including a solid ROC-AUC Gap of (7.83%), whi</a:t>
              </a:r>
              <a:r>
                <a:rPr lang="en-US" sz="2100" spc="8">
                  <a:solidFill>
                    <a:srgbClr val="000000"/>
                  </a:solidFill>
                  <a:latin typeface="Raleway"/>
                  <a:ea typeface="Raleway"/>
                  <a:cs typeface="Raleway"/>
                  <a:sym typeface="Raleway"/>
                </a:rPr>
                <a:t>ch ensures the model's performance on real-world hiring data will be predictable and measurable.</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Most gap metrics for both models are now within an acceptable and safer range (10% - 14%). This consistency shows that the model has successfully learned general patterns from the dataset of 1,500 candidates.</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Overall, XGBoost is the preferred choice because it maintains the best balance between high predictive power and a stable gap, particularly in ROC-AUC, making it the most reliable model for the Hiresights recruitment system.</a:t>
              </a:r>
            </a:p>
          </p:txBody>
        </p:sp>
      </p:grpSp>
      <p:sp>
        <p:nvSpPr>
          <p:cNvPr name="TextBox 7" id="7"/>
          <p:cNvSpPr txBox="true"/>
          <p:nvPr/>
        </p:nvSpPr>
        <p:spPr>
          <a:xfrm rot="0">
            <a:off x="1038225" y="895350"/>
            <a:ext cx="11682773" cy="1062670"/>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Hyp</a:t>
            </a:r>
            <a:r>
              <a:rPr lang="en-US" sz="6159">
                <a:solidFill>
                  <a:srgbClr val="18102B"/>
                </a:solidFill>
                <a:latin typeface="Raleway"/>
                <a:ea typeface="Raleway"/>
                <a:cs typeface="Raleway"/>
                <a:sym typeface="Raleway"/>
              </a:rPr>
              <a:t>erparameter Tuning (Gap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aphicFrame>
        <p:nvGraphicFramePr>
          <p:cNvPr name="Table 3" id="3"/>
          <p:cNvGraphicFramePr>
            <a:graphicFrameLocks noGrp="true"/>
          </p:cNvGraphicFramePr>
          <p:nvPr/>
        </p:nvGraphicFramePr>
        <p:xfrm>
          <a:off x="1038225" y="2106058"/>
          <a:ext cx="16404609" cy="2085975"/>
        </p:xfrm>
        <a:graphic>
          <a:graphicData uri="http://schemas.openxmlformats.org/drawingml/2006/table">
            <a:tbl>
              <a:tblPr/>
              <a:tblGrid>
                <a:gridCol w="2301680"/>
                <a:gridCol w="2301680"/>
                <a:gridCol w="2301680"/>
                <a:gridCol w="2301680"/>
                <a:gridCol w="2301680"/>
                <a:gridCol w="2448105"/>
                <a:gridCol w="2448105"/>
              </a:tblGrid>
              <a:tr h="521494">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Model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Ac</a:t>
                      </a:r>
                      <a:r>
                        <a:rPr lang="en-US" sz="1648" b="true">
                          <a:solidFill>
                            <a:srgbClr val="000000"/>
                          </a:solidFill>
                          <a:latin typeface="Raleway Bold"/>
                          <a:ea typeface="Raleway Bold"/>
                          <a:cs typeface="Raleway Bold"/>
                          <a:sym typeface="Raleway Bold"/>
                        </a:rPr>
                        <a:t>curacy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Precision</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Recall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F1-Score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Dataset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ROC-AUC</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r>
              <a:tr h="521494">
                <a:tc rowSpan="3">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0.976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0.986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0.966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0.976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Train</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0.991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21494">
                <a:tc vMerge="true">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0.857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0.837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0.847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Test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0.913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r>
              <a:tr h="521494">
                <a:tc vMerge="true">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XGBoost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6.286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12.857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12.918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12.890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Gap (%)</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7.835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9EDEE"/>
                    </a:solidFill>
                  </a:tcPr>
                </a:tc>
              </a:tr>
            </a:tbl>
          </a:graphicData>
        </a:graphic>
      </p:graphicFrame>
      <p:grpSp>
        <p:nvGrpSpPr>
          <p:cNvPr name="Group 4" id="4"/>
          <p:cNvGrpSpPr/>
          <p:nvPr/>
        </p:nvGrpSpPr>
        <p:grpSpPr>
          <a:xfrm rot="0">
            <a:off x="1038225" y="4344433"/>
            <a:ext cx="16404609" cy="2087216"/>
            <a:chOff x="0" y="0"/>
            <a:chExt cx="4472710" cy="569079"/>
          </a:xfrm>
        </p:grpSpPr>
        <p:sp>
          <p:nvSpPr>
            <p:cNvPr name="Freeform 5" id="5"/>
            <p:cNvSpPr/>
            <p:nvPr/>
          </p:nvSpPr>
          <p:spPr>
            <a:xfrm flipH="false" flipV="false" rot="0">
              <a:off x="0" y="0"/>
              <a:ext cx="4472710" cy="569079"/>
            </a:xfrm>
            <a:custGeom>
              <a:avLst/>
              <a:gdLst/>
              <a:ahLst/>
              <a:cxnLst/>
              <a:rect r="r" b="b" t="t" l="l"/>
              <a:pathLst>
                <a:path h="569079" w="4472710">
                  <a:moveTo>
                    <a:pt x="23597" y="0"/>
                  </a:moveTo>
                  <a:lnTo>
                    <a:pt x="4449113" y="0"/>
                  </a:lnTo>
                  <a:cubicBezTo>
                    <a:pt x="4455371" y="0"/>
                    <a:pt x="4461373" y="2486"/>
                    <a:pt x="4465799" y="6911"/>
                  </a:cubicBezTo>
                  <a:cubicBezTo>
                    <a:pt x="4470224" y="11337"/>
                    <a:pt x="4472710" y="17339"/>
                    <a:pt x="4472710" y="23597"/>
                  </a:cubicBezTo>
                  <a:lnTo>
                    <a:pt x="4472710" y="545482"/>
                  </a:lnTo>
                  <a:cubicBezTo>
                    <a:pt x="4472710" y="558514"/>
                    <a:pt x="4462145" y="569079"/>
                    <a:pt x="4449113" y="569079"/>
                  </a:cubicBezTo>
                  <a:lnTo>
                    <a:pt x="23597" y="569079"/>
                  </a:lnTo>
                  <a:cubicBezTo>
                    <a:pt x="10565" y="569079"/>
                    <a:pt x="0" y="558514"/>
                    <a:pt x="0" y="545482"/>
                  </a:cubicBezTo>
                  <a:lnTo>
                    <a:pt x="0" y="23597"/>
                  </a:lnTo>
                  <a:cubicBezTo>
                    <a:pt x="0" y="10565"/>
                    <a:pt x="10565" y="0"/>
                    <a:pt x="23597" y="0"/>
                  </a:cubicBezTo>
                  <a:close/>
                </a:path>
              </a:pathLst>
            </a:custGeom>
            <a:solidFill>
              <a:srgbClr val="A1C7CE"/>
            </a:solidFill>
          </p:spPr>
        </p:sp>
        <p:sp>
          <p:nvSpPr>
            <p:cNvPr name="TextBox 6" id="6"/>
            <p:cNvSpPr txBox="true"/>
            <p:nvPr/>
          </p:nvSpPr>
          <p:spPr>
            <a:xfrm>
              <a:off x="0" y="-19050"/>
              <a:ext cx="4472710" cy="588129"/>
            </a:xfrm>
            <a:prstGeom prst="rect">
              <a:avLst/>
            </a:prstGeom>
          </p:spPr>
          <p:txBody>
            <a:bodyPr anchor="ctr" rtlCol="false" tIns="49361" lIns="49361" bIns="49361" rIns="49361"/>
            <a:lstStyle/>
            <a:p>
              <a:pPr algn="l">
                <a:lnSpc>
                  <a:spcPts val="2520"/>
                </a:lnSpc>
              </a:pPr>
            </a:p>
          </p:txBody>
        </p:sp>
      </p:grpSp>
      <p:graphicFrame>
        <p:nvGraphicFramePr>
          <p:cNvPr name="Table 7" id="7"/>
          <p:cNvGraphicFramePr>
            <a:graphicFrameLocks noGrp="true"/>
          </p:cNvGraphicFramePr>
          <p:nvPr/>
        </p:nvGraphicFramePr>
        <p:xfrm>
          <a:off x="8265732" y="6696345"/>
          <a:ext cx="4407485" cy="3114675"/>
        </p:xfrm>
        <a:graphic>
          <a:graphicData uri="http://schemas.openxmlformats.org/drawingml/2006/table">
            <a:tbl>
              <a:tblPr/>
              <a:tblGrid>
                <a:gridCol w="2536108"/>
                <a:gridCol w="1871377"/>
              </a:tblGrid>
              <a:tr h="519112">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Val</a:t>
                      </a:r>
                      <a:r>
                        <a:rPr lang="en-US" sz="1648" b="true">
                          <a:solidFill>
                            <a:srgbClr val="000000"/>
                          </a:solidFill>
                          <a:latin typeface="Raleway Bold"/>
                          <a:ea typeface="Raleway Bold"/>
                          <a:cs typeface="Raleway Bold"/>
                          <a:sym typeface="Raleway Bold"/>
                        </a:rPr>
                        <a:t>ue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Best Hyperparameter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A1C7CE"/>
                    </a:solidFill>
                  </a:tcPr>
                </a:tc>
              </a:tr>
              <a:tr h="519112">
                <a:tc>
                  <a:txBody>
                    <a:bodyPr anchor="t" rtlCol="false"/>
                    <a:lstStyle/>
                    <a:p>
                      <a:pPr algn="ctr">
                        <a:lnSpc>
                          <a:spcPts val="2308"/>
                        </a:lnSpc>
                        <a:defRPr/>
                      </a:pPr>
                      <a:r>
                        <a:rPr lang="en-US" sz="1648">
                          <a:solidFill>
                            <a:srgbClr val="000000"/>
                          </a:solidFill>
                          <a:latin typeface="Raleway"/>
                          <a:ea typeface="Raleway"/>
                          <a:cs typeface="Raleway"/>
                          <a:sym typeface="Raleway"/>
                        </a:rPr>
                        <a:t>50.0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reg_lambda</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9112">
                <a:tc>
                  <a:txBody>
                    <a:bodyPr anchor="t" rtlCol="false"/>
                    <a:lstStyle/>
                    <a:p>
                      <a:pPr algn="ctr">
                        <a:lnSpc>
                          <a:spcPts val="2308"/>
                        </a:lnSpc>
                        <a:defRPr/>
                      </a:pPr>
                      <a:r>
                        <a:rPr lang="en-US" sz="1648">
                          <a:solidFill>
                            <a:srgbClr val="000000"/>
                          </a:solidFill>
                          <a:latin typeface="Raleway"/>
                          <a:ea typeface="Raleway"/>
                          <a:cs typeface="Raleway"/>
                          <a:sym typeface="Raleway"/>
                        </a:rPr>
                        <a:t>300.0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n_estimators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9112">
                <a:tc>
                  <a:txBody>
                    <a:bodyPr anchor="t" rtlCol="false"/>
                    <a:lstStyle/>
                    <a:p>
                      <a:pPr algn="ctr">
                        <a:lnSpc>
                          <a:spcPts val="2308"/>
                        </a:lnSpc>
                        <a:defRPr/>
                      </a:pPr>
                      <a:r>
                        <a:rPr lang="en-US" sz="1648">
                          <a:solidFill>
                            <a:srgbClr val="000000"/>
                          </a:solidFill>
                          <a:latin typeface="Raleway"/>
                          <a:ea typeface="Raleway"/>
                          <a:cs typeface="Raleway"/>
                          <a:sym typeface="Raleway"/>
                        </a:rPr>
                        <a:t>6.0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max_depth</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9112">
                <a:tc>
                  <a:txBody>
                    <a:bodyPr anchor="t" rtlCol="false"/>
                    <a:lstStyle/>
                    <a:p>
                      <a:pPr algn="ctr">
                        <a:lnSpc>
                          <a:spcPts val="2308"/>
                        </a:lnSpc>
                        <a:defRPr/>
                      </a:pPr>
                      <a:r>
                        <a:rPr lang="en-US" sz="1648">
                          <a:solidFill>
                            <a:srgbClr val="000000"/>
                          </a:solidFill>
                          <a:latin typeface="Raleway"/>
                          <a:ea typeface="Raleway"/>
                          <a:cs typeface="Raleway"/>
                          <a:sym typeface="Raleway"/>
                        </a:rPr>
                        <a:t>0.1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learning_rate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9112">
                <a:tc>
                  <a:txBody>
                    <a:bodyPr anchor="t" rtlCol="false"/>
                    <a:lstStyle/>
                    <a:p>
                      <a:pPr algn="ctr">
                        <a:lnSpc>
                          <a:spcPts val="2308"/>
                        </a:lnSpc>
                        <a:defRPr/>
                      </a:pPr>
                      <a:r>
                        <a:rPr lang="en-US" sz="1648">
                          <a:solidFill>
                            <a:srgbClr val="000000"/>
                          </a:solidFill>
                          <a:latin typeface="Raleway"/>
                          <a:ea typeface="Raleway"/>
                          <a:cs typeface="Raleway"/>
                          <a:sym typeface="Raleway"/>
                        </a:rPr>
                        <a:t>0.2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gamma</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bl>
          </a:graphicData>
        </a:graphic>
      </p:graphicFrame>
      <p:sp>
        <p:nvSpPr>
          <p:cNvPr name="TextBox 8" id="8"/>
          <p:cNvSpPr txBox="true"/>
          <p:nvPr/>
        </p:nvSpPr>
        <p:spPr>
          <a:xfrm rot="0">
            <a:off x="1260501" y="4638324"/>
            <a:ext cx="15998799" cy="1590840"/>
          </a:xfrm>
          <a:prstGeom prst="rect">
            <a:avLst/>
          </a:prstGeom>
        </p:spPr>
        <p:txBody>
          <a:bodyPr anchor="t" rtlCol="false" tIns="0" lIns="0" bIns="0" rIns="0">
            <a:spAutoFit/>
          </a:bodyPr>
          <a:lstStyle/>
          <a:p>
            <a:pPr algn="l" marL="453387" indent="-226693" lvl="1">
              <a:lnSpc>
                <a:spcPts val="2519"/>
              </a:lnSpc>
              <a:buFont typeface="Arial"/>
              <a:buChar char="•"/>
            </a:pPr>
            <a:r>
              <a:rPr lang="en-US" sz="2099">
                <a:solidFill>
                  <a:srgbClr val="000000"/>
                </a:solidFill>
                <a:latin typeface="Raleway"/>
                <a:ea typeface="Raleway"/>
                <a:cs typeface="Raleway"/>
                <a:sym typeface="Raleway"/>
              </a:rPr>
              <a:t>XGBoos</a:t>
            </a:r>
            <a:r>
              <a:rPr lang="en-US" sz="2099">
                <a:solidFill>
                  <a:srgbClr val="000000"/>
                </a:solidFill>
                <a:latin typeface="Raleway"/>
                <a:ea typeface="Raleway"/>
                <a:cs typeface="Raleway"/>
                <a:sym typeface="Raleway"/>
              </a:rPr>
              <a:t>t demonstrated good model stability with an Accuracy Gap of (6.28%). This indicates that the model has adequate generalization capabilities for new data in the future.</a:t>
            </a:r>
          </a:p>
          <a:p>
            <a:pPr algn="l">
              <a:lnSpc>
                <a:spcPts val="2519"/>
              </a:lnSpc>
            </a:pPr>
          </a:p>
          <a:p>
            <a:pPr algn="l" marL="453387" indent="-226693" lvl="1">
              <a:lnSpc>
                <a:spcPts val="2519"/>
              </a:lnSpc>
              <a:buFont typeface="Arial"/>
              <a:buChar char="•"/>
            </a:pPr>
            <a:r>
              <a:rPr lang="en-US" sz="2099">
                <a:solidFill>
                  <a:srgbClr val="000000"/>
                </a:solidFill>
                <a:latin typeface="Raleway"/>
                <a:ea typeface="Raleway"/>
                <a:cs typeface="Raleway"/>
                <a:sym typeface="Raleway"/>
              </a:rPr>
              <a:t>XGBoost achieved scores of  F1-score (84.7%) and ROC-AUC (91.3%) on the competitive test set, demonstrating its ability to accurately identify potential candidates.</a:t>
            </a:r>
          </a:p>
        </p:txBody>
      </p:sp>
      <p:sp>
        <p:nvSpPr>
          <p:cNvPr name="TextBox 9" id="9"/>
          <p:cNvSpPr txBox="true"/>
          <p:nvPr/>
        </p:nvSpPr>
        <p:spPr>
          <a:xfrm rot="0">
            <a:off x="1038225" y="895350"/>
            <a:ext cx="7658189"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B</a:t>
            </a:r>
            <a:r>
              <a:rPr lang="en-US" sz="6159">
                <a:solidFill>
                  <a:srgbClr val="18102B"/>
                </a:solidFill>
                <a:latin typeface="Raleway"/>
                <a:ea typeface="Raleway"/>
                <a:cs typeface="Raleway"/>
                <a:sym typeface="Raleway"/>
              </a:rPr>
              <a:t>est Model: XGBoost</a:t>
            </a:r>
          </a:p>
        </p:txBody>
      </p:sp>
      <p:grpSp>
        <p:nvGrpSpPr>
          <p:cNvPr name="Group 10" id="10"/>
          <p:cNvGrpSpPr/>
          <p:nvPr/>
        </p:nvGrpSpPr>
        <p:grpSpPr>
          <a:xfrm rot="0">
            <a:off x="13495279" y="6696345"/>
            <a:ext cx="3947555" cy="3114675"/>
            <a:chOff x="0" y="0"/>
            <a:chExt cx="5263407" cy="4152900"/>
          </a:xfrm>
        </p:grpSpPr>
        <p:grpSp>
          <p:nvGrpSpPr>
            <p:cNvPr name="Group 11" id="11"/>
            <p:cNvGrpSpPr/>
            <p:nvPr/>
          </p:nvGrpSpPr>
          <p:grpSpPr>
            <a:xfrm rot="0">
              <a:off x="0" y="0"/>
              <a:ext cx="5106327" cy="1908905"/>
              <a:chOff x="0" y="0"/>
              <a:chExt cx="1051574" cy="393111"/>
            </a:xfrm>
          </p:grpSpPr>
          <p:sp>
            <p:nvSpPr>
              <p:cNvPr name="Freeform 12" id="12"/>
              <p:cNvSpPr/>
              <p:nvPr/>
            </p:nvSpPr>
            <p:spPr>
              <a:xfrm flipH="false" flipV="false" rot="0">
                <a:off x="0" y="0"/>
                <a:ext cx="1051574" cy="393111"/>
              </a:xfrm>
              <a:custGeom>
                <a:avLst/>
                <a:gdLst/>
                <a:ahLst/>
                <a:cxnLst/>
                <a:rect r="r" b="b" t="t" l="l"/>
                <a:pathLst>
                  <a:path h="393111" w="1051574">
                    <a:moveTo>
                      <a:pt x="103098" y="0"/>
                    </a:moveTo>
                    <a:lnTo>
                      <a:pt x="948476" y="0"/>
                    </a:lnTo>
                    <a:cubicBezTo>
                      <a:pt x="975819" y="0"/>
                      <a:pt x="1002043" y="10862"/>
                      <a:pt x="1021377" y="30197"/>
                    </a:cubicBezTo>
                    <a:cubicBezTo>
                      <a:pt x="1040712" y="49531"/>
                      <a:pt x="1051574" y="75754"/>
                      <a:pt x="1051574" y="103098"/>
                    </a:cubicBezTo>
                    <a:lnTo>
                      <a:pt x="1051574" y="290014"/>
                    </a:lnTo>
                    <a:cubicBezTo>
                      <a:pt x="1051574" y="346953"/>
                      <a:pt x="1005415" y="393111"/>
                      <a:pt x="948476" y="393111"/>
                    </a:cubicBezTo>
                    <a:lnTo>
                      <a:pt x="103098" y="393111"/>
                    </a:lnTo>
                    <a:cubicBezTo>
                      <a:pt x="46158" y="393111"/>
                      <a:pt x="0" y="346953"/>
                      <a:pt x="0" y="290014"/>
                    </a:cubicBezTo>
                    <a:lnTo>
                      <a:pt x="0" y="103098"/>
                    </a:lnTo>
                    <a:cubicBezTo>
                      <a:pt x="0" y="46158"/>
                      <a:pt x="46158" y="0"/>
                      <a:pt x="103098" y="0"/>
                    </a:cubicBezTo>
                    <a:close/>
                  </a:path>
                </a:pathLst>
              </a:custGeom>
              <a:solidFill>
                <a:srgbClr val="BCCADB"/>
              </a:solidFill>
              <a:ln w="38100" cap="rnd">
                <a:solidFill>
                  <a:srgbClr val="7E8C92"/>
                </a:solidFill>
                <a:prstDash val="solid"/>
                <a:round/>
              </a:ln>
            </p:spPr>
          </p:sp>
          <p:sp>
            <p:nvSpPr>
              <p:cNvPr name="TextBox 13" id="13"/>
              <p:cNvSpPr txBox="true"/>
              <p:nvPr/>
            </p:nvSpPr>
            <p:spPr>
              <a:xfrm>
                <a:off x="0" y="-19050"/>
                <a:ext cx="1051574" cy="412161"/>
              </a:xfrm>
              <a:prstGeom prst="rect">
                <a:avLst/>
              </a:prstGeom>
            </p:spPr>
            <p:txBody>
              <a:bodyPr anchor="ctr" rtlCol="false" tIns="49014" lIns="49014" bIns="49014" rIns="49014"/>
              <a:lstStyle/>
              <a:p>
                <a:pPr algn="ctr">
                  <a:lnSpc>
                    <a:spcPts val="1919"/>
                  </a:lnSpc>
                </a:pPr>
              </a:p>
            </p:txBody>
          </p:sp>
        </p:grpSp>
        <p:sp>
          <p:nvSpPr>
            <p:cNvPr name="TextBox 14" id="14"/>
            <p:cNvSpPr txBox="true"/>
            <p:nvPr/>
          </p:nvSpPr>
          <p:spPr>
            <a:xfrm rot="0">
              <a:off x="0" y="166892"/>
              <a:ext cx="5250707" cy="334317"/>
            </a:xfrm>
            <a:prstGeom prst="rect">
              <a:avLst/>
            </a:prstGeom>
          </p:spPr>
          <p:txBody>
            <a:bodyPr anchor="t" rtlCol="false" tIns="0" lIns="0" bIns="0" rIns="0">
              <a:spAutoFit/>
            </a:bodyPr>
            <a:lstStyle/>
            <a:p>
              <a:pPr algn="ctr">
                <a:lnSpc>
                  <a:spcPts val="1906"/>
                </a:lnSpc>
                <a:spcBef>
                  <a:spcPct val="0"/>
                </a:spcBef>
              </a:pPr>
              <a:r>
                <a:rPr lang="en-US" b="true" sz="1588" spc="6">
                  <a:solidFill>
                    <a:srgbClr val="000000"/>
                  </a:solidFill>
                  <a:latin typeface="Poppins Bold"/>
                  <a:ea typeface="Poppins Bold"/>
                  <a:cs typeface="Poppins Bold"/>
                  <a:sym typeface="Poppins Bold"/>
                </a:rPr>
                <a:t>Before Hyperparameter </a:t>
              </a:r>
              <a:r>
                <a:rPr lang="en-US" b="true" sz="1588" spc="6">
                  <a:solidFill>
                    <a:srgbClr val="000000"/>
                  </a:solidFill>
                  <a:latin typeface="Poppins Bold"/>
                  <a:ea typeface="Poppins Bold"/>
                  <a:cs typeface="Poppins Bold"/>
                  <a:sym typeface="Poppins Bold"/>
                </a:rPr>
                <a:t>Tuning </a:t>
              </a:r>
            </a:p>
          </p:txBody>
        </p:sp>
        <p:sp>
          <p:nvSpPr>
            <p:cNvPr name="TextBox 15" id="15"/>
            <p:cNvSpPr txBox="true"/>
            <p:nvPr/>
          </p:nvSpPr>
          <p:spPr>
            <a:xfrm rot="0">
              <a:off x="510039" y="601171"/>
              <a:ext cx="3830957" cy="1098455"/>
            </a:xfrm>
            <a:prstGeom prst="rect">
              <a:avLst/>
            </a:prstGeom>
          </p:spPr>
          <p:txBody>
            <a:bodyPr anchor="t" rtlCol="false" tIns="0" lIns="0" bIns="0" rIns="0">
              <a:spAutoFit/>
            </a:bodyPr>
            <a:lstStyle/>
            <a:p>
              <a:pPr algn="ctr">
                <a:lnSpc>
                  <a:spcPts val="2224"/>
                </a:lnSpc>
              </a:pPr>
              <a:r>
                <a:rPr lang="en-US" sz="1588" spc="6">
                  <a:solidFill>
                    <a:srgbClr val="000000"/>
                  </a:solidFill>
                  <a:latin typeface="Poppins"/>
                  <a:ea typeface="Poppins"/>
                  <a:cs typeface="Poppins"/>
                  <a:sym typeface="Poppins"/>
                </a:rPr>
                <a:t>F1 Score: 79.4%</a:t>
              </a:r>
            </a:p>
            <a:p>
              <a:pPr algn="ctr">
                <a:lnSpc>
                  <a:spcPts val="2224"/>
                </a:lnSpc>
              </a:pPr>
            </a:p>
            <a:p>
              <a:pPr algn="ctr">
                <a:lnSpc>
                  <a:spcPts val="2224"/>
                </a:lnSpc>
              </a:pPr>
              <a:r>
                <a:rPr lang="en-US" sz="1588" spc="6">
                  <a:solidFill>
                    <a:srgbClr val="000000"/>
                  </a:solidFill>
                  <a:latin typeface="Poppins"/>
                  <a:ea typeface="Poppins"/>
                  <a:cs typeface="Poppins"/>
                  <a:sym typeface="Poppins"/>
                </a:rPr>
                <a:t>ROC-AUC: </a:t>
              </a:r>
              <a:r>
                <a:rPr lang="en-US" sz="1588" spc="6">
                  <a:solidFill>
                    <a:srgbClr val="000000"/>
                  </a:solidFill>
                  <a:latin typeface="Poppins"/>
                  <a:ea typeface="Poppins"/>
                  <a:cs typeface="Poppins"/>
                  <a:sym typeface="Poppins"/>
                </a:rPr>
                <a:t>89.9</a:t>
              </a:r>
              <a:r>
                <a:rPr lang="en-US" sz="1588" spc="6">
                  <a:solidFill>
                    <a:srgbClr val="000000"/>
                  </a:solidFill>
                  <a:latin typeface="Poppins"/>
                  <a:ea typeface="Poppins"/>
                  <a:cs typeface="Poppins"/>
                  <a:sym typeface="Poppins"/>
                </a:rPr>
                <a:t>%</a:t>
              </a:r>
            </a:p>
          </p:txBody>
        </p:sp>
        <p:grpSp>
          <p:nvGrpSpPr>
            <p:cNvPr name="Group 16" id="16"/>
            <p:cNvGrpSpPr/>
            <p:nvPr/>
          </p:nvGrpSpPr>
          <p:grpSpPr>
            <a:xfrm rot="0">
              <a:off x="12700" y="2243995"/>
              <a:ext cx="5106327" cy="1908905"/>
              <a:chOff x="0" y="0"/>
              <a:chExt cx="1051574" cy="393111"/>
            </a:xfrm>
          </p:grpSpPr>
          <p:sp>
            <p:nvSpPr>
              <p:cNvPr name="Freeform 17" id="17"/>
              <p:cNvSpPr/>
              <p:nvPr/>
            </p:nvSpPr>
            <p:spPr>
              <a:xfrm flipH="false" flipV="false" rot="0">
                <a:off x="0" y="0"/>
                <a:ext cx="1051574" cy="393111"/>
              </a:xfrm>
              <a:custGeom>
                <a:avLst/>
                <a:gdLst/>
                <a:ahLst/>
                <a:cxnLst/>
                <a:rect r="r" b="b" t="t" l="l"/>
                <a:pathLst>
                  <a:path h="393111" w="1051574">
                    <a:moveTo>
                      <a:pt x="103098" y="0"/>
                    </a:moveTo>
                    <a:lnTo>
                      <a:pt x="948476" y="0"/>
                    </a:lnTo>
                    <a:cubicBezTo>
                      <a:pt x="975819" y="0"/>
                      <a:pt x="1002043" y="10862"/>
                      <a:pt x="1021377" y="30197"/>
                    </a:cubicBezTo>
                    <a:cubicBezTo>
                      <a:pt x="1040712" y="49531"/>
                      <a:pt x="1051574" y="75754"/>
                      <a:pt x="1051574" y="103098"/>
                    </a:cubicBezTo>
                    <a:lnTo>
                      <a:pt x="1051574" y="290014"/>
                    </a:lnTo>
                    <a:cubicBezTo>
                      <a:pt x="1051574" y="346953"/>
                      <a:pt x="1005415" y="393111"/>
                      <a:pt x="948476" y="393111"/>
                    </a:cubicBezTo>
                    <a:lnTo>
                      <a:pt x="103098" y="393111"/>
                    </a:lnTo>
                    <a:cubicBezTo>
                      <a:pt x="46158" y="393111"/>
                      <a:pt x="0" y="346953"/>
                      <a:pt x="0" y="290014"/>
                    </a:cubicBezTo>
                    <a:lnTo>
                      <a:pt x="0" y="103098"/>
                    </a:lnTo>
                    <a:cubicBezTo>
                      <a:pt x="0" y="46158"/>
                      <a:pt x="46158" y="0"/>
                      <a:pt x="103098" y="0"/>
                    </a:cubicBezTo>
                    <a:close/>
                  </a:path>
                </a:pathLst>
              </a:custGeom>
              <a:solidFill>
                <a:srgbClr val="F8FAFC"/>
              </a:solidFill>
              <a:ln w="38100" cap="rnd">
                <a:solidFill>
                  <a:srgbClr val="BCCADB"/>
                </a:solidFill>
                <a:prstDash val="solid"/>
                <a:round/>
              </a:ln>
            </p:spPr>
          </p:sp>
          <p:sp>
            <p:nvSpPr>
              <p:cNvPr name="TextBox 18" id="18"/>
              <p:cNvSpPr txBox="true"/>
              <p:nvPr/>
            </p:nvSpPr>
            <p:spPr>
              <a:xfrm>
                <a:off x="0" y="-19050"/>
                <a:ext cx="1051574" cy="412161"/>
              </a:xfrm>
              <a:prstGeom prst="rect">
                <a:avLst/>
              </a:prstGeom>
            </p:spPr>
            <p:txBody>
              <a:bodyPr anchor="ctr" rtlCol="false" tIns="49014" lIns="49014" bIns="49014" rIns="49014"/>
              <a:lstStyle/>
              <a:p>
                <a:pPr algn="ctr">
                  <a:lnSpc>
                    <a:spcPts val="1919"/>
                  </a:lnSpc>
                </a:pPr>
              </a:p>
            </p:txBody>
          </p:sp>
        </p:grpSp>
        <p:sp>
          <p:nvSpPr>
            <p:cNvPr name="TextBox 19" id="19"/>
            <p:cNvSpPr txBox="true"/>
            <p:nvPr/>
          </p:nvSpPr>
          <p:spPr>
            <a:xfrm rot="0">
              <a:off x="12700" y="2423255"/>
              <a:ext cx="5250707" cy="334317"/>
            </a:xfrm>
            <a:prstGeom prst="rect">
              <a:avLst/>
            </a:prstGeom>
          </p:spPr>
          <p:txBody>
            <a:bodyPr anchor="t" rtlCol="false" tIns="0" lIns="0" bIns="0" rIns="0">
              <a:spAutoFit/>
            </a:bodyPr>
            <a:lstStyle/>
            <a:p>
              <a:pPr algn="ctr">
                <a:lnSpc>
                  <a:spcPts val="1906"/>
                </a:lnSpc>
                <a:spcBef>
                  <a:spcPct val="0"/>
                </a:spcBef>
              </a:pPr>
              <a:r>
                <a:rPr lang="en-US" b="true" sz="1588" spc="6">
                  <a:solidFill>
                    <a:srgbClr val="000000"/>
                  </a:solidFill>
                  <a:latin typeface="Poppins Bold"/>
                  <a:ea typeface="Poppins Bold"/>
                  <a:cs typeface="Poppins Bold"/>
                  <a:sym typeface="Poppins Bold"/>
                </a:rPr>
                <a:t>After Hyperparameter </a:t>
              </a:r>
              <a:r>
                <a:rPr lang="en-US" b="true" sz="1588" spc="6">
                  <a:solidFill>
                    <a:srgbClr val="000000"/>
                  </a:solidFill>
                  <a:latin typeface="Poppins Bold"/>
                  <a:ea typeface="Poppins Bold"/>
                  <a:cs typeface="Poppins Bold"/>
                  <a:sym typeface="Poppins Bold"/>
                </a:rPr>
                <a:t>Tuning </a:t>
              </a:r>
            </a:p>
          </p:txBody>
        </p:sp>
        <p:sp>
          <p:nvSpPr>
            <p:cNvPr name="TextBox 20" id="20"/>
            <p:cNvSpPr txBox="true"/>
            <p:nvPr/>
          </p:nvSpPr>
          <p:spPr>
            <a:xfrm rot="0">
              <a:off x="704521" y="2833944"/>
              <a:ext cx="3441992" cy="1125891"/>
            </a:xfrm>
            <a:prstGeom prst="rect">
              <a:avLst/>
            </a:prstGeom>
          </p:spPr>
          <p:txBody>
            <a:bodyPr anchor="t" rtlCol="false" tIns="0" lIns="0" bIns="0" rIns="0">
              <a:spAutoFit/>
            </a:bodyPr>
            <a:lstStyle/>
            <a:p>
              <a:pPr algn="ctr">
                <a:lnSpc>
                  <a:spcPts val="2282"/>
                </a:lnSpc>
              </a:pPr>
              <a:r>
                <a:rPr lang="en-US" sz="1630" spc="6">
                  <a:solidFill>
                    <a:srgbClr val="000000"/>
                  </a:solidFill>
                  <a:latin typeface="Poppins"/>
                  <a:ea typeface="Poppins"/>
                  <a:cs typeface="Poppins"/>
                  <a:sym typeface="Poppins"/>
                </a:rPr>
                <a:t>F1 Score: 84.7%</a:t>
              </a:r>
            </a:p>
            <a:p>
              <a:pPr algn="ctr">
                <a:lnSpc>
                  <a:spcPts val="2282"/>
                </a:lnSpc>
              </a:pPr>
            </a:p>
            <a:p>
              <a:pPr algn="ctr">
                <a:lnSpc>
                  <a:spcPts val="2282"/>
                </a:lnSpc>
              </a:pPr>
              <a:r>
                <a:rPr lang="en-US" sz="1630" spc="6">
                  <a:solidFill>
                    <a:srgbClr val="000000"/>
                  </a:solidFill>
                  <a:latin typeface="Poppins"/>
                  <a:ea typeface="Poppins"/>
                  <a:cs typeface="Poppins"/>
                  <a:sym typeface="Poppins"/>
                </a:rPr>
                <a:t>ROC-AUC: 91.3%</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9771838" y="2292353"/>
            <a:ext cx="7487462" cy="6297228"/>
            <a:chOff x="0" y="0"/>
            <a:chExt cx="2041453" cy="1716937"/>
          </a:xfrm>
        </p:grpSpPr>
        <p:sp>
          <p:nvSpPr>
            <p:cNvPr name="Freeform 4" id="4"/>
            <p:cNvSpPr/>
            <p:nvPr/>
          </p:nvSpPr>
          <p:spPr>
            <a:xfrm flipH="false" flipV="false" rot="0">
              <a:off x="0" y="0"/>
              <a:ext cx="2041453" cy="1716937"/>
            </a:xfrm>
            <a:custGeom>
              <a:avLst/>
              <a:gdLst/>
              <a:ahLst/>
              <a:cxnLst/>
              <a:rect r="r" b="b" t="t" l="l"/>
              <a:pathLst>
                <a:path h="1716937" w="2041453">
                  <a:moveTo>
                    <a:pt x="51699" y="0"/>
                  </a:moveTo>
                  <a:lnTo>
                    <a:pt x="1989754" y="0"/>
                  </a:lnTo>
                  <a:cubicBezTo>
                    <a:pt x="2018307" y="0"/>
                    <a:pt x="2041453" y="23147"/>
                    <a:pt x="2041453" y="51699"/>
                  </a:cubicBezTo>
                  <a:lnTo>
                    <a:pt x="2041453" y="1665238"/>
                  </a:lnTo>
                  <a:cubicBezTo>
                    <a:pt x="2041453" y="1693790"/>
                    <a:pt x="2018307" y="1716937"/>
                    <a:pt x="1989754" y="1716937"/>
                  </a:cubicBezTo>
                  <a:lnTo>
                    <a:pt x="51699" y="1716937"/>
                  </a:lnTo>
                  <a:cubicBezTo>
                    <a:pt x="23147" y="1716937"/>
                    <a:pt x="0" y="1693790"/>
                    <a:pt x="0" y="1665238"/>
                  </a:cubicBezTo>
                  <a:lnTo>
                    <a:pt x="0" y="51699"/>
                  </a:lnTo>
                  <a:cubicBezTo>
                    <a:pt x="0" y="23147"/>
                    <a:pt x="23147" y="0"/>
                    <a:pt x="51699" y="0"/>
                  </a:cubicBezTo>
                  <a:close/>
                </a:path>
              </a:pathLst>
            </a:custGeom>
            <a:solidFill>
              <a:srgbClr val="A1C7CE"/>
            </a:solidFill>
          </p:spPr>
        </p:sp>
        <p:sp>
          <p:nvSpPr>
            <p:cNvPr name="TextBox 5" id="5"/>
            <p:cNvSpPr txBox="true"/>
            <p:nvPr/>
          </p:nvSpPr>
          <p:spPr>
            <a:xfrm>
              <a:off x="0" y="-19050"/>
              <a:ext cx="2041453" cy="1735987"/>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Raleway"/>
                  <a:ea typeface="Raleway"/>
                  <a:cs typeface="Raleway"/>
                  <a:sym typeface="Raleway"/>
                </a:rPr>
                <a:t>The model correctly identified the majority of the data. Of the 450 data points, the model only incorrectly predicted 39.</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The model successfully identified 108 of the 129 candidates who were actually Hired. There were 21 potential candidates missed (predicted as Not Hired), indicating room for improvement to capture more talent.</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Based on the Confusion Matrix, the XGBoost model demonstrated solid performance in the recruitment process with a high level of accuracy and minimal misclassification.</a:t>
              </a:r>
            </a:p>
          </p:txBody>
        </p:sp>
      </p:grpSp>
      <p:sp>
        <p:nvSpPr>
          <p:cNvPr name="Freeform 6" id="6"/>
          <p:cNvSpPr/>
          <p:nvPr/>
        </p:nvSpPr>
        <p:spPr>
          <a:xfrm flipH="false" flipV="false" rot="0">
            <a:off x="1278835" y="2471147"/>
            <a:ext cx="7865165" cy="6259110"/>
          </a:xfrm>
          <a:custGeom>
            <a:avLst/>
            <a:gdLst/>
            <a:ahLst/>
            <a:cxnLst/>
            <a:rect r="r" b="b" t="t" l="l"/>
            <a:pathLst>
              <a:path h="6259110" w="7865165">
                <a:moveTo>
                  <a:pt x="0" y="0"/>
                </a:moveTo>
                <a:lnTo>
                  <a:pt x="7865165" y="0"/>
                </a:lnTo>
                <a:lnTo>
                  <a:pt x="7865165" y="6259111"/>
                </a:lnTo>
                <a:lnTo>
                  <a:pt x="0" y="6259111"/>
                </a:lnTo>
                <a:lnTo>
                  <a:pt x="0" y="0"/>
                </a:lnTo>
                <a:close/>
              </a:path>
            </a:pathLst>
          </a:custGeom>
          <a:blipFill>
            <a:blip r:embed="rId3"/>
            <a:stretch>
              <a:fillRect l="0" t="0" r="0" b="0"/>
            </a:stretch>
          </a:blipFill>
        </p:spPr>
      </p:sp>
      <p:sp>
        <p:nvSpPr>
          <p:cNvPr name="TextBox 7" id="7"/>
          <p:cNvSpPr txBox="true"/>
          <p:nvPr/>
        </p:nvSpPr>
        <p:spPr>
          <a:xfrm rot="0">
            <a:off x="1038225" y="895350"/>
            <a:ext cx="7658189"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Confu</a:t>
            </a:r>
            <a:r>
              <a:rPr lang="en-US" sz="6159">
                <a:solidFill>
                  <a:srgbClr val="18102B"/>
                </a:solidFill>
                <a:latin typeface="Raleway"/>
                <a:ea typeface="Raleway"/>
                <a:cs typeface="Raleway"/>
                <a:sym typeface="Raleway"/>
              </a:rPr>
              <a:t>sion Matrix</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2209800"/>
          </a:xfrm>
          <a:prstGeom prst="rect">
            <a:avLst/>
          </a:prstGeom>
        </p:spPr>
        <p:txBody>
          <a:bodyPr anchor="t" rtlCol="false" tIns="0" lIns="0" bIns="0" rIns="0">
            <a:spAutoFit/>
          </a:bodyPr>
          <a:lstStyle/>
          <a:p>
            <a:pPr algn="ctr">
              <a:lnSpc>
                <a:spcPts val="8640"/>
              </a:lnSpc>
            </a:pPr>
            <a:r>
              <a:rPr lang="en-US" sz="7200" b="true">
                <a:solidFill>
                  <a:srgbClr val="000000"/>
                </a:solidFill>
                <a:latin typeface="Raleway Bold"/>
                <a:ea typeface="Raleway Bold"/>
                <a:cs typeface="Raleway Bold"/>
                <a:sym typeface="Raleway Bold"/>
              </a:rPr>
              <a:t>Model Evaluation &amp;</a:t>
            </a:r>
          </a:p>
          <a:p>
            <a:pPr algn="ctr">
              <a:lnSpc>
                <a:spcPts val="8640"/>
              </a:lnSpc>
            </a:pPr>
            <a:r>
              <a:rPr lang="en-US" b="true" sz="7200">
                <a:solidFill>
                  <a:srgbClr val="000000"/>
                </a:solidFill>
                <a:latin typeface="Raleway Bold"/>
                <a:ea typeface="Raleway Bold"/>
                <a:cs typeface="Raleway Bold"/>
                <a:sym typeface="Raleway Bold"/>
              </a:rPr>
              <a:t>Business impact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702291" y="350823"/>
            <a:ext cx="7668670" cy="1062670"/>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Model Comparison</a:t>
            </a:r>
          </a:p>
        </p:txBody>
      </p:sp>
      <p:grpSp>
        <p:nvGrpSpPr>
          <p:cNvPr name="Group 4" id="4"/>
          <p:cNvGrpSpPr/>
          <p:nvPr/>
        </p:nvGrpSpPr>
        <p:grpSpPr>
          <a:xfrm rot="0">
            <a:off x="1168628" y="2418031"/>
            <a:ext cx="7473288" cy="2374991"/>
            <a:chOff x="0" y="0"/>
            <a:chExt cx="9964384" cy="3166655"/>
          </a:xfrm>
        </p:grpSpPr>
        <p:grpSp>
          <p:nvGrpSpPr>
            <p:cNvPr name="Group 5" id="5"/>
            <p:cNvGrpSpPr/>
            <p:nvPr/>
          </p:nvGrpSpPr>
          <p:grpSpPr>
            <a:xfrm rot="0">
              <a:off x="0" y="0"/>
              <a:ext cx="9964384" cy="3166655"/>
              <a:chOff x="0" y="0"/>
              <a:chExt cx="1968273" cy="625512"/>
            </a:xfrm>
          </p:grpSpPr>
          <p:sp>
            <p:nvSpPr>
              <p:cNvPr name="Freeform 6" id="6"/>
              <p:cNvSpPr/>
              <p:nvPr/>
            </p:nvSpPr>
            <p:spPr>
              <a:xfrm flipH="false" flipV="false" rot="0">
                <a:off x="0" y="0"/>
                <a:ext cx="1968273" cy="625512"/>
              </a:xfrm>
              <a:custGeom>
                <a:avLst/>
                <a:gdLst/>
                <a:ahLst/>
                <a:cxnLst/>
                <a:rect r="r" b="b" t="t" l="l"/>
                <a:pathLst>
                  <a:path h="625512" w="1968273">
                    <a:moveTo>
                      <a:pt x="52833" y="0"/>
                    </a:moveTo>
                    <a:lnTo>
                      <a:pt x="1915440" y="0"/>
                    </a:lnTo>
                    <a:cubicBezTo>
                      <a:pt x="1929453" y="0"/>
                      <a:pt x="1942891" y="5566"/>
                      <a:pt x="1952799" y="15474"/>
                    </a:cubicBezTo>
                    <a:cubicBezTo>
                      <a:pt x="1962707" y="25383"/>
                      <a:pt x="1968273" y="38821"/>
                      <a:pt x="1968273" y="52833"/>
                    </a:cubicBezTo>
                    <a:lnTo>
                      <a:pt x="1968273" y="572679"/>
                    </a:lnTo>
                    <a:cubicBezTo>
                      <a:pt x="1968273" y="601858"/>
                      <a:pt x="1944619" y="625512"/>
                      <a:pt x="1915440" y="625512"/>
                    </a:cubicBezTo>
                    <a:lnTo>
                      <a:pt x="52833" y="625512"/>
                    </a:lnTo>
                    <a:cubicBezTo>
                      <a:pt x="23654" y="625512"/>
                      <a:pt x="0" y="601858"/>
                      <a:pt x="0" y="572679"/>
                    </a:cubicBezTo>
                    <a:lnTo>
                      <a:pt x="0" y="52833"/>
                    </a:lnTo>
                    <a:cubicBezTo>
                      <a:pt x="0" y="23654"/>
                      <a:pt x="23654" y="0"/>
                      <a:pt x="52833" y="0"/>
                    </a:cubicBezTo>
                    <a:close/>
                  </a:path>
                </a:pathLst>
              </a:custGeom>
              <a:solidFill>
                <a:srgbClr val="A1C7CE"/>
              </a:solidFill>
              <a:ln w="85725" cap="rnd">
                <a:solidFill>
                  <a:srgbClr val="505050"/>
                </a:solidFill>
                <a:prstDash val="solid"/>
                <a:round/>
              </a:ln>
            </p:spPr>
          </p:sp>
          <p:sp>
            <p:nvSpPr>
              <p:cNvPr name="TextBox 7" id="7"/>
              <p:cNvSpPr txBox="true"/>
              <p:nvPr/>
            </p:nvSpPr>
            <p:spPr>
              <a:xfrm>
                <a:off x="0" y="-9525"/>
                <a:ext cx="1968273" cy="635037"/>
              </a:xfrm>
              <a:prstGeom prst="rect">
                <a:avLst/>
              </a:prstGeom>
            </p:spPr>
            <p:txBody>
              <a:bodyPr anchor="ctr" rtlCol="false" tIns="50800" lIns="50800" bIns="50800" rIns="50800"/>
              <a:lstStyle/>
              <a:p>
                <a:pPr algn="ctr">
                  <a:lnSpc>
                    <a:spcPts val="2491"/>
                  </a:lnSpc>
                </a:pPr>
              </a:p>
            </p:txBody>
          </p:sp>
        </p:grpSp>
        <p:sp>
          <p:nvSpPr>
            <p:cNvPr name="TextBox 8" id="8"/>
            <p:cNvSpPr txBox="true"/>
            <p:nvPr/>
          </p:nvSpPr>
          <p:spPr>
            <a:xfrm rot="0">
              <a:off x="1317159" y="1124166"/>
              <a:ext cx="3226158" cy="530313"/>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F1 S</a:t>
              </a:r>
              <a:r>
                <a:rPr lang="en-US" b="true" sz="2600">
                  <a:solidFill>
                    <a:srgbClr val="18102B"/>
                  </a:solidFill>
                  <a:latin typeface="Raleway Bold"/>
                  <a:ea typeface="Raleway Bold"/>
                  <a:cs typeface="Raleway Bold"/>
                  <a:sym typeface="Raleway Bold"/>
                </a:rPr>
                <a:t>core</a:t>
              </a:r>
            </a:p>
          </p:txBody>
        </p:sp>
        <p:sp>
          <p:nvSpPr>
            <p:cNvPr name="TextBox 9" id="9"/>
            <p:cNvSpPr txBox="true"/>
            <p:nvPr/>
          </p:nvSpPr>
          <p:spPr>
            <a:xfrm rot="0">
              <a:off x="5421067" y="1124254"/>
              <a:ext cx="3226158" cy="530313"/>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ROC AUC</a:t>
              </a:r>
            </a:p>
          </p:txBody>
        </p:sp>
        <p:sp>
          <p:nvSpPr>
            <p:cNvPr name="TextBox 10" id="10"/>
            <p:cNvSpPr txBox="true"/>
            <p:nvPr/>
          </p:nvSpPr>
          <p:spPr>
            <a:xfrm rot="0">
              <a:off x="142955" y="1637357"/>
              <a:ext cx="3226158" cy="1203237"/>
            </a:xfrm>
            <a:prstGeom prst="rect">
              <a:avLst/>
            </a:prstGeom>
          </p:spPr>
          <p:txBody>
            <a:bodyPr anchor="t" rtlCol="false" tIns="0" lIns="0" bIns="0" rIns="0">
              <a:spAutoFit/>
            </a:bodyPr>
            <a:lstStyle/>
            <a:p>
              <a:pPr algn="ctr" marL="0" indent="0" lvl="0">
                <a:lnSpc>
                  <a:spcPts val="7080"/>
                </a:lnSpc>
                <a:spcBef>
                  <a:spcPct val="0"/>
                </a:spcBef>
              </a:pPr>
            </a:p>
          </p:txBody>
        </p:sp>
        <p:sp>
          <p:nvSpPr>
            <p:cNvPr name="TextBox 11" id="11"/>
            <p:cNvSpPr txBox="true"/>
            <p:nvPr/>
          </p:nvSpPr>
          <p:spPr>
            <a:xfrm rot="0">
              <a:off x="1317159" y="1645042"/>
              <a:ext cx="3226158" cy="1203237"/>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77.5%</a:t>
              </a:r>
            </a:p>
          </p:txBody>
        </p:sp>
        <p:sp>
          <p:nvSpPr>
            <p:cNvPr name="TextBox 12" id="12"/>
            <p:cNvSpPr txBox="true"/>
            <p:nvPr/>
          </p:nvSpPr>
          <p:spPr>
            <a:xfrm rot="0">
              <a:off x="5414717" y="1645130"/>
              <a:ext cx="3238858" cy="1203237"/>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88.9%</a:t>
              </a:r>
            </a:p>
          </p:txBody>
        </p:sp>
        <p:sp>
          <p:nvSpPr>
            <p:cNvPr name="TextBox 13" id="13"/>
            <p:cNvSpPr txBox="true"/>
            <p:nvPr/>
          </p:nvSpPr>
          <p:spPr>
            <a:xfrm rot="0">
              <a:off x="2930238" y="218547"/>
              <a:ext cx="4103908" cy="530313"/>
            </a:xfrm>
            <a:prstGeom prst="rect">
              <a:avLst/>
            </a:prstGeom>
          </p:spPr>
          <p:txBody>
            <a:bodyPr anchor="t" rtlCol="false" tIns="0" lIns="0" bIns="0" rIns="0">
              <a:spAutoFit/>
            </a:bodyPr>
            <a:lstStyle/>
            <a:p>
              <a:pPr algn="ctr">
                <a:lnSpc>
                  <a:spcPts val="3120"/>
                </a:lnSpc>
                <a:spcBef>
                  <a:spcPct val="0"/>
                </a:spcBef>
              </a:pPr>
              <a:r>
                <a:rPr lang="en-US" b="true" sz="2600">
                  <a:solidFill>
                    <a:srgbClr val="18102B"/>
                  </a:solidFill>
                  <a:latin typeface="Raleway Bold"/>
                  <a:ea typeface="Raleway Bold"/>
                  <a:cs typeface="Raleway Bold"/>
                  <a:sym typeface="Raleway Bold"/>
                </a:rPr>
                <a:t>Logistic Regression</a:t>
              </a:r>
            </a:p>
          </p:txBody>
        </p:sp>
      </p:grpSp>
      <p:grpSp>
        <p:nvGrpSpPr>
          <p:cNvPr name="Group 14" id="14"/>
          <p:cNvGrpSpPr/>
          <p:nvPr/>
        </p:nvGrpSpPr>
        <p:grpSpPr>
          <a:xfrm rot="0">
            <a:off x="9144000" y="2418031"/>
            <a:ext cx="8506047" cy="5542664"/>
            <a:chOff x="0" y="0"/>
            <a:chExt cx="2319170" cy="1511205"/>
          </a:xfrm>
        </p:grpSpPr>
        <p:sp>
          <p:nvSpPr>
            <p:cNvPr name="Freeform 15" id="15"/>
            <p:cNvSpPr/>
            <p:nvPr/>
          </p:nvSpPr>
          <p:spPr>
            <a:xfrm flipH="false" flipV="false" rot="0">
              <a:off x="0" y="0"/>
              <a:ext cx="2319170" cy="1511205"/>
            </a:xfrm>
            <a:custGeom>
              <a:avLst/>
              <a:gdLst/>
              <a:ahLst/>
              <a:cxnLst/>
              <a:rect r="r" b="b" t="t" l="l"/>
              <a:pathLst>
                <a:path h="1511205" w="2319170">
                  <a:moveTo>
                    <a:pt x="45508" y="0"/>
                  </a:moveTo>
                  <a:lnTo>
                    <a:pt x="2273662" y="0"/>
                  </a:lnTo>
                  <a:cubicBezTo>
                    <a:pt x="2285731" y="0"/>
                    <a:pt x="2297307" y="4795"/>
                    <a:pt x="2305841" y="13329"/>
                  </a:cubicBezTo>
                  <a:cubicBezTo>
                    <a:pt x="2314376" y="21864"/>
                    <a:pt x="2319170" y="33439"/>
                    <a:pt x="2319170" y="45508"/>
                  </a:cubicBezTo>
                  <a:lnTo>
                    <a:pt x="2319170" y="1465697"/>
                  </a:lnTo>
                  <a:cubicBezTo>
                    <a:pt x="2319170" y="1490830"/>
                    <a:pt x="2298796" y="1511205"/>
                    <a:pt x="2273662" y="1511205"/>
                  </a:cubicBezTo>
                  <a:lnTo>
                    <a:pt x="45508" y="1511205"/>
                  </a:lnTo>
                  <a:cubicBezTo>
                    <a:pt x="20375" y="1511205"/>
                    <a:pt x="0" y="1490830"/>
                    <a:pt x="0" y="1465697"/>
                  </a:cubicBezTo>
                  <a:lnTo>
                    <a:pt x="0" y="45508"/>
                  </a:lnTo>
                  <a:cubicBezTo>
                    <a:pt x="0" y="20375"/>
                    <a:pt x="20375" y="0"/>
                    <a:pt x="45508" y="0"/>
                  </a:cubicBezTo>
                  <a:close/>
                </a:path>
              </a:pathLst>
            </a:custGeom>
            <a:solidFill>
              <a:srgbClr val="A1C7CE"/>
            </a:solidFill>
            <a:ln w="57150" cap="rnd">
              <a:solidFill>
                <a:srgbClr val="505050"/>
              </a:solidFill>
              <a:prstDash val="solid"/>
              <a:round/>
            </a:ln>
          </p:spPr>
        </p:sp>
        <p:sp>
          <p:nvSpPr>
            <p:cNvPr name="TextBox 16" id="16"/>
            <p:cNvSpPr txBox="true"/>
            <p:nvPr/>
          </p:nvSpPr>
          <p:spPr>
            <a:xfrm>
              <a:off x="0" y="-19050"/>
              <a:ext cx="2319170" cy="1530255"/>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Raleway"/>
                  <a:ea typeface="Raleway"/>
                  <a:cs typeface="Raleway"/>
                  <a:sym typeface="Raleway"/>
                </a:rPr>
                <a:t>XGBoost outperformed Logistic Regression across all metrics.</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F1 Score  (77.5% → 84.7%). This quite sharp increase proves that the model is now more balanced and consistent in maintaining the quality of predictions between Precision and Recall.</a:t>
              </a:r>
            </a:p>
            <a:p>
              <a:pPr algn="l">
                <a:lnSpc>
                  <a:spcPts val="2520"/>
                </a:lnSpc>
              </a:pPr>
            </a:p>
            <a:p>
              <a:pPr algn="l" marL="453390" indent="-226695" lvl="1">
                <a:lnSpc>
                  <a:spcPts val="2520"/>
                </a:lnSpc>
                <a:buFont typeface="Arial"/>
                <a:buChar char="•"/>
              </a:pPr>
              <a:r>
                <a:rPr lang="en-US" sz="2100" spc="8">
                  <a:solidFill>
                    <a:srgbClr val="000000"/>
                  </a:solidFill>
                  <a:latin typeface="Raleway"/>
                  <a:ea typeface="Raleway"/>
                  <a:cs typeface="Raleway"/>
                  <a:sym typeface="Raleway"/>
                </a:rPr>
                <a:t>While both models had high ROC-AUC scores, XGBoost was slightly better (88.9% → 91.3%).</a:t>
              </a:r>
            </a:p>
          </p:txBody>
        </p:sp>
      </p:grpSp>
      <p:grpSp>
        <p:nvGrpSpPr>
          <p:cNvPr name="Group 17" id="17"/>
          <p:cNvGrpSpPr/>
          <p:nvPr/>
        </p:nvGrpSpPr>
        <p:grpSpPr>
          <a:xfrm rot="0">
            <a:off x="1168628" y="5585703"/>
            <a:ext cx="7473288" cy="2374991"/>
            <a:chOff x="0" y="0"/>
            <a:chExt cx="9964384" cy="3166655"/>
          </a:xfrm>
        </p:grpSpPr>
        <p:grpSp>
          <p:nvGrpSpPr>
            <p:cNvPr name="Group 18" id="18"/>
            <p:cNvGrpSpPr/>
            <p:nvPr/>
          </p:nvGrpSpPr>
          <p:grpSpPr>
            <a:xfrm rot="0">
              <a:off x="0" y="0"/>
              <a:ext cx="9964384" cy="3166655"/>
              <a:chOff x="0" y="0"/>
              <a:chExt cx="1968273" cy="625512"/>
            </a:xfrm>
          </p:grpSpPr>
          <p:sp>
            <p:nvSpPr>
              <p:cNvPr name="Freeform 19" id="19"/>
              <p:cNvSpPr/>
              <p:nvPr/>
            </p:nvSpPr>
            <p:spPr>
              <a:xfrm flipH="false" flipV="false" rot="0">
                <a:off x="0" y="0"/>
                <a:ext cx="1968273" cy="625512"/>
              </a:xfrm>
              <a:custGeom>
                <a:avLst/>
                <a:gdLst/>
                <a:ahLst/>
                <a:cxnLst/>
                <a:rect r="r" b="b" t="t" l="l"/>
                <a:pathLst>
                  <a:path h="625512" w="1968273">
                    <a:moveTo>
                      <a:pt x="52833" y="0"/>
                    </a:moveTo>
                    <a:lnTo>
                      <a:pt x="1915440" y="0"/>
                    </a:lnTo>
                    <a:cubicBezTo>
                      <a:pt x="1929453" y="0"/>
                      <a:pt x="1942891" y="5566"/>
                      <a:pt x="1952799" y="15474"/>
                    </a:cubicBezTo>
                    <a:cubicBezTo>
                      <a:pt x="1962707" y="25383"/>
                      <a:pt x="1968273" y="38821"/>
                      <a:pt x="1968273" y="52833"/>
                    </a:cubicBezTo>
                    <a:lnTo>
                      <a:pt x="1968273" y="572679"/>
                    </a:lnTo>
                    <a:cubicBezTo>
                      <a:pt x="1968273" y="601858"/>
                      <a:pt x="1944619" y="625512"/>
                      <a:pt x="1915440" y="625512"/>
                    </a:cubicBezTo>
                    <a:lnTo>
                      <a:pt x="52833" y="625512"/>
                    </a:lnTo>
                    <a:cubicBezTo>
                      <a:pt x="23654" y="625512"/>
                      <a:pt x="0" y="601858"/>
                      <a:pt x="0" y="572679"/>
                    </a:cubicBezTo>
                    <a:lnTo>
                      <a:pt x="0" y="52833"/>
                    </a:lnTo>
                    <a:cubicBezTo>
                      <a:pt x="0" y="23654"/>
                      <a:pt x="23654" y="0"/>
                      <a:pt x="52833" y="0"/>
                    </a:cubicBezTo>
                    <a:close/>
                  </a:path>
                </a:pathLst>
              </a:custGeom>
              <a:solidFill>
                <a:srgbClr val="A1C7CE"/>
              </a:solidFill>
              <a:ln w="85725" cap="rnd">
                <a:solidFill>
                  <a:srgbClr val="505050"/>
                </a:solidFill>
                <a:prstDash val="solid"/>
                <a:round/>
              </a:ln>
            </p:spPr>
          </p:sp>
          <p:sp>
            <p:nvSpPr>
              <p:cNvPr name="TextBox 20" id="20"/>
              <p:cNvSpPr txBox="true"/>
              <p:nvPr/>
            </p:nvSpPr>
            <p:spPr>
              <a:xfrm>
                <a:off x="0" y="-9525"/>
                <a:ext cx="1968273" cy="635037"/>
              </a:xfrm>
              <a:prstGeom prst="rect">
                <a:avLst/>
              </a:prstGeom>
            </p:spPr>
            <p:txBody>
              <a:bodyPr anchor="ctr" rtlCol="false" tIns="50800" lIns="50800" bIns="50800" rIns="50800"/>
              <a:lstStyle/>
              <a:p>
                <a:pPr algn="ctr">
                  <a:lnSpc>
                    <a:spcPts val="2491"/>
                  </a:lnSpc>
                </a:pPr>
              </a:p>
            </p:txBody>
          </p:sp>
        </p:grpSp>
        <p:sp>
          <p:nvSpPr>
            <p:cNvPr name="TextBox 21" id="21"/>
            <p:cNvSpPr txBox="true"/>
            <p:nvPr/>
          </p:nvSpPr>
          <p:spPr>
            <a:xfrm rot="0">
              <a:off x="1317159" y="1053014"/>
              <a:ext cx="3226158" cy="530313"/>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F1 S</a:t>
              </a:r>
              <a:r>
                <a:rPr lang="en-US" b="true" sz="2600">
                  <a:solidFill>
                    <a:srgbClr val="18102B"/>
                  </a:solidFill>
                  <a:latin typeface="Raleway Bold"/>
                  <a:ea typeface="Raleway Bold"/>
                  <a:cs typeface="Raleway Bold"/>
                  <a:sym typeface="Raleway Bold"/>
                </a:rPr>
                <a:t>core</a:t>
              </a:r>
            </a:p>
          </p:txBody>
        </p:sp>
        <p:sp>
          <p:nvSpPr>
            <p:cNvPr name="TextBox 22" id="22"/>
            <p:cNvSpPr txBox="true"/>
            <p:nvPr/>
          </p:nvSpPr>
          <p:spPr>
            <a:xfrm rot="0">
              <a:off x="5421067" y="1124078"/>
              <a:ext cx="3226158" cy="530313"/>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18102B"/>
                  </a:solidFill>
                  <a:latin typeface="Raleway Bold"/>
                  <a:ea typeface="Raleway Bold"/>
                  <a:cs typeface="Raleway Bold"/>
                  <a:sym typeface="Raleway Bold"/>
                </a:rPr>
                <a:t>ROC AUC</a:t>
              </a:r>
            </a:p>
          </p:txBody>
        </p:sp>
        <p:sp>
          <p:nvSpPr>
            <p:cNvPr name="TextBox 23" id="23"/>
            <p:cNvSpPr txBox="true"/>
            <p:nvPr/>
          </p:nvSpPr>
          <p:spPr>
            <a:xfrm rot="0">
              <a:off x="1317159" y="1644954"/>
              <a:ext cx="3226158" cy="1203237"/>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84.7%</a:t>
              </a:r>
            </a:p>
          </p:txBody>
        </p:sp>
        <p:sp>
          <p:nvSpPr>
            <p:cNvPr name="TextBox 24" id="24"/>
            <p:cNvSpPr txBox="true"/>
            <p:nvPr/>
          </p:nvSpPr>
          <p:spPr>
            <a:xfrm rot="0">
              <a:off x="5414717" y="1573891"/>
              <a:ext cx="3238858" cy="1203237"/>
            </a:xfrm>
            <a:prstGeom prst="rect">
              <a:avLst/>
            </a:prstGeom>
          </p:spPr>
          <p:txBody>
            <a:bodyPr anchor="t" rtlCol="false" tIns="0" lIns="0" bIns="0" rIns="0">
              <a:spAutoFit/>
            </a:bodyPr>
            <a:lstStyle/>
            <a:p>
              <a:pPr algn="ctr" marL="0" indent="0" lvl="0">
                <a:lnSpc>
                  <a:spcPts val="7080"/>
                </a:lnSpc>
                <a:spcBef>
                  <a:spcPct val="0"/>
                </a:spcBef>
              </a:pPr>
              <a:r>
                <a:rPr lang="en-US" sz="5900">
                  <a:solidFill>
                    <a:srgbClr val="18102B"/>
                  </a:solidFill>
                  <a:latin typeface="Raleway"/>
                  <a:ea typeface="Raleway"/>
                  <a:cs typeface="Raleway"/>
                  <a:sym typeface="Raleway"/>
                </a:rPr>
                <a:t>91.3%</a:t>
              </a:r>
            </a:p>
          </p:txBody>
        </p:sp>
        <p:sp>
          <p:nvSpPr>
            <p:cNvPr name="TextBox 25" id="25"/>
            <p:cNvSpPr txBox="true"/>
            <p:nvPr/>
          </p:nvSpPr>
          <p:spPr>
            <a:xfrm rot="0">
              <a:off x="2930238" y="218547"/>
              <a:ext cx="4103908" cy="530225"/>
            </a:xfrm>
            <a:prstGeom prst="rect">
              <a:avLst/>
            </a:prstGeom>
          </p:spPr>
          <p:txBody>
            <a:bodyPr anchor="t" rtlCol="false" tIns="0" lIns="0" bIns="0" rIns="0">
              <a:spAutoFit/>
            </a:bodyPr>
            <a:lstStyle/>
            <a:p>
              <a:pPr algn="ctr">
                <a:lnSpc>
                  <a:spcPts val="3120"/>
                </a:lnSpc>
                <a:spcBef>
                  <a:spcPct val="0"/>
                </a:spcBef>
              </a:pPr>
              <a:r>
                <a:rPr lang="en-US" b="true" sz="2600">
                  <a:solidFill>
                    <a:srgbClr val="18102B"/>
                  </a:solidFill>
                  <a:latin typeface="Raleway Bold"/>
                  <a:ea typeface="Raleway Bold"/>
                  <a:cs typeface="Raleway Bold"/>
                  <a:sym typeface="Raleway Bold"/>
                </a:rPr>
                <a:t>XGB</a:t>
              </a:r>
              <a:r>
                <a:rPr lang="en-US" b="true" sz="2600">
                  <a:solidFill>
                    <a:srgbClr val="18102B"/>
                  </a:solidFill>
                  <a:latin typeface="Raleway Bold"/>
                  <a:ea typeface="Raleway Bold"/>
                  <a:cs typeface="Raleway Bold"/>
                  <a:sym typeface="Raleway Bold"/>
                </a:rPr>
                <a:t>oost</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aphicFrame>
        <p:nvGraphicFramePr>
          <p:cNvPr name="Table 3" id="3"/>
          <p:cNvGraphicFramePr>
            <a:graphicFrameLocks noGrp="true"/>
          </p:cNvGraphicFramePr>
          <p:nvPr/>
        </p:nvGraphicFramePr>
        <p:xfrm>
          <a:off x="1028700" y="1520853"/>
          <a:ext cx="8556024" cy="5686425"/>
        </p:xfrm>
        <a:graphic>
          <a:graphicData uri="http://schemas.openxmlformats.org/drawingml/2006/table">
            <a:tbl>
              <a:tblPr/>
              <a:tblGrid>
                <a:gridCol w="2547105"/>
                <a:gridCol w="2247273"/>
                <a:gridCol w="852402"/>
                <a:gridCol w="1256524"/>
                <a:gridCol w="1652719"/>
              </a:tblGrid>
              <a:tr h="516948">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Subset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count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positives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positive_rate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6948">
                <a:tc>
                  <a:txBody>
                    <a:bodyPr anchor="t" rtlCol="false"/>
                    <a:lstStyle/>
                    <a:p>
                      <a:pPr algn="ctr">
                        <a:lnSpc>
                          <a:spcPts val="2308"/>
                        </a:lnSpc>
                        <a:defRPr/>
                      </a:pPr>
                      <a:r>
                        <a:rPr lang="en-US" b="true" sz="1648">
                          <a:solidFill>
                            <a:srgbClr val="000000"/>
                          </a:solidFill>
                          <a:latin typeface="Raleway Bold"/>
                          <a:ea typeface="Raleway Bold"/>
                          <a:cs typeface="Raleway Bold"/>
                          <a:sym typeface="Raleway Bold"/>
                        </a:rPr>
                        <a:t>RecruitmentStrategy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External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237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0.114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b="true" sz="1648">
                          <a:solidFill>
                            <a:srgbClr val="000000"/>
                          </a:solidFill>
                          <a:latin typeface="Raleway Bold"/>
                          <a:ea typeface="Raleway Bold"/>
                          <a:cs typeface="Raleway Bold"/>
                          <a:sym typeface="Raleway Bold"/>
                        </a:rPr>
                        <a:t>RecruitmentStrategy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Internal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133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92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0.692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RecruitmentStrategy</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Referral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80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0.125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Diploma/Bachelor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225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46</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0.204</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High School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98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0.255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Magister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92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0.413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EducationLevel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PhD</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0.571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ExperienceLevel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Junior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48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0.167</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ExperienceLevel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Medior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118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30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0.254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6948">
                <a:tc>
                  <a:txBody>
                    <a:bodyPr anchor="t" rtlCol="false"/>
                    <a:lstStyle/>
                    <a:p>
                      <a:pPr algn="ctr">
                        <a:lnSpc>
                          <a:spcPts val="2308"/>
                        </a:lnSpc>
                        <a:defRPr/>
                      </a:pPr>
                      <a:r>
                        <a:rPr lang="en-US" sz="1648" b="true">
                          <a:solidFill>
                            <a:srgbClr val="000000"/>
                          </a:solidFill>
                          <a:latin typeface="Raleway Bold"/>
                          <a:ea typeface="Raleway Bold"/>
                          <a:cs typeface="Raleway Bold"/>
                          <a:sym typeface="Raleway Bold"/>
                        </a:rPr>
                        <a:t>ExperienceLevel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Senior</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284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91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Raleway"/>
                          <a:ea typeface="Raleway"/>
                          <a:cs typeface="Raleway"/>
                          <a:sym typeface="Raleway"/>
                        </a:rPr>
                        <a:t>0.32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bl>
          </a:graphicData>
        </a:graphic>
      </p:graphicFrame>
      <p:grpSp>
        <p:nvGrpSpPr>
          <p:cNvPr name="Group 4" id="4"/>
          <p:cNvGrpSpPr/>
          <p:nvPr/>
        </p:nvGrpSpPr>
        <p:grpSpPr>
          <a:xfrm rot="0">
            <a:off x="1028700" y="7312053"/>
            <a:ext cx="8738606" cy="2772258"/>
            <a:chOff x="0" y="0"/>
            <a:chExt cx="2382577" cy="755855"/>
          </a:xfrm>
        </p:grpSpPr>
        <p:sp>
          <p:nvSpPr>
            <p:cNvPr name="Freeform 5" id="5"/>
            <p:cNvSpPr/>
            <p:nvPr/>
          </p:nvSpPr>
          <p:spPr>
            <a:xfrm flipH="false" flipV="false" rot="0">
              <a:off x="0" y="0"/>
              <a:ext cx="2382577" cy="755855"/>
            </a:xfrm>
            <a:custGeom>
              <a:avLst/>
              <a:gdLst/>
              <a:ahLst/>
              <a:cxnLst/>
              <a:rect r="r" b="b" t="t" l="l"/>
              <a:pathLst>
                <a:path h="755855" w="2382577">
                  <a:moveTo>
                    <a:pt x="44297" y="0"/>
                  </a:moveTo>
                  <a:lnTo>
                    <a:pt x="2338280" y="0"/>
                  </a:lnTo>
                  <a:cubicBezTo>
                    <a:pt x="2350029" y="0"/>
                    <a:pt x="2361296" y="4667"/>
                    <a:pt x="2369603" y="12974"/>
                  </a:cubicBezTo>
                  <a:cubicBezTo>
                    <a:pt x="2377910" y="21282"/>
                    <a:pt x="2382577" y="32549"/>
                    <a:pt x="2382577" y="44297"/>
                  </a:cubicBezTo>
                  <a:lnTo>
                    <a:pt x="2382577" y="711558"/>
                  </a:lnTo>
                  <a:cubicBezTo>
                    <a:pt x="2382577" y="723306"/>
                    <a:pt x="2377910" y="734573"/>
                    <a:pt x="2369603" y="742881"/>
                  </a:cubicBezTo>
                  <a:cubicBezTo>
                    <a:pt x="2361296" y="751188"/>
                    <a:pt x="2350029" y="755855"/>
                    <a:pt x="2338280" y="755855"/>
                  </a:cubicBezTo>
                  <a:lnTo>
                    <a:pt x="44297" y="755855"/>
                  </a:lnTo>
                  <a:cubicBezTo>
                    <a:pt x="32549" y="755855"/>
                    <a:pt x="21282" y="751188"/>
                    <a:pt x="12974" y="742881"/>
                  </a:cubicBezTo>
                  <a:cubicBezTo>
                    <a:pt x="4667" y="734573"/>
                    <a:pt x="0" y="723306"/>
                    <a:pt x="0" y="711558"/>
                  </a:cubicBezTo>
                  <a:lnTo>
                    <a:pt x="0" y="44297"/>
                  </a:lnTo>
                  <a:cubicBezTo>
                    <a:pt x="0" y="32549"/>
                    <a:pt x="4667" y="21282"/>
                    <a:pt x="12974" y="12974"/>
                  </a:cubicBezTo>
                  <a:cubicBezTo>
                    <a:pt x="21282" y="4667"/>
                    <a:pt x="32549" y="0"/>
                    <a:pt x="44297" y="0"/>
                  </a:cubicBezTo>
                  <a:close/>
                </a:path>
              </a:pathLst>
            </a:custGeom>
            <a:solidFill>
              <a:srgbClr val="A1C7CE"/>
            </a:solidFill>
          </p:spPr>
        </p:sp>
        <p:sp>
          <p:nvSpPr>
            <p:cNvPr name="TextBox 6" id="6"/>
            <p:cNvSpPr txBox="true"/>
            <p:nvPr/>
          </p:nvSpPr>
          <p:spPr>
            <a:xfrm>
              <a:off x="0" y="-9525"/>
              <a:ext cx="2382577" cy="765380"/>
            </a:xfrm>
            <a:prstGeom prst="rect">
              <a:avLst/>
            </a:prstGeom>
          </p:spPr>
          <p:txBody>
            <a:bodyPr anchor="ctr" rtlCol="false" tIns="49361" lIns="49361" bIns="49361" rIns="49361"/>
            <a:lstStyle/>
            <a:p>
              <a:pPr algn="l" marL="323853" indent="-161927" lvl="1">
                <a:lnSpc>
                  <a:spcPts val="1800"/>
                </a:lnSpc>
                <a:buFont typeface="Arial"/>
                <a:buChar char="•"/>
              </a:pPr>
              <a:r>
                <a:rPr lang="en-US" b="true" sz="1500" spc="6">
                  <a:solidFill>
                    <a:srgbClr val="000000"/>
                  </a:solidFill>
                  <a:latin typeface="Raleway Bold"/>
                  <a:ea typeface="Raleway Bold"/>
                  <a:cs typeface="Raleway Bold"/>
                  <a:sym typeface="Raleway Bold"/>
                </a:rPr>
                <a:t>Recruitment Strategy: </a:t>
              </a:r>
              <a:r>
                <a:rPr lang="en-US" sz="1500" spc="6">
                  <a:solidFill>
                    <a:srgbClr val="000000"/>
                  </a:solidFill>
                  <a:latin typeface="Raleway"/>
                  <a:ea typeface="Raleway"/>
                  <a:cs typeface="Raleway"/>
                  <a:sym typeface="Raleway"/>
                </a:rPr>
                <a:t>The model recommends Internal Strategy significantly higher (0.69) than External or Referral Strategy (0.11), indicating a strong preference for internal sources.</a:t>
              </a:r>
            </a:p>
            <a:p>
              <a:pPr algn="ctr">
                <a:lnSpc>
                  <a:spcPts val="1800"/>
                </a:lnSpc>
              </a:pPr>
            </a:p>
            <a:p>
              <a:pPr algn="l" marL="323853" indent="-161927" lvl="1">
                <a:lnSpc>
                  <a:spcPts val="1800"/>
                </a:lnSpc>
                <a:buFont typeface="Arial"/>
                <a:buChar char="•"/>
              </a:pPr>
              <a:r>
                <a:rPr lang="en-US" b="true" sz="1500" spc="6">
                  <a:solidFill>
                    <a:srgbClr val="000000"/>
                  </a:solidFill>
                  <a:latin typeface="Raleway Bold"/>
                  <a:ea typeface="Raleway Bold"/>
                  <a:cs typeface="Raleway Bold"/>
                  <a:sym typeface="Raleway Bold"/>
                </a:rPr>
                <a:t>Educational Level: </a:t>
              </a:r>
              <a:r>
                <a:rPr lang="en-US" sz="1500" spc="6">
                  <a:solidFill>
                    <a:srgbClr val="000000"/>
                  </a:solidFill>
                  <a:latin typeface="Raleway"/>
                  <a:ea typeface="Raleway"/>
                  <a:cs typeface="Raleway"/>
                  <a:sym typeface="Raleway"/>
                </a:rPr>
                <a:t>The model tends to recommend candidates with higher education, particularly Master's (0.41) and PhD (0.57) graduates, compared to candidates with a high school or bachelor's degree (0.20 - 0.35)</a:t>
              </a:r>
            </a:p>
            <a:p>
              <a:pPr algn="ctr">
                <a:lnSpc>
                  <a:spcPts val="1800"/>
                </a:lnSpc>
              </a:pPr>
            </a:p>
            <a:p>
              <a:pPr algn="l" marL="323853" indent="-161927" lvl="1">
                <a:lnSpc>
                  <a:spcPts val="1800"/>
                </a:lnSpc>
                <a:buFont typeface="Arial"/>
                <a:buChar char="•"/>
              </a:pPr>
              <a:r>
                <a:rPr lang="en-US" b="true" sz="1500" spc="6">
                  <a:solidFill>
                    <a:srgbClr val="000000"/>
                  </a:solidFill>
                  <a:latin typeface="Raleway Bold"/>
                  <a:ea typeface="Raleway Bold"/>
                  <a:cs typeface="Raleway Bold"/>
                  <a:sym typeface="Raleway Bold"/>
                </a:rPr>
                <a:t>Experience Level: </a:t>
              </a:r>
              <a:r>
                <a:rPr lang="en-US" sz="1500" spc="6">
                  <a:solidFill>
                    <a:srgbClr val="000000"/>
                  </a:solidFill>
                  <a:latin typeface="Raleway"/>
                  <a:ea typeface="Raleway"/>
                  <a:cs typeface="Raleway"/>
                  <a:sym typeface="Raleway"/>
                </a:rPr>
                <a:t>The model prioritizes senior candidates, but the difference in positive rates across experience levels (Junior, Intermediate, Senior) does not show the extreme gaps found in education or recruitment strategy categories.</a:t>
              </a:r>
            </a:p>
          </p:txBody>
        </p:sp>
      </p:grpSp>
      <p:graphicFrame>
        <p:nvGraphicFramePr>
          <p:cNvPr name="Table 7" id="7"/>
          <p:cNvGraphicFramePr>
            <a:graphicFrameLocks noGrp="true"/>
          </p:cNvGraphicFramePr>
          <p:nvPr/>
        </p:nvGraphicFramePr>
        <p:xfrm>
          <a:off x="9767306" y="1520853"/>
          <a:ext cx="8189081" cy="5154934"/>
        </p:xfrm>
        <a:graphic>
          <a:graphicData uri="http://schemas.openxmlformats.org/drawingml/2006/table">
            <a:tbl>
              <a:tblPr/>
              <a:tblGrid>
                <a:gridCol w="2437868"/>
                <a:gridCol w="2150894"/>
                <a:gridCol w="815845"/>
                <a:gridCol w="1202635"/>
                <a:gridCol w="1581839"/>
              </a:tblGrid>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Feature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Subset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count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positives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positive_rate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19367">
                <a:tc>
                  <a:txBody>
                    <a:bodyPr anchor="t" rtlCol="false"/>
                    <a:lstStyle/>
                    <a:p>
                      <a:pPr algn="ctr">
                        <a:lnSpc>
                          <a:spcPts val="2308"/>
                        </a:lnSpc>
                        <a:defRPr/>
                      </a:pPr>
                      <a:r>
                        <a:rPr lang="en-US" b="true" sz="1648">
                          <a:solidFill>
                            <a:srgbClr val="000000"/>
                          </a:solidFill>
                          <a:latin typeface="Canva Sans Bold"/>
                          <a:ea typeface="Canva Sans Bold"/>
                          <a:cs typeface="Canva Sans Bold"/>
                          <a:sym typeface="Canva Sans Bold"/>
                        </a:rPr>
                        <a:t>InterviewScore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Low</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154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41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0.266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b="true" sz="1648">
                          <a:solidFill>
                            <a:srgbClr val="000000"/>
                          </a:solidFill>
                          <a:latin typeface="Canva Sans Bold"/>
                          <a:ea typeface="Canva Sans Bold"/>
                          <a:cs typeface="Canva Sans Bold"/>
                          <a:sym typeface="Canva Sans Bold"/>
                        </a:rPr>
                        <a:t>InterviewScore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Medium</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153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28</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0.183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InterviewScore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High</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143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60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0.42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SkillScore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Low</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140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25</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0.179</a:t>
                      </a:r>
                      <a:endParaRPr lang="en-US" sz="1100"/>
                    </a:p>
                  </a:txBody>
                  <a:tcPr marL="76200" marR="76200" marT="76200" marB="762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SkillScore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Medium</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151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43</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0.285</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SkillScore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High</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159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61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0.384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PersonalityScore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Low</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161</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39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0.242</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PersonalityScore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Medium</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139</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30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0.216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15063">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PersonalityScore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High</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150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60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0.4</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bl>
          </a:graphicData>
        </a:graphic>
      </p:graphicFrame>
      <p:grpSp>
        <p:nvGrpSpPr>
          <p:cNvPr name="Group 8" id="8"/>
          <p:cNvGrpSpPr/>
          <p:nvPr/>
        </p:nvGrpSpPr>
        <p:grpSpPr>
          <a:xfrm rot="0">
            <a:off x="9910570" y="7207278"/>
            <a:ext cx="8045818" cy="2051022"/>
            <a:chOff x="0" y="0"/>
            <a:chExt cx="2193689" cy="559210"/>
          </a:xfrm>
        </p:grpSpPr>
        <p:sp>
          <p:nvSpPr>
            <p:cNvPr name="Freeform 9" id="9"/>
            <p:cNvSpPr/>
            <p:nvPr/>
          </p:nvSpPr>
          <p:spPr>
            <a:xfrm flipH="false" flipV="false" rot="0">
              <a:off x="0" y="0"/>
              <a:ext cx="2193689" cy="559210"/>
            </a:xfrm>
            <a:custGeom>
              <a:avLst/>
              <a:gdLst/>
              <a:ahLst/>
              <a:cxnLst/>
              <a:rect r="r" b="b" t="t" l="l"/>
              <a:pathLst>
                <a:path h="559210" w="2193689">
                  <a:moveTo>
                    <a:pt x="48111" y="0"/>
                  </a:moveTo>
                  <a:lnTo>
                    <a:pt x="2145578" y="0"/>
                  </a:lnTo>
                  <a:cubicBezTo>
                    <a:pt x="2172149" y="0"/>
                    <a:pt x="2193689" y="21540"/>
                    <a:pt x="2193689" y="48111"/>
                  </a:cubicBezTo>
                  <a:lnTo>
                    <a:pt x="2193689" y="511099"/>
                  </a:lnTo>
                  <a:cubicBezTo>
                    <a:pt x="2193689" y="523859"/>
                    <a:pt x="2188620" y="536096"/>
                    <a:pt x="2179597" y="545119"/>
                  </a:cubicBezTo>
                  <a:cubicBezTo>
                    <a:pt x="2170575" y="554142"/>
                    <a:pt x="2158337" y="559210"/>
                    <a:pt x="2145578" y="559210"/>
                  </a:cubicBezTo>
                  <a:lnTo>
                    <a:pt x="48111" y="559210"/>
                  </a:lnTo>
                  <a:cubicBezTo>
                    <a:pt x="35352" y="559210"/>
                    <a:pt x="23114" y="554142"/>
                    <a:pt x="14092" y="545119"/>
                  </a:cubicBezTo>
                  <a:cubicBezTo>
                    <a:pt x="5069" y="536096"/>
                    <a:pt x="0" y="523859"/>
                    <a:pt x="0" y="511099"/>
                  </a:cubicBezTo>
                  <a:lnTo>
                    <a:pt x="0" y="48111"/>
                  </a:lnTo>
                  <a:cubicBezTo>
                    <a:pt x="0" y="35352"/>
                    <a:pt x="5069" y="23114"/>
                    <a:pt x="14092" y="14092"/>
                  </a:cubicBezTo>
                  <a:cubicBezTo>
                    <a:pt x="23114" y="5069"/>
                    <a:pt x="35352" y="0"/>
                    <a:pt x="48111" y="0"/>
                  </a:cubicBezTo>
                  <a:close/>
                </a:path>
              </a:pathLst>
            </a:custGeom>
            <a:solidFill>
              <a:srgbClr val="A1C7CE"/>
            </a:solidFill>
          </p:spPr>
        </p:sp>
        <p:sp>
          <p:nvSpPr>
            <p:cNvPr name="TextBox 10" id="10"/>
            <p:cNvSpPr txBox="true"/>
            <p:nvPr/>
          </p:nvSpPr>
          <p:spPr>
            <a:xfrm>
              <a:off x="0" y="-9525"/>
              <a:ext cx="2193689" cy="568735"/>
            </a:xfrm>
            <a:prstGeom prst="rect">
              <a:avLst/>
            </a:prstGeom>
          </p:spPr>
          <p:txBody>
            <a:bodyPr anchor="t" rtlCol="false" tIns="49361" lIns="49361" bIns="49361" rIns="49361"/>
            <a:lstStyle/>
            <a:p>
              <a:pPr algn="l">
                <a:lnSpc>
                  <a:spcPts val="1800"/>
                </a:lnSpc>
              </a:pPr>
            </a:p>
            <a:p>
              <a:pPr algn="l" marL="323853" indent="-161927" lvl="1">
                <a:lnSpc>
                  <a:spcPts val="1800"/>
                </a:lnSpc>
                <a:buFont typeface="Arial"/>
                <a:buChar char="•"/>
              </a:pPr>
              <a:r>
                <a:rPr lang="en-US" sz="1500" spc="6">
                  <a:solidFill>
                    <a:srgbClr val="000000"/>
                  </a:solidFill>
                  <a:latin typeface="Raleway"/>
                  <a:ea typeface="Raleway"/>
                  <a:cs typeface="Raleway"/>
                  <a:sym typeface="Raleway"/>
                </a:rPr>
                <a:t>The model shows a pattern where higher scores increase a candidate's chances of being recommended for recruitment, particularly in the High score category.</a:t>
              </a:r>
            </a:p>
            <a:p>
              <a:pPr algn="l">
                <a:lnSpc>
                  <a:spcPts val="1800"/>
                </a:lnSpc>
              </a:pPr>
            </a:p>
            <a:p>
              <a:pPr algn="l" marL="323853" indent="-161927" lvl="1">
                <a:lnSpc>
                  <a:spcPts val="1800"/>
                </a:lnSpc>
                <a:buFont typeface="Arial"/>
                <a:buChar char="•"/>
              </a:pPr>
              <a:r>
                <a:rPr lang="en-US" sz="1500" spc="6">
                  <a:solidFill>
                    <a:srgbClr val="000000"/>
                  </a:solidFill>
                  <a:latin typeface="Raleway"/>
                  <a:ea typeface="Raleway"/>
                  <a:cs typeface="Raleway"/>
                  <a:sym typeface="Raleway"/>
                </a:rPr>
                <a:t>The most significant gap is seen in the Interview Score, followed by the Personality Score. Meanwhile, Skill Score shows a more stable pattern across the Medium and High score ranges.</a:t>
              </a:r>
            </a:p>
          </p:txBody>
        </p:sp>
      </p:grpSp>
      <p:sp>
        <p:nvSpPr>
          <p:cNvPr name="TextBox 11" id="11"/>
          <p:cNvSpPr txBox="true"/>
          <p:nvPr/>
        </p:nvSpPr>
        <p:spPr>
          <a:xfrm rot="0">
            <a:off x="702291" y="350823"/>
            <a:ext cx="9877297" cy="1062670"/>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Fairness and Bias Analysis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7056552" y="1507010"/>
            <a:ext cx="10499537" cy="4273868"/>
            <a:chOff x="0" y="0"/>
            <a:chExt cx="2862694" cy="1165268"/>
          </a:xfrm>
        </p:grpSpPr>
        <p:sp>
          <p:nvSpPr>
            <p:cNvPr name="Freeform 4" id="4"/>
            <p:cNvSpPr/>
            <p:nvPr/>
          </p:nvSpPr>
          <p:spPr>
            <a:xfrm flipH="false" flipV="false" rot="0">
              <a:off x="0" y="0"/>
              <a:ext cx="2862694" cy="1165268"/>
            </a:xfrm>
            <a:custGeom>
              <a:avLst/>
              <a:gdLst/>
              <a:ahLst/>
              <a:cxnLst/>
              <a:rect r="r" b="b" t="t" l="l"/>
              <a:pathLst>
                <a:path h="1165268" w="2862694">
                  <a:moveTo>
                    <a:pt x="36868" y="0"/>
                  </a:moveTo>
                  <a:lnTo>
                    <a:pt x="2825827" y="0"/>
                  </a:lnTo>
                  <a:cubicBezTo>
                    <a:pt x="2835604" y="0"/>
                    <a:pt x="2844982" y="3884"/>
                    <a:pt x="2851896" y="10798"/>
                  </a:cubicBezTo>
                  <a:cubicBezTo>
                    <a:pt x="2858810" y="17712"/>
                    <a:pt x="2862694" y="27090"/>
                    <a:pt x="2862694" y="36868"/>
                  </a:cubicBezTo>
                  <a:lnTo>
                    <a:pt x="2862694" y="1128401"/>
                  </a:lnTo>
                  <a:cubicBezTo>
                    <a:pt x="2862694" y="1138178"/>
                    <a:pt x="2858810" y="1147556"/>
                    <a:pt x="2851896" y="1154470"/>
                  </a:cubicBezTo>
                  <a:cubicBezTo>
                    <a:pt x="2844982" y="1161384"/>
                    <a:pt x="2835604" y="1165268"/>
                    <a:pt x="2825827" y="1165268"/>
                  </a:cubicBezTo>
                  <a:lnTo>
                    <a:pt x="36868" y="1165268"/>
                  </a:lnTo>
                  <a:cubicBezTo>
                    <a:pt x="16506" y="1165268"/>
                    <a:pt x="0" y="1148762"/>
                    <a:pt x="0" y="1128401"/>
                  </a:cubicBezTo>
                  <a:lnTo>
                    <a:pt x="0" y="36868"/>
                  </a:lnTo>
                  <a:cubicBezTo>
                    <a:pt x="0" y="27090"/>
                    <a:pt x="3884" y="17712"/>
                    <a:pt x="10798" y="10798"/>
                  </a:cubicBezTo>
                  <a:cubicBezTo>
                    <a:pt x="17712" y="3884"/>
                    <a:pt x="27090" y="0"/>
                    <a:pt x="36868" y="0"/>
                  </a:cubicBezTo>
                  <a:close/>
                </a:path>
              </a:pathLst>
            </a:custGeom>
            <a:solidFill>
              <a:srgbClr val="CBD5E1"/>
            </a:solidFill>
          </p:spPr>
        </p:sp>
        <p:sp>
          <p:nvSpPr>
            <p:cNvPr name="TextBox 5" id="5"/>
            <p:cNvSpPr txBox="true"/>
            <p:nvPr/>
          </p:nvSpPr>
          <p:spPr>
            <a:xfrm>
              <a:off x="0" y="-19050"/>
              <a:ext cx="2862694" cy="1184318"/>
            </a:xfrm>
            <a:prstGeom prst="rect">
              <a:avLst/>
            </a:prstGeom>
          </p:spPr>
          <p:txBody>
            <a:bodyPr anchor="ctr" rtlCol="false" tIns="49361" lIns="49361" bIns="49361" rIns="49361"/>
            <a:lstStyle/>
            <a:p>
              <a:pPr algn="l" marL="345443" indent="-172721" lvl="1">
                <a:lnSpc>
                  <a:spcPts val="1920"/>
                </a:lnSpc>
                <a:buFont typeface="Arial"/>
                <a:buChar char="•"/>
              </a:pPr>
              <a:r>
                <a:rPr lang="en-US" b="true" sz="1600" spc="6">
                  <a:solidFill>
                    <a:srgbClr val="000000"/>
                  </a:solidFill>
                  <a:latin typeface="Poppins Bold"/>
                  <a:ea typeface="Poppins Bold"/>
                  <a:cs typeface="Poppins Bold"/>
                  <a:sym typeface="Poppins Bold"/>
                </a:rPr>
                <a:t>RecruitmentStrategy_External is the most influential factor</a:t>
              </a:r>
              <a:r>
                <a:rPr lang="en-US" sz="1600" spc="6">
                  <a:solidFill>
                    <a:srgbClr val="000000"/>
                  </a:solidFill>
                  <a:latin typeface="Poppins"/>
                  <a:ea typeface="Poppins"/>
                  <a:cs typeface="Poppins"/>
                  <a:sym typeface="Poppins"/>
                </a:rPr>
                <a:t>, with high feature scores (red) having a very strong negative impact on recruitment decisions.</a:t>
              </a:r>
            </a:p>
            <a:p>
              <a:pPr algn="l">
                <a:lnSpc>
                  <a:spcPts val="1920"/>
                </a:lnSpc>
              </a:pPr>
            </a:p>
            <a:p>
              <a:pPr algn="l" marL="345443" indent="-172721" lvl="1">
                <a:lnSpc>
                  <a:spcPts val="1920"/>
                </a:lnSpc>
                <a:buFont typeface="Arial"/>
                <a:buChar char="•"/>
              </a:pPr>
              <a:r>
                <a:rPr lang="en-US" b="true" sz="1600" spc="6">
                  <a:solidFill>
                    <a:srgbClr val="000000"/>
                  </a:solidFill>
                  <a:latin typeface="Poppins Bold"/>
                  <a:ea typeface="Poppins Bold"/>
                  <a:cs typeface="Poppins Bold"/>
                  <a:sym typeface="Poppins Bold"/>
                </a:rPr>
                <a:t>EducationLevel  had a significant positive impact</a:t>
              </a:r>
              <a:r>
                <a:rPr lang="en-US" sz="1600" spc="6">
                  <a:solidFill>
                    <a:srgbClr val="000000"/>
                  </a:solidFill>
                  <a:latin typeface="Poppins"/>
                  <a:ea typeface="Poppins"/>
                  <a:cs typeface="Poppins"/>
                  <a:sym typeface="Poppins"/>
                </a:rPr>
                <a:t>; the higher a candidate's education level and total score, the greater their likelihood of being recommended.</a:t>
              </a:r>
            </a:p>
            <a:p>
              <a:pPr algn="l">
                <a:lnSpc>
                  <a:spcPts val="1920"/>
                </a:lnSpc>
              </a:pPr>
            </a:p>
            <a:p>
              <a:pPr algn="l" marL="345443" indent="-172721" lvl="1">
                <a:lnSpc>
                  <a:spcPts val="1920"/>
                </a:lnSpc>
                <a:buFont typeface="Arial"/>
                <a:buChar char="•"/>
              </a:pPr>
              <a:r>
                <a:rPr lang="en-US" b="true" sz="1600" spc="6">
                  <a:solidFill>
                    <a:srgbClr val="000000"/>
                  </a:solidFill>
                  <a:latin typeface="Poppins Bold"/>
                  <a:ea typeface="Poppins Bold"/>
                  <a:cs typeface="Poppins Bold"/>
                  <a:sym typeface="Poppins Bold"/>
                </a:rPr>
                <a:t>PersonalityScore, InterviewScore, and SkillScore consistently showed a positive impact on the model</a:t>
              </a:r>
              <a:r>
                <a:rPr lang="en-US" sz="1600" spc="6">
                  <a:solidFill>
                    <a:srgbClr val="000000"/>
                  </a:solidFill>
                  <a:latin typeface="Poppins"/>
                  <a:ea typeface="Poppins"/>
                  <a:cs typeface="Poppins"/>
                  <a:sym typeface="Poppins"/>
                </a:rPr>
                <a:t>. Candidates with high evaluation scores on these aspects were more likely to be hired.</a:t>
              </a:r>
            </a:p>
            <a:p>
              <a:pPr algn="l">
                <a:lnSpc>
                  <a:spcPts val="1920"/>
                </a:lnSpc>
              </a:pPr>
            </a:p>
            <a:p>
              <a:pPr algn="l" marL="345443" indent="-172721" lvl="1">
                <a:lnSpc>
                  <a:spcPts val="1920"/>
                </a:lnSpc>
                <a:buFont typeface="Arial"/>
                <a:buChar char="•"/>
              </a:pPr>
              <a:r>
                <a:rPr lang="en-US" b="true" sz="1600" spc="6">
                  <a:solidFill>
                    <a:srgbClr val="000000"/>
                  </a:solidFill>
                  <a:latin typeface="Poppins Bold"/>
                  <a:ea typeface="Poppins Bold"/>
                  <a:cs typeface="Poppins Bold"/>
                  <a:sym typeface="Poppins Bold"/>
                </a:rPr>
                <a:t>The remaining factors, such as DistanceFromCompany, Age, and ExperienceLevel_Senior, had minimal or almost neutral impacts</a:t>
              </a:r>
              <a:r>
                <a:rPr lang="en-US" sz="1600" spc="6">
                  <a:solidFill>
                    <a:srgbClr val="000000"/>
                  </a:solidFill>
                  <a:latin typeface="Poppins"/>
                  <a:ea typeface="Poppins"/>
                  <a:cs typeface="Poppins"/>
                  <a:sym typeface="Poppins"/>
                </a:rPr>
                <a:t> on the prediction model output.</a:t>
              </a:r>
            </a:p>
            <a:p>
              <a:pPr algn="l">
                <a:lnSpc>
                  <a:spcPts val="1920"/>
                </a:lnSpc>
              </a:pPr>
            </a:p>
            <a:p>
              <a:pPr algn="l" marL="345443" indent="-172721" lvl="1">
                <a:lnSpc>
                  <a:spcPts val="1920"/>
                </a:lnSpc>
                <a:buFont typeface="Arial"/>
                <a:buChar char="•"/>
              </a:pPr>
              <a:r>
                <a:rPr lang="en-US" b="true" sz="1600" spc="6">
                  <a:solidFill>
                    <a:srgbClr val="000000"/>
                  </a:solidFill>
                  <a:latin typeface="Poppins Bold"/>
                  <a:ea typeface="Poppins Bold"/>
                  <a:cs typeface="Poppins Bold"/>
                  <a:sym typeface="Poppins Bold"/>
                </a:rPr>
                <a:t>Conclusion:</a:t>
              </a:r>
              <a:r>
                <a:rPr lang="en-US" sz="1600" spc="6">
                  <a:solidFill>
                    <a:srgbClr val="000000"/>
                  </a:solidFill>
                  <a:latin typeface="Poppins"/>
                  <a:ea typeface="Poppins"/>
                  <a:cs typeface="Poppins"/>
                  <a:sym typeface="Poppins"/>
                </a:rPr>
                <a:t> The model was heavily influenced by the recruitment channel (External) and the candidate's academic quality/evaluation score, while demographic factors and specific experience (Senior) were not significant determinants in this model.</a:t>
              </a:r>
            </a:p>
          </p:txBody>
        </p:sp>
      </p:grpSp>
      <p:grpSp>
        <p:nvGrpSpPr>
          <p:cNvPr name="Group 6" id="6"/>
          <p:cNvGrpSpPr/>
          <p:nvPr/>
        </p:nvGrpSpPr>
        <p:grpSpPr>
          <a:xfrm rot="0">
            <a:off x="7056552" y="6061512"/>
            <a:ext cx="3806214" cy="3666896"/>
            <a:chOff x="0" y="0"/>
            <a:chExt cx="1037763" cy="999778"/>
          </a:xfrm>
        </p:grpSpPr>
        <p:sp>
          <p:nvSpPr>
            <p:cNvPr name="Freeform 7" id="7"/>
            <p:cNvSpPr/>
            <p:nvPr/>
          </p:nvSpPr>
          <p:spPr>
            <a:xfrm flipH="false" flipV="false" rot="0">
              <a:off x="0" y="0"/>
              <a:ext cx="1037763" cy="999778"/>
            </a:xfrm>
            <a:custGeom>
              <a:avLst/>
              <a:gdLst/>
              <a:ahLst/>
              <a:cxnLst/>
              <a:rect r="r" b="b" t="t" l="l"/>
              <a:pathLst>
                <a:path h="999778" w="1037763">
                  <a:moveTo>
                    <a:pt x="101701" y="0"/>
                  </a:moveTo>
                  <a:lnTo>
                    <a:pt x="936062" y="0"/>
                  </a:lnTo>
                  <a:cubicBezTo>
                    <a:pt x="992230" y="0"/>
                    <a:pt x="1037763" y="45533"/>
                    <a:pt x="1037763" y="101701"/>
                  </a:cubicBezTo>
                  <a:lnTo>
                    <a:pt x="1037763" y="898077"/>
                  </a:lnTo>
                  <a:cubicBezTo>
                    <a:pt x="1037763" y="954245"/>
                    <a:pt x="992230" y="999778"/>
                    <a:pt x="936062" y="999778"/>
                  </a:cubicBezTo>
                  <a:lnTo>
                    <a:pt x="101701" y="999778"/>
                  </a:lnTo>
                  <a:cubicBezTo>
                    <a:pt x="45533" y="999778"/>
                    <a:pt x="0" y="954245"/>
                    <a:pt x="0" y="898077"/>
                  </a:cubicBezTo>
                  <a:lnTo>
                    <a:pt x="0" y="101701"/>
                  </a:lnTo>
                  <a:cubicBezTo>
                    <a:pt x="0" y="45533"/>
                    <a:pt x="45533" y="0"/>
                    <a:pt x="101701" y="0"/>
                  </a:cubicBezTo>
                  <a:close/>
                </a:path>
              </a:pathLst>
            </a:custGeom>
            <a:solidFill>
              <a:srgbClr val="F8FAFC"/>
            </a:solidFill>
          </p:spPr>
        </p:sp>
        <p:sp>
          <p:nvSpPr>
            <p:cNvPr name="TextBox 8" id="8"/>
            <p:cNvSpPr txBox="true"/>
            <p:nvPr/>
          </p:nvSpPr>
          <p:spPr>
            <a:xfrm>
              <a:off x="0" y="-142875"/>
              <a:ext cx="1037763" cy="1142653"/>
            </a:xfrm>
            <a:prstGeom prst="rect">
              <a:avLst/>
            </a:prstGeom>
          </p:spPr>
          <p:txBody>
            <a:bodyPr anchor="t" rtlCol="false" tIns="317500" lIns="317500" bIns="317500" rIns="317500"/>
            <a:lstStyle/>
            <a:p>
              <a:pPr algn="l">
                <a:lnSpc>
                  <a:spcPts val="3216"/>
                </a:lnSpc>
              </a:pPr>
              <a:r>
                <a:rPr lang="en-US" sz="1600" spc="6">
                  <a:solidFill>
                    <a:srgbClr val="000000"/>
                  </a:solidFill>
                  <a:latin typeface="Poppins"/>
                  <a:ea typeface="Poppins"/>
                  <a:cs typeface="Poppins"/>
                  <a:sym typeface="Poppins"/>
                </a:rPr>
                <a:t>The graph shows that </a:t>
              </a:r>
              <a:r>
                <a:rPr lang="en-US" sz="1600" spc="6" b="true">
                  <a:solidFill>
                    <a:srgbClr val="000000"/>
                  </a:solidFill>
                  <a:latin typeface="Poppins Bold"/>
                  <a:ea typeface="Poppins Bold"/>
                  <a:cs typeface="Poppins Bold"/>
                  <a:sym typeface="Poppins Bold"/>
                </a:rPr>
                <a:t>RecruitmentStrategy_Referral, RecruitmentStrategy_External, and ExperienceLevel_Medior are the most influential features </a:t>
              </a:r>
              <a:r>
                <a:rPr lang="en-US" sz="1600" spc="6">
                  <a:solidFill>
                    <a:srgbClr val="000000"/>
                  </a:solidFill>
                  <a:latin typeface="Poppins"/>
                  <a:ea typeface="Poppins"/>
                  <a:cs typeface="Poppins"/>
                  <a:sym typeface="Poppins"/>
                </a:rPr>
                <a:t>in this recruitment prediction model.</a:t>
              </a:r>
            </a:p>
          </p:txBody>
        </p:sp>
      </p:grpSp>
      <p:grpSp>
        <p:nvGrpSpPr>
          <p:cNvPr name="Group 9" id="9"/>
          <p:cNvGrpSpPr/>
          <p:nvPr/>
        </p:nvGrpSpPr>
        <p:grpSpPr>
          <a:xfrm rot="0">
            <a:off x="5766191" y="3298811"/>
            <a:ext cx="1112095" cy="690266"/>
            <a:chOff x="0" y="0"/>
            <a:chExt cx="736600" cy="457200"/>
          </a:xfrm>
        </p:grpSpPr>
        <p:sp>
          <p:nvSpPr>
            <p:cNvPr name="Freeform 10" id="10"/>
            <p:cNvSpPr/>
            <p:nvPr/>
          </p:nvSpPr>
          <p:spPr>
            <a:xfrm flipH="false" flipV="false" rot="0">
              <a:off x="0" y="0"/>
              <a:ext cx="736600" cy="457200"/>
            </a:xfrm>
            <a:custGeom>
              <a:avLst/>
              <a:gdLst/>
              <a:ahLst/>
              <a:cxnLst/>
              <a:rect r="r" b="b" t="t" l="l"/>
              <a:pathLst>
                <a:path h="457200" w="736600">
                  <a:moveTo>
                    <a:pt x="736600" y="228606"/>
                  </a:moveTo>
                  <a:lnTo>
                    <a:pt x="476634" y="457200"/>
                  </a:lnTo>
                  <a:lnTo>
                    <a:pt x="492392" y="332453"/>
                  </a:lnTo>
                  <a:lnTo>
                    <a:pt x="244208" y="332453"/>
                  </a:lnTo>
                  <a:lnTo>
                    <a:pt x="259966" y="457200"/>
                  </a:lnTo>
                  <a:lnTo>
                    <a:pt x="0" y="228606"/>
                  </a:lnTo>
                  <a:lnTo>
                    <a:pt x="259966" y="0"/>
                  </a:lnTo>
                  <a:lnTo>
                    <a:pt x="244196" y="124785"/>
                  </a:lnTo>
                  <a:lnTo>
                    <a:pt x="492404" y="124785"/>
                  </a:lnTo>
                  <a:lnTo>
                    <a:pt x="476634" y="0"/>
                  </a:lnTo>
                  <a:lnTo>
                    <a:pt x="736600" y="228606"/>
                  </a:lnTo>
                  <a:close/>
                </a:path>
              </a:pathLst>
            </a:custGeom>
            <a:solidFill>
              <a:srgbClr val="365B6D"/>
            </a:solidFill>
          </p:spPr>
        </p:sp>
        <p:sp>
          <p:nvSpPr>
            <p:cNvPr name="TextBox 11" id="11"/>
            <p:cNvSpPr txBox="true"/>
            <p:nvPr/>
          </p:nvSpPr>
          <p:spPr>
            <a:xfrm>
              <a:off x="114300" y="117475"/>
              <a:ext cx="508000" cy="212725"/>
            </a:xfrm>
            <a:prstGeom prst="rect">
              <a:avLst/>
            </a:prstGeom>
          </p:spPr>
          <p:txBody>
            <a:bodyPr anchor="ctr" rtlCol="false" tIns="50800" lIns="50800" bIns="50800" rIns="50800"/>
            <a:lstStyle/>
            <a:p>
              <a:pPr algn="ctr">
                <a:lnSpc>
                  <a:spcPts val="3120"/>
                </a:lnSpc>
              </a:pPr>
            </a:p>
          </p:txBody>
        </p:sp>
      </p:grpSp>
      <p:grpSp>
        <p:nvGrpSpPr>
          <p:cNvPr name="Group 12" id="12"/>
          <p:cNvGrpSpPr/>
          <p:nvPr/>
        </p:nvGrpSpPr>
        <p:grpSpPr>
          <a:xfrm rot="0">
            <a:off x="5766191" y="7534370"/>
            <a:ext cx="1112095" cy="690266"/>
            <a:chOff x="0" y="0"/>
            <a:chExt cx="736600" cy="457200"/>
          </a:xfrm>
        </p:grpSpPr>
        <p:sp>
          <p:nvSpPr>
            <p:cNvPr name="Freeform 13" id="13"/>
            <p:cNvSpPr/>
            <p:nvPr/>
          </p:nvSpPr>
          <p:spPr>
            <a:xfrm flipH="false" flipV="false" rot="0">
              <a:off x="0" y="0"/>
              <a:ext cx="736600" cy="457200"/>
            </a:xfrm>
            <a:custGeom>
              <a:avLst/>
              <a:gdLst/>
              <a:ahLst/>
              <a:cxnLst/>
              <a:rect r="r" b="b" t="t" l="l"/>
              <a:pathLst>
                <a:path h="457200" w="736600">
                  <a:moveTo>
                    <a:pt x="736600" y="228606"/>
                  </a:moveTo>
                  <a:lnTo>
                    <a:pt x="476634" y="457200"/>
                  </a:lnTo>
                  <a:lnTo>
                    <a:pt x="492392" y="332453"/>
                  </a:lnTo>
                  <a:lnTo>
                    <a:pt x="244208" y="332453"/>
                  </a:lnTo>
                  <a:lnTo>
                    <a:pt x="259966" y="457200"/>
                  </a:lnTo>
                  <a:lnTo>
                    <a:pt x="0" y="228606"/>
                  </a:lnTo>
                  <a:lnTo>
                    <a:pt x="259966" y="0"/>
                  </a:lnTo>
                  <a:lnTo>
                    <a:pt x="244196" y="124785"/>
                  </a:lnTo>
                  <a:lnTo>
                    <a:pt x="492404" y="124785"/>
                  </a:lnTo>
                  <a:lnTo>
                    <a:pt x="476634" y="0"/>
                  </a:lnTo>
                  <a:lnTo>
                    <a:pt x="736600" y="228606"/>
                  </a:lnTo>
                  <a:close/>
                </a:path>
              </a:pathLst>
            </a:custGeom>
            <a:solidFill>
              <a:srgbClr val="365B6D"/>
            </a:solidFill>
          </p:spPr>
        </p:sp>
        <p:sp>
          <p:nvSpPr>
            <p:cNvPr name="TextBox 14" id="14"/>
            <p:cNvSpPr txBox="true"/>
            <p:nvPr/>
          </p:nvSpPr>
          <p:spPr>
            <a:xfrm>
              <a:off x="114300" y="117475"/>
              <a:ext cx="508000" cy="212725"/>
            </a:xfrm>
            <a:prstGeom prst="rect">
              <a:avLst/>
            </a:prstGeom>
          </p:spPr>
          <p:txBody>
            <a:bodyPr anchor="ctr" rtlCol="false" tIns="50800" lIns="50800" bIns="50800" rIns="50800"/>
            <a:lstStyle/>
            <a:p>
              <a:pPr algn="ctr">
                <a:lnSpc>
                  <a:spcPts val="3120"/>
                </a:lnSpc>
              </a:pPr>
            </a:p>
          </p:txBody>
        </p:sp>
      </p:grpSp>
      <p:sp>
        <p:nvSpPr>
          <p:cNvPr name="Freeform 15" id="15"/>
          <p:cNvSpPr/>
          <p:nvPr/>
        </p:nvSpPr>
        <p:spPr>
          <a:xfrm flipH="false" flipV="false" rot="0">
            <a:off x="952026" y="1634037"/>
            <a:ext cx="4712572" cy="4206931"/>
          </a:xfrm>
          <a:custGeom>
            <a:avLst/>
            <a:gdLst/>
            <a:ahLst/>
            <a:cxnLst/>
            <a:rect r="r" b="b" t="t" l="l"/>
            <a:pathLst>
              <a:path h="4206931" w="4712572">
                <a:moveTo>
                  <a:pt x="0" y="0"/>
                </a:moveTo>
                <a:lnTo>
                  <a:pt x="4712573" y="0"/>
                </a:lnTo>
                <a:lnTo>
                  <a:pt x="4712573" y="4206931"/>
                </a:lnTo>
                <a:lnTo>
                  <a:pt x="0" y="4206931"/>
                </a:lnTo>
                <a:lnTo>
                  <a:pt x="0" y="0"/>
                </a:lnTo>
                <a:close/>
              </a:path>
            </a:pathLst>
          </a:custGeom>
          <a:blipFill>
            <a:blip r:embed="rId3"/>
            <a:stretch>
              <a:fillRect l="0" t="0" r="0" b="0"/>
            </a:stretch>
          </a:blipFill>
        </p:spPr>
      </p:sp>
      <p:sp>
        <p:nvSpPr>
          <p:cNvPr name="Freeform 16" id="16"/>
          <p:cNvSpPr/>
          <p:nvPr/>
        </p:nvSpPr>
        <p:spPr>
          <a:xfrm flipH="false" flipV="false" rot="0">
            <a:off x="1028700" y="6100282"/>
            <a:ext cx="4556516" cy="3628126"/>
          </a:xfrm>
          <a:custGeom>
            <a:avLst/>
            <a:gdLst/>
            <a:ahLst/>
            <a:cxnLst/>
            <a:rect r="r" b="b" t="t" l="l"/>
            <a:pathLst>
              <a:path h="3628126" w="4556516">
                <a:moveTo>
                  <a:pt x="0" y="0"/>
                </a:moveTo>
                <a:lnTo>
                  <a:pt x="4556516" y="0"/>
                </a:lnTo>
                <a:lnTo>
                  <a:pt x="4556516" y="3628126"/>
                </a:lnTo>
                <a:lnTo>
                  <a:pt x="0" y="3628126"/>
                </a:lnTo>
                <a:lnTo>
                  <a:pt x="0" y="0"/>
                </a:lnTo>
                <a:close/>
              </a:path>
            </a:pathLst>
          </a:custGeom>
          <a:blipFill>
            <a:blip r:embed="rId4"/>
            <a:stretch>
              <a:fillRect l="0" t="0" r="0" b="0"/>
            </a:stretch>
          </a:blipFill>
        </p:spPr>
      </p:sp>
      <p:sp>
        <p:nvSpPr>
          <p:cNvPr name="TextBox 17" id="17"/>
          <p:cNvSpPr txBox="true"/>
          <p:nvPr/>
        </p:nvSpPr>
        <p:spPr>
          <a:xfrm rot="0">
            <a:off x="702291" y="350823"/>
            <a:ext cx="7668670" cy="1062670"/>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Feature Importance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702291" y="350823"/>
            <a:ext cx="6219698" cy="1062736"/>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 Business Impact</a:t>
            </a:r>
          </a:p>
        </p:txBody>
      </p:sp>
      <p:grpSp>
        <p:nvGrpSpPr>
          <p:cNvPr name="Group 4" id="4"/>
          <p:cNvGrpSpPr/>
          <p:nvPr/>
        </p:nvGrpSpPr>
        <p:grpSpPr>
          <a:xfrm rot="0">
            <a:off x="709450" y="2259511"/>
            <a:ext cx="8010838" cy="3264852"/>
            <a:chOff x="0" y="0"/>
            <a:chExt cx="2184152" cy="890161"/>
          </a:xfrm>
        </p:grpSpPr>
        <p:sp>
          <p:nvSpPr>
            <p:cNvPr name="Freeform 5" id="5"/>
            <p:cNvSpPr/>
            <p:nvPr/>
          </p:nvSpPr>
          <p:spPr>
            <a:xfrm flipH="false" flipV="false" rot="0">
              <a:off x="0" y="0"/>
              <a:ext cx="2184152" cy="890161"/>
            </a:xfrm>
            <a:custGeom>
              <a:avLst/>
              <a:gdLst/>
              <a:ahLst/>
              <a:cxnLst/>
              <a:rect r="r" b="b" t="t" l="l"/>
              <a:pathLst>
                <a:path h="890161" w="2184152">
                  <a:moveTo>
                    <a:pt x="48322" y="0"/>
                  </a:moveTo>
                  <a:lnTo>
                    <a:pt x="2135830" y="0"/>
                  </a:lnTo>
                  <a:cubicBezTo>
                    <a:pt x="2148646" y="0"/>
                    <a:pt x="2160937" y="5091"/>
                    <a:pt x="2169999" y="14153"/>
                  </a:cubicBezTo>
                  <a:cubicBezTo>
                    <a:pt x="2179061" y="23215"/>
                    <a:pt x="2184152" y="35506"/>
                    <a:pt x="2184152" y="48322"/>
                  </a:cubicBezTo>
                  <a:lnTo>
                    <a:pt x="2184152" y="841839"/>
                  </a:lnTo>
                  <a:cubicBezTo>
                    <a:pt x="2184152" y="854655"/>
                    <a:pt x="2179061" y="866946"/>
                    <a:pt x="2169999" y="876008"/>
                  </a:cubicBezTo>
                  <a:cubicBezTo>
                    <a:pt x="2160937" y="885070"/>
                    <a:pt x="2148646" y="890161"/>
                    <a:pt x="2135830" y="890161"/>
                  </a:cubicBezTo>
                  <a:lnTo>
                    <a:pt x="48322" y="890161"/>
                  </a:lnTo>
                  <a:cubicBezTo>
                    <a:pt x="35506" y="890161"/>
                    <a:pt x="23215" y="885070"/>
                    <a:pt x="14153" y="876008"/>
                  </a:cubicBezTo>
                  <a:cubicBezTo>
                    <a:pt x="5091" y="866946"/>
                    <a:pt x="0" y="854655"/>
                    <a:pt x="0" y="841839"/>
                  </a:cubicBezTo>
                  <a:lnTo>
                    <a:pt x="0" y="48322"/>
                  </a:lnTo>
                  <a:cubicBezTo>
                    <a:pt x="0" y="35506"/>
                    <a:pt x="5091" y="23215"/>
                    <a:pt x="14153" y="14153"/>
                  </a:cubicBezTo>
                  <a:cubicBezTo>
                    <a:pt x="23215" y="5091"/>
                    <a:pt x="35506" y="0"/>
                    <a:pt x="48322" y="0"/>
                  </a:cubicBezTo>
                  <a:close/>
                </a:path>
              </a:pathLst>
            </a:custGeom>
            <a:solidFill>
              <a:srgbClr val="A1C7CE"/>
            </a:solidFill>
          </p:spPr>
        </p:sp>
        <p:sp>
          <p:nvSpPr>
            <p:cNvPr name="TextBox 6" id="6"/>
            <p:cNvSpPr txBox="true"/>
            <p:nvPr/>
          </p:nvSpPr>
          <p:spPr>
            <a:xfrm>
              <a:off x="0" y="-85725"/>
              <a:ext cx="2184152" cy="975886"/>
            </a:xfrm>
            <a:prstGeom prst="rect">
              <a:avLst/>
            </a:prstGeom>
          </p:spPr>
          <p:txBody>
            <a:bodyPr anchor="t" rtlCol="false" tIns="368300" lIns="368300" bIns="368300" rIns="368300"/>
            <a:lstStyle/>
            <a:p>
              <a:pPr algn="l">
                <a:lnSpc>
                  <a:spcPts val="3599"/>
                </a:lnSpc>
              </a:pPr>
              <a:r>
                <a:rPr lang="en-US" sz="2399" spc="-57">
                  <a:solidFill>
                    <a:srgbClr val="000000"/>
                  </a:solidFill>
                  <a:latin typeface="Poppins"/>
                  <a:ea typeface="Poppins"/>
                  <a:cs typeface="Poppins"/>
                  <a:sym typeface="Poppins"/>
                </a:rPr>
                <a:t>Based on confusion matrix, we have potential hire candidates as: </a:t>
              </a:r>
            </a:p>
            <a:p>
              <a:pPr algn="l">
                <a:lnSpc>
                  <a:spcPts val="1500"/>
                </a:lnSpc>
              </a:pPr>
            </a:p>
            <a:p>
              <a:pPr algn="ctr">
                <a:lnSpc>
                  <a:spcPts val="3599"/>
                </a:lnSpc>
              </a:pPr>
              <a:r>
                <a:rPr lang="en-US" b="true" sz="2399" spc="9">
                  <a:solidFill>
                    <a:srgbClr val="000000"/>
                  </a:solidFill>
                  <a:latin typeface="Poppins Bold"/>
                  <a:ea typeface="Poppins Bold"/>
                  <a:cs typeface="Poppins Bold"/>
                  <a:sym typeface="Poppins Bold"/>
                </a:rPr>
                <a:t>TP (108) + FP (18) = 126 out of 450 candidates</a:t>
              </a:r>
            </a:p>
            <a:p>
              <a:pPr algn="just">
                <a:lnSpc>
                  <a:spcPts val="1500"/>
                </a:lnSpc>
              </a:pPr>
            </a:p>
            <a:p>
              <a:pPr algn="l">
                <a:lnSpc>
                  <a:spcPts val="3150"/>
                </a:lnSpc>
              </a:pPr>
            </a:p>
            <a:p>
              <a:pPr algn="l">
                <a:lnSpc>
                  <a:spcPts val="3599"/>
                </a:lnSpc>
              </a:pPr>
              <a:r>
                <a:rPr lang="en-US" sz="2399" spc="-59" u="sng">
                  <a:solidFill>
                    <a:srgbClr val="000000"/>
                  </a:solidFill>
                  <a:latin typeface="Poppins"/>
                  <a:ea typeface="Poppins"/>
                  <a:cs typeface="Poppins"/>
                  <a:sym typeface="Poppins"/>
                  <a:hlinkClick r:id="rId3" tooltip="https://mekari.com/blog/cara-menghitung-biaya-rekrutmen-karyawan/#:~:text=Agensi%20rekrutmen%20karyawan%20Rp%2055.000.000%2C00;%20Biaya%20on%2Dboarding%20dan%20training%20sebesar%20Rp%205.500.000%2C00."/>
                </a:rPr>
                <a:t>C</a:t>
              </a:r>
              <a:r>
                <a:rPr lang="en-US" sz="2399" spc="-59" u="sng">
                  <a:solidFill>
                    <a:srgbClr val="000000"/>
                  </a:solidFill>
                  <a:latin typeface="Poppins"/>
                  <a:ea typeface="Poppins"/>
                  <a:cs typeface="Poppins"/>
                  <a:sym typeface="Poppins"/>
                  <a:hlinkClick r:id="rId4" tooltip="https://mekari.com/blog/cara-menghitung-biaya-rekrutmen-karyawan/#:~:text=Agensi%20rekrutmen%20karyawan%20Rp%2055.000.000%2C00;%20Biaya%20on%2Dboarding%20dan%20training%20sebesar%20Rp%205.500.000%2C00."/>
                </a:rPr>
                <a:t>ost per Hire:</a:t>
              </a:r>
              <a:r>
                <a:rPr lang="en-US" sz="2399" spc="-59" b="true">
                  <a:solidFill>
                    <a:srgbClr val="000000"/>
                  </a:solidFill>
                  <a:latin typeface="Poppins Bold"/>
                  <a:ea typeface="Poppins Bold"/>
                  <a:cs typeface="Poppins Bold"/>
                  <a:sym typeface="Poppins Bold"/>
                </a:rPr>
                <a:t> 11.000.000</a:t>
              </a:r>
            </a:p>
          </p:txBody>
        </p:sp>
      </p:grpSp>
      <p:pic>
        <p:nvPicPr>
          <p:cNvPr name="Picture 7" id="7"/>
          <p:cNvPicPr>
            <a:picLocks noChangeAspect="true"/>
          </p:cNvPicPr>
          <p:nvPr/>
        </p:nvPicPr>
        <p:blipFill>
          <a:blip r:embed="rId5"/>
          <a:stretch>
            <a:fillRect/>
          </a:stretch>
        </p:blipFill>
        <p:spPr>
          <a:xfrm rot="0">
            <a:off x="8857897" y="1618610"/>
            <a:ext cx="7474502" cy="6666563"/>
          </a:xfrm>
          <a:prstGeom prst="rect">
            <a:avLst/>
          </a:prstGeom>
        </p:spPr>
      </p:pic>
      <p:graphicFrame>
        <p:nvGraphicFramePr>
          <p:cNvPr name="Table 8" id="8"/>
          <p:cNvGraphicFramePr>
            <a:graphicFrameLocks noGrp="true"/>
          </p:cNvGraphicFramePr>
          <p:nvPr/>
        </p:nvGraphicFramePr>
        <p:xfrm>
          <a:off x="620328" y="6090672"/>
          <a:ext cx="8189081" cy="1569478"/>
        </p:xfrm>
        <a:graphic>
          <a:graphicData uri="http://schemas.openxmlformats.org/drawingml/2006/table">
            <a:tbl>
              <a:tblPr/>
              <a:tblGrid>
                <a:gridCol w="1439877"/>
                <a:gridCol w="2187661"/>
                <a:gridCol w="2221112"/>
                <a:gridCol w="2340431"/>
              </a:tblGrid>
              <a:tr h="521706">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With Model</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Total Hire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Cost per Hire</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Total Cost</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r>
              <a:tr h="526066">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Yes</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126</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11.000.000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1.386.000.000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r h="521706">
                <a:tc>
                  <a:txBody>
                    <a:bodyPr anchor="t" rtlCol="false"/>
                    <a:lstStyle/>
                    <a:p>
                      <a:pPr algn="ctr">
                        <a:lnSpc>
                          <a:spcPts val="2308"/>
                        </a:lnSpc>
                        <a:defRPr/>
                      </a:pPr>
                      <a:r>
                        <a:rPr lang="en-US" sz="1648" b="true">
                          <a:solidFill>
                            <a:srgbClr val="000000"/>
                          </a:solidFill>
                          <a:latin typeface="Canva Sans Bold"/>
                          <a:ea typeface="Canva Sans Bold"/>
                          <a:cs typeface="Canva Sans Bold"/>
                          <a:sym typeface="Canva Sans Bold"/>
                        </a:rPr>
                        <a:t>No</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E9EDEE"/>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450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11.000.000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c>
                  <a:txBody>
                    <a:bodyPr anchor="t" rtlCol="false"/>
                    <a:lstStyle/>
                    <a:p>
                      <a:pPr algn="ctr">
                        <a:lnSpc>
                          <a:spcPts val="2308"/>
                        </a:lnSpc>
                        <a:defRPr/>
                      </a:pPr>
                      <a:r>
                        <a:rPr lang="en-US" sz="1648">
                          <a:solidFill>
                            <a:srgbClr val="000000"/>
                          </a:solidFill>
                          <a:latin typeface="Canva Sans"/>
                          <a:ea typeface="Canva Sans"/>
                          <a:cs typeface="Canva Sans"/>
                          <a:sym typeface="Canva Sans"/>
                        </a:rPr>
                        <a:t>4.950.000.</a:t>
                      </a:r>
                      <a:r>
                        <a:rPr lang="en-US" sz="1648">
                          <a:solidFill>
                            <a:srgbClr val="000000"/>
                          </a:solidFill>
                          <a:latin typeface="Canva Sans"/>
                          <a:ea typeface="Canva Sans"/>
                          <a:cs typeface="Canva Sans"/>
                          <a:sym typeface="Canva Sans"/>
                        </a:rPr>
                        <a:t>000</a:t>
                      </a:r>
                      <a:endParaRPr lang="en-US" sz="1100"/>
                    </a:p>
                  </a:txBody>
                  <a:tcPr marL="76200" marR="76200" marT="76200" marB="76200" anchor="ctr">
                    <a:lnL cmpd="sng" algn="ctr" cap="flat" w="28575">
                      <a:solidFill>
                        <a:srgbClr val="365B6D"/>
                      </a:solidFill>
                      <a:prstDash val="solid"/>
                      <a:round/>
                      <a:headEnd type="none" w="med" len="med"/>
                      <a:tailEnd type="none" w="med" len="med"/>
                    </a:lnL>
                    <a:lnR cmpd="sng" algn="ctr" cap="flat" w="28575">
                      <a:solidFill>
                        <a:srgbClr val="365B6D"/>
                      </a:solidFill>
                      <a:prstDash val="solid"/>
                      <a:round/>
                      <a:headEnd type="none" w="med" len="med"/>
                      <a:tailEnd type="none" w="med" len="med"/>
                    </a:lnR>
                    <a:lnT cmpd="sng" algn="ctr" cap="flat" w="28575">
                      <a:solidFill>
                        <a:srgbClr val="365B6D"/>
                      </a:solidFill>
                      <a:prstDash val="solid"/>
                      <a:round/>
                      <a:headEnd type="none" w="med" len="med"/>
                      <a:tailEnd type="none" w="med" len="med"/>
                    </a:lnT>
                    <a:lnB cmpd="sng" algn="ctr" cap="flat" w="28575">
                      <a:solidFill>
                        <a:srgbClr val="365B6D"/>
                      </a:solidFill>
                      <a:prstDash val="solid"/>
                      <a:round/>
                      <a:headEnd type="none" w="med" len="med"/>
                      <a:tailEnd type="none" w="med" len="med"/>
                    </a:lnB>
                    <a:solidFill>
                      <a:srgbClr val="F8FAFC"/>
                    </a:solidFill>
                  </a:tcPr>
                </a:tc>
              </a:tr>
            </a:tbl>
          </a:graphicData>
        </a:graphic>
      </p:graphicFrame>
      <p:grpSp>
        <p:nvGrpSpPr>
          <p:cNvPr name="Group 9" id="9"/>
          <p:cNvGrpSpPr/>
          <p:nvPr/>
        </p:nvGrpSpPr>
        <p:grpSpPr>
          <a:xfrm rot="0">
            <a:off x="9491757" y="7887404"/>
            <a:ext cx="6217767" cy="1640754"/>
            <a:chOff x="0" y="0"/>
            <a:chExt cx="1695272" cy="447351"/>
          </a:xfrm>
        </p:grpSpPr>
        <p:sp>
          <p:nvSpPr>
            <p:cNvPr name="Freeform 10" id="10"/>
            <p:cNvSpPr/>
            <p:nvPr/>
          </p:nvSpPr>
          <p:spPr>
            <a:xfrm flipH="false" flipV="false" rot="0">
              <a:off x="0" y="0"/>
              <a:ext cx="1695272" cy="447351"/>
            </a:xfrm>
            <a:custGeom>
              <a:avLst/>
              <a:gdLst/>
              <a:ahLst/>
              <a:cxnLst/>
              <a:rect r="r" b="b" t="t" l="l"/>
              <a:pathLst>
                <a:path h="447351" w="1695272">
                  <a:moveTo>
                    <a:pt x="62256" y="0"/>
                  </a:moveTo>
                  <a:lnTo>
                    <a:pt x="1633015" y="0"/>
                  </a:lnTo>
                  <a:cubicBezTo>
                    <a:pt x="1649526" y="0"/>
                    <a:pt x="1665362" y="6559"/>
                    <a:pt x="1677037" y="18234"/>
                  </a:cubicBezTo>
                  <a:cubicBezTo>
                    <a:pt x="1688712" y="29910"/>
                    <a:pt x="1695272" y="45745"/>
                    <a:pt x="1695272" y="62256"/>
                  </a:cubicBezTo>
                  <a:lnTo>
                    <a:pt x="1695272" y="385094"/>
                  </a:lnTo>
                  <a:cubicBezTo>
                    <a:pt x="1695272" y="401606"/>
                    <a:pt x="1688712" y="417441"/>
                    <a:pt x="1677037" y="429116"/>
                  </a:cubicBezTo>
                  <a:cubicBezTo>
                    <a:pt x="1665362" y="440792"/>
                    <a:pt x="1649526" y="447351"/>
                    <a:pt x="1633015" y="447351"/>
                  </a:cubicBezTo>
                  <a:lnTo>
                    <a:pt x="62256" y="447351"/>
                  </a:lnTo>
                  <a:cubicBezTo>
                    <a:pt x="45745" y="447351"/>
                    <a:pt x="29910" y="440792"/>
                    <a:pt x="18234" y="429116"/>
                  </a:cubicBezTo>
                  <a:cubicBezTo>
                    <a:pt x="6559" y="417441"/>
                    <a:pt x="0" y="401606"/>
                    <a:pt x="0" y="385094"/>
                  </a:cubicBezTo>
                  <a:lnTo>
                    <a:pt x="0" y="62256"/>
                  </a:lnTo>
                  <a:cubicBezTo>
                    <a:pt x="0" y="45745"/>
                    <a:pt x="6559" y="29910"/>
                    <a:pt x="18234" y="18234"/>
                  </a:cubicBezTo>
                  <a:cubicBezTo>
                    <a:pt x="29910" y="6559"/>
                    <a:pt x="45745" y="0"/>
                    <a:pt x="62256" y="0"/>
                  </a:cubicBezTo>
                  <a:close/>
                </a:path>
              </a:pathLst>
            </a:custGeom>
            <a:solidFill>
              <a:srgbClr val="E9EDEE"/>
            </a:solidFill>
          </p:spPr>
        </p:sp>
        <p:sp>
          <p:nvSpPr>
            <p:cNvPr name="TextBox 11" id="11"/>
            <p:cNvSpPr txBox="true"/>
            <p:nvPr/>
          </p:nvSpPr>
          <p:spPr>
            <a:xfrm>
              <a:off x="0" y="-85725"/>
              <a:ext cx="1695272" cy="533076"/>
            </a:xfrm>
            <a:prstGeom prst="rect">
              <a:avLst/>
            </a:prstGeom>
          </p:spPr>
          <p:txBody>
            <a:bodyPr anchor="t" rtlCol="false" tIns="368300" lIns="368300" bIns="368300" rIns="368300"/>
            <a:lstStyle/>
            <a:p>
              <a:pPr algn="l">
                <a:lnSpc>
                  <a:spcPts val="3599"/>
                </a:lnSpc>
              </a:pPr>
            </a:p>
          </p:txBody>
        </p:sp>
      </p:grpSp>
      <p:sp>
        <p:nvSpPr>
          <p:cNvPr name="TextBox 12" id="12"/>
          <p:cNvSpPr txBox="true"/>
          <p:nvPr/>
        </p:nvSpPr>
        <p:spPr>
          <a:xfrm rot="0">
            <a:off x="10209836" y="8105191"/>
            <a:ext cx="4781610" cy="1038093"/>
          </a:xfrm>
          <a:prstGeom prst="rect">
            <a:avLst/>
          </a:prstGeom>
        </p:spPr>
        <p:txBody>
          <a:bodyPr anchor="t" rtlCol="false" tIns="0" lIns="0" bIns="0" rIns="0">
            <a:spAutoFit/>
          </a:bodyPr>
          <a:lstStyle/>
          <a:p>
            <a:pPr algn="r">
              <a:lnSpc>
                <a:spcPts val="4074"/>
              </a:lnSpc>
            </a:pPr>
            <a:r>
              <a:rPr lang="en-US" b="true" sz="3395" spc="13">
                <a:solidFill>
                  <a:srgbClr val="000000"/>
                </a:solidFill>
                <a:latin typeface="Barlow Bold"/>
                <a:ea typeface="Barlow Bold"/>
                <a:cs typeface="Barlow Bold"/>
                <a:sym typeface="Barlow Bold"/>
              </a:rPr>
              <a:t>Cost Saving: </a:t>
            </a:r>
            <a:r>
              <a:rPr lang="en-US" b="true" sz="3395" spc="13">
                <a:solidFill>
                  <a:srgbClr val="00BF63"/>
                </a:solidFill>
                <a:latin typeface="Barlow Bold"/>
                <a:ea typeface="Barlow Bold"/>
                <a:cs typeface="Barlow Bold"/>
                <a:sym typeface="Barlow Bold"/>
              </a:rPr>
              <a:t>Rp 3,564 M</a:t>
            </a:r>
          </a:p>
          <a:p>
            <a:pPr algn="r">
              <a:lnSpc>
                <a:spcPts val="4074"/>
              </a:lnSpc>
              <a:spcBef>
                <a:spcPct val="0"/>
              </a:spcBef>
            </a:pPr>
            <a:r>
              <a:rPr lang="en-US" b="true" sz="3395" spc="13">
                <a:solidFill>
                  <a:srgbClr val="000000"/>
                </a:solidFill>
                <a:latin typeface="Barlow Bold"/>
                <a:ea typeface="Barlow Bold"/>
                <a:cs typeface="Barlow Bold"/>
                <a:sym typeface="Barlow Bold"/>
              </a:rPr>
              <a:t>Cost Efficiency:</a:t>
            </a:r>
            <a:r>
              <a:rPr lang="en-US" b="true" sz="3395" spc="13">
                <a:solidFill>
                  <a:srgbClr val="00CC91"/>
                </a:solidFill>
                <a:latin typeface="Barlow Bold"/>
                <a:ea typeface="Barlow Bold"/>
                <a:cs typeface="Barlow Bold"/>
                <a:sym typeface="Barlow Bold"/>
              </a:rPr>
              <a:t> </a:t>
            </a:r>
            <a:r>
              <a:rPr lang="en-US" b="true" sz="3395" spc="13">
                <a:solidFill>
                  <a:srgbClr val="00BF63"/>
                </a:solidFill>
                <a:latin typeface="Barlow Bold"/>
                <a:ea typeface="Barlow Bold"/>
                <a:cs typeface="Barlow Bold"/>
                <a:sym typeface="Barlow Bold"/>
              </a:rPr>
              <a:t>72 %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grpSp>
        <p:nvGrpSpPr>
          <p:cNvPr name="Group 3" id="3"/>
          <p:cNvGrpSpPr/>
          <p:nvPr/>
        </p:nvGrpSpPr>
        <p:grpSpPr>
          <a:xfrm rot="0">
            <a:off x="709450" y="2259511"/>
            <a:ext cx="6687365" cy="2931642"/>
            <a:chOff x="0" y="0"/>
            <a:chExt cx="1823307" cy="799311"/>
          </a:xfrm>
        </p:grpSpPr>
        <p:sp>
          <p:nvSpPr>
            <p:cNvPr name="Freeform 4" id="4"/>
            <p:cNvSpPr/>
            <p:nvPr/>
          </p:nvSpPr>
          <p:spPr>
            <a:xfrm flipH="false" flipV="false" rot="0">
              <a:off x="0" y="0"/>
              <a:ext cx="1823307" cy="799311"/>
            </a:xfrm>
            <a:custGeom>
              <a:avLst/>
              <a:gdLst/>
              <a:ahLst/>
              <a:cxnLst/>
              <a:rect r="r" b="b" t="t" l="l"/>
              <a:pathLst>
                <a:path h="799311" w="1823307">
                  <a:moveTo>
                    <a:pt x="57885" y="0"/>
                  </a:moveTo>
                  <a:lnTo>
                    <a:pt x="1765423" y="0"/>
                  </a:lnTo>
                  <a:cubicBezTo>
                    <a:pt x="1797391" y="0"/>
                    <a:pt x="1823307" y="25916"/>
                    <a:pt x="1823307" y="57885"/>
                  </a:cubicBezTo>
                  <a:lnTo>
                    <a:pt x="1823307" y="741426"/>
                  </a:lnTo>
                  <a:cubicBezTo>
                    <a:pt x="1823307" y="756778"/>
                    <a:pt x="1817209" y="771502"/>
                    <a:pt x="1806353" y="782357"/>
                  </a:cubicBezTo>
                  <a:cubicBezTo>
                    <a:pt x="1795498" y="793212"/>
                    <a:pt x="1780775" y="799311"/>
                    <a:pt x="1765423" y="799311"/>
                  </a:cubicBezTo>
                  <a:lnTo>
                    <a:pt x="57885" y="799311"/>
                  </a:lnTo>
                  <a:cubicBezTo>
                    <a:pt x="42533" y="799311"/>
                    <a:pt x="27810" y="793212"/>
                    <a:pt x="16954" y="782357"/>
                  </a:cubicBezTo>
                  <a:cubicBezTo>
                    <a:pt x="6099" y="771502"/>
                    <a:pt x="0" y="756778"/>
                    <a:pt x="0" y="741426"/>
                  </a:cubicBezTo>
                  <a:lnTo>
                    <a:pt x="0" y="57885"/>
                  </a:lnTo>
                  <a:cubicBezTo>
                    <a:pt x="0" y="42533"/>
                    <a:pt x="6099" y="27810"/>
                    <a:pt x="16954" y="16954"/>
                  </a:cubicBezTo>
                  <a:cubicBezTo>
                    <a:pt x="27810" y="6099"/>
                    <a:pt x="42533" y="0"/>
                    <a:pt x="57885" y="0"/>
                  </a:cubicBezTo>
                  <a:close/>
                </a:path>
              </a:pathLst>
            </a:custGeom>
            <a:solidFill>
              <a:srgbClr val="A1C7CE"/>
            </a:solidFill>
          </p:spPr>
        </p:sp>
        <p:sp>
          <p:nvSpPr>
            <p:cNvPr name="TextBox 5" id="5"/>
            <p:cNvSpPr txBox="true"/>
            <p:nvPr/>
          </p:nvSpPr>
          <p:spPr>
            <a:xfrm>
              <a:off x="0" y="-85725"/>
              <a:ext cx="1823307" cy="885036"/>
            </a:xfrm>
            <a:prstGeom prst="rect">
              <a:avLst/>
            </a:prstGeom>
          </p:spPr>
          <p:txBody>
            <a:bodyPr anchor="t" rtlCol="false" tIns="368300" lIns="368300" bIns="368300" rIns="368300"/>
            <a:lstStyle/>
            <a:p>
              <a:pPr algn="l">
                <a:lnSpc>
                  <a:spcPts val="3599"/>
                </a:lnSpc>
              </a:pPr>
              <a:r>
                <a:rPr lang="en-US" sz="2399" spc="-59" b="true">
                  <a:solidFill>
                    <a:srgbClr val="000000"/>
                  </a:solidFill>
                  <a:latin typeface="Poppins Bold"/>
                  <a:ea typeface="Poppins Bold"/>
                  <a:cs typeface="Poppins Bold"/>
                  <a:sym typeface="Poppins Bold"/>
                </a:rPr>
                <a:t>Data imbalance &amp; bias</a:t>
              </a:r>
              <a:r>
                <a:rPr lang="en-US" sz="2399" spc="-59">
                  <a:solidFill>
                    <a:srgbClr val="000000"/>
                  </a:solidFill>
                  <a:latin typeface="Poppins"/>
                  <a:ea typeface="Poppins"/>
                  <a:cs typeface="Poppins"/>
                  <a:sym typeface="Poppins"/>
                </a:rPr>
                <a:t>: The dataset is limited and shows some bias. This is mitigated using the</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SMOTE</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algorithm,</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which</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balances</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data</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distrib</a:t>
              </a:r>
              <a:r>
                <a:rPr lang="en-US" sz="2399" spc="-59">
                  <a:solidFill>
                    <a:srgbClr val="000000"/>
                  </a:solidFill>
                  <a:latin typeface="Poppins"/>
                  <a:ea typeface="Poppins"/>
                  <a:cs typeface="Poppins"/>
                  <a:sym typeface="Poppins"/>
                </a:rPr>
                <a:t>ut</a:t>
              </a:r>
              <a:r>
                <a:rPr lang="en-US" sz="2399" spc="-59">
                  <a:solidFill>
                    <a:srgbClr val="000000"/>
                  </a:solidFill>
                  <a:latin typeface="Poppins"/>
                  <a:ea typeface="Poppins"/>
                  <a:cs typeface="Poppins"/>
                  <a:sym typeface="Poppins"/>
                </a:rPr>
                <a:t>i</a:t>
              </a:r>
              <a:r>
                <a:rPr lang="en-US" sz="2399" spc="-59">
                  <a:solidFill>
                    <a:srgbClr val="000000"/>
                  </a:solidFill>
                  <a:latin typeface="Poppins"/>
                  <a:ea typeface="Poppins"/>
                  <a:cs typeface="Poppins"/>
                  <a:sym typeface="Poppins"/>
                </a:rPr>
                <a:t>o</a:t>
              </a:r>
              <a:r>
                <a:rPr lang="en-US" sz="2399" spc="-59">
                  <a:solidFill>
                    <a:srgbClr val="000000"/>
                  </a:solidFill>
                  <a:latin typeface="Poppins"/>
                  <a:ea typeface="Poppins"/>
                  <a:cs typeface="Poppins"/>
                  <a:sym typeface="Poppins"/>
                </a:rPr>
                <a:t>n</a:t>
              </a:r>
              <a:r>
                <a:rPr lang="en-US" sz="2399" spc="-59">
                  <a:solidFill>
                    <a:srgbClr val="000000"/>
                  </a:solidFill>
                  <a:latin typeface="Poppins"/>
                  <a:ea typeface="Poppins"/>
                  <a:cs typeface="Poppins"/>
                  <a:sym typeface="Poppins"/>
                </a:rPr>
                <a:t> and</a:t>
              </a:r>
              <a:r>
                <a:rPr lang="en-US" sz="2399" spc="-59">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i</a:t>
              </a:r>
              <a:r>
                <a:rPr lang="en-US" sz="2399" spc="-59">
                  <a:solidFill>
                    <a:srgbClr val="000000"/>
                  </a:solidFill>
                  <a:latin typeface="Poppins"/>
                  <a:ea typeface="Poppins"/>
                  <a:cs typeface="Poppins"/>
                  <a:sym typeface="Poppins"/>
                </a:rPr>
                <a:t>mprov</a:t>
              </a:r>
              <a:r>
                <a:rPr lang="en-US" sz="2399" spc="-59">
                  <a:solidFill>
                    <a:srgbClr val="000000"/>
                  </a:solidFill>
                  <a:latin typeface="Poppins"/>
                  <a:ea typeface="Poppins"/>
                  <a:cs typeface="Poppins"/>
                  <a:sym typeface="Poppins"/>
                </a:rPr>
                <a:t>es</a:t>
              </a:r>
              <a:r>
                <a:rPr lang="en-US" sz="2399" spc="-59">
                  <a:solidFill>
                    <a:srgbClr val="000000"/>
                  </a:solidFill>
                  <a:latin typeface="Poppins"/>
                  <a:ea typeface="Poppins"/>
                  <a:cs typeface="Poppins"/>
                  <a:sym typeface="Poppins"/>
                </a:rPr>
                <a:t> m</a:t>
              </a:r>
              <a:r>
                <a:rPr lang="en-US" sz="2399" spc="-59" u="none">
                  <a:solidFill>
                    <a:srgbClr val="000000"/>
                  </a:solidFill>
                  <a:latin typeface="Poppins"/>
                  <a:ea typeface="Poppins"/>
                  <a:cs typeface="Poppins"/>
                  <a:sym typeface="Poppins"/>
                </a:rPr>
                <a:t>o</a:t>
              </a:r>
              <a:r>
                <a:rPr lang="en-US" sz="2399" spc="-59">
                  <a:solidFill>
                    <a:srgbClr val="000000"/>
                  </a:solidFill>
                  <a:latin typeface="Poppins"/>
                  <a:ea typeface="Poppins"/>
                  <a:cs typeface="Poppins"/>
                  <a:sym typeface="Poppins"/>
                </a:rPr>
                <a:t>del</a:t>
              </a:r>
              <a:r>
                <a:rPr lang="en-US" sz="2399" spc="-59" u="none">
                  <a:solidFill>
                    <a:srgbClr val="000000"/>
                  </a:solidFill>
                  <a:latin typeface="Poppins"/>
                  <a:ea typeface="Poppins"/>
                  <a:cs typeface="Poppins"/>
                  <a:sym typeface="Poppins"/>
                </a:rPr>
                <a:t> </a:t>
              </a:r>
              <a:r>
                <a:rPr lang="en-US" sz="2399" spc="-59">
                  <a:solidFill>
                    <a:srgbClr val="000000"/>
                  </a:solidFill>
                  <a:latin typeface="Poppins"/>
                  <a:ea typeface="Poppins"/>
                  <a:cs typeface="Poppins"/>
                  <a:sym typeface="Poppins"/>
                </a:rPr>
                <a:t>re</a:t>
              </a:r>
              <a:r>
                <a:rPr lang="en-US" sz="2399" spc="-59" u="none">
                  <a:solidFill>
                    <a:srgbClr val="000000"/>
                  </a:solidFill>
                  <a:latin typeface="Poppins"/>
                  <a:ea typeface="Poppins"/>
                  <a:cs typeface="Poppins"/>
                  <a:sym typeface="Poppins"/>
                </a:rPr>
                <a:t>p</a:t>
              </a:r>
              <a:r>
                <a:rPr lang="en-US" sz="2399" spc="-59">
                  <a:solidFill>
                    <a:srgbClr val="000000"/>
                  </a:solidFill>
                  <a:latin typeface="Poppins"/>
                  <a:ea typeface="Poppins"/>
                  <a:cs typeface="Poppins"/>
                  <a:sym typeface="Poppins"/>
                </a:rPr>
                <a:t>r</a:t>
              </a:r>
              <a:r>
                <a:rPr lang="en-US" sz="2399" spc="-59" u="none">
                  <a:solidFill>
                    <a:srgbClr val="000000"/>
                  </a:solidFill>
                  <a:latin typeface="Poppins"/>
                  <a:ea typeface="Poppins"/>
                  <a:cs typeface="Poppins"/>
                  <a:sym typeface="Poppins"/>
                </a:rPr>
                <a:t>e</a:t>
              </a:r>
              <a:r>
                <a:rPr lang="en-US" sz="2399" spc="-59">
                  <a:solidFill>
                    <a:srgbClr val="000000"/>
                  </a:solidFill>
                  <a:latin typeface="Poppins"/>
                  <a:ea typeface="Poppins"/>
                  <a:cs typeface="Poppins"/>
                  <a:sym typeface="Poppins"/>
                </a:rPr>
                <a:t>sentat</a:t>
              </a:r>
              <a:r>
                <a:rPr lang="en-US" sz="2399" spc="-59" u="none">
                  <a:solidFill>
                    <a:srgbClr val="000000"/>
                  </a:solidFill>
                  <a:latin typeface="Poppins"/>
                  <a:ea typeface="Poppins"/>
                  <a:cs typeface="Poppins"/>
                  <a:sym typeface="Poppins"/>
                </a:rPr>
                <a:t>i</a:t>
              </a:r>
              <a:r>
                <a:rPr lang="en-US" sz="2399" spc="-59">
                  <a:solidFill>
                    <a:srgbClr val="000000"/>
                  </a:solidFill>
                  <a:latin typeface="Poppins"/>
                  <a:ea typeface="Poppins"/>
                  <a:cs typeface="Poppins"/>
                  <a:sym typeface="Poppins"/>
                </a:rPr>
                <a:t>ven</a:t>
              </a:r>
              <a:r>
                <a:rPr lang="en-US" sz="2399" spc="-59" u="none">
                  <a:solidFill>
                    <a:srgbClr val="000000"/>
                  </a:solidFill>
                  <a:latin typeface="Poppins"/>
                  <a:ea typeface="Poppins"/>
                  <a:cs typeface="Poppins"/>
                  <a:sym typeface="Poppins"/>
                </a:rPr>
                <a:t>e</a:t>
              </a:r>
              <a:r>
                <a:rPr lang="en-US" sz="2399" spc="-59">
                  <a:solidFill>
                    <a:srgbClr val="000000"/>
                  </a:solidFill>
                  <a:latin typeface="Poppins"/>
                  <a:ea typeface="Poppins"/>
                  <a:cs typeface="Poppins"/>
                  <a:sym typeface="Poppins"/>
                </a:rPr>
                <a:t>ss.</a:t>
              </a:r>
            </a:p>
          </p:txBody>
        </p:sp>
      </p:grpSp>
      <p:grpSp>
        <p:nvGrpSpPr>
          <p:cNvPr name="Group 6" id="6"/>
          <p:cNvGrpSpPr/>
          <p:nvPr/>
        </p:nvGrpSpPr>
        <p:grpSpPr>
          <a:xfrm rot="0">
            <a:off x="9344025" y="2179292"/>
            <a:ext cx="8597064" cy="3011862"/>
            <a:chOff x="0" y="0"/>
            <a:chExt cx="2343986" cy="821183"/>
          </a:xfrm>
        </p:grpSpPr>
        <p:sp>
          <p:nvSpPr>
            <p:cNvPr name="Freeform 7" id="7"/>
            <p:cNvSpPr/>
            <p:nvPr/>
          </p:nvSpPr>
          <p:spPr>
            <a:xfrm flipH="false" flipV="false" rot="0">
              <a:off x="0" y="0"/>
              <a:ext cx="2343986" cy="821183"/>
            </a:xfrm>
            <a:custGeom>
              <a:avLst/>
              <a:gdLst/>
              <a:ahLst/>
              <a:cxnLst/>
              <a:rect r="r" b="b" t="t" l="l"/>
              <a:pathLst>
                <a:path h="821183" w="2343986">
                  <a:moveTo>
                    <a:pt x="45027" y="0"/>
                  </a:moveTo>
                  <a:lnTo>
                    <a:pt x="2298960" y="0"/>
                  </a:lnTo>
                  <a:cubicBezTo>
                    <a:pt x="2323827" y="0"/>
                    <a:pt x="2343986" y="20159"/>
                    <a:pt x="2343986" y="45027"/>
                  </a:cubicBezTo>
                  <a:lnTo>
                    <a:pt x="2343986" y="776156"/>
                  </a:lnTo>
                  <a:cubicBezTo>
                    <a:pt x="2343986" y="788098"/>
                    <a:pt x="2339242" y="799551"/>
                    <a:pt x="2330798" y="807995"/>
                  </a:cubicBezTo>
                  <a:cubicBezTo>
                    <a:pt x="2322354" y="816439"/>
                    <a:pt x="2310901" y="821183"/>
                    <a:pt x="2298960" y="821183"/>
                  </a:cubicBezTo>
                  <a:lnTo>
                    <a:pt x="45027" y="821183"/>
                  </a:lnTo>
                  <a:cubicBezTo>
                    <a:pt x="33085" y="821183"/>
                    <a:pt x="21632" y="816439"/>
                    <a:pt x="13188" y="807995"/>
                  </a:cubicBezTo>
                  <a:cubicBezTo>
                    <a:pt x="4744" y="799551"/>
                    <a:pt x="0" y="788098"/>
                    <a:pt x="0" y="776156"/>
                  </a:cubicBezTo>
                  <a:lnTo>
                    <a:pt x="0" y="45027"/>
                  </a:lnTo>
                  <a:cubicBezTo>
                    <a:pt x="0" y="33085"/>
                    <a:pt x="4744" y="21632"/>
                    <a:pt x="13188" y="13188"/>
                  </a:cubicBezTo>
                  <a:cubicBezTo>
                    <a:pt x="21632" y="4744"/>
                    <a:pt x="33085" y="0"/>
                    <a:pt x="45027" y="0"/>
                  </a:cubicBezTo>
                  <a:close/>
                </a:path>
              </a:pathLst>
            </a:custGeom>
            <a:solidFill>
              <a:srgbClr val="A1C7CE"/>
            </a:solidFill>
          </p:spPr>
        </p:sp>
        <p:sp>
          <p:nvSpPr>
            <p:cNvPr name="TextBox 8" id="8"/>
            <p:cNvSpPr txBox="true"/>
            <p:nvPr/>
          </p:nvSpPr>
          <p:spPr>
            <a:xfrm>
              <a:off x="0" y="-85725"/>
              <a:ext cx="2343986" cy="906908"/>
            </a:xfrm>
            <a:prstGeom prst="rect">
              <a:avLst/>
            </a:prstGeom>
          </p:spPr>
          <p:txBody>
            <a:bodyPr anchor="t" rtlCol="false" tIns="355600" lIns="355600" bIns="355600" rIns="355600"/>
            <a:lstStyle/>
            <a:p>
              <a:pPr algn="l">
                <a:lnSpc>
                  <a:spcPts val="3000"/>
                </a:lnSpc>
              </a:pPr>
              <a:r>
                <a:rPr lang="en-US" sz="2000" spc="-48" b="true">
                  <a:solidFill>
                    <a:srgbClr val="000000"/>
                  </a:solidFill>
                  <a:latin typeface="Poppins Bold"/>
                  <a:ea typeface="Poppins Bold"/>
                  <a:cs typeface="Poppins Bold"/>
                  <a:sym typeface="Poppins Bold"/>
                </a:rPr>
                <a:t>Conduct a survey per quarter alongside HR Team</a:t>
              </a:r>
              <a:r>
                <a:rPr lang="en-US" sz="2000" spc="-48">
                  <a:solidFill>
                    <a:srgbClr val="000000"/>
                  </a:solidFill>
                  <a:latin typeface="Poppins"/>
                  <a:ea typeface="Poppins"/>
                  <a:cs typeface="Poppins"/>
                  <a:sym typeface="Poppins"/>
                </a:rPr>
                <a:t> to bolster data with more information, features to improve model accuracy and maintain model integrity</a:t>
              </a:r>
            </a:p>
            <a:p>
              <a:pPr algn="l">
                <a:lnSpc>
                  <a:spcPts val="2850"/>
                </a:lnSpc>
              </a:pPr>
            </a:p>
            <a:p>
              <a:pPr algn="l">
                <a:lnSpc>
                  <a:spcPts val="3150"/>
                </a:lnSpc>
              </a:pPr>
              <a:r>
                <a:rPr lang="en-US" sz="2100" spc="-50" b="true">
                  <a:solidFill>
                    <a:srgbClr val="000000"/>
                  </a:solidFill>
                  <a:latin typeface="Poppins Bold"/>
                  <a:ea typeface="Poppins Bold"/>
                  <a:cs typeface="Poppins Bold"/>
                  <a:sym typeface="Poppins Bold"/>
                </a:rPr>
                <a:t>Retrain algorithm with new data</a:t>
              </a:r>
              <a:r>
                <a:rPr lang="en-US" sz="2100" spc="-50">
                  <a:solidFill>
                    <a:srgbClr val="000000"/>
                  </a:solidFill>
                  <a:latin typeface="Poppins"/>
                  <a:ea typeface="Poppins"/>
                  <a:cs typeface="Poppins"/>
                  <a:sym typeface="Poppins"/>
                </a:rPr>
                <a:t> and develop better model that is less biased and more fair.</a:t>
              </a:r>
            </a:p>
          </p:txBody>
        </p:sp>
      </p:grpSp>
      <p:grpSp>
        <p:nvGrpSpPr>
          <p:cNvPr name="Group 9" id="9"/>
          <p:cNvGrpSpPr/>
          <p:nvPr/>
        </p:nvGrpSpPr>
        <p:grpSpPr>
          <a:xfrm rot="0">
            <a:off x="702291" y="5879252"/>
            <a:ext cx="6694524" cy="3379048"/>
            <a:chOff x="0" y="0"/>
            <a:chExt cx="1825259" cy="921296"/>
          </a:xfrm>
        </p:grpSpPr>
        <p:sp>
          <p:nvSpPr>
            <p:cNvPr name="Freeform 10" id="10"/>
            <p:cNvSpPr/>
            <p:nvPr/>
          </p:nvSpPr>
          <p:spPr>
            <a:xfrm flipH="false" flipV="false" rot="0">
              <a:off x="0" y="0"/>
              <a:ext cx="1825259" cy="921296"/>
            </a:xfrm>
            <a:custGeom>
              <a:avLst/>
              <a:gdLst/>
              <a:ahLst/>
              <a:cxnLst/>
              <a:rect r="r" b="b" t="t" l="l"/>
              <a:pathLst>
                <a:path h="921296" w="1825259">
                  <a:moveTo>
                    <a:pt x="57823" y="0"/>
                  </a:moveTo>
                  <a:lnTo>
                    <a:pt x="1767436" y="0"/>
                  </a:lnTo>
                  <a:cubicBezTo>
                    <a:pt x="1782772" y="0"/>
                    <a:pt x="1797479" y="6092"/>
                    <a:pt x="1808323" y="16936"/>
                  </a:cubicBezTo>
                  <a:cubicBezTo>
                    <a:pt x="1819167" y="27780"/>
                    <a:pt x="1825259" y="42487"/>
                    <a:pt x="1825259" y="57823"/>
                  </a:cubicBezTo>
                  <a:lnTo>
                    <a:pt x="1825259" y="863473"/>
                  </a:lnTo>
                  <a:cubicBezTo>
                    <a:pt x="1825259" y="878809"/>
                    <a:pt x="1819167" y="893516"/>
                    <a:pt x="1808323" y="904360"/>
                  </a:cubicBezTo>
                  <a:cubicBezTo>
                    <a:pt x="1797479" y="915204"/>
                    <a:pt x="1782772" y="921296"/>
                    <a:pt x="1767436" y="921296"/>
                  </a:cubicBezTo>
                  <a:lnTo>
                    <a:pt x="57823" y="921296"/>
                  </a:lnTo>
                  <a:cubicBezTo>
                    <a:pt x="42487" y="921296"/>
                    <a:pt x="27780" y="915204"/>
                    <a:pt x="16936" y="904360"/>
                  </a:cubicBezTo>
                  <a:cubicBezTo>
                    <a:pt x="6092" y="893516"/>
                    <a:pt x="0" y="878809"/>
                    <a:pt x="0" y="863473"/>
                  </a:cubicBezTo>
                  <a:lnTo>
                    <a:pt x="0" y="57823"/>
                  </a:lnTo>
                  <a:cubicBezTo>
                    <a:pt x="0" y="42487"/>
                    <a:pt x="6092" y="27780"/>
                    <a:pt x="16936" y="16936"/>
                  </a:cubicBezTo>
                  <a:cubicBezTo>
                    <a:pt x="27780" y="6092"/>
                    <a:pt x="42487" y="0"/>
                    <a:pt x="57823" y="0"/>
                  </a:cubicBezTo>
                  <a:close/>
                </a:path>
              </a:pathLst>
            </a:custGeom>
            <a:solidFill>
              <a:srgbClr val="A1C7CE"/>
            </a:solidFill>
          </p:spPr>
        </p:sp>
        <p:sp>
          <p:nvSpPr>
            <p:cNvPr name="TextBox 11" id="11"/>
            <p:cNvSpPr txBox="true"/>
            <p:nvPr/>
          </p:nvSpPr>
          <p:spPr>
            <a:xfrm>
              <a:off x="0" y="-85725"/>
              <a:ext cx="1825259" cy="1007021"/>
            </a:xfrm>
            <a:prstGeom prst="rect">
              <a:avLst/>
            </a:prstGeom>
          </p:spPr>
          <p:txBody>
            <a:bodyPr anchor="t" rtlCol="false" tIns="368300" lIns="368300" bIns="368300" rIns="368300"/>
            <a:lstStyle/>
            <a:p>
              <a:pPr algn="l">
                <a:lnSpc>
                  <a:spcPts val="3599"/>
                </a:lnSpc>
              </a:pPr>
              <a:r>
                <a:rPr lang="en-US" sz="2399" spc="-59" b="true">
                  <a:solidFill>
                    <a:srgbClr val="000000"/>
                  </a:solidFill>
                  <a:latin typeface="Poppins Bold"/>
                  <a:ea typeface="Poppins Bold"/>
                  <a:cs typeface="Poppins Bold"/>
                  <a:sym typeface="Poppins Bold"/>
                </a:rPr>
                <a:t>Optimization of HR Workflow</a:t>
              </a:r>
              <a:r>
                <a:rPr lang="en-US" sz="2399" spc="-59">
                  <a:solidFill>
                    <a:srgbClr val="000000"/>
                  </a:solidFill>
                  <a:latin typeface="Poppins"/>
                  <a:ea typeface="Poppins"/>
                  <a:cs typeface="Poppins"/>
                  <a:sym typeface="Poppins"/>
                </a:rPr>
                <a:t>: HR team without the model will continue and screen manually candidates that might be a dud, this will cost the company money while having no benefits.</a:t>
              </a:r>
            </a:p>
          </p:txBody>
        </p:sp>
      </p:grpSp>
      <p:grpSp>
        <p:nvGrpSpPr>
          <p:cNvPr name="Group 12" id="12"/>
          <p:cNvGrpSpPr/>
          <p:nvPr/>
        </p:nvGrpSpPr>
        <p:grpSpPr>
          <a:xfrm rot="0">
            <a:off x="7600950" y="2953807"/>
            <a:ext cx="1543050" cy="15430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65B6D"/>
            </a:solidFill>
          </p:spPr>
        </p:sp>
        <p:sp>
          <p:nvSpPr>
            <p:cNvPr name="TextBox 14" id="14"/>
            <p:cNvSpPr txBox="true"/>
            <p:nvPr/>
          </p:nvSpPr>
          <p:spPr>
            <a:xfrm>
              <a:off x="0" y="155575"/>
              <a:ext cx="711200" cy="454025"/>
            </a:xfrm>
            <a:prstGeom prst="rect">
              <a:avLst/>
            </a:prstGeom>
          </p:spPr>
          <p:txBody>
            <a:bodyPr anchor="ctr" rtlCol="false" tIns="50800" lIns="50800" bIns="50800" rIns="50800"/>
            <a:lstStyle/>
            <a:p>
              <a:pPr algn="ctr">
                <a:lnSpc>
                  <a:spcPts val="2942"/>
                </a:lnSpc>
              </a:pPr>
            </a:p>
          </p:txBody>
        </p:sp>
      </p:grpSp>
      <p:sp>
        <p:nvSpPr>
          <p:cNvPr name="TextBox 15" id="15"/>
          <p:cNvSpPr txBox="true"/>
          <p:nvPr/>
        </p:nvSpPr>
        <p:spPr>
          <a:xfrm rot="0">
            <a:off x="702291" y="350823"/>
            <a:ext cx="10782343" cy="1062736"/>
          </a:xfrm>
          <a:prstGeom prst="rect">
            <a:avLst/>
          </a:prstGeom>
        </p:spPr>
        <p:txBody>
          <a:bodyPr anchor="t" rtlCol="false" tIns="0" lIns="0" bIns="0" rIns="0">
            <a:spAutoFit/>
          </a:bodyPr>
          <a:lstStyle/>
          <a:p>
            <a:pPr algn="l">
              <a:lnSpc>
                <a:spcPts val="8623"/>
              </a:lnSpc>
              <a:spcBef>
                <a:spcPct val="0"/>
              </a:spcBef>
            </a:pPr>
            <a:r>
              <a:rPr lang="en-US" sz="6159">
                <a:solidFill>
                  <a:srgbClr val="18102B"/>
                </a:solidFill>
                <a:latin typeface="Raleway"/>
                <a:ea typeface="Raleway"/>
                <a:cs typeface="Raleway"/>
                <a:sym typeface="Raleway"/>
              </a:rPr>
              <a:t>Recommendation</a:t>
            </a:r>
          </a:p>
        </p:txBody>
      </p:sp>
      <p:grpSp>
        <p:nvGrpSpPr>
          <p:cNvPr name="Group 16" id="16"/>
          <p:cNvGrpSpPr/>
          <p:nvPr/>
        </p:nvGrpSpPr>
        <p:grpSpPr>
          <a:xfrm rot="0">
            <a:off x="7600950" y="6556827"/>
            <a:ext cx="1543050" cy="154305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65B6D"/>
            </a:solidFill>
          </p:spPr>
        </p:sp>
        <p:sp>
          <p:nvSpPr>
            <p:cNvPr name="TextBox 18" id="18"/>
            <p:cNvSpPr txBox="true"/>
            <p:nvPr/>
          </p:nvSpPr>
          <p:spPr>
            <a:xfrm>
              <a:off x="0" y="155575"/>
              <a:ext cx="711200" cy="454025"/>
            </a:xfrm>
            <a:prstGeom prst="rect">
              <a:avLst/>
            </a:prstGeom>
          </p:spPr>
          <p:txBody>
            <a:bodyPr anchor="ctr" rtlCol="false" tIns="50800" lIns="50800" bIns="50800" rIns="50800"/>
            <a:lstStyle/>
            <a:p>
              <a:pPr algn="ctr">
                <a:lnSpc>
                  <a:spcPts val="2942"/>
                </a:lnSpc>
              </a:pPr>
            </a:p>
          </p:txBody>
        </p:sp>
      </p:grpSp>
      <p:grpSp>
        <p:nvGrpSpPr>
          <p:cNvPr name="Group 19" id="19"/>
          <p:cNvGrpSpPr/>
          <p:nvPr/>
        </p:nvGrpSpPr>
        <p:grpSpPr>
          <a:xfrm rot="0">
            <a:off x="9344025" y="5879252"/>
            <a:ext cx="8423750" cy="3379048"/>
            <a:chOff x="0" y="0"/>
            <a:chExt cx="2296732" cy="921296"/>
          </a:xfrm>
        </p:grpSpPr>
        <p:sp>
          <p:nvSpPr>
            <p:cNvPr name="Freeform 20" id="20"/>
            <p:cNvSpPr/>
            <p:nvPr/>
          </p:nvSpPr>
          <p:spPr>
            <a:xfrm flipH="false" flipV="false" rot="0">
              <a:off x="0" y="0"/>
              <a:ext cx="2296732" cy="921296"/>
            </a:xfrm>
            <a:custGeom>
              <a:avLst/>
              <a:gdLst/>
              <a:ahLst/>
              <a:cxnLst/>
              <a:rect r="r" b="b" t="t" l="l"/>
              <a:pathLst>
                <a:path h="921296" w="2296732">
                  <a:moveTo>
                    <a:pt x="45953" y="0"/>
                  </a:moveTo>
                  <a:lnTo>
                    <a:pt x="2250779" y="0"/>
                  </a:lnTo>
                  <a:cubicBezTo>
                    <a:pt x="2262967" y="0"/>
                    <a:pt x="2274655" y="4841"/>
                    <a:pt x="2283273" y="13459"/>
                  </a:cubicBezTo>
                  <a:cubicBezTo>
                    <a:pt x="2291891" y="22077"/>
                    <a:pt x="2296732" y="33765"/>
                    <a:pt x="2296732" y="45953"/>
                  </a:cubicBezTo>
                  <a:lnTo>
                    <a:pt x="2296732" y="875343"/>
                  </a:lnTo>
                  <a:cubicBezTo>
                    <a:pt x="2296732" y="887531"/>
                    <a:pt x="2291891" y="899219"/>
                    <a:pt x="2283273" y="907837"/>
                  </a:cubicBezTo>
                  <a:cubicBezTo>
                    <a:pt x="2274655" y="916455"/>
                    <a:pt x="2262967" y="921296"/>
                    <a:pt x="2250779" y="921296"/>
                  </a:cubicBezTo>
                  <a:lnTo>
                    <a:pt x="45953" y="921296"/>
                  </a:lnTo>
                  <a:cubicBezTo>
                    <a:pt x="20574" y="921296"/>
                    <a:pt x="0" y="900722"/>
                    <a:pt x="0" y="875343"/>
                  </a:cubicBezTo>
                  <a:lnTo>
                    <a:pt x="0" y="45953"/>
                  </a:lnTo>
                  <a:cubicBezTo>
                    <a:pt x="0" y="33765"/>
                    <a:pt x="4841" y="22077"/>
                    <a:pt x="13459" y="13459"/>
                  </a:cubicBezTo>
                  <a:cubicBezTo>
                    <a:pt x="22077" y="4841"/>
                    <a:pt x="33765" y="0"/>
                    <a:pt x="45953" y="0"/>
                  </a:cubicBezTo>
                  <a:close/>
                </a:path>
              </a:pathLst>
            </a:custGeom>
            <a:solidFill>
              <a:srgbClr val="A1C7CE"/>
            </a:solidFill>
          </p:spPr>
        </p:sp>
        <p:sp>
          <p:nvSpPr>
            <p:cNvPr name="TextBox 21" id="21"/>
            <p:cNvSpPr txBox="true"/>
            <p:nvPr/>
          </p:nvSpPr>
          <p:spPr>
            <a:xfrm>
              <a:off x="0" y="-76200"/>
              <a:ext cx="2296732" cy="997496"/>
            </a:xfrm>
            <a:prstGeom prst="rect">
              <a:avLst/>
            </a:prstGeom>
          </p:spPr>
          <p:txBody>
            <a:bodyPr anchor="t" rtlCol="false" tIns="355600" lIns="355600" bIns="355600" rIns="355600"/>
            <a:lstStyle/>
            <a:p>
              <a:pPr algn="l">
                <a:lnSpc>
                  <a:spcPts val="3150"/>
                </a:lnSpc>
              </a:pPr>
              <a:r>
                <a:rPr lang="en-US" sz="2100" spc="-50" b="true">
                  <a:solidFill>
                    <a:srgbClr val="000000"/>
                  </a:solidFill>
                  <a:latin typeface="Poppins Bold"/>
                  <a:ea typeface="Poppins Bold"/>
                  <a:cs typeface="Poppins Bold"/>
                  <a:sym typeface="Poppins Bold"/>
                </a:rPr>
                <a:t>Dashboard utilization</a:t>
              </a:r>
              <a:r>
                <a:rPr lang="en-US" sz="2100" spc="-50">
                  <a:solidFill>
                    <a:srgbClr val="000000"/>
                  </a:solidFill>
                  <a:latin typeface="Poppins"/>
                  <a:ea typeface="Poppins"/>
                  <a:cs typeface="Poppins"/>
                  <a:sym typeface="Poppins"/>
                </a:rPr>
                <a:t>:</a:t>
              </a:r>
              <a:r>
                <a:rPr lang="en-US" sz="2100" spc="-50" b="true">
                  <a:solidFill>
                    <a:srgbClr val="000000"/>
                  </a:solidFill>
                  <a:latin typeface="Poppins Bold"/>
                  <a:ea typeface="Poppins Bold"/>
                  <a:cs typeface="Poppins Bold"/>
                  <a:sym typeface="Poppins Bold"/>
                </a:rPr>
                <a:t> </a:t>
              </a:r>
              <a:r>
                <a:rPr lang="en-US" sz="2100" spc="-50">
                  <a:solidFill>
                    <a:srgbClr val="000000"/>
                  </a:solidFill>
                  <a:latin typeface="Poppins"/>
                  <a:ea typeface="Poppins"/>
                  <a:cs typeface="Poppins"/>
                  <a:sym typeface="Poppins"/>
                </a:rPr>
                <a:t>using the dashboard, HR team can pre-screen the potential candidates without consuming a significant amount of hiring budget to screen off uncertain hires and save the hiring team effort and time.</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1547027" y="4576762"/>
            <a:ext cx="15193947" cy="1114425"/>
          </a:xfrm>
          <a:prstGeom prst="rect">
            <a:avLst/>
          </a:prstGeom>
        </p:spPr>
        <p:txBody>
          <a:bodyPr anchor="t" rtlCol="false" tIns="0" lIns="0" bIns="0" rIns="0">
            <a:spAutoFit/>
          </a:bodyPr>
          <a:lstStyle/>
          <a:p>
            <a:pPr algn="ctr">
              <a:lnSpc>
                <a:spcPts val="8640"/>
              </a:lnSpc>
            </a:pPr>
            <a:r>
              <a:rPr lang="en-US" b="true" sz="7200">
                <a:solidFill>
                  <a:srgbClr val="000000"/>
                </a:solidFill>
                <a:latin typeface="Raleway Bold"/>
                <a:ea typeface="Raleway Bold"/>
                <a:cs typeface="Raleway Bold"/>
                <a:sym typeface="Raleway Bold"/>
              </a:rPr>
              <a:t>Dashboard Implementation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TextBox 3" id="3"/>
          <p:cNvSpPr txBox="true"/>
          <p:nvPr/>
        </p:nvSpPr>
        <p:spPr>
          <a:xfrm rot="0">
            <a:off x="702291" y="350823"/>
            <a:ext cx="6515119" cy="1062670"/>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Project Workflow</a:t>
            </a:r>
          </a:p>
        </p:txBody>
      </p:sp>
      <p:grpSp>
        <p:nvGrpSpPr>
          <p:cNvPr name="Group 4" id="4"/>
          <p:cNvGrpSpPr/>
          <p:nvPr/>
        </p:nvGrpSpPr>
        <p:grpSpPr>
          <a:xfrm rot="0">
            <a:off x="2766754" y="3680139"/>
            <a:ext cx="3630950" cy="4858062"/>
            <a:chOff x="0" y="0"/>
            <a:chExt cx="4841267" cy="6477416"/>
          </a:xfrm>
        </p:grpSpPr>
        <p:grpSp>
          <p:nvGrpSpPr>
            <p:cNvPr name="Group 5" id="5"/>
            <p:cNvGrpSpPr/>
            <p:nvPr/>
          </p:nvGrpSpPr>
          <p:grpSpPr>
            <a:xfrm rot="-10800000">
              <a:off x="0" y="56994"/>
              <a:ext cx="4841267" cy="5601445"/>
              <a:chOff x="0" y="0"/>
              <a:chExt cx="520700" cy="602461"/>
            </a:xfrm>
          </p:grpSpPr>
          <p:sp>
            <p:nvSpPr>
              <p:cNvPr name="Freeform 6" id="6"/>
              <p:cNvSpPr/>
              <p:nvPr/>
            </p:nvSpPr>
            <p:spPr>
              <a:xfrm flipH="false" flipV="false" rot="0">
                <a:off x="0" y="0"/>
                <a:ext cx="520700" cy="593949"/>
              </a:xfrm>
              <a:custGeom>
                <a:avLst/>
                <a:gdLst/>
                <a:ahLst/>
                <a:cxnLst/>
                <a:rect r="r" b="b" t="t" l="l"/>
                <a:pathLst>
                  <a:path h="593949" w="520700">
                    <a:moveTo>
                      <a:pt x="0" y="23597"/>
                    </a:moveTo>
                    <a:lnTo>
                      <a:pt x="0" y="362964"/>
                    </a:lnTo>
                    <a:cubicBezTo>
                      <a:pt x="0" y="377911"/>
                      <a:pt x="6658" y="392082"/>
                      <a:pt x="18164" y="401623"/>
                    </a:cubicBezTo>
                    <a:lnTo>
                      <a:pt x="242186" y="587398"/>
                    </a:lnTo>
                    <a:cubicBezTo>
                      <a:pt x="252720" y="596133"/>
                      <a:pt x="267980" y="596133"/>
                      <a:pt x="278514" y="587398"/>
                    </a:cubicBezTo>
                    <a:lnTo>
                      <a:pt x="502536" y="401623"/>
                    </a:lnTo>
                    <a:cubicBezTo>
                      <a:pt x="514042" y="392082"/>
                      <a:pt x="520700" y="377911"/>
                      <a:pt x="520700" y="362964"/>
                    </a:cubicBezTo>
                    <a:lnTo>
                      <a:pt x="520700" y="23597"/>
                    </a:lnTo>
                    <a:cubicBezTo>
                      <a:pt x="520700" y="17339"/>
                      <a:pt x="518214" y="11337"/>
                      <a:pt x="513789" y="6911"/>
                    </a:cubicBezTo>
                    <a:cubicBezTo>
                      <a:pt x="509363" y="2486"/>
                      <a:pt x="503361" y="0"/>
                      <a:pt x="497103" y="0"/>
                    </a:cubicBezTo>
                    <a:lnTo>
                      <a:pt x="23597" y="0"/>
                    </a:lnTo>
                    <a:cubicBezTo>
                      <a:pt x="17339" y="0"/>
                      <a:pt x="11337" y="2486"/>
                      <a:pt x="6911" y="6911"/>
                    </a:cubicBezTo>
                    <a:cubicBezTo>
                      <a:pt x="2486" y="11337"/>
                      <a:pt x="0" y="17339"/>
                      <a:pt x="0" y="23597"/>
                    </a:cubicBezTo>
                    <a:close/>
                  </a:path>
                </a:pathLst>
              </a:custGeom>
              <a:solidFill>
                <a:srgbClr val="FFFFFF"/>
              </a:solidFill>
              <a:ln cap="sq">
                <a:noFill/>
                <a:prstDash val="solid"/>
                <a:miter/>
              </a:ln>
            </p:spPr>
          </p:sp>
          <p:sp>
            <p:nvSpPr>
              <p:cNvPr name="TextBox 7" id="7"/>
              <p:cNvSpPr txBox="true"/>
              <p:nvPr/>
            </p:nvSpPr>
            <p:spPr>
              <a:xfrm>
                <a:off x="0" y="-12700"/>
                <a:ext cx="520700" cy="386561"/>
              </a:xfrm>
              <a:prstGeom prst="rect">
                <a:avLst/>
              </a:prstGeom>
            </p:spPr>
            <p:txBody>
              <a:bodyPr anchor="ctr" rtlCol="false" tIns="50800" lIns="50800" bIns="50800" rIns="50800"/>
              <a:lstStyle/>
              <a:p>
                <a:pPr algn="ctr">
                  <a:lnSpc>
                    <a:spcPts val="2660"/>
                  </a:lnSpc>
                </a:pPr>
              </a:p>
            </p:txBody>
          </p:sp>
        </p:grpSp>
        <p:grpSp>
          <p:nvGrpSpPr>
            <p:cNvPr name="Group 8" id="8"/>
            <p:cNvGrpSpPr/>
            <p:nvPr/>
          </p:nvGrpSpPr>
          <p:grpSpPr>
            <a:xfrm rot="0">
              <a:off x="2197640" y="0"/>
              <a:ext cx="445988" cy="4459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C91"/>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4060"/>
                  </a:lnSpc>
                  <a:spcBef>
                    <a:spcPct val="0"/>
                  </a:spcBef>
                </a:pPr>
              </a:p>
            </p:txBody>
          </p:sp>
        </p:grpSp>
        <p:sp>
          <p:nvSpPr>
            <p:cNvPr name="Freeform 11" id="11"/>
            <p:cNvSpPr/>
            <p:nvPr/>
          </p:nvSpPr>
          <p:spPr>
            <a:xfrm flipH="false" flipV="false" rot="0">
              <a:off x="46368" y="4827562"/>
              <a:ext cx="4748530" cy="1649854"/>
            </a:xfrm>
            <a:custGeom>
              <a:avLst/>
              <a:gdLst/>
              <a:ahLst/>
              <a:cxnLst/>
              <a:rect r="r" b="b" t="t" l="l"/>
              <a:pathLst>
                <a:path h="1649854" w="4748530">
                  <a:moveTo>
                    <a:pt x="0" y="0"/>
                  </a:moveTo>
                  <a:lnTo>
                    <a:pt x="4748531" y="0"/>
                  </a:lnTo>
                  <a:lnTo>
                    <a:pt x="4748531" y="1649854"/>
                  </a:lnTo>
                  <a:lnTo>
                    <a:pt x="0" y="16498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322784" y="5398498"/>
              <a:ext cx="3276866" cy="460176"/>
            </a:xfrm>
            <a:prstGeom prst="rect">
              <a:avLst/>
            </a:prstGeom>
          </p:spPr>
          <p:txBody>
            <a:bodyPr anchor="t" rtlCol="false" tIns="0" lIns="0" bIns="0" rIns="0">
              <a:spAutoFit/>
            </a:bodyPr>
            <a:lstStyle/>
            <a:p>
              <a:pPr algn="ctr">
                <a:lnSpc>
                  <a:spcPts val="2942"/>
                </a:lnSpc>
              </a:pPr>
              <a:r>
                <a:rPr lang="en-US" b="true" sz="2102">
                  <a:solidFill>
                    <a:srgbClr val="000000"/>
                  </a:solidFill>
                  <a:latin typeface="DM Sans Bold"/>
                  <a:ea typeface="DM Sans Bold"/>
                  <a:cs typeface="DM Sans Bold"/>
                  <a:sym typeface="DM Sans Bold"/>
                </a:rPr>
                <a:t>Step 1</a:t>
              </a:r>
            </a:p>
          </p:txBody>
        </p:sp>
        <p:sp>
          <p:nvSpPr>
            <p:cNvPr name="TextBox 13" id="13"/>
            <p:cNvSpPr txBox="true"/>
            <p:nvPr/>
          </p:nvSpPr>
          <p:spPr>
            <a:xfrm rot="0">
              <a:off x="213215" y="2866632"/>
              <a:ext cx="4414837" cy="1788645"/>
            </a:xfrm>
            <a:prstGeom prst="rect">
              <a:avLst/>
            </a:prstGeom>
          </p:spPr>
          <p:txBody>
            <a:bodyPr anchor="t" rtlCol="false" tIns="0" lIns="0" bIns="0" rIns="0">
              <a:spAutoFit/>
            </a:bodyPr>
            <a:lstStyle/>
            <a:p>
              <a:pPr algn="ctr">
                <a:lnSpc>
                  <a:spcPts val="2764"/>
                </a:lnSpc>
              </a:pPr>
              <a:r>
                <a:rPr lang="en-US" sz="1974">
                  <a:solidFill>
                    <a:srgbClr val="000000"/>
                  </a:solidFill>
                  <a:latin typeface="DM Sans"/>
                  <a:ea typeface="DM Sans"/>
                  <a:cs typeface="DM Sans"/>
                  <a:sym typeface="DM Sans"/>
                </a:rPr>
                <a:t>Candidate data is entered manually through an interactive form in the Streamlit sidebar.</a:t>
              </a:r>
            </a:p>
          </p:txBody>
        </p:sp>
        <p:sp>
          <p:nvSpPr>
            <p:cNvPr name="TextBox 14" id="14"/>
            <p:cNvSpPr txBox="true"/>
            <p:nvPr/>
          </p:nvSpPr>
          <p:spPr>
            <a:xfrm rot="0">
              <a:off x="881735" y="1656782"/>
              <a:ext cx="3077797" cy="425589"/>
            </a:xfrm>
            <a:prstGeom prst="rect">
              <a:avLst/>
            </a:prstGeom>
          </p:spPr>
          <p:txBody>
            <a:bodyPr anchor="t" rtlCol="false" tIns="0" lIns="0" bIns="0" rIns="0">
              <a:spAutoFit/>
            </a:bodyPr>
            <a:lstStyle/>
            <a:p>
              <a:pPr algn="ctr">
                <a:lnSpc>
                  <a:spcPts val="2764"/>
                </a:lnSpc>
              </a:pPr>
              <a:r>
                <a:rPr lang="en-US" b="true" sz="1974">
                  <a:solidFill>
                    <a:srgbClr val="000000"/>
                  </a:solidFill>
                  <a:latin typeface="DM Sans Bold"/>
                  <a:ea typeface="DM Sans Bold"/>
                  <a:cs typeface="DM Sans Bold"/>
                  <a:sym typeface="DM Sans Bold"/>
                </a:rPr>
                <a:t>Data Collection</a:t>
              </a:r>
            </a:p>
          </p:txBody>
        </p:sp>
      </p:grpSp>
      <p:grpSp>
        <p:nvGrpSpPr>
          <p:cNvPr name="Group 15" id="15"/>
          <p:cNvGrpSpPr/>
          <p:nvPr/>
        </p:nvGrpSpPr>
        <p:grpSpPr>
          <a:xfrm rot="0">
            <a:off x="6914849" y="2433683"/>
            <a:ext cx="3630950" cy="4843665"/>
            <a:chOff x="0" y="0"/>
            <a:chExt cx="4841267" cy="6458220"/>
          </a:xfrm>
        </p:grpSpPr>
        <p:grpSp>
          <p:nvGrpSpPr>
            <p:cNvPr name="Group 16" id="16"/>
            <p:cNvGrpSpPr/>
            <p:nvPr/>
          </p:nvGrpSpPr>
          <p:grpSpPr>
            <a:xfrm rot="-10800000">
              <a:off x="0" y="45843"/>
              <a:ext cx="4841267" cy="5601445"/>
              <a:chOff x="0" y="0"/>
              <a:chExt cx="520700" cy="602461"/>
            </a:xfrm>
          </p:grpSpPr>
          <p:sp>
            <p:nvSpPr>
              <p:cNvPr name="Freeform 17" id="17"/>
              <p:cNvSpPr/>
              <p:nvPr/>
            </p:nvSpPr>
            <p:spPr>
              <a:xfrm flipH="false" flipV="false" rot="0">
                <a:off x="0" y="0"/>
                <a:ext cx="520700" cy="593949"/>
              </a:xfrm>
              <a:custGeom>
                <a:avLst/>
                <a:gdLst/>
                <a:ahLst/>
                <a:cxnLst/>
                <a:rect r="r" b="b" t="t" l="l"/>
                <a:pathLst>
                  <a:path h="593949" w="520700">
                    <a:moveTo>
                      <a:pt x="0" y="23597"/>
                    </a:moveTo>
                    <a:lnTo>
                      <a:pt x="0" y="362964"/>
                    </a:lnTo>
                    <a:cubicBezTo>
                      <a:pt x="0" y="377911"/>
                      <a:pt x="6658" y="392082"/>
                      <a:pt x="18164" y="401623"/>
                    </a:cubicBezTo>
                    <a:lnTo>
                      <a:pt x="242186" y="587398"/>
                    </a:lnTo>
                    <a:cubicBezTo>
                      <a:pt x="252720" y="596133"/>
                      <a:pt x="267980" y="596133"/>
                      <a:pt x="278514" y="587398"/>
                    </a:cubicBezTo>
                    <a:lnTo>
                      <a:pt x="502536" y="401623"/>
                    </a:lnTo>
                    <a:cubicBezTo>
                      <a:pt x="514042" y="392082"/>
                      <a:pt x="520700" y="377911"/>
                      <a:pt x="520700" y="362964"/>
                    </a:cubicBezTo>
                    <a:lnTo>
                      <a:pt x="520700" y="23597"/>
                    </a:lnTo>
                    <a:cubicBezTo>
                      <a:pt x="520700" y="17339"/>
                      <a:pt x="518214" y="11337"/>
                      <a:pt x="513789" y="6911"/>
                    </a:cubicBezTo>
                    <a:cubicBezTo>
                      <a:pt x="509363" y="2486"/>
                      <a:pt x="503361" y="0"/>
                      <a:pt x="497103" y="0"/>
                    </a:cubicBezTo>
                    <a:lnTo>
                      <a:pt x="23597" y="0"/>
                    </a:lnTo>
                    <a:cubicBezTo>
                      <a:pt x="17339" y="0"/>
                      <a:pt x="11337" y="2486"/>
                      <a:pt x="6911" y="6911"/>
                    </a:cubicBezTo>
                    <a:cubicBezTo>
                      <a:pt x="2486" y="11337"/>
                      <a:pt x="0" y="17339"/>
                      <a:pt x="0" y="23597"/>
                    </a:cubicBezTo>
                    <a:close/>
                  </a:path>
                </a:pathLst>
              </a:custGeom>
              <a:solidFill>
                <a:srgbClr val="FFFFFF"/>
              </a:solidFill>
              <a:ln cap="sq">
                <a:noFill/>
                <a:prstDash val="solid"/>
                <a:miter/>
              </a:ln>
            </p:spPr>
          </p:sp>
          <p:sp>
            <p:nvSpPr>
              <p:cNvPr name="TextBox 18" id="18"/>
              <p:cNvSpPr txBox="true"/>
              <p:nvPr/>
            </p:nvSpPr>
            <p:spPr>
              <a:xfrm>
                <a:off x="0" y="-12700"/>
                <a:ext cx="520700" cy="386561"/>
              </a:xfrm>
              <a:prstGeom prst="rect">
                <a:avLst/>
              </a:prstGeom>
            </p:spPr>
            <p:txBody>
              <a:bodyPr anchor="ctr" rtlCol="false" tIns="50800" lIns="50800" bIns="50800" rIns="50800"/>
              <a:lstStyle/>
              <a:p>
                <a:pPr algn="ctr">
                  <a:lnSpc>
                    <a:spcPts val="2660"/>
                  </a:lnSpc>
                </a:pPr>
              </a:p>
            </p:txBody>
          </p:sp>
        </p:grpSp>
        <p:grpSp>
          <p:nvGrpSpPr>
            <p:cNvPr name="Group 19" id="19"/>
            <p:cNvGrpSpPr/>
            <p:nvPr/>
          </p:nvGrpSpPr>
          <p:grpSpPr>
            <a:xfrm rot="0">
              <a:off x="2197640" y="0"/>
              <a:ext cx="445988" cy="44598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A7BF"/>
              </a:solidFill>
            </p:spPr>
          </p:sp>
          <p:sp>
            <p:nvSpPr>
              <p:cNvPr name="TextBox 21" id="21"/>
              <p:cNvSpPr txBox="true"/>
              <p:nvPr/>
            </p:nvSpPr>
            <p:spPr>
              <a:xfrm>
                <a:off x="76200" y="19050"/>
                <a:ext cx="660400" cy="717550"/>
              </a:xfrm>
              <a:prstGeom prst="rect">
                <a:avLst/>
              </a:prstGeom>
            </p:spPr>
            <p:txBody>
              <a:bodyPr anchor="ctr" rtlCol="false" tIns="50800" lIns="50800" bIns="50800" rIns="50800"/>
              <a:lstStyle/>
              <a:p>
                <a:pPr algn="ctr" marL="0" indent="0" lvl="0">
                  <a:lnSpc>
                    <a:spcPts val="4060"/>
                  </a:lnSpc>
                  <a:spcBef>
                    <a:spcPct val="0"/>
                  </a:spcBef>
                </a:pPr>
              </a:p>
            </p:txBody>
          </p:sp>
        </p:grpSp>
        <p:sp>
          <p:nvSpPr>
            <p:cNvPr name="Freeform 22" id="22"/>
            <p:cNvSpPr/>
            <p:nvPr/>
          </p:nvSpPr>
          <p:spPr>
            <a:xfrm flipH="false" flipV="false" rot="0">
              <a:off x="46368" y="4808366"/>
              <a:ext cx="4748530" cy="1649854"/>
            </a:xfrm>
            <a:custGeom>
              <a:avLst/>
              <a:gdLst/>
              <a:ahLst/>
              <a:cxnLst/>
              <a:rect r="r" b="b" t="t" l="l"/>
              <a:pathLst>
                <a:path h="1649854" w="4748530">
                  <a:moveTo>
                    <a:pt x="0" y="0"/>
                  </a:moveTo>
                  <a:lnTo>
                    <a:pt x="4748531" y="0"/>
                  </a:lnTo>
                  <a:lnTo>
                    <a:pt x="4748531" y="1649854"/>
                  </a:lnTo>
                  <a:lnTo>
                    <a:pt x="0" y="1649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584098" y="5237881"/>
              <a:ext cx="595275" cy="790824"/>
            </a:xfrm>
            <a:custGeom>
              <a:avLst/>
              <a:gdLst/>
              <a:ahLst/>
              <a:cxnLst/>
              <a:rect r="r" b="b" t="t" l="l"/>
              <a:pathLst>
                <a:path h="790824" w="595275">
                  <a:moveTo>
                    <a:pt x="0" y="0"/>
                  </a:moveTo>
                  <a:lnTo>
                    <a:pt x="595274" y="0"/>
                  </a:lnTo>
                  <a:lnTo>
                    <a:pt x="595274" y="790824"/>
                  </a:lnTo>
                  <a:lnTo>
                    <a:pt x="0" y="7908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4" id="24"/>
            <p:cNvSpPr txBox="true"/>
            <p:nvPr/>
          </p:nvSpPr>
          <p:spPr>
            <a:xfrm rot="0">
              <a:off x="1351187" y="5379302"/>
              <a:ext cx="3276866" cy="460176"/>
            </a:xfrm>
            <a:prstGeom prst="rect">
              <a:avLst/>
            </a:prstGeom>
          </p:spPr>
          <p:txBody>
            <a:bodyPr anchor="t" rtlCol="false" tIns="0" lIns="0" bIns="0" rIns="0">
              <a:spAutoFit/>
            </a:bodyPr>
            <a:lstStyle/>
            <a:p>
              <a:pPr algn="ctr">
                <a:lnSpc>
                  <a:spcPts val="2942"/>
                </a:lnSpc>
              </a:pPr>
              <a:r>
                <a:rPr lang="en-US" b="true" sz="2102">
                  <a:solidFill>
                    <a:srgbClr val="FFFFFF"/>
                  </a:solidFill>
                  <a:latin typeface="DM Sans Bold"/>
                  <a:ea typeface="DM Sans Bold"/>
                  <a:cs typeface="DM Sans Bold"/>
                  <a:sym typeface="DM Sans Bold"/>
                </a:rPr>
                <a:t>Step 2</a:t>
              </a:r>
            </a:p>
          </p:txBody>
        </p:sp>
        <p:sp>
          <p:nvSpPr>
            <p:cNvPr name="TextBox 25" id="25"/>
            <p:cNvSpPr txBox="true"/>
            <p:nvPr/>
          </p:nvSpPr>
          <p:spPr>
            <a:xfrm rot="0">
              <a:off x="213215" y="2780516"/>
              <a:ext cx="4414837" cy="2242998"/>
            </a:xfrm>
            <a:prstGeom prst="rect">
              <a:avLst/>
            </a:prstGeom>
          </p:spPr>
          <p:txBody>
            <a:bodyPr anchor="t" rtlCol="false" tIns="0" lIns="0" bIns="0" rIns="0">
              <a:spAutoFit/>
            </a:bodyPr>
            <a:lstStyle/>
            <a:p>
              <a:pPr algn="ctr">
                <a:lnSpc>
                  <a:spcPts val="2764"/>
                </a:lnSpc>
              </a:pPr>
              <a:r>
                <a:rPr lang="en-US" sz="1974">
                  <a:solidFill>
                    <a:srgbClr val="000000"/>
                  </a:solidFill>
                  <a:latin typeface="DM Sans"/>
                  <a:ea typeface="DM Sans"/>
                  <a:cs typeface="DM Sans"/>
                  <a:sym typeface="DM Sans"/>
                </a:rPr>
                <a:t>A tu</a:t>
              </a:r>
              <a:r>
                <a:rPr lang="en-US" sz="1974">
                  <a:solidFill>
                    <a:srgbClr val="000000"/>
                  </a:solidFill>
                  <a:latin typeface="DM Sans"/>
                  <a:ea typeface="DM Sans"/>
                  <a:cs typeface="DM Sans"/>
                  <a:sym typeface="DM Sans"/>
                </a:rPr>
                <a:t>ned XGBoost model processes the input to determine the approval probability.</a:t>
              </a:r>
            </a:p>
            <a:p>
              <a:pPr algn="ctr">
                <a:lnSpc>
                  <a:spcPts val="2764"/>
                </a:lnSpc>
              </a:pPr>
            </a:p>
          </p:txBody>
        </p:sp>
        <p:sp>
          <p:nvSpPr>
            <p:cNvPr name="TextBox 26" id="26"/>
            <p:cNvSpPr txBox="true"/>
            <p:nvPr/>
          </p:nvSpPr>
          <p:spPr>
            <a:xfrm rot="0">
              <a:off x="881735" y="1570666"/>
              <a:ext cx="3077797" cy="879941"/>
            </a:xfrm>
            <a:prstGeom prst="rect">
              <a:avLst/>
            </a:prstGeom>
          </p:spPr>
          <p:txBody>
            <a:bodyPr anchor="t" rtlCol="false" tIns="0" lIns="0" bIns="0" rIns="0">
              <a:spAutoFit/>
            </a:bodyPr>
            <a:lstStyle/>
            <a:p>
              <a:pPr algn="ctr">
                <a:lnSpc>
                  <a:spcPts val="2764"/>
                </a:lnSpc>
              </a:pPr>
              <a:r>
                <a:rPr lang="en-US" b="true" sz="1974">
                  <a:solidFill>
                    <a:srgbClr val="000000"/>
                  </a:solidFill>
                  <a:latin typeface="DM Sans Bold"/>
                  <a:ea typeface="DM Sans Bold"/>
                  <a:cs typeface="DM Sans Bold"/>
                  <a:sym typeface="DM Sans Bold"/>
                </a:rPr>
                <a:t>Predictive Machine Learning</a:t>
              </a:r>
            </a:p>
          </p:txBody>
        </p:sp>
      </p:grpSp>
      <p:grpSp>
        <p:nvGrpSpPr>
          <p:cNvPr name="Group 27" id="27"/>
          <p:cNvGrpSpPr/>
          <p:nvPr/>
        </p:nvGrpSpPr>
        <p:grpSpPr>
          <a:xfrm rot="0">
            <a:off x="11060430" y="3694536"/>
            <a:ext cx="3630950" cy="4829268"/>
            <a:chOff x="0" y="0"/>
            <a:chExt cx="4841267" cy="6439024"/>
          </a:xfrm>
        </p:grpSpPr>
        <p:grpSp>
          <p:nvGrpSpPr>
            <p:cNvPr name="Group 28" id="28"/>
            <p:cNvGrpSpPr/>
            <p:nvPr/>
          </p:nvGrpSpPr>
          <p:grpSpPr>
            <a:xfrm rot="-10800000">
              <a:off x="0" y="34693"/>
              <a:ext cx="4841267" cy="5601445"/>
              <a:chOff x="0" y="0"/>
              <a:chExt cx="520700" cy="602461"/>
            </a:xfrm>
          </p:grpSpPr>
          <p:sp>
            <p:nvSpPr>
              <p:cNvPr name="Freeform 29" id="29"/>
              <p:cNvSpPr/>
              <p:nvPr/>
            </p:nvSpPr>
            <p:spPr>
              <a:xfrm flipH="false" flipV="false" rot="0">
                <a:off x="0" y="0"/>
                <a:ext cx="520700" cy="593949"/>
              </a:xfrm>
              <a:custGeom>
                <a:avLst/>
                <a:gdLst/>
                <a:ahLst/>
                <a:cxnLst/>
                <a:rect r="r" b="b" t="t" l="l"/>
                <a:pathLst>
                  <a:path h="593949" w="520700">
                    <a:moveTo>
                      <a:pt x="0" y="23597"/>
                    </a:moveTo>
                    <a:lnTo>
                      <a:pt x="0" y="362964"/>
                    </a:lnTo>
                    <a:cubicBezTo>
                      <a:pt x="0" y="377911"/>
                      <a:pt x="6658" y="392082"/>
                      <a:pt x="18164" y="401623"/>
                    </a:cubicBezTo>
                    <a:lnTo>
                      <a:pt x="242186" y="587398"/>
                    </a:lnTo>
                    <a:cubicBezTo>
                      <a:pt x="252720" y="596133"/>
                      <a:pt x="267980" y="596133"/>
                      <a:pt x="278514" y="587398"/>
                    </a:cubicBezTo>
                    <a:lnTo>
                      <a:pt x="502536" y="401623"/>
                    </a:lnTo>
                    <a:cubicBezTo>
                      <a:pt x="514042" y="392082"/>
                      <a:pt x="520700" y="377911"/>
                      <a:pt x="520700" y="362964"/>
                    </a:cubicBezTo>
                    <a:lnTo>
                      <a:pt x="520700" y="23597"/>
                    </a:lnTo>
                    <a:cubicBezTo>
                      <a:pt x="520700" y="17339"/>
                      <a:pt x="518214" y="11337"/>
                      <a:pt x="513789" y="6911"/>
                    </a:cubicBezTo>
                    <a:cubicBezTo>
                      <a:pt x="509363" y="2486"/>
                      <a:pt x="503361" y="0"/>
                      <a:pt x="497103" y="0"/>
                    </a:cubicBezTo>
                    <a:lnTo>
                      <a:pt x="23597" y="0"/>
                    </a:lnTo>
                    <a:cubicBezTo>
                      <a:pt x="17339" y="0"/>
                      <a:pt x="11337" y="2486"/>
                      <a:pt x="6911" y="6911"/>
                    </a:cubicBezTo>
                    <a:cubicBezTo>
                      <a:pt x="2486" y="11337"/>
                      <a:pt x="0" y="17339"/>
                      <a:pt x="0" y="23597"/>
                    </a:cubicBezTo>
                    <a:close/>
                  </a:path>
                </a:pathLst>
              </a:custGeom>
              <a:solidFill>
                <a:srgbClr val="FFFFFF"/>
              </a:solidFill>
              <a:ln cap="sq">
                <a:noFill/>
                <a:prstDash val="solid"/>
                <a:miter/>
              </a:ln>
            </p:spPr>
          </p:sp>
          <p:sp>
            <p:nvSpPr>
              <p:cNvPr name="TextBox 30" id="30"/>
              <p:cNvSpPr txBox="true"/>
              <p:nvPr/>
            </p:nvSpPr>
            <p:spPr>
              <a:xfrm>
                <a:off x="0" y="-12700"/>
                <a:ext cx="520700" cy="386561"/>
              </a:xfrm>
              <a:prstGeom prst="rect">
                <a:avLst/>
              </a:prstGeom>
            </p:spPr>
            <p:txBody>
              <a:bodyPr anchor="ctr" rtlCol="false" tIns="50800" lIns="50800" bIns="50800" rIns="50800"/>
              <a:lstStyle/>
              <a:p>
                <a:pPr algn="ctr">
                  <a:lnSpc>
                    <a:spcPts val="2660"/>
                  </a:lnSpc>
                </a:pPr>
              </a:p>
            </p:txBody>
          </p:sp>
        </p:grpSp>
        <p:grpSp>
          <p:nvGrpSpPr>
            <p:cNvPr name="Group 31" id="31"/>
            <p:cNvGrpSpPr/>
            <p:nvPr/>
          </p:nvGrpSpPr>
          <p:grpSpPr>
            <a:xfrm rot="0">
              <a:off x="2197640" y="0"/>
              <a:ext cx="445988" cy="44598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5E0"/>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sp>
          <p:nvSpPr>
            <p:cNvPr name="Freeform 34" id="34"/>
            <p:cNvSpPr/>
            <p:nvPr/>
          </p:nvSpPr>
          <p:spPr>
            <a:xfrm flipH="false" flipV="false" rot="0">
              <a:off x="46368" y="4789170"/>
              <a:ext cx="4748530" cy="1649854"/>
            </a:xfrm>
            <a:custGeom>
              <a:avLst/>
              <a:gdLst/>
              <a:ahLst/>
              <a:cxnLst/>
              <a:rect r="r" b="b" t="t" l="l"/>
              <a:pathLst>
                <a:path h="1649854" w="4748530">
                  <a:moveTo>
                    <a:pt x="0" y="0"/>
                  </a:moveTo>
                  <a:lnTo>
                    <a:pt x="4748531" y="0"/>
                  </a:lnTo>
                  <a:lnTo>
                    <a:pt x="4748531" y="1649854"/>
                  </a:lnTo>
                  <a:lnTo>
                    <a:pt x="0" y="164985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492605" y="5284985"/>
              <a:ext cx="639076" cy="658224"/>
            </a:xfrm>
            <a:custGeom>
              <a:avLst/>
              <a:gdLst/>
              <a:ahLst/>
              <a:cxnLst/>
              <a:rect r="r" b="b" t="t" l="l"/>
              <a:pathLst>
                <a:path h="658224" w="639076">
                  <a:moveTo>
                    <a:pt x="0" y="0"/>
                  </a:moveTo>
                  <a:lnTo>
                    <a:pt x="639076" y="0"/>
                  </a:lnTo>
                  <a:lnTo>
                    <a:pt x="639076" y="658224"/>
                  </a:lnTo>
                  <a:lnTo>
                    <a:pt x="0" y="6582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6" id="36"/>
            <p:cNvSpPr txBox="true"/>
            <p:nvPr/>
          </p:nvSpPr>
          <p:spPr>
            <a:xfrm rot="0">
              <a:off x="1351187" y="5360106"/>
              <a:ext cx="3276866" cy="460176"/>
            </a:xfrm>
            <a:prstGeom prst="rect">
              <a:avLst/>
            </a:prstGeom>
          </p:spPr>
          <p:txBody>
            <a:bodyPr anchor="t" rtlCol="false" tIns="0" lIns="0" bIns="0" rIns="0">
              <a:spAutoFit/>
            </a:bodyPr>
            <a:lstStyle/>
            <a:p>
              <a:pPr algn="ctr">
                <a:lnSpc>
                  <a:spcPts val="2942"/>
                </a:lnSpc>
              </a:pPr>
              <a:r>
                <a:rPr lang="en-US" b="true" sz="2102">
                  <a:solidFill>
                    <a:srgbClr val="FFFFFF"/>
                  </a:solidFill>
                  <a:latin typeface="DM Sans Bold"/>
                  <a:ea typeface="DM Sans Bold"/>
                  <a:cs typeface="DM Sans Bold"/>
                  <a:sym typeface="DM Sans Bold"/>
                </a:rPr>
                <a:t>Step 3</a:t>
              </a:r>
            </a:p>
          </p:txBody>
        </p:sp>
        <p:sp>
          <p:nvSpPr>
            <p:cNvPr name="TextBox 37" id="37"/>
            <p:cNvSpPr txBox="true"/>
            <p:nvPr/>
          </p:nvSpPr>
          <p:spPr>
            <a:xfrm rot="0">
              <a:off x="213215" y="2773611"/>
              <a:ext cx="4414837" cy="1334293"/>
            </a:xfrm>
            <a:prstGeom prst="rect">
              <a:avLst/>
            </a:prstGeom>
          </p:spPr>
          <p:txBody>
            <a:bodyPr anchor="t" rtlCol="false" tIns="0" lIns="0" bIns="0" rIns="0">
              <a:spAutoFit/>
            </a:bodyPr>
            <a:lstStyle/>
            <a:p>
              <a:pPr algn="ctr">
                <a:lnSpc>
                  <a:spcPts val="2764"/>
                </a:lnSpc>
              </a:pPr>
              <a:r>
                <a:rPr lang="en-US" sz="1974">
                  <a:solidFill>
                    <a:srgbClr val="000000"/>
                  </a:solidFill>
                  <a:latin typeface="DM Sans"/>
                  <a:ea typeface="DM Sans"/>
                  <a:cs typeface="DM Sans"/>
                  <a:sym typeface="DM Sans"/>
                </a:rPr>
                <a:t>The fi</a:t>
              </a:r>
              <a:r>
                <a:rPr lang="en-US" sz="1974">
                  <a:solidFill>
                    <a:srgbClr val="000000"/>
                  </a:solidFill>
                  <a:latin typeface="DM Sans"/>
                  <a:ea typeface="DM Sans"/>
                  <a:cs typeface="DM Sans"/>
                  <a:sym typeface="DM Sans"/>
                </a:rPr>
                <a:t>nal results are displayed in real-time: "Hired/Not Hired" status.</a:t>
              </a:r>
            </a:p>
          </p:txBody>
        </p:sp>
        <p:sp>
          <p:nvSpPr>
            <p:cNvPr name="TextBox 38" id="38"/>
            <p:cNvSpPr txBox="true"/>
            <p:nvPr/>
          </p:nvSpPr>
          <p:spPr>
            <a:xfrm rot="0">
              <a:off x="881735" y="1563762"/>
              <a:ext cx="3077797" cy="879941"/>
            </a:xfrm>
            <a:prstGeom prst="rect">
              <a:avLst/>
            </a:prstGeom>
          </p:spPr>
          <p:txBody>
            <a:bodyPr anchor="t" rtlCol="false" tIns="0" lIns="0" bIns="0" rIns="0">
              <a:spAutoFit/>
            </a:bodyPr>
            <a:lstStyle/>
            <a:p>
              <a:pPr algn="ctr">
                <a:lnSpc>
                  <a:spcPts val="2764"/>
                </a:lnSpc>
              </a:pPr>
              <a:r>
                <a:rPr lang="en-US" b="true" sz="1974">
                  <a:solidFill>
                    <a:srgbClr val="000000"/>
                  </a:solidFill>
                  <a:latin typeface="DM Sans Bold"/>
                  <a:ea typeface="DM Sans Bold"/>
                  <a:cs typeface="DM Sans Bold"/>
                  <a:sym typeface="DM Sans Bold"/>
                </a:rPr>
                <a:t>Results Visualization</a:t>
              </a:r>
            </a:p>
          </p:txBody>
        </p:sp>
      </p:grpSp>
      <p:sp>
        <p:nvSpPr>
          <p:cNvPr name="Freeform 39" id="39"/>
          <p:cNvSpPr/>
          <p:nvPr/>
        </p:nvSpPr>
        <p:spPr>
          <a:xfrm flipH="false" flipV="false" rot="0">
            <a:off x="3217069" y="7718523"/>
            <a:ext cx="398591" cy="398591"/>
          </a:xfrm>
          <a:custGeom>
            <a:avLst/>
            <a:gdLst/>
            <a:ahLst/>
            <a:cxnLst/>
            <a:rect r="r" b="b" t="t" l="l"/>
            <a:pathLst>
              <a:path h="398591" w="398591">
                <a:moveTo>
                  <a:pt x="0" y="0"/>
                </a:moveTo>
                <a:lnTo>
                  <a:pt x="398591" y="0"/>
                </a:lnTo>
                <a:lnTo>
                  <a:pt x="398591" y="398591"/>
                </a:lnTo>
                <a:lnTo>
                  <a:pt x="0" y="3985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20" t="0" r="-5578" b="-9099"/>
            </a:stretch>
          </a:blipFill>
        </p:spPr>
      </p:sp>
      <p:sp>
        <p:nvSpPr>
          <p:cNvPr name="Freeform 3" id="3"/>
          <p:cNvSpPr/>
          <p:nvPr/>
        </p:nvSpPr>
        <p:spPr>
          <a:xfrm flipH="false" flipV="false" rot="0">
            <a:off x="1028700" y="1773382"/>
            <a:ext cx="10005882" cy="4415095"/>
          </a:xfrm>
          <a:custGeom>
            <a:avLst/>
            <a:gdLst/>
            <a:ahLst/>
            <a:cxnLst/>
            <a:rect r="r" b="b" t="t" l="l"/>
            <a:pathLst>
              <a:path h="4415095" w="10005882">
                <a:moveTo>
                  <a:pt x="0" y="0"/>
                </a:moveTo>
                <a:lnTo>
                  <a:pt x="10005882" y="0"/>
                </a:lnTo>
                <a:lnTo>
                  <a:pt x="10005882" y="4415095"/>
                </a:lnTo>
                <a:lnTo>
                  <a:pt x="0" y="4415095"/>
                </a:lnTo>
                <a:lnTo>
                  <a:pt x="0" y="0"/>
                </a:lnTo>
                <a:close/>
              </a:path>
            </a:pathLst>
          </a:custGeom>
          <a:blipFill>
            <a:blip r:embed="rId3"/>
            <a:stretch>
              <a:fillRect l="0" t="0" r="0" b="0"/>
            </a:stretch>
          </a:blipFill>
        </p:spPr>
      </p:sp>
      <p:grpSp>
        <p:nvGrpSpPr>
          <p:cNvPr name="Group 4" id="4"/>
          <p:cNvGrpSpPr/>
          <p:nvPr/>
        </p:nvGrpSpPr>
        <p:grpSpPr>
          <a:xfrm rot="0">
            <a:off x="11908590" y="5342270"/>
            <a:ext cx="5209534" cy="4153959"/>
            <a:chOff x="0" y="0"/>
            <a:chExt cx="1420377" cy="1132575"/>
          </a:xfrm>
        </p:grpSpPr>
        <p:sp>
          <p:nvSpPr>
            <p:cNvPr name="Freeform 5" id="5"/>
            <p:cNvSpPr/>
            <p:nvPr/>
          </p:nvSpPr>
          <p:spPr>
            <a:xfrm flipH="false" flipV="false" rot="0">
              <a:off x="0" y="0"/>
              <a:ext cx="1420377" cy="1132575"/>
            </a:xfrm>
            <a:custGeom>
              <a:avLst/>
              <a:gdLst/>
              <a:ahLst/>
              <a:cxnLst/>
              <a:rect r="r" b="b" t="t" l="l"/>
              <a:pathLst>
                <a:path h="1132575" w="1420377">
                  <a:moveTo>
                    <a:pt x="74305" y="0"/>
                  </a:moveTo>
                  <a:lnTo>
                    <a:pt x="1346072" y="0"/>
                  </a:lnTo>
                  <a:cubicBezTo>
                    <a:pt x="1365779" y="0"/>
                    <a:pt x="1384679" y="7829"/>
                    <a:pt x="1398614" y="21764"/>
                  </a:cubicBezTo>
                  <a:cubicBezTo>
                    <a:pt x="1412549" y="35698"/>
                    <a:pt x="1420377" y="54598"/>
                    <a:pt x="1420377" y="74305"/>
                  </a:cubicBezTo>
                  <a:lnTo>
                    <a:pt x="1420377" y="1058270"/>
                  </a:lnTo>
                  <a:cubicBezTo>
                    <a:pt x="1420377" y="1099308"/>
                    <a:pt x="1387110" y="1132575"/>
                    <a:pt x="1346072" y="1132575"/>
                  </a:cubicBezTo>
                  <a:lnTo>
                    <a:pt x="74305" y="1132575"/>
                  </a:lnTo>
                  <a:cubicBezTo>
                    <a:pt x="54598" y="1132575"/>
                    <a:pt x="35698" y="1124747"/>
                    <a:pt x="21764" y="1110812"/>
                  </a:cubicBezTo>
                  <a:cubicBezTo>
                    <a:pt x="7829" y="1096877"/>
                    <a:pt x="0" y="1077977"/>
                    <a:pt x="0" y="1058270"/>
                  </a:cubicBezTo>
                  <a:lnTo>
                    <a:pt x="0" y="74305"/>
                  </a:lnTo>
                  <a:cubicBezTo>
                    <a:pt x="0" y="33268"/>
                    <a:pt x="33268" y="0"/>
                    <a:pt x="74305" y="0"/>
                  </a:cubicBezTo>
                  <a:close/>
                </a:path>
              </a:pathLst>
            </a:custGeom>
            <a:solidFill>
              <a:srgbClr val="F8FAFC"/>
            </a:solidFill>
          </p:spPr>
        </p:sp>
        <p:sp>
          <p:nvSpPr>
            <p:cNvPr name="TextBox 6" id="6"/>
            <p:cNvSpPr txBox="true"/>
            <p:nvPr/>
          </p:nvSpPr>
          <p:spPr>
            <a:xfrm>
              <a:off x="0" y="-19050"/>
              <a:ext cx="1420377" cy="1151625"/>
            </a:xfrm>
            <a:prstGeom prst="rect">
              <a:avLst/>
            </a:prstGeom>
          </p:spPr>
          <p:txBody>
            <a:bodyPr anchor="ctr" rtlCol="false" tIns="49361" lIns="49361" bIns="49361" rIns="49361"/>
            <a:lstStyle/>
            <a:p>
              <a:pPr algn="l" marL="453390" indent="-226695" lvl="1">
                <a:lnSpc>
                  <a:spcPts val="2520"/>
                </a:lnSpc>
                <a:buFont typeface="Arial"/>
                <a:buChar char="•"/>
              </a:pPr>
              <a:r>
                <a:rPr lang="en-US" sz="2100" spc="8">
                  <a:solidFill>
                    <a:srgbClr val="000000"/>
                  </a:solidFill>
                  <a:latin typeface="Poppins"/>
                  <a:ea typeface="Poppins"/>
                  <a:cs typeface="Poppins"/>
                  <a:sym typeface="Poppins"/>
                </a:rPr>
                <a:t>Users can dynamically modify candidate parameters.</a:t>
              </a:r>
            </a:p>
            <a:p>
              <a:pPr algn="l">
                <a:lnSpc>
                  <a:spcPts val="2520"/>
                </a:lnSpc>
              </a:pPr>
            </a:p>
            <a:p>
              <a:pPr algn="l" marL="453390" indent="-226695" lvl="1">
                <a:lnSpc>
                  <a:spcPts val="2520"/>
                </a:lnSpc>
                <a:buFont typeface="Arial"/>
                <a:buChar char="•"/>
              </a:pPr>
              <a:r>
                <a:rPr lang="en-US" sz="2100" spc="8">
                  <a:solidFill>
                    <a:srgbClr val="000000"/>
                  </a:solidFill>
                  <a:latin typeface="Poppins"/>
                  <a:ea typeface="Poppins"/>
                  <a:cs typeface="Poppins"/>
                  <a:sym typeface="Poppins"/>
                </a:rPr>
                <a:t>Input changes instantly update the prediction results.</a:t>
              </a:r>
            </a:p>
          </p:txBody>
        </p:sp>
      </p:grpSp>
      <p:sp>
        <p:nvSpPr>
          <p:cNvPr name="Freeform 7" id="7">
            <a:hlinkClick r:id="rId5" tooltip="https://github.com/fadlinur/Final-Project.git"/>
          </p:cNvPr>
          <p:cNvSpPr/>
          <p:nvPr/>
        </p:nvSpPr>
        <p:spPr>
          <a:xfrm flipH="false" flipV="false" rot="0">
            <a:off x="13561818" y="1773382"/>
            <a:ext cx="1903079" cy="1829334"/>
          </a:xfrm>
          <a:custGeom>
            <a:avLst/>
            <a:gdLst/>
            <a:ahLst/>
            <a:cxnLst/>
            <a:rect r="r" b="b" t="t" l="l"/>
            <a:pathLst>
              <a:path h="1829334" w="1903079">
                <a:moveTo>
                  <a:pt x="0" y="0"/>
                </a:moveTo>
                <a:lnTo>
                  <a:pt x="1903079" y="0"/>
                </a:lnTo>
                <a:lnTo>
                  <a:pt x="1903079" y="1829334"/>
                </a:lnTo>
                <a:lnTo>
                  <a:pt x="0" y="1829334"/>
                </a:lnTo>
                <a:lnTo>
                  <a:pt x="0" y="0"/>
                </a:lnTo>
                <a:close/>
              </a:path>
            </a:pathLst>
          </a:custGeom>
          <a:blipFill>
            <a:blip r:embed="rId4"/>
            <a:stretch>
              <a:fillRect l="0" t="0" r="0" b="0"/>
            </a:stretch>
          </a:blipFill>
        </p:spPr>
      </p:sp>
      <p:sp>
        <p:nvSpPr>
          <p:cNvPr name="Freeform 8" id="8"/>
          <p:cNvSpPr/>
          <p:nvPr/>
        </p:nvSpPr>
        <p:spPr>
          <a:xfrm flipH="false" flipV="false" rot="0">
            <a:off x="1028700" y="6319361"/>
            <a:ext cx="10005882" cy="3176868"/>
          </a:xfrm>
          <a:custGeom>
            <a:avLst/>
            <a:gdLst/>
            <a:ahLst/>
            <a:cxnLst/>
            <a:rect r="r" b="b" t="t" l="l"/>
            <a:pathLst>
              <a:path h="3176868" w="10005882">
                <a:moveTo>
                  <a:pt x="0" y="0"/>
                </a:moveTo>
                <a:lnTo>
                  <a:pt x="10005882" y="0"/>
                </a:lnTo>
                <a:lnTo>
                  <a:pt x="10005882" y="3176868"/>
                </a:lnTo>
                <a:lnTo>
                  <a:pt x="0" y="3176868"/>
                </a:lnTo>
                <a:lnTo>
                  <a:pt x="0" y="0"/>
                </a:lnTo>
                <a:close/>
              </a:path>
            </a:pathLst>
          </a:custGeom>
          <a:blipFill>
            <a:blip r:embed="rId6"/>
            <a:stretch>
              <a:fillRect l="0" t="0" r="0" b="0"/>
            </a:stretch>
          </a:blipFill>
        </p:spPr>
      </p:sp>
      <p:sp>
        <p:nvSpPr>
          <p:cNvPr name="TextBox 9" id="9"/>
          <p:cNvSpPr txBox="true"/>
          <p:nvPr/>
        </p:nvSpPr>
        <p:spPr>
          <a:xfrm rot="0">
            <a:off x="702291" y="350823"/>
            <a:ext cx="8441709" cy="2148454"/>
          </a:xfrm>
          <a:prstGeom prst="rect">
            <a:avLst/>
          </a:prstGeom>
        </p:spPr>
        <p:txBody>
          <a:bodyPr anchor="t" rtlCol="false" tIns="0" lIns="0" bIns="0" rIns="0">
            <a:spAutoFit/>
          </a:bodyPr>
          <a:lstStyle/>
          <a:p>
            <a:pPr algn="ctr">
              <a:lnSpc>
                <a:spcPts val="8623"/>
              </a:lnSpc>
              <a:spcBef>
                <a:spcPct val="0"/>
              </a:spcBef>
            </a:pPr>
            <a:r>
              <a:rPr lang="en-US" sz="6159">
                <a:solidFill>
                  <a:srgbClr val="18102B"/>
                </a:solidFill>
                <a:latin typeface="Raleway"/>
                <a:ea typeface="Raleway"/>
                <a:cs typeface="Raleway"/>
                <a:sym typeface="Raleway"/>
              </a:rPr>
              <a:t>Mainpage Overview</a:t>
            </a:r>
          </a:p>
          <a:p>
            <a:pPr algn="ctr">
              <a:lnSpc>
                <a:spcPts val="8623"/>
              </a:lnSpc>
              <a:spcBef>
                <a:spcPct val="0"/>
              </a:spcBef>
            </a:pPr>
          </a:p>
        </p:txBody>
      </p:sp>
      <p:sp>
        <p:nvSpPr>
          <p:cNvPr name="TextBox 10" id="10"/>
          <p:cNvSpPr txBox="true"/>
          <p:nvPr/>
        </p:nvSpPr>
        <p:spPr>
          <a:xfrm rot="0">
            <a:off x="13661711" y="3690417"/>
            <a:ext cx="1703294" cy="581025"/>
          </a:xfrm>
          <a:prstGeom prst="rect">
            <a:avLst/>
          </a:prstGeom>
        </p:spPr>
        <p:txBody>
          <a:bodyPr anchor="t" rtlCol="false" tIns="0" lIns="0" bIns="0" rIns="0">
            <a:spAutoFit/>
          </a:bodyPr>
          <a:lstStyle/>
          <a:p>
            <a:pPr algn="r" marL="0" indent="0" lvl="0">
              <a:lnSpc>
                <a:spcPts val="4593"/>
              </a:lnSpc>
              <a:spcBef>
                <a:spcPct val="0"/>
              </a:spcBef>
            </a:pPr>
            <a:r>
              <a:rPr lang="en-US" b="true" sz="3828">
                <a:solidFill>
                  <a:srgbClr val="000000"/>
                </a:solidFill>
                <a:latin typeface="Barlow Bold"/>
                <a:ea typeface="Barlow Bold"/>
                <a:cs typeface="Barlow Bold"/>
                <a:sym typeface="Barlow Bold"/>
              </a:rPr>
              <a:t>GITHUB</a:t>
            </a:r>
          </a:p>
        </p:txBody>
      </p:sp>
      <p:sp>
        <p:nvSpPr>
          <p:cNvPr name="TextBox 11" id="11"/>
          <p:cNvSpPr txBox="true"/>
          <p:nvPr/>
        </p:nvSpPr>
        <p:spPr>
          <a:xfrm rot="0">
            <a:off x="13561818" y="4297328"/>
            <a:ext cx="1703294" cy="340804"/>
          </a:xfrm>
          <a:prstGeom prst="rect">
            <a:avLst/>
          </a:prstGeom>
        </p:spPr>
        <p:txBody>
          <a:bodyPr anchor="t" rtlCol="false" tIns="0" lIns="0" bIns="0" rIns="0">
            <a:spAutoFit/>
          </a:bodyPr>
          <a:lstStyle/>
          <a:p>
            <a:pPr algn="r" marL="0" indent="0" lvl="0">
              <a:lnSpc>
                <a:spcPts val="2622"/>
              </a:lnSpc>
              <a:spcBef>
                <a:spcPct val="0"/>
              </a:spcBef>
            </a:pPr>
            <a:r>
              <a:rPr lang="en-US" b="true" sz="2185">
                <a:solidFill>
                  <a:srgbClr val="C624DB"/>
                </a:solidFill>
                <a:latin typeface="Barlow Bold"/>
                <a:ea typeface="Barlow Bold"/>
                <a:cs typeface="Barlow Bold"/>
                <a:sym typeface="Barlow Bold"/>
                <a:hlinkClick r:id="rId7" tooltip="https://github.com/fadlinur/Final-Project.git"/>
              </a:rPr>
              <a:t>[click here]</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377597" y="4576762"/>
            <a:ext cx="15193947" cy="1114425"/>
          </a:xfrm>
          <a:prstGeom prst="rect">
            <a:avLst/>
          </a:prstGeom>
        </p:spPr>
        <p:txBody>
          <a:bodyPr anchor="t" rtlCol="false" tIns="0" lIns="0" bIns="0" rIns="0">
            <a:spAutoFit/>
          </a:bodyPr>
          <a:lstStyle/>
          <a:p>
            <a:pPr algn="ctr" marL="0" indent="0" lvl="0">
              <a:lnSpc>
                <a:spcPts val="8640"/>
              </a:lnSpc>
              <a:spcBef>
                <a:spcPct val="0"/>
              </a:spcBef>
            </a:pPr>
            <a:r>
              <a:rPr lang="en-US" b="true" sz="7200">
                <a:solidFill>
                  <a:srgbClr val="2F2F2F"/>
                </a:solidFill>
                <a:latin typeface="Raleway Bold"/>
                <a:ea typeface="Raleway Bold"/>
                <a:cs typeface="Raleway Bold"/>
                <a:sym typeface="Raleway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DAHHAUYIHsg</dc:identifier>
  <dcterms:modified xsi:type="dcterms:W3CDTF">2011-08-01T06:04:30Z</dcterms:modified>
  <cp:revision>1</cp:revision>
  <dc:title>Smote PPT Presentasi – Kelompok 2 – HIRESIGHTS</dc:title>
</cp:coreProperties>
</file>