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Bold" charset="1" panose="00000000000000000000"/>
      <p:regular r:id="rId22"/>
    </p:embeddedFont>
    <p:embeddedFont>
      <p:font typeface="Arimo Bold" charset="1" panose="020B0704020202020204"/>
      <p:regular r:id="rId25"/>
    </p:embeddedFont>
    <p:embeddedFont>
      <p:font typeface="Arimo" charset="1" panose="020B0604020202020204"/>
      <p:regular r:id="rId26"/>
    </p:embeddedFont>
    <p:embeddedFont>
      <p:font typeface="Raleway" charset="1" panose="00000000000000000000"/>
      <p:regular r:id="rId30"/>
    </p:embeddedFont>
    <p:embeddedFont>
      <p:font typeface="Roboto" charset="1" panose="02000000000000000000"/>
      <p:regular r:id="rId35"/>
    </p:embeddedFont>
    <p:embeddedFont>
      <p:font typeface="Arial Bold" charset="1" panose="020B0704020202020204"/>
      <p:regular r:id="rId38"/>
    </p:embeddedFont>
    <p:embeddedFont>
      <p:font typeface="Arial" charset="1" panose="020B0604020202020204"/>
      <p:regular r:id="rId39"/>
    </p:embeddedFont>
    <p:embeddedFont>
      <p:font typeface="Lato" charset="1" panose="020F0502020204030203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https://diwo.ai/blog/7-characteristics-of-the-data-driven-enterprise/#:~:text=According%20to%20a%20survey%20by,more%20likely%20to%20be%20profitable." TargetMode="External" Type="http://schemas.openxmlformats.org/officeDocument/2006/relationships/hyperlink"/><Relationship Id="rId7" Target="https://www.inc.com/michael-schneider/its-harder-to-get-into-google-than-harvard.htm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https://www.mdpi.com/2076-3417/14/24/11750" TargetMode="External" Type="http://schemas.openxmlformats.org/officeDocument/2006/relationships/hyperlink"/><Relationship Id="rId7" Target="https://www.linkedin.com/pulse/2024-statistical-analysis-us-recruitment-industry-helixtechservices-ipewc" TargetMode="External" Type="http://schemas.openxmlformats.org/officeDocument/2006/relationships/hyperlink"/><Relationship Id="rId8" Target="https://www.weforum.org/publications/the-future-of-jobs-report-2025/digest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https://www.airswift.com/blog/hiring-mistakes" TargetMode="External" Type="http://schemas.openxmlformats.org/officeDocument/2006/relationships/hyperlink"/><Relationship Id="rId7" Target="https://www.bps.go.id/en/statistics-table/2/MTUyMSMy/average-of-net-wage-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https://www.linkedin.com/pulse/2024-statistical-analysis-us-recruitment-industry-helixtechservices-ipewc" TargetMode="External" Type="http://schemas.openxmlformats.org/officeDocument/2006/relationships/hyperlink"/><Relationship Id="rId7" Target="https://www.mdpi.com/2076-3417/14/24/11750#AI_in_Retention_and_Attrition_Prediction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mdpi.com/2076-3417/14/24/11750" TargetMode="External" Type="http://schemas.openxmlformats.org/officeDocument/2006/relationships/hyperlink"/><Relationship Id="rId11" Target="https://reports.weforum.org/docs/WEF_Future_of_Jobs_Report_2025.pdf" TargetMode="External" Type="http://schemas.openxmlformats.org/officeDocument/2006/relationships/hyperlink"/><Relationship Id="rId12" Target="https://www.inc.com/michael-schneider/its-harder-to-get-into-google-than-harvard.html" TargetMode="External" Type="http://schemas.openxmlformats.org/officeDocument/2006/relationships/hyperlink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https://www.ashbyhq.com/talent-trends-report/reports/2023-recruiter-productivity-trends-report" TargetMode="External" Type="http://schemas.openxmlformats.org/officeDocument/2006/relationships/hyperlink"/><Relationship Id="rId5" Target="https://www.bps.go.id/en/statistics-table/2/MTUyMSMy/average-of-net-wage-" TargetMode="External" Type="http://schemas.openxmlformats.org/officeDocument/2006/relationships/hyperlink"/><Relationship Id="rId6" Target="https://www.forbes.com/councils/forbesbusinesscouncil/2025/09/16/the-rise-of-ai-interviews-in-2025-redefining-talent-assessment/" TargetMode="External" Type="http://schemas.openxmlformats.org/officeDocument/2006/relationships/hyperlink"/><Relationship Id="rId7" Target="https://www.airswift.com/blog/hiring-mistakes" TargetMode="External" Type="http://schemas.openxmlformats.org/officeDocument/2006/relationships/hyperlink"/><Relationship Id="rId8" Target="https://www.linkedin.com/pulse/2024-statistical-analysis-us-recruitment-industry-helixtechservices-ipewc" TargetMode="External" Type="http://schemas.openxmlformats.org/officeDocument/2006/relationships/hyperlink"/><Relationship Id="rId9" Target="https://diwo.ai/blog/7-characteristics-of-the-data-driven-enterprise/#:~:text=According%20to%20a%20survey%20by,more%20likely%20to%20be%20profitable.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0327" y="2717273"/>
            <a:ext cx="15193947" cy="287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595959"/>
                </a:solidFill>
                <a:latin typeface="Raleway Bold"/>
                <a:ea typeface="Raleway Bold"/>
                <a:cs typeface="Raleway Bold"/>
                <a:sym typeface="Raleway Bold"/>
              </a:rPr>
              <a:t>HIRESIGHTS</a:t>
            </a:r>
          </a:p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595959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8897" y="2644902"/>
            <a:ext cx="15376798" cy="3037199"/>
            <a:chOff x="0" y="0"/>
            <a:chExt cx="20502397" cy="4049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02400" cy="4049600"/>
            </a:xfrm>
            <a:custGeom>
              <a:avLst/>
              <a:gdLst/>
              <a:ahLst/>
              <a:cxnLst/>
              <a:rect r="r" b="b" t="t" l="l"/>
              <a:pathLst>
                <a:path h="4049600" w="20502400">
                  <a:moveTo>
                    <a:pt x="0" y="0"/>
                  </a:moveTo>
                  <a:lnTo>
                    <a:pt x="20502400" y="0"/>
                  </a:lnTo>
                  <a:lnTo>
                    <a:pt x="20502400" y="4049600"/>
                  </a:lnTo>
                  <a:lnTo>
                    <a:pt x="0" y="404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49" r="0" b="-4864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502397" cy="4068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59595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Research report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Research: The Strategic Context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8897" y="4492800"/>
            <a:ext cx="4530280" cy="5309749"/>
            <a:chOff x="0" y="0"/>
            <a:chExt cx="6040374" cy="707966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40374" cy="7079615"/>
            </a:xfrm>
            <a:custGeom>
              <a:avLst/>
              <a:gdLst/>
              <a:ahLst/>
              <a:cxnLst/>
              <a:rect r="r" b="b" t="t" l="l"/>
              <a:pathLst>
                <a:path h="7079615" w="6040374">
                  <a:moveTo>
                    <a:pt x="0" y="0"/>
                  </a:moveTo>
                  <a:lnTo>
                    <a:pt x="6040374" y="0"/>
                  </a:lnTo>
                  <a:lnTo>
                    <a:pt x="6040374" y="7079615"/>
                  </a:lnTo>
                  <a:lnTo>
                    <a:pt x="0" y="7079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114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261497" y="4492800"/>
            <a:ext cx="4530280" cy="5309749"/>
            <a:chOff x="0" y="0"/>
            <a:chExt cx="6040374" cy="707966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40374" cy="7079615"/>
            </a:xfrm>
            <a:custGeom>
              <a:avLst/>
              <a:gdLst/>
              <a:ahLst/>
              <a:cxnLst/>
              <a:rect r="r" b="b" t="t" l="l"/>
              <a:pathLst>
                <a:path h="7079615" w="6040374">
                  <a:moveTo>
                    <a:pt x="0" y="0"/>
                  </a:moveTo>
                  <a:lnTo>
                    <a:pt x="6040374" y="0"/>
                  </a:lnTo>
                  <a:lnTo>
                    <a:pt x="6040374" y="7079615"/>
                  </a:lnTo>
                  <a:lnTo>
                    <a:pt x="0" y="7079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149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63119" y="4492800"/>
            <a:ext cx="4530280" cy="5309749"/>
            <a:chOff x="0" y="0"/>
            <a:chExt cx="6040374" cy="707966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40374" cy="7079615"/>
            </a:xfrm>
            <a:custGeom>
              <a:avLst/>
              <a:gdLst/>
              <a:ahLst/>
              <a:cxnLst/>
              <a:rect r="r" b="b" t="t" l="l"/>
              <a:pathLst>
                <a:path h="7079615" w="6040374">
                  <a:moveTo>
                    <a:pt x="0" y="0"/>
                  </a:moveTo>
                  <a:lnTo>
                    <a:pt x="6040374" y="0"/>
                  </a:lnTo>
                  <a:lnTo>
                    <a:pt x="6040374" y="7079615"/>
                  </a:lnTo>
                  <a:lnTo>
                    <a:pt x="0" y="7079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1141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38535" y="5009712"/>
            <a:ext cx="3820801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Paradigm Shift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2578" y="6401438"/>
            <a:ext cx="3638998" cy="166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19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HR management is evolving from qualitative "gut-feelings" to objective, logical People Analytics.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40147" y="5009712"/>
            <a:ext cx="3820801" cy="16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Talent as a Competitive Asset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784200" y="6401438"/>
            <a:ext cx="3638998" cy="12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19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Data-driven organizations are </a:t>
            </a:r>
            <a:r>
              <a:rPr lang="en-US" sz="1948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diwo.ai/blog/7-characteristics-of-the-data-driven-enterprise/#:~:text=According%20to%20a%20survey%20by,more%20likely%20to%20be%20profitable."/>
              </a:rPr>
              <a:t>19x</a:t>
            </a:r>
            <a:r>
              <a:rPr lang="en-US" sz="19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more likely to be profitable than non-data-driven peers.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41769" y="5009712"/>
            <a:ext cx="3820801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Scale of Engagement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5822" y="6401438"/>
            <a:ext cx="3638998" cy="16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19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Manual screening is not possible on large applicant volumes (e.g. </a:t>
            </a:r>
            <a:r>
              <a:rPr lang="en-US" sz="1948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7" tooltip="https://www.inc.com/michael-schneider/its-harder-to-get-into-google-than-harvard.html"/>
              </a:rPr>
              <a:t>Google ~2M applications</a:t>
            </a:r>
            <a:r>
              <a:rPr lang="en-US" sz="19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 without sacrificing quality.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Industry Research: Market Trends (2024–2026)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22924" y="4244502"/>
            <a:ext cx="4511192" cy="5450948"/>
            <a:chOff x="0" y="0"/>
            <a:chExt cx="6014923" cy="726793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4000" y="4244502"/>
            <a:ext cx="4511202" cy="5450948"/>
            <a:chOff x="0" y="0"/>
            <a:chExt cx="6014936" cy="726793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2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85077" y="4244502"/>
            <a:ext cx="4511192" cy="5450948"/>
            <a:chOff x="0" y="0"/>
            <a:chExt cx="6014923" cy="726793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66655" y="4944256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Market Projections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6655" y="6236246"/>
            <a:ext cx="3623396" cy="176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Global spending projections for AI &amp; analytics in HR by 2025 , with a compound </a:t>
            </a: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www.mdpi.com/2076-3417/14/24/11750"/>
              </a:rPr>
              <a:t>annual growth rate of 24.5%.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7732" y="4944256"/>
            <a:ext cx="249242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 u="sng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linkedin.com/pulse/2024-statistical-analysis-us-recruitment-industry-helixtechservices-ipewc"/>
              </a:rPr>
              <a:t>68%</a:t>
            </a: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Adoption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7732" y="6236246"/>
            <a:ext cx="3623396" cy="131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Companies today are already using data-driven recruitment strategies for efficiency.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28818" y="4944256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44% Reskilling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28818" y="6236246"/>
            <a:ext cx="3623396" cy="221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Focus shifts from past positions to Validated Skill Sets The </a:t>
            </a: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8" tooltip="https://www.weforum.org/publications/the-future-of-jobs-report-2025/digest/"/>
              </a:rPr>
              <a:t>World Economic Forum 2025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of workers will require re-skilling by 2030.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Statement: The Risks of Conventional Hiring</a:t>
            </a:r>
          </a:p>
          <a:p>
            <a:pPr algn="l">
              <a:lnSpc>
                <a:spcPts val="561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533925" y="4541796"/>
            <a:ext cx="4511192" cy="5450948"/>
            <a:chOff x="0" y="0"/>
            <a:chExt cx="6014923" cy="726793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15002" y="4541796"/>
            <a:ext cx="4511202" cy="5450948"/>
            <a:chOff x="0" y="0"/>
            <a:chExt cx="6014936" cy="726793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2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96078" y="4541796"/>
            <a:ext cx="4511192" cy="5450948"/>
            <a:chOff x="0" y="0"/>
            <a:chExt cx="6014923" cy="726793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77657" y="5241560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Cost of Failure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7657" y="6533540"/>
            <a:ext cx="3623396" cy="176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www.airswift.com/blog/hiring-mistakes"/>
              </a:rPr>
              <a:t>Harvard Business Review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reports that 80% of employee turnover is caused by poor hiring decisions.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733" y="5241560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Financial Leakage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1882" y="5686760"/>
            <a:ext cx="4354321" cy="516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single "bad hire" can cost an organization between 50% and 200% of the employee's annual salary when factoring in recruitment, onboarding, and lost productivity. assuming the annual salary of a tech employee is</a:t>
            </a: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7" tooltip="https://www.bps.go.id/en/statistics-table/2/MTUyMSMy/average-of-net-wage-"/>
              </a:rPr>
              <a:t> ~IDR 63.36 million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an organization might lose 31.68 to 126.72 million rupiah</a:t>
            </a:r>
          </a:p>
          <a:p>
            <a:pPr algn="l">
              <a:lnSpc>
                <a:spcPts val="4703"/>
              </a:lnSpc>
            </a:pPr>
          </a:p>
          <a:p>
            <a:pPr algn="l">
              <a:lnSpc>
                <a:spcPts val="470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739810" y="5241560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Lack of Correlation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9810" y="6533540"/>
            <a:ext cx="3623396" cy="311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Conventional unstructured interviews which research shows have a low predictive validity (r ≈ 0.20) and are highly susceptible to cognitive bias.</a:t>
            </a:r>
          </a:p>
          <a:p>
            <a:pPr algn="l">
              <a:lnSpc>
                <a:spcPts val="353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47022" y="2720721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Goals &amp; Objectives</a:t>
            </a:r>
          </a:p>
          <a:p>
            <a:pPr algn="l">
              <a:lnSpc>
                <a:spcPts val="56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3745" y="4488028"/>
            <a:ext cx="8839200" cy="139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b="true" sz="2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Goals:</a:t>
            </a:r>
            <a:r>
              <a:rPr lang="en-US" sz="2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Transform the conventional recruitment process into a data-driven system to improve talent selection accuracy and company operational cost efficiency.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745" y="6899024"/>
            <a:ext cx="8839200" cy="194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2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Objectives:</a:t>
            </a:r>
            <a:r>
              <a:rPr lang="en-US" sz="2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Build an objective, automated prediction model by analyzing qualification variable correlations, determining success score thresholds, and conducting bias audits to ensure fairness in recruitment decision-making.</a:t>
            </a:r>
          </a:p>
          <a:p>
            <a:pPr algn="l">
              <a:lnSpc>
                <a:spcPts val="470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0327" y="2717273"/>
            <a:ext cx="15193947" cy="287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595959"/>
                </a:solidFill>
                <a:latin typeface="Raleway Bold"/>
                <a:ea typeface="Raleway Bold"/>
                <a:cs typeface="Raleway Bold"/>
                <a:sym typeface="Raleway Bold"/>
              </a:rPr>
              <a:t>Success Metrics: </a:t>
            </a:r>
          </a:p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595959"/>
                </a:solidFill>
                <a:latin typeface="Raleway Bold"/>
                <a:ea typeface="Raleway Bold"/>
                <a:cs typeface="Raleway Bold"/>
                <a:sym typeface="Raleway Bold"/>
              </a:rPr>
              <a:t>KPIs for the Data-Driven Era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Success Metrics: How We Measure Victory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38600" y="5076901"/>
            <a:ext cx="7470496" cy="3554997"/>
            <a:chOff x="0" y="0"/>
            <a:chExt cx="9960661" cy="473999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9960610" cy="4740021"/>
            </a:xfrm>
            <a:custGeom>
              <a:avLst/>
              <a:gdLst/>
              <a:ahLst/>
              <a:cxnLst/>
              <a:rect r="r" b="b" t="t" l="l"/>
              <a:pathLst>
                <a:path h="4740021" w="9960610">
                  <a:moveTo>
                    <a:pt x="0" y="0"/>
                  </a:moveTo>
                  <a:lnTo>
                    <a:pt x="9960610" y="0"/>
                  </a:lnTo>
                  <a:lnTo>
                    <a:pt x="9960610" y="4740021"/>
                  </a:lnTo>
                  <a:lnTo>
                    <a:pt x="0" y="4740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021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387498" y="5459844"/>
            <a:ext cx="7405802" cy="30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b="true" sz="1904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Main Benchmark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63835" y="7616800"/>
            <a:ext cx="7052996" cy="79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6"/>
              </a:lnSpc>
            </a:pPr>
            <a:r>
              <a:rPr lang="en-US" sz="1904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Changing the accurate model for attracting high-potential talent.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647" y="4962573"/>
            <a:ext cx="8839200" cy="43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F1-Score: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The main benchmark for balancing Precision and Recall.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647" y="5533301"/>
            <a:ext cx="8839200" cy="179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Quality of Hire (QoH):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Measured by the 15% average improvement in how well new employees fit their roles and contribute to company goals</a:t>
            </a:r>
          </a:p>
          <a:p>
            <a:pPr algn="l">
              <a:lnSpc>
                <a:spcPts val="470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89647" y="6981101"/>
            <a:ext cx="8839200" cy="43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Hiring Efficiency: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Reduce manual screening by up to 80%.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647" y="7734548"/>
            <a:ext cx="8839200" cy="98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Selection Accuracy: 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Machine learning models (e.g., Random Forest, XGBoost) can achieve accuracy rates exceeding 95% in predicting candidate suitability based on historical high-performer data.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89997" y="6543046"/>
            <a:ext cx="4767701" cy="612600"/>
            <a:chOff x="0" y="0"/>
            <a:chExt cx="6356934" cy="816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356985" cy="816737"/>
            </a:xfrm>
            <a:custGeom>
              <a:avLst/>
              <a:gdLst/>
              <a:ahLst/>
              <a:cxnLst/>
              <a:rect r="r" b="b" t="t" l="l"/>
              <a:pathLst>
                <a:path h="816737" w="6356985">
                  <a:moveTo>
                    <a:pt x="0" y="0"/>
                  </a:moveTo>
                  <a:lnTo>
                    <a:pt x="6356985" y="0"/>
                  </a:lnTo>
                  <a:lnTo>
                    <a:pt x="6356985" y="816737"/>
                  </a:lnTo>
                  <a:lnTo>
                    <a:pt x="0" y="81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693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Impact: The Value Proposition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33925" y="4541796"/>
            <a:ext cx="4511192" cy="5450948"/>
            <a:chOff x="0" y="0"/>
            <a:chExt cx="6014923" cy="726793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15002" y="4541796"/>
            <a:ext cx="4511202" cy="5450948"/>
            <a:chOff x="0" y="0"/>
            <a:chExt cx="6014936" cy="726793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22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96078" y="4541796"/>
            <a:ext cx="4511192" cy="5450948"/>
            <a:chOff x="0" y="0"/>
            <a:chExt cx="6014923" cy="726793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14974" cy="7267956"/>
            </a:xfrm>
            <a:custGeom>
              <a:avLst/>
              <a:gdLst/>
              <a:ahLst/>
              <a:cxnLst/>
              <a:rect r="r" b="b" t="t" l="l"/>
              <a:pathLst>
                <a:path h="7267956" w="6014974">
                  <a:moveTo>
                    <a:pt x="0" y="0"/>
                  </a:moveTo>
                  <a:lnTo>
                    <a:pt x="6014974" y="0"/>
                  </a:lnTo>
                  <a:lnTo>
                    <a:pt x="6014974" y="7267956"/>
                  </a:lnTo>
                  <a:lnTo>
                    <a:pt x="0" y="726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18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77657" y="5241560"/>
            <a:ext cx="3804599" cy="137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Operational Cost Efficiency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77657" y="6533540"/>
            <a:ext cx="3623396" cy="31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Operational Cost Efficiency</a:t>
            </a:r>
          </a:p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Organizations adopting data-driven strategies report a </a:t>
            </a: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www.linkedin.com/pulse/2024-statistical-analysis-us-recruitment-industry-helixtechservices-ipewc"/>
              </a:rPr>
              <a:t>20-30%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reduction in hiring costs by decreasing reliance on third-party agencies and manual labor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58733" y="5241560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Reduced Attrition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8733" y="6533540"/>
            <a:ext cx="3623396" cy="221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Predictive models can identify high-risk departures with </a:t>
            </a: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7" tooltip="https://www.mdpi.com/2076-3417/14/24/11750#AI_in_Retention_and_Attrition_Prediction"/>
              </a:rPr>
              <a:t>90% accuracy,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allowing for proactive interventions that protect your recruitment ROI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39810" y="5241560"/>
            <a:ext cx="3804599" cy="47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Diversity &amp; Inclusion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9810" y="6533540"/>
            <a:ext cx="3623396" cy="311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Data-driven systems can reduce unconscious bias by anonymizing candidate profiles (removing name/gender/age) and focusing strictly on objective qualifications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Workflow</a:t>
            </a:r>
          </a:p>
          <a:p>
            <a:pPr algn="l">
              <a:lnSpc>
                <a:spcPts val="5616"/>
              </a:lnSpc>
            </a:pPr>
          </a:p>
          <a:p>
            <a:pPr algn="l">
              <a:lnSpc>
                <a:spcPts val="56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95673" y="7450322"/>
            <a:ext cx="2453554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Problem Statement ,Goals &amp; Objective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12228" y="7342327"/>
            <a:ext cx="2385146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Exploratory Data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0359" y="7342318"/>
            <a:ext cx="2385146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Preprocessing &amp; Feature Enginering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42269" y="7342327"/>
            <a:ext cx="2385146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Model Training &amp;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6570" y="7342327"/>
            <a:ext cx="2385146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Performance Assessment &amp; Validation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04252" y="6621028"/>
            <a:ext cx="2636396" cy="806996"/>
            <a:chOff x="0" y="0"/>
            <a:chExt cx="3515195" cy="10759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152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515200">
                  <a:moveTo>
                    <a:pt x="0" y="0"/>
                  </a:moveTo>
                  <a:lnTo>
                    <a:pt x="3515200" y="0"/>
                  </a:lnTo>
                  <a:lnTo>
                    <a:pt x="35152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56" r="0" b="-136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515195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Business Understanding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20798" y="6516595"/>
            <a:ext cx="2567997" cy="806996"/>
            <a:chOff x="0" y="0"/>
            <a:chExt cx="3423996" cy="10759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40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424000">
                  <a:moveTo>
                    <a:pt x="0" y="0"/>
                  </a:moveTo>
                  <a:lnTo>
                    <a:pt x="3424000" y="0"/>
                  </a:lnTo>
                  <a:lnTo>
                    <a:pt x="34240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04" r="0" b="-120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423996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Data Understanding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8928" y="6516595"/>
            <a:ext cx="2567997" cy="806996"/>
            <a:chOff x="0" y="0"/>
            <a:chExt cx="3423996" cy="10759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40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424000">
                  <a:moveTo>
                    <a:pt x="0" y="0"/>
                  </a:moveTo>
                  <a:lnTo>
                    <a:pt x="3424000" y="0"/>
                  </a:lnTo>
                  <a:lnTo>
                    <a:pt x="34240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04" r="0" b="-120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423996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Data Preparation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50848" y="6516595"/>
            <a:ext cx="2567997" cy="806996"/>
            <a:chOff x="0" y="0"/>
            <a:chExt cx="3423996" cy="10759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240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424000">
                  <a:moveTo>
                    <a:pt x="0" y="0"/>
                  </a:moveTo>
                  <a:lnTo>
                    <a:pt x="3424000" y="0"/>
                  </a:lnTo>
                  <a:lnTo>
                    <a:pt x="34240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04" r="0" b="-120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423996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Modeling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05149" y="6516595"/>
            <a:ext cx="2567997" cy="806996"/>
            <a:chOff x="0" y="0"/>
            <a:chExt cx="3423996" cy="10759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40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424000">
                  <a:moveTo>
                    <a:pt x="0" y="0"/>
                  </a:moveTo>
                  <a:lnTo>
                    <a:pt x="3424000" y="0"/>
                  </a:lnTo>
                  <a:lnTo>
                    <a:pt x="34240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04" r="0" b="-120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423996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67926" y="6516595"/>
            <a:ext cx="2567997" cy="806996"/>
            <a:chOff x="0" y="0"/>
            <a:chExt cx="3423996" cy="1075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24000" cy="1076000"/>
            </a:xfrm>
            <a:custGeom>
              <a:avLst/>
              <a:gdLst/>
              <a:ahLst/>
              <a:cxnLst/>
              <a:rect r="r" b="b" t="t" l="l"/>
              <a:pathLst>
                <a:path h="1076000" w="3424000">
                  <a:moveTo>
                    <a:pt x="0" y="0"/>
                  </a:moveTo>
                  <a:lnTo>
                    <a:pt x="3424000" y="0"/>
                  </a:lnTo>
                  <a:lnTo>
                    <a:pt x="3424000" y="1076000"/>
                  </a:lnTo>
                  <a:lnTo>
                    <a:pt x="0" y="107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04" r="0" b="-1200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423996" cy="109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Devloyment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359347" y="7342327"/>
            <a:ext cx="2385146" cy="116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Integration &amp; Release</a:t>
            </a:r>
          </a:p>
        </p:txBody>
      </p:sp>
      <p:sp>
        <p:nvSpPr>
          <p:cNvPr name="AutoShape 30" id="30"/>
          <p:cNvSpPr/>
          <p:nvPr/>
        </p:nvSpPr>
        <p:spPr>
          <a:xfrm rot="2547720">
            <a:off x="2529211" y="5464550"/>
            <a:ext cx="198346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593037" y="5887317"/>
            <a:ext cx="2677801" cy="256203"/>
            <a:chOff x="0" y="0"/>
            <a:chExt cx="3570402" cy="341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92285" y="6170476"/>
            <a:ext cx="2677801" cy="256203"/>
            <a:chOff x="0" y="0"/>
            <a:chExt cx="3570402" cy="3416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AutoShape 35" id="35"/>
          <p:cNvSpPr/>
          <p:nvPr/>
        </p:nvSpPr>
        <p:spPr>
          <a:xfrm rot="2547720">
            <a:off x="5000511" y="5464550"/>
            <a:ext cx="198346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4064337" y="5887317"/>
            <a:ext cx="2677801" cy="256203"/>
            <a:chOff x="0" y="0"/>
            <a:chExt cx="3570402" cy="3416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063584" y="6170476"/>
            <a:ext cx="2677801" cy="256203"/>
            <a:chOff x="0" y="0"/>
            <a:chExt cx="3570402" cy="34160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AutoShape 40" id="40"/>
          <p:cNvSpPr/>
          <p:nvPr/>
        </p:nvSpPr>
        <p:spPr>
          <a:xfrm rot="2547720">
            <a:off x="7473058" y="5464550"/>
            <a:ext cx="1983467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6536884" y="5887317"/>
            <a:ext cx="2677801" cy="256203"/>
            <a:chOff x="0" y="0"/>
            <a:chExt cx="3570402" cy="341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36131" y="6170476"/>
            <a:ext cx="2677801" cy="256203"/>
            <a:chOff x="0" y="0"/>
            <a:chExt cx="3570402" cy="34160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name="AutoShape 45" id="45"/>
          <p:cNvSpPr/>
          <p:nvPr/>
        </p:nvSpPr>
        <p:spPr>
          <a:xfrm rot="2547720">
            <a:off x="9939623" y="5464550"/>
            <a:ext cx="1983467" cy="0"/>
          </a:xfrm>
          <a:prstGeom prst="line">
            <a:avLst/>
          </a:prstGeom>
          <a:ln cap="rnd" w="9525">
            <a:solidFill>
              <a:srgbClr val="4E55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9003459" y="5887317"/>
            <a:ext cx="2677801" cy="256203"/>
            <a:chOff x="0" y="0"/>
            <a:chExt cx="3570402" cy="3416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002706" y="6170476"/>
            <a:ext cx="2677801" cy="256203"/>
            <a:chOff x="0" y="0"/>
            <a:chExt cx="3570402" cy="3416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sp>
        <p:nvSpPr>
          <p:cNvPr name="AutoShape 50" id="50"/>
          <p:cNvSpPr/>
          <p:nvPr/>
        </p:nvSpPr>
        <p:spPr>
          <a:xfrm rot="2547720">
            <a:off x="12398826" y="5464550"/>
            <a:ext cx="1983467" cy="0"/>
          </a:xfrm>
          <a:prstGeom prst="line">
            <a:avLst/>
          </a:prstGeom>
          <a:ln cap="rnd" w="9525">
            <a:solidFill>
              <a:srgbClr val="4E55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1462652" y="5887317"/>
            <a:ext cx="2677801" cy="256203"/>
            <a:chOff x="0" y="0"/>
            <a:chExt cx="3570402" cy="3416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61899" y="6170476"/>
            <a:ext cx="2677801" cy="256203"/>
            <a:chOff x="0" y="0"/>
            <a:chExt cx="3570402" cy="34160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sp>
        <p:nvSpPr>
          <p:cNvPr name="AutoShape 55" id="55"/>
          <p:cNvSpPr/>
          <p:nvPr/>
        </p:nvSpPr>
        <p:spPr>
          <a:xfrm rot="2547720">
            <a:off x="14866201" y="5464550"/>
            <a:ext cx="1983467" cy="0"/>
          </a:xfrm>
          <a:prstGeom prst="line">
            <a:avLst/>
          </a:prstGeom>
          <a:ln cap="rnd" w="9525">
            <a:solidFill>
              <a:srgbClr val="4E556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3930027" y="5887317"/>
            <a:ext cx="2677801" cy="256203"/>
            <a:chOff x="0" y="0"/>
            <a:chExt cx="3570402" cy="34160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3570351" y="341630"/>
                  </a:moveTo>
                  <a:lnTo>
                    <a:pt x="3239262" y="0"/>
                  </a:lnTo>
                  <a:lnTo>
                    <a:pt x="0" y="0"/>
                  </a:lnTo>
                  <a:lnTo>
                    <a:pt x="331216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929284" y="6170476"/>
            <a:ext cx="2677801" cy="256203"/>
            <a:chOff x="0" y="0"/>
            <a:chExt cx="3570402" cy="34160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70351" cy="341630"/>
            </a:xfrm>
            <a:custGeom>
              <a:avLst/>
              <a:gdLst/>
              <a:ahLst/>
              <a:cxnLst/>
              <a:rect r="r" b="b" t="t" l="l"/>
              <a:pathLst>
                <a:path h="341630" w="3570351">
                  <a:moveTo>
                    <a:pt x="0" y="341630"/>
                  </a:moveTo>
                  <a:lnTo>
                    <a:pt x="331216" y="0"/>
                  </a:lnTo>
                  <a:lnTo>
                    <a:pt x="3570351" y="0"/>
                  </a:lnTo>
                  <a:lnTo>
                    <a:pt x="3239262" y="341630"/>
                  </a:lnTo>
                  <a:close/>
                </a:path>
              </a:pathLst>
            </a:custGeom>
            <a:solidFill>
              <a:srgbClr val="4E5567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2493940" y="4530128"/>
            <a:ext cx="1489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35522" y="4530128"/>
            <a:ext cx="1489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7427652" y="4530128"/>
            <a:ext cx="2257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9922888" y="4530128"/>
            <a:ext cx="1489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12337571" y="4530128"/>
            <a:ext cx="2257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14849475" y="4530128"/>
            <a:ext cx="148952" cy="26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</a:p>
          <a:p>
            <a:pPr algn="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39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Timeline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24308" y="6086551"/>
            <a:ext cx="2349694" cy="266995"/>
            <a:chOff x="0" y="0"/>
            <a:chExt cx="3132925" cy="355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2963" cy="355981"/>
            </a:xfrm>
            <a:custGeom>
              <a:avLst/>
              <a:gdLst/>
              <a:ahLst/>
              <a:cxnLst/>
              <a:rect r="r" b="b" t="t" l="l"/>
              <a:pathLst>
                <a:path h="355981" w="3132963">
                  <a:moveTo>
                    <a:pt x="0" y="0"/>
                  </a:moveTo>
                  <a:lnTo>
                    <a:pt x="3132963" y="0"/>
                  </a:lnTo>
                  <a:lnTo>
                    <a:pt x="3132963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505050"/>
            </a:solidFill>
          </p:spPr>
        </p:sp>
      </p:grpSp>
      <p:sp>
        <p:nvSpPr>
          <p:cNvPr name="AutoShape 8" id="8"/>
          <p:cNvSpPr/>
          <p:nvPr/>
        </p:nvSpPr>
        <p:spPr>
          <a:xfrm rot="5346780">
            <a:off x="1248889" y="5987215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562433" y="5527729"/>
            <a:ext cx="110861" cy="184804"/>
            <a:chOff x="0" y="0"/>
            <a:chExt cx="147815" cy="246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84379" y="4794828"/>
            <a:ext cx="2521020" cy="82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Stage 0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Business Understanding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73944" y="6086551"/>
            <a:ext cx="2349694" cy="266995"/>
            <a:chOff x="0" y="0"/>
            <a:chExt cx="3132925" cy="355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32963" cy="355981"/>
            </a:xfrm>
            <a:custGeom>
              <a:avLst/>
              <a:gdLst/>
              <a:ahLst/>
              <a:cxnLst/>
              <a:rect r="r" b="b" t="t" l="l"/>
              <a:pathLst>
                <a:path h="355981" w="3132963">
                  <a:moveTo>
                    <a:pt x="0" y="0"/>
                  </a:moveTo>
                  <a:lnTo>
                    <a:pt x="3132963" y="0"/>
                  </a:lnTo>
                  <a:lnTo>
                    <a:pt x="3132963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2F2F2F"/>
            </a:solidFill>
          </p:spPr>
        </p:sp>
      </p:grpSp>
      <p:sp>
        <p:nvSpPr>
          <p:cNvPr name="AutoShape 14" id="14"/>
          <p:cNvSpPr/>
          <p:nvPr/>
        </p:nvSpPr>
        <p:spPr>
          <a:xfrm rot="5346780">
            <a:off x="3610156" y="6441167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-10800000">
            <a:off x="3923690" y="6725383"/>
            <a:ext cx="110861" cy="184804"/>
            <a:chOff x="0" y="0"/>
            <a:chExt cx="147815" cy="246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924271" y="6988874"/>
            <a:ext cx="2521020" cy="172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Stage 1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Data Understanding &amp; Preprocessing 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3826881" y="6086551"/>
            <a:ext cx="2818686" cy="266995"/>
            <a:chOff x="0" y="0"/>
            <a:chExt cx="3758248" cy="355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58311" cy="355981"/>
            </a:xfrm>
            <a:custGeom>
              <a:avLst/>
              <a:gdLst/>
              <a:ahLst/>
              <a:cxnLst/>
              <a:rect r="r" b="b" t="t" l="l"/>
              <a:pathLst>
                <a:path h="355981" w="3758311">
                  <a:moveTo>
                    <a:pt x="0" y="0"/>
                  </a:moveTo>
                  <a:lnTo>
                    <a:pt x="3758311" y="0"/>
                  </a:lnTo>
                  <a:lnTo>
                    <a:pt x="3758311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2F2F2F"/>
            </a:solidFill>
          </p:spPr>
        </p:sp>
      </p:grpSp>
      <p:sp>
        <p:nvSpPr>
          <p:cNvPr name="AutoShape 20" id="20"/>
          <p:cNvSpPr/>
          <p:nvPr/>
        </p:nvSpPr>
        <p:spPr>
          <a:xfrm rot="5346780">
            <a:off x="13456215" y="6441167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-10800000">
            <a:off x="13769750" y="6725383"/>
            <a:ext cx="110861" cy="184804"/>
            <a:chOff x="0" y="0"/>
            <a:chExt cx="147815" cy="2464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761282" y="6988874"/>
            <a:ext cx="2521020" cy="172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Final Stage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Final Presentation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77254" y="6086551"/>
            <a:ext cx="2349694" cy="266995"/>
            <a:chOff x="0" y="0"/>
            <a:chExt cx="3132925" cy="355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2963" cy="355981"/>
            </a:xfrm>
            <a:custGeom>
              <a:avLst/>
              <a:gdLst/>
              <a:ahLst/>
              <a:cxnLst/>
              <a:rect r="r" b="b" t="t" l="l"/>
              <a:pathLst>
                <a:path h="355981" w="3132963">
                  <a:moveTo>
                    <a:pt x="0" y="0"/>
                  </a:moveTo>
                  <a:lnTo>
                    <a:pt x="3132963" y="0"/>
                  </a:lnTo>
                  <a:lnTo>
                    <a:pt x="3132963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505050"/>
            </a:solidFill>
          </p:spPr>
        </p:sp>
      </p:grpSp>
      <p:sp>
        <p:nvSpPr>
          <p:cNvPr name="AutoShape 26" id="26"/>
          <p:cNvSpPr/>
          <p:nvPr/>
        </p:nvSpPr>
        <p:spPr>
          <a:xfrm rot="5346780">
            <a:off x="11114542" y="5987215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428076" y="5527729"/>
            <a:ext cx="110861" cy="184804"/>
            <a:chOff x="0" y="0"/>
            <a:chExt cx="147815" cy="2464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53422" y="4794828"/>
            <a:ext cx="252102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Stage 4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8673198" y="6086551"/>
            <a:ext cx="2818686" cy="266995"/>
            <a:chOff x="0" y="0"/>
            <a:chExt cx="3758248" cy="3559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58311" cy="355981"/>
            </a:xfrm>
            <a:custGeom>
              <a:avLst/>
              <a:gdLst/>
              <a:ahLst/>
              <a:cxnLst/>
              <a:rect r="r" b="b" t="t" l="l"/>
              <a:pathLst>
                <a:path h="355981" w="3758311">
                  <a:moveTo>
                    <a:pt x="0" y="0"/>
                  </a:moveTo>
                  <a:lnTo>
                    <a:pt x="3758311" y="0"/>
                  </a:lnTo>
                  <a:lnTo>
                    <a:pt x="3758311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2F2F2F"/>
            </a:solidFill>
          </p:spPr>
        </p:sp>
      </p:grpSp>
      <p:sp>
        <p:nvSpPr>
          <p:cNvPr name="AutoShape 32" id="32"/>
          <p:cNvSpPr/>
          <p:nvPr/>
        </p:nvSpPr>
        <p:spPr>
          <a:xfrm rot="5346780">
            <a:off x="8302523" y="6441167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-10800000">
            <a:off x="8616067" y="6725383"/>
            <a:ext cx="110861" cy="184804"/>
            <a:chOff x="0" y="0"/>
            <a:chExt cx="147815" cy="24640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607590" y="6988874"/>
            <a:ext cx="25210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Stage 3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Model Evaluation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23571" y="6086551"/>
            <a:ext cx="2349694" cy="266995"/>
            <a:chOff x="0" y="0"/>
            <a:chExt cx="3132925" cy="3559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32963" cy="355981"/>
            </a:xfrm>
            <a:custGeom>
              <a:avLst/>
              <a:gdLst/>
              <a:ahLst/>
              <a:cxnLst/>
              <a:rect r="r" b="b" t="t" l="l"/>
              <a:pathLst>
                <a:path h="355981" w="3132963">
                  <a:moveTo>
                    <a:pt x="0" y="0"/>
                  </a:moveTo>
                  <a:lnTo>
                    <a:pt x="3132963" y="0"/>
                  </a:lnTo>
                  <a:lnTo>
                    <a:pt x="3132963" y="355981"/>
                  </a:lnTo>
                  <a:lnTo>
                    <a:pt x="0" y="355981"/>
                  </a:lnTo>
                  <a:close/>
                </a:path>
              </a:pathLst>
            </a:custGeom>
            <a:solidFill>
              <a:srgbClr val="505050"/>
            </a:solidFill>
          </p:spPr>
        </p:sp>
      </p:grpSp>
      <p:sp>
        <p:nvSpPr>
          <p:cNvPr name="AutoShape 38" id="38"/>
          <p:cNvSpPr/>
          <p:nvPr/>
        </p:nvSpPr>
        <p:spPr>
          <a:xfrm rot="5346780">
            <a:off x="5960859" y="5987215"/>
            <a:ext cx="737940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6274394" y="5527729"/>
            <a:ext cx="110861" cy="184804"/>
            <a:chOff x="0" y="0"/>
            <a:chExt cx="147815" cy="2464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7828" cy="246380"/>
            </a:xfrm>
            <a:custGeom>
              <a:avLst/>
              <a:gdLst/>
              <a:ahLst/>
              <a:cxnLst/>
              <a:rect r="r" b="b" t="t" l="l"/>
              <a:pathLst>
                <a:path h="246380" w="147828">
                  <a:moveTo>
                    <a:pt x="0" y="123190"/>
                  </a:moveTo>
                  <a:cubicBezTo>
                    <a:pt x="0" y="55118"/>
                    <a:pt x="33147" y="0"/>
                    <a:pt x="73914" y="0"/>
                  </a:cubicBezTo>
                  <a:cubicBezTo>
                    <a:pt x="114681" y="0"/>
                    <a:pt x="147828" y="55118"/>
                    <a:pt x="147828" y="123190"/>
                  </a:cubicBezTo>
                  <a:cubicBezTo>
                    <a:pt x="147828" y="191262"/>
                    <a:pt x="114681" y="246380"/>
                    <a:pt x="73914" y="246380"/>
                  </a:cubicBezTo>
                  <a:cubicBezTo>
                    <a:pt x="33147" y="246380"/>
                    <a:pt x="0" y="191262"/>
                    <a:pt x="0" y="123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299721" y="4794828"/>
            <a:ext cx="25210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Stage 2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Modelling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24308" y="5910863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02-03-2026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27603" y="6344021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02-03-2026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974754" y="5890012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02-03-2026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12597" y="6344021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14-03-2026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73682" y="5910863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30-03-2026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908874" y="6364872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04-04-2026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81533" y="5910863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04-04-2026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062595" y="6344021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18-04-2026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02653" y="6399466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18-04-2026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62945" y="6344021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11-04-2026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527384" y="5910863"/>
            <a:ext cx="915152" cy="25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13-04-2026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19197"/>
            <a:ext cx="15193947" cy="89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b="true" sz="46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Risk-Feasibility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34100" y="4116350"/>
          <a:ext cx="13614400" cy="4572000"/>
        </p:xfrm>
        <a:graphic>
          <a:graphicData uri="http://schemas.openxmlformats.org/drawingml/2006/table">
            <a:tbl>
              <a:tblPr/>
              <a:tblGrid>
                <a:gridCol w="3403600"/>
                <a:gridCol w="3403600"/>
                <a:gridCol w="3403600"/>
                <a:gridCol w="3403600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Potential Risk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Mitigation Strategy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Feasibility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bias in the 1,500 candidate records due to previous subjective manual hiring decisions.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Conduct regular Fairness &amp; Bias Audits.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High; data is available for auditing to ensure objective outcomes.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Technical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fails to balance selection precision with the ability to capture potential talent.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Utilize </a:t>
                      </a: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F1-Score</a:t>
                      </a: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as the primary benchmark to validate model accuracy and selection balance.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F1-Score provides a robust technical validation framework.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Operational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 teams find it difficult to adopt new systems.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integration that provides instant predictions.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data-driven systems minimize intuition-based risks.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Economic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Marketing budget wasted on recruitment channels with low conversion rates.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 data-driven evaluations of </a:t>
                      </a: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Recruitment Strategy ROI</a:t>
                      </a: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optimize budget allocation.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ROI analysis ensures targeted and cost-effective spending.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Strategic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Inaccurate threshold settings for candidate scores, leading to high-risk hires.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 </a:t>
                      </a:r>
                      <a:r>
                        <a:rPr lang="en-US" b="true" sz="12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Sensitivity Analysis</a:t>
                      </a:r>
                      <a:r>
                        <a:rPr lang="en-US" sz="12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identify critical score thresholds that guarantee &gt;80% hiring success.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55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Worthwhile; ensures only top-quality talent is onboarded to boost productivity.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50327" y="2709672"/>
            <a:ext cx="15194547" cy="90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0327" y="4201554"/>
            <a:ext cx="15194547" cy="495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Ashby. (2025). The Future of Talent: 2025 Trends in Recruiter Productivity.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4" tooltip="https://www.ashbyhq.com/talent-trends-report/reports/2023-recruiter-productivity-trends-report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BPS (Badan Pusat Statistik). (2025). Average Wages of Employees by Main Industry and Education Level (2025).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5" tooltip="https://www.bps.go.id/en/statistics-table/2/MTUyMSMy/average-of-net-wage-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Forbes Business Council. (2025). The Rise of AI Interviews in 2025: Redefining Talent Assessment.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6" tooltip="https://www.forbes.com/councils/forbesbusinesscouncil/2025/09/16/the-rise-of-ai-interviews-in-2025-redefining-talent-assessment/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Harvard Business Review. (2017/Updated 2024). The Direct Link Between Bad Hiring and 80% Employee Turnover.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7" tooltip="https://www.airswift.com/blog/hiring-mistakes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LinkedIn Talent Solutions. (2024). The Future of Recruiting: Data-Driven Strategies for a Changing Market.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8" tooltip="https://www.linkedin.com/pulse/2024-statistical-analysis-us-recruitment-industry-helixtechservices-ipewc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McKinsey Global Institute. (2024). The Data-Driven Enterprise of 2025: Seven Attributes of Success.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9" tooltip="https://diwo.ai/blog/7-characteristics-of-the-data-driven-enterprise/#:~:text=According%20to%20a%20survey%20by,more%20likely%20to%20be%20profitable.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MDPI Applied Sciences. (2024). From Recruitment to Retention: AI Tools for Human Resource Management, 14(24).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10" tooltip="https://www.mdpi.com/2076-3417/14/24/11750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World Economic Forum. (2025). The Future of Jobs Report 2025: Mapping Skills and Displacement.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11" tooltip="https://reports.weforum.org/docs/WEF_Future_of_Jobs_Report_2025.pdf"/>
              </a:rPr>
              <a:t>Source</a:t>
            </a:r>
          </a:p>
          <a:p>
            <a:pPr algn="l" marL="949965" indent="-316655" lvl="2">
              <a:lnSpc>
                <a:spcPts val="3036"/>
              </a:lnSpc>
              <a:buFont typeface="Arial"/>
              <a:buChar char="⚬"/>
            </a:pPr>
            <a:r>
              <a:rPr lang="en-US" sz="22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Michael Schneider (2017) It’s Harder to Get Into Google Than Harvard. </a:t>
            </a:r>
            <a:r>
              <a:rPr lang="en-US" sz="2200" u="sng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  <a:hlinkClick r:id="rId12" tooltip="https://www.inc.com/michael-schneider/its-harder-to-get-into-google-than-harvard.html"/>
              </a:rPr>
              <a:t>Source</a:t>
            </a:r>
          </a:p>
          <a:p>
            <a:pPr algn="l" marL="778026" indent="-389013" lvl="1">
              <a:lnSpc>
                <a:spcPts val="303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DAHDpYPxtbg</dc:identifier>
  <dcterms:modified xsi:type="dcterms:W3CDTF">2011-08-01T06:04:30Z</dcterms:modified>
  <cp:revision>1</cp:revision>
  <dc:title>Business Understanding.pptx</dc:title>
</cp:coreProperties>
</file>